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505196453748b3" /><Relationship Type="http://schemas.openxmlformats.org/officeDocument/2006/relationships/extended-properties" Target="/docProps/app.xml" Id="Re735f3fcb58f4db7" /><Relationship Type="http://schemas.openxmlformats.org/officeDocument/2006/relationships/officeDocument" Target="/ppt/presentation.xml" Id="Rd84c103d3b824c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44bf9335644666"/>
  </p:sldMasterIdLst>
  <p:notesMasterIdLst>
    <p:notesMasterId xmlns:r="http://schemas.openxmlformats.org/officeDocument/2006/relationships" r:id="Rc98aa339755b45d2"/>
  </p:notesMasterIdLst>
  <p:sldIdLst>
    <p:sldId xmlns:r="http://schemas.openxmlformats.org/officeDocument/2006/relationships" id="256" r:id="R131d1e2aa3984a09"/>
    <p:sldId xmlns:r="http://schemas.openxmlformats.org/officeDocument/2006/relationships" id="257" r:id="R0e224fd3b0ea4cd5"/>
    <p:sldId xmlns:r="http://schemas.openxmlformats.org/officeDocument/2006/relationships" id="258" r:id="R1b859cddd684407b"/>
    <p:sldId xmlns:r="http://schemas.openxmlformats.org/officeDocument/2006/relationships" id="259" r:id="Rc5188e4aadc34b76"/>
    <p:sldId xmlns:r="http://schemas.openxmlformats.org/officeDocument/2006/relationships" id="260" r:id="R02eaf360ec414d5e"/>
    <p:sldId xmlns:r="http://schemas.openxmlformats.org/officeDocument/2006/relationships" id="261" r:id="R8d53dc85e8714916"/>
    <p:sldId xmlns:r="http://schemas.openxmlformats.org/officeDocument/2006/relationships" id="262" r:id="R56009698a3ed4950"/>
    <p:sldId xmlns:r="http://schemas.openxmlformats.org/officeDocument/2006/relationships" id="263" r:id="Rd7b6dbc3d9d3478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aa76062ebb4e92" /><Relationship Type="http://schemas.openxmlformats.org/officeDocument/2006/relationships/slideMaster" Target="/ppt/slideMasters/slideMaster1.xml" Id="Ree44bf9335644666" /><Relationship Type="http://schemas.openxmlformats.org/officeDocument/2006/relationships/notesMaster" Target="/ppt/notesMasters/notesMaster1.xml" Id="Rc98aa339755b45d2" /><Relationship Type="http://schemas.openxmlformats.org/officeDocument/2006/relationships/presProps" Target="/ppt/presProps.xml" Id="Re3d2e1fe8b2a41fa" /><Relationship Type="http://schemas.openxmlformats.org/officeDocument/2006/relationships/tableStyles" Target="/ppt/tableStyles.xml" Id="R363e5e28858845f3" /><Relationship Type="http://schemas.openxmlformats.org/officeDocument/2006/relationships/slide" Target="/ppt/slides/slide1.xml" Id="R131d1e2aa3984a09" /><Relationship Type="http://schemas.openxmlformats.org/officeDocument/2006/relationships/slide" Target="/ppt/slides/slide2.xml" Id="R0e224fd3b0ea4cd5" /><Relationship Type="http://schemas.openxmlformats.org/officeDocument/2006/relationships/slide" Target="/ppt/slides/slide3.xml" Id="R1b859cddd684407b" /><Relationship Type="http://schemas.openxmlformats.org/officeDocument/2006/relationships/slide" Target="/ppt/slides/slide4.xml" Id="Rc5188e4aadc34b76" /><Relationship Type="http://schemas.openxmlformats.org/officeDocument/2006/relationships/slide" Target="/ppt/slides/slide5.xml" Id="R02eaf360ec414d5e" /><Relationship Type="http://schemas.openxmlformats.org/officeDocument/2006/relationships/slide" Target="/ppt/slides/slide6.xml" Id="R8d53dc85e8714916" /><Relationship Type="http://schemas.openxmlformats.org/officeDocument/2006/relationships/slide" Target="/ppt/slides/slide7.xml" Id="R56009698a3ed4950" /><Relationship Type="http://schemas.openxmlformats.org/officeDocument/2006/relationships/slide" Target="/ppt/slides/slide8.xml" Id="Rd7b6dbc3d9d347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e0daae4b8c40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c3042ea33a4eb3" /><Relationship Type="http://schemas.openxmlformats.org/officeDocument/2006/relationships/notesMaster" Target="/ppt/notesMasters/notesMaster1.xml" Id="Rc45bf0e81a3447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16713f1fd544be" /><Relationship Type="http://schemas.openxmlformats.org/officeDocument/2006/relationships/notesMaster" Target="/ppt/notesMasters/notesMaster1.xml" Id="R9cc7512255b340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963235254f4124" /><Relationship Type="http://schemas.openxmlformats.org/officeDocument/2006/relationships/notesMaster" Target="/ppt/notesMasters/notesMaster1.xml" Id="Rd7bed06e0ecf41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7aa1b988d142fb" /><Relationship Type="http://schemas.openxmlformats.org/officeDocument/2006/relationships/notesMaster" Target="/ppt/notesMasters/notesMaster1.xml" Id="R40563652e67446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b629f5308b4ee4" /><Relationship Type="http://schemas.openxmlformats.org/officeDocument/2006/relationships/notesMaster" Target="/ppt/notesMasters/notesMaster1.xml" Id="Rc9d1c4c48e204c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ef2da914f64e0c" /><Relationship Type="http://schemas.openxmlformats.org/officeDocument/2006/relationships/notesMaster" Target="/ppt/notesMasters/notesMaster1.xml" Id="R9138d33fbff54f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df82cf7b2148a0" /><Relationship Type="http://schemas.openxmlformats.org/officeDocument/2006/relationships/notesMaster" Target="/ppt/notesMasters/notesMaster1.xml" Id="R8e5d9e3614e944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6b87120f714b6b" /><Relationship Type="http://schemas.openxmlformats.org/officeDocument/2006/relationships/notesMaster" Target="/ppt/notesMasters/notesMaster1.xml" Id="R40127c8f038943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name and one sentence: Vertex Palace gives Codex a structured way to enter a large repository, retrieve focused context, remember relevant pitfalls, and measure whether the route actually helped.</a:t>
            </a:r>
          </a:p>
          <a:p xmlns:a="http://schemas.openxmlformats.org/drawingml/2006/main">
            <a:r>
              <a:t>Keep the opening brief. The next slide introduces the concrete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 in the first person. Vertex Palace began with a recurring problem in my own large projects: a single issue could take more than an hour, while token usage climbed as the agent rediscovered files, relationships, and earlier decisions.</a:t>
            </a:r>
          </a:p>
          <a:p xmlns:a="http://schemas.openxmlformats.org/drawingml/2006/main">
            <a:r>
              <a:t>This was the point where I stopped treating the context cost as an inconvenience and decided to build a task-specific entry path. Do not present this personal experience as a universal benchmark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inspiration came from the human memory-palace technique: assign knowledge to places, then follow a route to retrieve it. Vertex Palace maps repository domains to floors, features to rooms, and files and symbols to smaller storage layers.</a:t>
            </a:r>
          </a:p>
          <a:p xmlns:a="http://schemas.openxmlformats.org/drawingml/2006/main">
            <a:r>
              <a:t>Walk left to right: index the repository structure, select an adaptive mode, pack only primary and supporting context, execute the task, then preserve relevant decisions and pitfalls at the entrance for the next task.</a:t>
            </a:r>
          </a:p>
          <a:p xmlns:a="http://schemas.openxmlformats.org/drawingml/2006/main">
            <a:r>
              <a:t>Emphasize that current code and tests outrank memory. The memory layer is a guardrail, not a source of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Recording cue: hold this slide for about two seconds, then cut to a 35 to 45 second screen recording that runs the exact palace context command. Return to the slide before advancing.</a:t>
            </a:r>
          </a:p>
          <a:p xmlns:a="http://schemas.openxmlformats.org/drawingml/2006/main">
            <a:r>
              <a:t>Point out the selected guarded-memory mode, the two primary implementation files, the bounded payload, and the current-code-first guardrail.</a:t>
            </a:r>
          </a:p>
          <a:p xmlns:a="http://schemas.openxmlformats.org/drawingml/2006/main">
            <a:r>
              <a:t>This visible output is from a real local run on Vertex Palace 0.2.3.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Vertex Palace evaluates its own retrieval. The current task reduced an 87,622-token indexed repository estimate to an 8,900-token context pack and still covered all three declared changed files.</a:t>
            </a:r>
          </a:p>
          <a:p xmlns:a="http://schemas.openxmlformats.org/drawingml/2006/main">
            <a:r>
              <a:t>Say the caveat aloud: this is context-pack reduction, not proof of lower end-to-end Codex usage.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benchmark honestly. Adaptive beat always-on Full Palace at the median for reported tokens and time, but it did not beat no-Palace Control overall.</a:t>
            </a:r>
          </a:p>
          <a:p xmlns:a="http://schemas.openxmlformats.org/drawingml/2006/main">
            <a:r>
              <a:t>The end-to-end intervals crossed zero. The defensible value is auditable routing and guarded project history, not a universal efficiency promise.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Build Week contribution as a learning loop. The pre-event baseline was v0.1.4. During the event, Codex and GPT-5.6 helped turn benchmark failures and release-routing mistakes into tested product changes.</a:t>
            </a:r>
          </a:p>
          <a:p xmlns:a="http://schemas.openxmlformats.org/drawingml/2006/main">
            <a:r>
              <a:t>Name the human decisions: keep the evaluator local and deterministic, scope memory, and let current code and tests outrank history.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judge path: install the public package, run palace context with auto mode, then evaluate the route after the task.</a:t>
            </a:r>
          </a:p>
          <a:p xmlns:a="http://schemas.openxmlformats.org/drawingml/2006/main">
            <a:r>
              <a:t>End on the product promise: Vertex Palace gives coding agents a map, a route, a memory, and measurable evidence about the context they selected.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0e26e75c69493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ae27669b8645fd" /><Relationship Type="http://schemas.openxmlformats.org/officeDocument/2006/relationships/slideLayout" Target="/ppt/slideLayouts/slideLayout1.xml" Id="R0902ee43faeb40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02ee43faeb40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d2dc91692490c" /><Relationship Type="http://schemas.openxmlformats.org/officeDocument/2006/relationships/image" Target="/ppt/media/image.png" Id="Rac4445891b354050" /><Relationship Type="http://schemas.openxmlformats.org/officeDocument/2006/relationships/notesSlide" Target="/ppt/notesSlides/notesSlide1.xml" Id="Rba7edd3e0aea4d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fd72559d40437c" /><Relationship Type="http://schemas.openxmlformats.org/officeDocument/2006/relationships/notesSlide" Target="/ppt/notesSlides/notesSlide2.xml" Id="R7fa1488422b447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a3ad2e19d4160" /><Relationship Type="http://schemas.openxmlformats.org/officeDocument/2006/relationships/notesSlide" Target="/ppt/notesSlides/notesSlide3.xml" Id="Rd2da53339f0e4d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e8e2d634d941bc" /><Relationship Type="http://schemas.openxmlformats.org/officeDocument/2006/relationships/notesSlide" Target="/ppt/notesSlides/notesSlide4.xml" Id="R00499f1289864f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798f786da4e22" /><Relationship Type="http://schemas.openxmlformats.org/officeDocument/2006/relationships/chart" Target="/ppt/slides/charts/chart1.xml" Id="Re4e83c61b9544540" /><Relationship Type="http://schemas.openxmlformats.org/officeDocument/2006/relationships/notesSlide" Target="/ppt/notesSlides/notesSlide5.xml" Id="R257098e768b045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34f83d46a4893" /><Relationship Type="http://schemas.openxmlformats.org/officeDocument/2006/relationships/chart" Target="/ppt/slides/charts/chart2.xml" Id="R8d5fdcea74d24596" /><Relationship Type="http://schemas.openxmlformats.org/officeDocument/2006/relationships/notesSlide" Target="/ppt/notesSlides/notesSlide6.xml" Id="R4af60b3b6e4f4a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0f1eceffb48a6" /><Relationship Type="http://schemas.openxmlformats.org/officeDocument/2006/relationships/notesSlide" Target="/ppt/notesSlides/notesSlide7.xml" Id="Rf283f00304d149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8984bdfe643d8" /><Relationship Type="http://schemas.openxmlformats.org/officeDocument/2006/relationships/notesSlide" Target="/ppt/notesSlides/notesSlide8.xml" Id="R391b1e5f55aa48b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Estimated tokens</c:v>
          </c:tx>
          <c:spPr>
            <a:solidFill xmlns:a="http://schemas.openxmlformats.org/drawingml/2006/main">
              <a:srgbClr val="1677FF"/>
            </a:solidFill>
          </c:spPr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87622</c:v>
              </c:pt>
              <c:pt idx="1">
                <c:v>8900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Reported token difference</c:v>
          </c:tx>
          <c:spPr>
            <a:solidFill xmlns:a="http://schemas.openxmlformats.org/drawingml/2006/main">
              <a:srgbClr val="1677FF"/>
            </a:solidFill>
          </c:spPr>
          <c:invertIfNegative val="0"/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-16522.5</c:v>
              </c:pt>
              <c:pt idx="1">
                <c:v>30147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14288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1-eyebrow">
            <a:extLst xmlns:a="http://schemas.openxmlformats.org/drawingml/2006/main">
              <a:ext uri="{FF2B5EF4-FFF2-40B4-BE49-F238E27FC236}">
                <a16:creationId xmlns:a16="http://schemas.microsoft.com/office/drawing/2014/main" id="{C9BAD10D-D100-46F6-B29C-35EEBEA7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OPENAI BUILD WEEK 2026  /  DEVELOPER TOOLS</a:t>
            </a:r>
          </a:p>
        </p:txBody>
      </p:sp>
      <p:sp>
        <p:nvSpPr>
          <p:cNvPr id="2" name="s1-title">
            <a:extLst xmlns:a="http://schemas.openxmlformats.org/drawingml/2006/main">
              <a:ext uri="{FF2B5EF4-FFF2-40B4-BE49-F238E27FC236}">
                <a16:creationId xmlns:a16="http://schemas.microsoft.com/office/drawing/2014/main" id="{65668104-24CF-4A09-85F4-456208D4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5905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Vertex
Palace</a:t>
            </a:r>
          </a:p>
        </p:txBody>
      </p:sp>
      <p:cxnSp>
        <p:nvCxnSpPr>
          <p:cNvPr id="9" name="s1-accent"/>
          <p:cNvCxnSpPr/>
          <p:nvPr/>
        </p:nvCxnSpPr>
        <p:spPr>
          <a:xfrm xmlns:a="http://schemas.openxmlformats.org/drawingml/2006/main">
            <a:off x="514350" y="3895725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1-subtitle">
            <a:extLst xmlns:a="http://schemas.openxmlformats.org/drawingml/2006/main">
              <a:ext uri="{FF2B5EF4-FFF2-40B4-BE49-F238E27FC236}">
                <a16:creationId xmlns:a16="http://schemas.microsoft.com/office/drawing/2014/main" id="{307ADBE3-367C-427C-B41C-28D8304A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58102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local map, route, memory, and evidence layer for Codex.</a:t>
            </a:r>
          </a:p>
        </p:txBody>
      </p:sp>
      <p:sp>
        <p:nvSpPr>
          <p:cNvPr id="5" name="s1-version">
            <a:extLst xmlns:a="http://schemas.openxmlformats.org/drawingml/2006/main">
              <a:ext uri="{FF2B5EF4-FFF2-40B4-BE49-F238E27FC236}">
                <a16:creationId xmlns:a16="http://schemas.microsoft.com/office/drawing/2014/main" id="{70875ACA-49B9-43F0-A67F-7BD6D6DA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007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vertex-palace@0.2.3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445891b354050"/>
          <a:stretch xmlns:a="http://schemas.openxmlformats.org/drawingml/2006/main"/>
        </p:blipFill>
        <p:spPr>
          <a:xfrm xmlns:a="http://schemas.openxmlformats.org/drawingml/2006/main">
            <a:off x="6858000" y="1565275"/>
            <a:ext cx="4476750" cy="2984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0548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2-title">
            <a:extLst xmlns:a="http://schemas.openxmlformats.org/drawingml/2006/main">
              <a:ext uri="{FF2B5EF4-FFF2-40B4-BE49-F238E27FC236}">
                <a16:creationId xmlns:a16="http://schemas.microsoft.com/office/drawing/2014/main" id="{652C5319-8479-4A01-A996-AF2A32B1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As my projects grew, one issue could take over an hour.</a:t>
            </a:r>
          </a:p>
        </p:txBody>
      </p:sp>
      <p:sp>
        <p:nvSpPr>
          <p:cNvPr id="2" name="s2-subtitle">
            <a:extLst xmlns:a="http://schemas.openxmlformats.org/drawingml/2006/main">
              <a:ext uri="{FF2B5EF4-FFF2-40B4-BE49-F238E27FC236}">
                <a16:creationId xmlns:a16="http://schemas.microsoft.com/office/drawing/2014/main" id="{F23EEC23-A893-47E9-81E0-363EA7CC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Token use became just as unreasonable as the agent repeatedly rediscovered the same repository.</a:t>
            </a:r>
          </a:p>
        </p:txBody>
      </p:sp>
      <p:cxnSp>
        <p:nvCxnSpPr>
          <p:cNvPr id="35" name="s2-link-a"/>
          <p:cNvCxnSpPr/>
          <p:nvPr/>
        </p:nvCxnSpPr>
        <p:spPr>
          <a:xfrm xmlns:a="http://schemas.openxmlformats.org/drawingml/2006/main">
            <a:off x="1400175" y="1981200"/>
            <a:ext cx="1257300" cy="1495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6" name="s2-link-b"/>
          <p:cNvCxnSpPr/>
          <p:nvPr/>
        </p:nvCxnSpPr>
        <p:spPr>
          <a:xfrm xmlns:a="http://schemas.openxmlformats.org/drawingml/2006/main">
            <a:off x="2657475" y="1685925"/>
            <a:ext cx="1562100" cy="1790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7" name="s2-link-c"/>
          <p:cNvCxnSpPr/>
          <p:nvPr/>
        </p:nvCxnSpPr>
        <p:spPr>
          <a:xfrm xmlns:a="http://schemas.openxmlformats.org/drawingml/2006/main">
            <a:off x="2657475" y="3181350"/>
            <a:ext cx="240030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8" name="s2-link-d"/>
          <p:cNvCxnSpPr/>
          <p:nvPr/>
        </p:nvCxnSpPr>
        <p:spPr>
          <a:xfrm xmlns:a="http://schemas.openxmlformats.org/drawingml/2006/main">
            <a:off x="1533525" y="3476625"/>
            <a:ext cx="1123950" cy="1476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9" name="s2-link-e"/>
          <p:cNvCxnSpPr/>
          <p:nvPr/>
        </p:nvCxnSpPr>
        <p:spPr>
          <a:xfrm xmlns:a="http://schemas.openxmlformats.org/drawingml/2006/main">
            <a:off x="2657475" y="3476625"/>
            <a:ext cx="177165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2-agent">
            <a:extLst xmlns:a="http://schemas.openxmlformats.org/drawingml/2006/main">
              <a:ext uri="{FF2B5EF4-FFF2-40B4-BE49-F238E27FC236}">
                <a16:creationId xmlns:a16="http://schemas.microsoft.com/office/drawing/2014/main" id="{952457D8-E0AD-42F1-B51A-87BF700B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146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9" name="s2-agent-label">
            <a:extLst xmlns:a="http://schemas.openxmlformats.org/drawingml/2006/main">
              <a:ext uri="{FF2B5EF4-FFF2-40B4-BE49-F238E27FC236}">
                <a16:creationId xmlns:a16="http://schemas.microsoft.com/office/drawing/2014/main" id="{F77C85EF-E588-4129-9299-BCA943D5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86125"/>
            <a:ext cx="83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AGENT</a:t>
            </a:r>
          </a:p>
        </p:txBody>
      </p:sp>
      <p:sp>
        <p:nvSpPr>
          <p:cNvPr id="10" name="s2-file-a">
            <a:extLst xmlns:a="http://schemas.openxmlformats.org/drawingml/2006/main">
              <a:ext uri="{FF2B5EF4-FFF2-40B4-BE49-F238E27FC236}">
                <a16:creationId xmlns:a16="http://schemas.microsoft.com/office/drawing/2014/main" id="{E25DE2F3-5816-465E-B5D8-85F5EA5B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1" name="s2-file-b">
            <a:extLst xmlns:a="http://schemas.openxmlformats.org/drawingml/2006/main">
              <a:ext uri="{FF2B5EF4-FFF2-40B4-BE49-F238E27FC236}">
                <a16:creationId xmlns:a16="http://schemas.microsoft.com/office/drawing/2014/main" id="{BDB7543C-1AF2-4437-B019-E3AE1296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343025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2" name="s2-file-c">
            <a:extLst xmlns:a="http://schemas.openxmlformats.org/drawingml/2006/main">
              <a:ext uri="{FF2B5EF4-FFF2-40B4-BE49-F238E27FC236}">
                <a16:creationId xmlns:a16="http://schemas.microsoft.com/office/drawing/2014/main" id="{CE506F9F-AC1C-4B4A-95B1-350D04A8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1504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3" name="s2-file-d">
            <a:extLst xmlns:a="http://schemas.openxmlformats.org/drawingml/2006/main">
              <a:ext uri="{FF2B5EF4-FFF2-40B4-BE49-F238E27FC236}">
                <a16:creationId xmlns:a16="http://schemas.microsoft.com/office/drawing/2014/main" id="{D645ECDD-670D-4934-B048-87EAB7D1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4" name="s2-file-e">
            <a:extLst xmlns:a="http://schemas.openxmlformats.org/drawingml/2006/main">
              <a:ext uri="{FF2B5EF4-FFF2-40B4-BE49-F238E27FC236}">
                <a16:creationId xmlns:a16="http://schemas.microsoft.com/office/drawing/2014/main" id="{AB99B7B3-9C63-4FBF-9470-48EFF288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863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5" name="s2-file-a-label">
            <a:extLst xmlns:a="http://schemas.openxmlformats.org/drawingml/2006/main">
              <a:ext uri="{FF2B5EF4-FFF2-40B4-BE49-F238E27FC236}">
                <a16:creationId xmlns:a16="http://schemas.microsoft.com/office/drawing/2014/main" id="{009650EF-6DC2-4FD3-8230-57AEC177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57375"/>
            <a:ext cx="1200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README.md</a:t>
            </a:r>
          </a:p>
        </p:txBody>
      </p:sp>
      <p:sp>
        <p:nvSpPr>
          <p:cNvPr id="16" name="s2-file-b-label">
            <a:extLst xmlns:a="http://schemas.openxmlformats.org/drawingml/2006/main">
              <a:ext uri="{FF2B5EF4-FFF2-40B4-BE49-F238E27FC236}">
                <a16:creationId xmlns:a16="http://schemas.microsoft.com/office/drawing/2014/main" id="{206287A0-0D71-417D-9323-BD356B9E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562100"/>
            <a:ext cx="1295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checkout.ts</a:t>
            </a:r>
          </a:p>
        </p:txBody>
      </p:sp>
      <p:sp>
        <p:nvSpPr>
          <p:cNvPr id="17" name="s2-file-c-label">
            <a:extLst xmlns:a="http://schemas.openxmlformats.org/drawingml/2006/main">
              <a:ext uri="{FF2B5EF4-FFF2-40B4-BE49-F238E27FC236}">
                <a16:creationId xmlns:a16="http://schemas.microsoft.com/office/drawing/2014/main" id="{9EFF31B8-0D5E-4438-9973-3F302892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57525"/>
            <a:ext cx="1276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policy.json</a:t>
            </a:r>
          </a:p>
        </p:txBody>
      </p:sp>
      <p:sp>
        <p:nvSpPr>
          <p:cNvPr id="18" name="s2-file-d-label">
            <a:extLst xmlns:a="http://schemas.openxmlformats.org/drawingml/2006/main">
              <a:ext uri="{FF2B5EF4-FFF2-40B4-BE49-F238E27FC236}">
                <a16:creationId xmlns:a16="http://schemas.microsoft.com/office/drawing/2014/main" id="{CD0096AC-2AFE-4B0A-B4A5-7F28E314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footer.tsx</a:t>
            </a:r>
          </a:p>
        </p:txBody>
      </p:sp>
      <p:sp>
        <p:nvSpPr>
          <p:cNvPr id="19" name="s2-file-e-label">
            <a:extLst xmlns:a="http://schemas.openxmlformats.org/drawingml/2006/main">
              <a:ext uri="{FF2B5EF4-FFF2-40B4-BE49-F238E27FC236}">
                <a16:creationId xmlns:a16="http://schemas.microsoft.com/office/drawing/2014/main" id="{D1A04DEF-CED8-482C-80F0-603EDB55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905375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tests/...</a:t>
            </a:r>
          </a:p>
        </p:txBody>
      </p:sp>
      <p:sp>
        <p:nvSpPr>
          <p:cNvPr id="20" name="s2-n1">
            <a:extLst xmlns:a="http://schemas.openxmlformats.org/drawingml/2006/main">
              <a:ext uri="{FF2B5EF4-FFF2-40B4-BE49-F238E27FC236}">
                <a16:creationId xmlns:a16="http://schemas.microsoft.com/office/drawing/2014/main" id="{54B0AA2E-152C-4877-86BD-E4A7AC42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62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21" name="s2-n1-label">
            <a:extLst xmlns:a="http://schemas.openxmlformats.org/drawingml/2006/main">
              <a:ext uri="{FF2B5EF4-FFF2-40B4-BE49-F238E27FC236}">
                <a16:creationId xmlns:a16="http://schemas.microsoft.com/office/drawing/2014/main" id="{A4F29DD1-F602-43E6-903F-81710190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97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22" name="s2-p1">
            <a:extLst xmlns:a="http://schemas.openxmlformats.org/drawingml/2006/main">
              <a:ext uri="{FF2B5EF4-FFF2-40B4-BE49-F238E27FC236}">
                <a16:creationId xmlns:a16="http://schemas.microsoft.com/office/drawing/2014/main" id="{25298350-FBC0-4CA0-9F3C-39230D5B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Broad search</a:t>
            </a:r>
          </a:p>
        </p:txBody>
      </p:sp>
      <p:sp>
        <p:nvSpPr>
          <p:cNvPr id="23" name="s2-n2">
            <a:extLst xmlns:a="http://schemas.openxmlformats.org/drawingml/2006/main">
              <a:ext uri="{FF2B5EF4-FFF2-40B4-BE49-F238E27FC236}">
                <a16:creationId xmlns:a16="http://schemas.microsoft.com/office/drawing/2014/main" id="{E6531A41-12DF-4413-9622-33CCCB7D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24" name="s2-n2-label">
            <a:extLst xmlns:a="http://schemas.openxmlformats.org/drawingml/2006/main">
              <a:ext uri="{FF2B5EF4-FFF2-40B4-BE49-F238E27FC236}">
                <a16:creationId xmlns:a16="http://schemas.microsoft.com/office/drawing/2014/main" id="{6234723A-5B6E-4197-83AA-5C04AAEB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908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25" name="s2-p2">
            <a:extLst xmlns:a="http://schemas.openxmlformats.org/drawingml/2006/main">
              <a:ext uri="{FF2B5EF4-FFF2-40B4-BE49-F238E27FC236}">
                <a16:creationId xmlns:a16="http://schemas.microsoft.com/office/drawing/2014/main" id="{729C3FF9-5232-45C7-B73F-F6FA4121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289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Repeated reading</a:t>
            </a:r>
          </a:p>
        </p:txBody>
      </p:sp>
      <p:sp>
        <p:nvSpPr>
          <p:cNvPr id="26" name="s2-n3">
            <a:extLst xmlns:a="http://schemas.openxmlformats.org/drawingml/2006/main">
              <a:ext uri="{FF2B5EF4-FFF2-40B4-BE49-F238E27FC236}">
                <a16:creationId xmlns:a16="http://schemas.microsoft.com/office/drawing/2014/main" id="{1AFAC487-D452-4854-BFE1-52FA5123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27" name="s2-n3-label">
            <a:extLst xmlns:a="http://schemas.openxmlformats.org/drawingml/2006/main">
              <a:ext uri="{FF2B5EF4-FFF2-40B4-BE49-F238E27FC236}">
                <a16:creationId xmlns:a16="http://schemas.microsoft.com/office/drawing/2014/main" id="{00FB4118-EAB5-4692-BCCC-3EFEFD75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719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28" name="s2-p3">
            <a:extLst xmlns:a="http://schemas.openxmlformats.org/drawingml/2006/main">
              <a:ext uri="{FF2B5EF4-FFF2-40B4-BE49-F238E27FC236}">
                <a16:creationId xmlns:a16="http://schemas.microsoft.com/office/drawing/2014/main" id="{529BF1A9-8EFB-498C-B00F-9DDB260A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10050"/>
            <a:ext cx="409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Forgotten decisions</a:t>
            </a:r>
          </a:p>
        </p:txBody>
      </p:sp>
      <p:sp>
        <p:nvSpPr>
          <p:cNvPr id="29" name="s2-takeaway">
            <a:extLst xmlns:a="http://schemas.openxmlformats.org/drawingml/2006/main">
              <a:ext uri="{FF2B5EF4-FFF2-40B4-BE49-F238E27FC236}">
                <a16:creationId xmlns:a16="http://schemas.microsoft.com/office/drawing/2014/main" id="{D0ACB8BD-EE21-4326-B986-8FC8AC83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62550"/>
            <a:ext cx="46291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That frustration became the reason I built Vertex Palace.</a:t>
            </a:r>
          </a:p>
        </p:txBody>
      </p:sp>
      <p:cxnSp>
        <p:nvCxnSpPr>
          <p:cNvPr id="62" name="footer-rule-2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1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F5D6DA4A-4F56-493A-9566-C2D522D6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2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57A1E16F-B221-4BC2-9FD6-36B9A9BC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321462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3-title">
            <a:extLst xmlns:a="http://schemas.openxmlformats.org/drawingml/2006/main">
              <a:ext uri="{FF2B5EF4-FFF2-40B4-BE49-F238E27FC236}">
                <a16:creationId xmlns:a16="http://schemas.microsoft.com/office/drawing/2014/main" id="{D92F9CBF-9B75-48D7-9978-568567EF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human memory palace became a map for code.</a:t>
            </a:r>
          </a:p>
        </p:txBody>
      </p:sp>
      <p:sp>
        <p:nvSpPr>
          <p:cNvPr id="2" name="s3-subtitle">
            <a:extLst xmlns:a="http://schemas.openxmlformats.org/drawingml/2006/main">
              <a:ext uri="{FF2B5EF4-FFF2-40B4-BE49-F238E27FC236}">
                <a16:creationId xmlns:a16="http://schemas.microsoft.com/office/drawing/2014/main" id="{5C55AC4E-DEDD-46CF-9F11-0449E0E1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Floors organize domains. Rooms hold features. Routes retrieve context. Pitfalls wait at the entrance.</a:t>
            </a:r>
          </a:p>
        </p:txBody>
      </p:sp>
      <p:cxnSp>
        <p:nvCxnSpPr>
          <p:cNvPr id="31" name="s3-c1"/>
          <p:cNvCxnSpPr/>
          <p:nvPr/>
        </p:nvCxnSpPr>
        <p:spPr>
          <a:xfrm xmlns:a="http://schemas.openxmlformats.org/drawingml/2006/main">
            <a:off x="220980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3B7D5"/>
            </a:solidFill>
            <a:prstDash val="solid"/>
          </a:ln>
        </p:spPr>
      </p:cxnSp>
      <p:cxnSp>
        <p:nvCxnSpPr>
          <p:cNvPr id="32" name="s3-c2"/>
          <p:cNvCxnSpPr/>
          <p:nvPr/>
        </p:nvCxnSpPr>
        <p:spPr>
          <a:xfrm xmlns:a="http://schemas.openxmlformats.org/drawingml/2006/main">
            <a:off x="440055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FF"/>
            </a:solidFill>
            <a:prstDash val="solid"/>
          </a:ln>
        </p:spPr>
      </p:cxnSp>
      <p:cxnSp>
        <p:nvCxnSpPr>
          <p:cNvPr id="33" name="s3-c3"/>
          <p:cNvCxnSpPr/>
          <p:nvPr/>
        </p:nvCxnSpPr>
        <p:spPr>
          <a:xfrm xmlns:a="http://schemas.openxmlformats.org/drawingml/2006/main">
            <a:off x="659130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438F5"/>
            </a:solidFill>
            <a:prstDash val="solid"/>
          </a:ln>
        </p:spPr>
      </p:cxnSp>
      <p:cxnSp>
        <p:nvCxnSpPr>
          <p:cNvPr id="34" name="s3-c4"/>
          <p:cNvCxnSpPr/>
          <p:nvPr/>
        </p:nvCxnSpPr>
        <p:spPr>
          <a:xfrm xmlns:a="http://schemas.openxmlformats.org/drawingml/2006/main">
            <a:off x="878205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A777"/>
            </a:solidFill>
            <a:prstDash val="solid"/>
          </a:ln>
        </p:spPr>
      </p:cxnSp>
      <p:cxnSp>
        <p:nvCxnSpPr>
          <p:cNvPr id="35" name="s3-memory-link"/>
          <p:cNvCxnSpPr/>
          <p:nvPr/>
        </p:nvCxnSpPr>
        <p:spPr>
          <a:xfrm xmlns:a="http://schemas.openxmlformats.org/drawingml/2006/main">
            <a:off x="7848600" y="3752850"/>
            <a:ext cx="238125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3-repo">
            <a:extLst xmlns:a="http://schemas.openxmlformats.org/drawingml/2006/main">
              <a:ext uri="{FF2B5EF4-FFF2-40B4-BE49-F238E27FC236}">
                <a16:creationId xmlns:a16="http://schemas.microsoft.com/office/drawing/2014/main" id="{2D2EF53F-31C5-4978-ABAA-D68449E0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619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9" name="s3-index">
            <a:extLst xmlns:a="http://schemas.openxmlformats.org/drawingml/2006/main">
              <a:ext uri="{FF2B5EF4-FFF2-40B4-BE49-F238E27FC236}">
                <a16:creationId xmlns:a16="http://schemas.microsoft.com/office/drawing/2014/main" id="{1A9AA8D4-1388-42DB-93F7-1519B29C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7FB"/>
          </a:solidFill>
          <a:ln xmlns:a="http://schemas.openxmlformats.org/drawingml/2006/main" w="0">
            <a:solidFill>
              <a:srgbClr val="E8F7FB"/>
            </a:solidFill>
            <a:prstDash val="solid"/>
          </a:ln>
        </p:spPr>
      </p:sp>
      <p:sp>
        <p:nvSpPr>
          <p:cNvPr id="10" name="s3-mode">
            <a:extLst xmlns:a="http://schemas.openxmlformats.org/drawingml/2006/main">
              <a:ext uri="{FF2B5EF4-FFF2-40B4-BE49-F238E27FC236}">
                <a16:creationId xmlns:a16="http://schemas.microsoft.com/office/drawing/2014/main" id="{0A5361B6-FE8E-4CF3-8B46-BF5CA1F4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11" name="s3-pack">
            <a:extLst xmlns:a="http://schemas.openxmlformats.org/drawingml/2006/main">
              <a:ext uri="{FF2B5EF4-FFF2-40B4-BE49-F238E27FC236}">
                <a16:creationId xmlns:a16="http://schemas.microsoft.com/office/drawing/2014/main" id="{2A5089C0-ED1A-46E9-AD71-7A84B178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1EBFF"/>
          </a:solidFill>
          <a:ln xmlns:a="http://schemas.openxmlformats.org/drawingml/2006/main" w="0">
            <a:solidFill>
              <a:srgbClr val="F1EBFF"/>
            </a:solidFill>
            <a:prstDash val="solid"/>
          </a:ln>
        </p:spPr>
      </p:sp>
      <p:sp>
        <p:nvSpPr>
          <p:cNvPr id="12" name="s3-task">
            <a:extLst xmlns:a="http://schemas.openxmlformats.org/drawingml/2006/main">
              <a:ext uri="{FF2B5EF4-FFF2-40B4-BE49-F238E27FC236}">
                <a16:creationId xmlns:a16="http://schemas.microsoft.com/office/drawing/2014/main" id="{3372EEC0-BB6A-42B0-94B0-B4A2F814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43125"/>
            <a:ext cx="18097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3" name="s3-repo-label">
            <a:extLst xmlns:a="http://schemas.openxmlformats.org/drawingml/2006/main">
              <a:ext uri="{FF2B5EF4-FFF2-40B4-BE49-F238E27FC236}">
                <a16:creationId xmlns:a16="http://schemas.microsoft.com/office/drawing/2014/main" id="{C3D2DF5B-EFC5-494F-A605-521DDE9E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47925"/>
            <a:ext cx="129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REPOSITORY</a:t>
            </a:r>
          </a:p>
        </p:txBody>
      </p:sp>
      <p:sp>
        <p:nvSpPr>
          <p:cNvPr id="14" name="s3-repo-main">
            <a:extLst xmlns:a="http://schemas.openxmlformats.org/drawingml/2006/main">
              <a:ext uri="{FF2B5EF4-FFF2-40B4-BE49-F238E27FC236}">
                <a16:creationId xmlns:a16="http://schemas.microsoft.com/office/drawing/2014/main" id="{D08BBECF-F87F-404F-B7C6-EFAF4ECC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3525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Files + symbols</a:t>
            </a:r>
          </a:p>
        </p:txBody>
      </p:sp>
      <p:sp>
        <p:nvSpPr>
          <p:cNvPr id="15" name="s3-index-label">
            <a:extLst xmlns:a="http://schemas.openxmlformats.org/drawingml/2006/main">
              <a:ext uri="{FF2B5EF4-FFF2-40B4-BE49-F238E27FC236}">
                <a16:creationId xmlns:a16="http://schemas.microsoft.com/office/drawing/2014/main" id="{9CEE3B39-E5AB-43E8-9410-409B433E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INDEX</a:t>
            </a:r>
          </a:p>
        </p:txBody>
      </p:sp>
      <p:sp>
        <p:nvSpPr>
          <p:cNvPr id="16" name="s3-index-main">
            <a:extLst xmlns:a="http://schemas.openxmlformats.org/drawingml/2006/main">
              <a:ext uri="{FF2B5EF4-FFF2-40B4-BE49-F238E27FC236}">
                <a16:creationId xmlns:a16="http://schemas.microsoft.com/office/drawing/2014/main" id="{5DE3F261-5714-4F5B-9ED1-5FD182A2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43225"/>
            <a:ext cx="1162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Rooms + edges</a:t>
            </a:r>
          </a:p>
        </p:txBody>
      </p:sp>
      <p:sp>
        <p:nvSpPr>
          <p:cNvPr id="17" name="s3-mode-label">
            <a:extLst xmlns:a="http://schemas.openxmlformats.org/drawingml/2006/main">
              <a:ext uri="{FF2B5EF4-FFF2-40B4-BE49-F238E27FC236}">
                <a16:creationId xmlns:a16="http://schemas.microsoft.com/office/drawing/2014/main" id="{4139FC64-999A-45F7-8770-136EAE22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ADAPT</a:t>
            </a:r>
          </a:p>
        </p:txBody>
      </p:sp>
      <p:sp>
        <p:nvSpPr>
          <p:cNvPr id="18" name="s3-mode-main">
            <a:extLst xmlns:a="http://schemas.openxmlformats.org/drawingml/2006/main">
              <a:ext uri="{FF2B5EF4-FFF2-40B4-BE49-F238E27FC236}">
                <a16:creationId xmlns:a16="http://schemas.microsoft.com/office/drawing/2014/main" id="{39C7742F-62C2-4E76-AC74-8C944829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43225"/>
            <a:ext cx="1162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Choose mode</a:t>
            </a:r>
          </a:p>
        </p:txBody>
      </p:sp>
      <p:sp>
        <p:nvSpPr>
          <p:cNvPr id="19" name="s3-pack-label">
            <a:extLst xmlns:a="http://schemas.openxmlformats.org/drawingml/2006/main">
              <a:ext uri="{FF2B5EF4-FFF2-40B4-BE49-F238E27FC236}">
                <a16:creationId xmlns:a16="http://schemas.microsoft.com/office/drawing/2014/main" id="{2B5D58DB-5CFC-45B3-9422-23C1CC53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PACK</a:t>
            </a:r>
          </a:p>
        </p:txBody>
      </p:sp>
      <p:sp>
        <p:nvSpPr>
          <p:cNvPr id="20" name="s3-pack-main">
            <a:extLst xmlns:a="http://schemas.openxmlformats.org/drawingml/2006/main">
              <a:ext uri="{FF2B5EF4-FFF2-40B4-BE49-F238E27FC236}">
                <a16:creationId xmlns:a16="http://schemas.microsoft.com/office/drawing/2014/main" id="{4E32E37A-1023-4D21-B597-282845AF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57500"/>
            <a:ext cx="11811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Primary + support</a:t>
            </a:r>
          </a:p>
        </p:txBody>
      </p:sp>
      <p:sp>
        <p:nvSpPr>
          <p:cNvPr id="21" name="s3-task-label">
            <a:extLst xmlns:a="http://schemas.openxmlformats.org/drawingml/2006/main">
              <a:ext uri="{FF2B5EF4-FFF2-40B4-BE49-F238E27FC236}">
                <a16:creationId xmlns:a16="http://schemas.microsoft.com/office/drawing/2014/main" id="{C8F5B856-286B-4FF9-A925-B6A5417A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447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EXECUTE</a:t>
            </a:r>
          </a:p>
        </p:txBody>
      </p:sp>
      <p:sp>
        <p:nvSpPr>
          <p:cNvPr id="22" name="s3-task-main">
            <a:extLst xmlns:a="http://schemas.openxmlformats.org/drawingml/2006/main">
              <a:ext uri="{FF2B5EF4-FFF2-40B4-BE49-F238E27FC236}">
                <a16:creationId xmlns:a16="http://schemas.microsoft.com/office/drawing/2014/main" id="{695CFAC2-62EC-417E-B040-37E950FD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43225"/>
            <a:ext cx="1447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Focused task</a:t>
            </a:r>
          </a:p>
        </p:txBody>
      </p:sp>
      <p:sp>
        <p:nvSpPr>
          <p:cNvPr id="23" name="s3-memory">
            <a:extLst xmlns:a="http://schemas.openxmlformats.org/drawingml/2006/main">
              <a:ext uri="{FF2B5EF4-FFF2-40B4-BE49-F238E27FC236}">
                <a16:creationId xmlns:a16="http://schemas.microsoft.com/office/drawing/2014/main" id="{66EF50F3-8ABC-450E-B25B-A7FDB7B8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91050"/>
            <a:ext cx="3714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24" name="s3-memory-label">
            <a:extLst xmlns:a="http://schemas.openxmlformats.org/drawingml/2006/main">
              <a:ext uri="{FF2B5EF4-FFF2-40B4-BE49-F238E27FC236}">
                <a16:creationId xmlns:a16="http://schemas.microsoft.com/office/drawing/2014/main" id="{11CDE2CB-061F-4DA6-8B4C-B074F0F7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62500"/>
            <a:ext cx="3219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PITFALL BOARD</a:t>
            </a:r>
          </a:p>
        </p:txBody>
      </p:sp>
      <p:sp>
        <p:nvSpPr>
          <p:cNvPr id="25" name="s3-memory-main">
            <a:extLst xmlns:a="http://schemas.openxmlformats.org/drawingml/2006/main">
              <a:ext uri="{FF2B5EF4-FFF2-40B4-BE49-F238E27FC236}">
                <a16:creationId xmlns:a16="http://schemas.microsoft.com/office/drawing/2014/main" id="{8CA8B7A1-668E-4D96-9618-9520F20C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219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Relevant mistakes appear at the
entrance next time.</a:t>
            </a:r>
          </a:p>
        </p:txBody>
      </p:sp>
      <p:cxnSp>
        <p:nvCxnSpPr>
          <p:cNvPr id="54" name="footer-rule-3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7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B62A79BE-149B-4286-8522-827B65ED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28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FDCCC621-878A-40B5-AD45-DFE111C0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255124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4-title">
            <a:extLst xmlns:a="http://schemas.openxmlformats.org/drawingml/2006/main">
              <a:ext uri="{FF2B5EF4-FFF2-40B4-BE49-F238E27FC236}">
                <a16:creationId xmlns:a16="http://schemas.microsoft.com/office/drawing/2014/main" id="{74BDA43C-BFDB-43EC-AF4C-0DCE8F9B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useful route in one command.</a:t>
            </a:r>
          </a:p>
        </p:txBody>
      </p:sp>
      <p:sp>
        <p:nvSpPr>
          <p:cNvPr id="2" name="s4-subtitle">
            <a:extLst xmlns:a="http://schemas.openxmlformats.org/drawingml/2006/main">
              <a:ext uri="{FF2B5EF4-FFF2-40B4-BE49-F238E27FC236}">
                <a16:creationId xmlns:a16="http://schemas.microsoft.com/office/drawing/2014/main" id="{7418B20B-4660-4729-B812-1C8E7286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The same call initializes, refreshes, routes, selects a mode, and packs context.</a:t>
            </a:r>
          </a:p>
        </p:txBody>
      </p:sp>
      <p:sp>
        <p:nvSpPr>
          <p:cNvPr id="3" name="s4-terminal">
            <a:extLst xmlns:a="http://schemas.openxmlformats.org/drawingml/2006/main">
              <a:ext uri="{FF2B5EF4-FFF2-40B4-BE49-F238E27FC236}">
                <a16:creationId xmlns:a16="http://schemas.microsoft.com/office/drawing/2014/main" id="{AEA1B5C2-FBA6-40FD-9AFF-73B8BDE6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871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9525">
            <a:solidFill>
              <a:srgbClr val="0B2B56"/>
            </a:solidFill>
            <a:prstDash val="solid"/>
          </a:ln>
        </p:spPr>
      </p:sp>
      <p:cxnSp>
        <p:nvCxnSpPr>
          <p:cNvPr id="29" name="s4-terminal-divider"/>
          <p:cNvCxnSpPr/>
          <p:nvPr/>
        </p:nvCxnSpPr>
        <p:spPr>
          <a:xfrm xmlns:a="http://schemas.openxmlformats.org/drawingml/2006/main">
            <a:off x="6334125" y="2038350"/>
            <a:ext cx="953" cy="33528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4466F"/>
            </a:solidFill>
            <a:prstDash val="solid"/>
          </a:ln>
        </p:spPr>
      </p:cxnSp>
      <p:sp>
        <p:nvSpPr>
          <p:cNvPr id="5" name="s4-dot1">
            <a:extLst xmlns:a="http://schemas.openxmlformats.org/drawingml/2006/main">
              <a:ext uri="{FF2B5EF4-FFF2-40B4-BE49-F238E27FC236}">
                <a16:creationId xmlns:a16="http://schemas.microsoft.com/office/drawing/2014/main" id="{B2DDEE5B-8847-4D78-9FC8-C3CA8731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515D"/>
          </a:solidFill>
          <a:ln xmlns:a="http://schemas.openxmlformats.org/drawingml/2006/main" w="0">
            <a:solidFill>
              <a:srgbClr val="D4515D"/>
            </a:solidFill>
            <a:prstDash val="solid"/>
          </a:ln>
        </p:spPr>
      </p:sp>
      <p:sp>
        <p:nvSpPr>
          <p:cNvPr id="6" name="s4-dot2">
            <a:extLst xmlns:a="http://schemas.openxmlformats.org/drawingml/2006/main">
              <a:ext uri="{FF2B5EF4-FFF2-40B4-BE49-F238E27FC236}">
                <a16:creationId xmlns:a16="http://schemas.microsoft.com/office/drawing/2014/main" id="{A4120322-37E7-4602-806E-41D8EFFB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712"/>
          </a:solidFill>
          <a:ln xmlns:a="http://schemas.openxmlformats.org/drawingml/2006/main" w="0">
            <a:solidFill>
              <a:srgbClr val="B87712"/>
            </a:solidFill>
            <a:prstDash val="solid"/>
          </a:ln>
        </p:spPr>
      </p:sp>
      <p:sp>
        <p:nvSpPr>
          <p:cNvPr id="7" name="s4-dot3">
            <a:extLst xmlns:a="http://schemas.openxmlformats.org/drawingml/2006/main">
              <a:ext uri="{FF2B5EF4-FFF2-40B4-BE49-F238E27FC236}">
                <a16:creationId xmlns:a16="http://schemas.microsoft.com/office/drawing/2014/main" id="{FBB6EC7D-42BA-4247-A36C-6FBFEB45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8" name="s4-command-label">
            <a:extLst xmlns:a="http://schemas.openxmlformats.org/drawingml/2006/main">
              <a:ext uri="{FF2B5EF4-FFF2-40B4-BE49-F238E27FC236}">
                <a16:creationId xmlns:a16="http://schemas.microsoft.com/office/drawing/2014/main" id="{BA374669-918A-48C4-AB7E-F32EE3FA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COMMAND</a:t>
            </a:r>
          </a:p>
        </p:txBody>
      </p:sp>
      <p:sp>
        <p:nvSpPr>
          <p:cNvPr id="9" name="s4-command">
            <a:extLst xmlns:a="http://schemas.openxmlformats.org/drawingml/2006/main">
              <a:ext uri="{FF2B5EF4-FFF2-40B4-BE49-F238E27FC236}">
                <a16:creationId xmlns:a16="http://schemas.microsoft.com/office/drawing/2014/main" id="{9BE86474-632D-43EA-9C9E-89468A5B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5000625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$ palace context
  "Fix adaptive full-palace mode
   so relevant memory is included
   with current-code-first guardrails"
  --auto</a:t>
            </a:r>
          </a:p>
        </p:txBody>
      </p:sp>
      <p:sp>
        <p:nvSpPr>
          <p:cNvPr id="10" name="s4-command-note">
            <a:extLst xmlns:a="http://schemas.openxmlformats.org/drawingml/2006/main">
              <a:ext uri="{FF2B5EF4-FFF2-40B4-BE49-F238E27FC236}">
                <a16:creationId xmlns:a16="http://schemas.microsoft.com/office/drawing/2014/main" id="{27D11303-38FE-411A-B586-4587331D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476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One request. No full-repo paste.</a:t>
            </a:r>
          </a:p>
        </p:txBody>
      </p:sp>
      <p:sp>
        <p:nvSpPr>
          <p:cNvPr id="11" name="s4-output-label">
            <a:extLst xmlns:a="http://schemas.openxmlformats.org/drawingml/2006/main">
              <a:ext uri="{FF2B5EF4-FFF2-40B4-BE49-F238E27FC236}">
                <a16:creationId xmlns:a16="http://schemas.microsoft.com/office/drawing/2014/main" id="{F06940CE-1C30-47DD-9F3F-634D6640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LIVE OUTPUT</a:t>
            </a:r>
          </a:p>
        </p:txBody>
      </p:sp>
      <p:sp>
        <p:nvSpPr>
          <p:cNvPr id="12" name="s4-o1a">
            <a:extLst xmlns:a="http://schemas.openxmlformats.org/drawingml/2006/main">
              <a:ext uri="{FF2B5EF4-FFF2-40B4-BE49-F238E27FC236}">
                <a16:creationId xmlns:a16="http://schemas.microsoft.com/office/drawing/2014/main" id="{E954E9FD-4ABC-49A8-98B8-7CB739A7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289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Mode</a:t>
            </a:r>
          </a:p>
        </p:txBody>
      </p:sp>
      <p:sp>
        <p:nvSpPr>
          <p:cNvPr id="13" name="s4-o1b">
            <a:extLst xmlns:a="http://schemas.openxmlformats.org/drawingml/2006/main">
              <a:ext uri="{FF2B5EF4-FFF2-40B4-BE49-F238E27FC236}">
                <a16:creationId xmlns:a16="http://schemas.microsoft.com/office/drawing/2014/main" id="{FF81212A-580A-4793-B355-F7016ECC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2890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guarded-memory-palace</a:t>
            </a:r>
          </a:p>
        </p:txBody>
      </p:sp>
      <p:sp>
        <p:nvSpPr>
          <p:cNvPr id="14" name="s4-o2a">
            <a:extLst xmlns:a="http://schemas.openxmlformats.org/drawingml/2006/main">
              <a:ext uri="{FF2B5EF4-FFF2-40B4-BE49-F238E27FC236}">
                <a16:creationId xmlns:a16="http://schemas.microsoft.com/office/drawing/2014/main" id="{8124CF30-039C-43EF-9CE1-B1D7F6E7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5752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Route confidence</a:t>
            </a:r>
          </a:p>
        </p:txBody>
      </p:sp>
      <p:sp>
        <p:nvSpPr>
          <p:cNvPr id="15" name="s4-o2b">
            <a:extLst xmlns:a="http://schemas.openxmlformats.org/drawingml/2006/main">
              <a:ext uri="{FF2B5EF4-FFF2-40B4-BE49-F238E27FC236}">
                <a16:creationId xmlns:a16="http://schemas.microsoft.com/office/drawing/2014/main" id="{445EFAC5-8441-473A-805E-6255B05A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57525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B7D5"/>
                </a:solidFill>
                <a:latin typeface="Consolas"/>
                <a:ea typeface="Consolas"/>
                <a:cs typeface="Consolas"/>
              </a:defRPr>
            </a:pPr>
            <a:r>
              <a:t>0.81</a:t>
            </a:r>
          </a:p>
        </p:txBody>
      </p:sp>
      <p:sp>
        <p:nvSpPr>
          <p:cNvPr id="16" name="s4-o3a">
            <a:extLst xmlns:a="http://schemas.openxmlformats.org/drawingml/2006/main">
              <a:ext uri="{FF2B5EF4-FFF2-40B4-BE49-F238E27FC236}">
                <a16:creationId xmlns:a16="http://schemas.microsoft.com/office/drawing/2014/main" id="{FE8313A0-DBD2-4D3C-8432-DB6839E1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86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Payload</a:t>
            </a:r>
          </a:p>
        </p:txBody>
      </p:sp>
      <p:sp>
        <p:nvSpPr>
          <p:cNvPr id="17" name="s4-o3b">
            <a:extLst xmlns:a="http://schemas.openxmlformats.org/drawingml/2006/main">
              <a:ext uri="{FF2B5EF4-FFF2-40B4-BE49-F238E27FC236}">
                <a16:creationId xmlns:a16="http://schemas.microsoft.com/office/drawing/2014/main" id="{78569779-1F75-4CD9-992E-3A04F766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1,165 est. tokens</a:t>
            </a:r>
          </a:p>
        </p:txBody>
      </p:sp>
      <p:sp>
        <p:nvSpPr>
          <p:cNvPr id="18" name="s4-o4a">
            <a:extLst xmlns:a="http://schemas.openxmlformats.org/drawingml/2006/main">
              <a:ext uri="{FF2B5EF4-FFF2-40B4-BE49-F238E27FC236}">
                <a16:creationId xmlns:a16="http://schemas.microsoft.com/office/drawing/2014/main" id="{5A134E6B-A5C0-4DDD-9529-0892C136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Primary</a:t>
            </a:r>
          </a:p>
        </p:txBody>
      </p:sp>
      <p:sp>
        <p:nvSpPr>
          <p:cNvPr id="19" name="s4-o4b">
            <a:extLst xmlns:a="http://schemas.openxmlformats.org/drawingml/2006/main">
              <a:ext uri="{FF2B5EF4-FFF2-40B4-BE49-F238E27FC236}">
                <a16:creationId xmlns:a16="http://schemas.microsoft.com/office/drawing/2014/main" id="{2DB88EB1-A797-4AEA-A6DA-91C3A2A6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14775"/>
            <a:ext cx="2762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context-packer.ts
mode-selector.ts</a:t>
            </a:r>
          </a:p>
        </p:txBody>
      </p:sp>
      <p:sp>
        <p:nvSpPr>
          <p:cNvPr id="20" name="s4-o5a">
            <a:extLst xmlns:a="http://schemas.openxmlformats.org/drawingml/2006/main">
              <a:ext uri="{FF2B5EF4-FFF2-40B4-BE49-F238E27FC236}">
                <a16:creationId xmlns:a16="http://schemas.microsoft.com/office/drawing/2014/main" id="{490F1FE3-EB67-4C8C-A5E6-170C3958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29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Memory</a:t>
            </a:r>
          </a:p>
        </p:txBody>
      </p:sp>
      <p:sp>
        <p:nvSpPr>
          <p:cNvPr id="21" name="s4-o5b">
            <a:extLst xmlns:a="http://schemas.openxmlformats.org/drawingml/2006/main">
              <a:ext uri="{FF2B5EF4-FFF2-40B4-BE49-F238E27FC236}">
                <a16:creationId xmlns:a16="http://schemas.microsoft.com/office/drawing/2014/main" id="{8C85233A-30D2-4019-B87A-045BB991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3 items + 1 guardrail</a:t>
            </a:r>
          </a:p>
        </p:txBody>
      </p:sp>
      <p:sp>
        <p:nvSpPr>
          <p:cNvPr id="22" name="s4-output-note">
            <a:extLst xmlns:a="http://schemas.openxmlformats.org/drawingml/2006/main">
              <a:ext uri="{FF2B5EF4-FFF2-40B4-BE49-F238E27FC236}">
                <a16:creationId xmlns:a16="http://schemas.microsoft.com/office/drawing/2014/main" id="{F75EC3B4-5808-4810-8BF0-3B8BECDC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438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Primary files first. Supporting context stays bounded.</a:t>
            </a:r>
          </a:p>
        </p:txBody>
      </p:sp>
      <p:cxnSp>
        <p:nvCxnSpPr>
          <p:cNvPr id="48" name="footer-rule-4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0F0D8938-A89A-4493-9D6F-C0E83996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Live local CLI output captured 2026-07-19 · vertex-palace@0.2.3</a:t>
            </a:r>
          </a:p>
        </p:txBody>
      </p:sp>
      <p:sp>
        <p:nvSpPr>
          <p:cNvPr id="2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54A5B34E-C247-47E2-A958-1B925C40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526199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5-title">
            <a:extLst xmlns:a="http://schemas.openxmlformats.org/drawingml/2006/main">
              <a:ext uri="{FF2B5EF4-FFF2-40B4-BE49-F238E27FC236}">
                <a16:creationId xmlns:a16="http://schemas.microsoft.com/office/drawing/2014/main" id="{D35F4426-6DDA-41A9-A765-9D36A49E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route is measured after the task, not trusted blindly.</a:t>
            </a:r>
          </a:p>
        </p:txBody>
      </p:sp>
      <p:sp>
        <p:nvSpPr>
          <p:cNvPr id="2" name="s5-subtitle">
            <a:extLst xmlns:a="http://schemas.openxmlformats.org/drawingml/2006/main">
              <a:ext uri="{FF2B5EF4-FFF2-40B4-BE49-F238E27FC236}">
                <a16:creationId xmlns:a16="http://schemas.microsoft.com/office/drawing/2014/main" id="{5B81A1D7-33A5-403F-940A-AB9321BE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palace evaluate compares the selected context with the files that actually changed.</a:t>
            </a:r>
          </a:p>
        </p:txBody>
      </p:sp>
      <p:sp>
        <p:nvSpPr>
          <p:cNvPr id="3" name="s5-chart-label-pack">
            <a:extLst xmlns:a="http://schemas.openxmlformats.org/drawingml/2006/main">
              <a:ext uri="{FF2B5EF4-FFF2-40B4-BE49-F238E27FC236}">
                <a16:creationId xmlns:a16="http://schemas.microsoft.com/office/drawing/2014/main" id="{15374AF6-392A-40A3-A784-6090F6E8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Context pack</a:t>
            </a:r>
          </a:p>
        </p:txBody>
      </p:sp>
      <p:sp>
        <p:nvSpPr>
          <p:cNvPr id="4" name="s5-chart-label-repo">
            <a:extLst xmlns:a="http://schemas.openxmlformats.org/drawingml/2006/main">
              <a:ext uri="{FF2B5EF4-FFF2-40B4-BE49-F238E27FC236}">
                <a16:creationId xmlns:a16="http://schemas.microsoft.com/office/drawing/2014/main" id="{857CE099-7D3C-4806-9B0E-A935E09A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Indexed repo</a:t>
            </a:r>
          </a:p>
        </p:txBody>
      </p:sp>
      <p:sp>
        <p:nvSpPr>
          <p:cNvPr id="5" name="s5-stat1">
            <a:extLst xmlns:a="http://schemas.openxmlformats.org/drawingml/2006/main">
              <a:ext uri="{FF2B5EF4-FFF2-40B4-BE49-F238E27FC236}">
                <a16:creationId xmlns:a16="http://schemas.microsoft.com/office/drawing/2014/main" id="{510BE700-F9C1-4618-8AB5-E0F514AB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43100"/>
            <a:ext cx="3333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100%</a:t>
            </a:r>
          </a:p>
        </p:txBody>
      </p:sp>
      <p:sp>
        <p:nvSpPr>
          <p:cNvPr id="6" name="s5-stat1-label">
            <a:extLst xmlns:a="http://schemas.openxmlformats.org/drawingml/2006/main">
              <a:ext uri="{FF2B5EF4-FFF2-40B4-BE49-F238E27FC236}">
                <a16:creationId xmlns:a16="http://schemas.microsoft.com/office/drawing/2014/main" id="{3C9856A0-5542-4072-8570-5336FE30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changed-file coverage</a:t>
            </a:r>
          </a:p>
        </p:txBody>
      </p:sp>
      <p:cxnSp>
        <p:nvCxnSpPr>
          <p:cNvPr id="23" name="s5-r1"/>
          <p:cNvCxnSpPr/>
          <p:nvPr/>
        </p:nvCxnSpPr>
        <p:spPr>
          <a:xfrm xmlns:a="http://schemas.openxmlformats.org/drawingml/2006/main">
            <a:off x="7867650" y="3371850"/>
            <a:ext cx="33147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5-stat2">
            <a:extLst xmlns:a="http://schemas.openxmlformats.org/drawingml/2006/main">
              <a:ext uri="{FF2B5EF4-FFF2-40B4-BE49-F238E27FC236}">
                <a16:creationId xmlns:a16="http://schemas.microsoft.com/office/drawing/2014/main" id="{C3969D29-751F-465A-8D81-0ED66641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30%</a:t>
            </a:r>
          </a:p>
        </p:txBody>
      </p:sp>
      <p:sp>
        <p:nvSpPr>
          <p:cNvPr id="9" name="s5-stat2-label">
            <a:extLst xmlns:a="http://schemas.openxmlformats.org/drawingml/2006/main">
              <a:ext uri="{FF2B5EF4-FFF2-40B4-BE49-F238E27FC236}">
                <a16:creationId xmlns:a16="http://schemas.microsoft.com/office/drawing/2014/main" id="{8E5BB0A4-1645-4780-A8D1-3316715C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route focus</a:t>
            </a:r>
          </a:p>
        </p:txBody>
      </p:sp>
      <p:sp>
        <p:nvSpPr>
          <p:cNvPr id="10" name="s5-stat3">
            <a:extLst xmlns:a="http://schemas.openxmlformats.org/drawingml/2006/main">
              <a:ext uri="{FF2B5EF4-FFF2-40B4-BE49-F238E27FC236}">
                <a16:creationId xmlns:a16="http://schemas.microsoft.com/office/drawing/2014/main" id="{41EAC7CB-18E0-40B8-83CB-EEC902F5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0.81</a:t>
            </a:r>
          </a:p>
        </p:txBody>
      </p:sp>
      <p:sp>
        <p:nvSpPr>
          <p:cNvPr id="11" name="s5-stat3-label">
            <a:extLst xmlns:a="http://schemas.openxmlformats.org/drawingml/2006/main">
              <a:ext uri="{FF2B5EF4-FFF2-40B4-BE49-F238E27FC236}">
                <a16:creationId xmlns:a16="http://schemas.microsoft.com/office/drawing/2014/main" id="{8CACC0FA-D6CD-49C4-BC77-1D7FC51B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confidence</a:t>
            </a:r>
          </a:p>
        </p:txBody>
      </p:sp>
      <p:sp>
        <p:nvSpPr>
          <p:cNvPr id="12" name="s5-explain">
            <a:extLst xmlns:a="http://schemas.openxmlformats.org/drawingml/2006/main">
              <a:ext uri="{FF2B5EF4-FFF2-40B4-BE49-F238E27FC236}">
                <a16:creationId xmlns:a16="http://schemas.microsoft.com/office/drawing/2014/main" id="{E537750A-8D2D-4833-B7C1-CC328B60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3333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Observed coverage was stronger than predicted, so the route was labeled underconfident.</a:t>
            </a:r>
          </a:p>
        </p:txBody>
      </p:sp>
      <p:cxnSp>
        <p:nvCxnSpPr>
          <p:cNvPr id="29" name="footer-rule-5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9D323E44-8B38-4A30-8173-39057CAE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Current self-evaluation · 87,622 indexed estimated tokens · Context-pack reduction is not total Codex session-token savings</a:t>
            </a:r>
          </a:p>
        </p:txBody>
      </p:sp>
      <p:sp>
        <p:nvSpPr>
          <p:cNvPr id="1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C6D0FAFD-AA84-47FE-9BF1-D56BC4FE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714500" y="1771650"/>
          <a:ext xmlns:a="http://schemas.openxmlformats.org/drawingml/2006/main" cx="541020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e83c61b9544540"/>
          </a:graphicData>
        </a:graphic>
      </p:graphicFrame>
    </p:spTree>
    <p:extLst>
      <p:ext uri="{BB962C8B-B14F-4D97-AF65-F5344CB8AC3E}">
        <p14:creationId xmlns:p14="http://schemas.microsoft.com/office/powerpoint/2010/main" val="13967019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6-title">
            <a:extLst xmlns:a="http://schemas.openxmlformats.org/drawingml/2006/main">
              <a:ext uri="{FF2B5EF4-FFF2-40B4-BE49-F238E27FC236}">
                <a16:creationId xmlns:a16="http://schemas.microsoft.com/office/drawing/2014/main" id="{ACF77855-613B-41FD-8957-492B422D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research result is useful, not magical.</a:t>
            </a:r>
          </a:p>
        </p:txBody>
      </p:sp>
      <p:sp>
        <p:nvSpPr>
          <p:cNvPr id="2" name="s6-subtitle">
            <a:extLst xmlns:a="http://schemas.openxmlformats.org/drawingml/2006/main">
              <a:ext uri="{FF2B5EF4-FFF2-40B4-BE49-F238E27FC236}">
                <a16:creationId xmlns:a16="http://schemas.microsoft.com/office/drawing/2014/main" id="{E1CC9539-625A-42A9-B9E8-9D351A50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preregistered exploratory study compared Control, Route-only, Full Palace, and Adaptive Palace.</a:t>
            </a:r>
          </a:p>
        </p:txBody>
      </p:sp>
      <p:sp>
        <p:nvSpPr>
          <p:cNvPr id="3" name="s6-chart-label-control">
            <a:extLst xmlns:a="http://schemas.openxmlformats.org/drawingml/2006/main">
              <a:ext uri="{FF2B5EF4-FFF2-40B4-BE49-F238E27FC236}">
                <a16:creationId xmlns:a16="http://schemas.microsoft.com/office/drawing/2014/main" id="{81658054-77FC-4B26-8910-8A219321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Control</a:t>
            </a:r>
          </a:p>
        </p:txBody>
      </p:sp>
      <p:sp>
        <p:nvSpPr>
          <p:cNvPr id="4" name="s6-chart-label-full">
            <a:extLst xmlns:a="http://schemas.openxmlformats.org/drawingml/2006/main">
              <a:ext uri="{FF2B5EF4-FFF2-40B4-BE49-F238E27FC236}">
                <a16:creationId xmlns:a16="http://schemas.microsoft.com/office/drawing/2014/main" id="{3ADDE3A8-8517-4EB9-AF42-D813F0E8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Full</a:t>
            </a:r>
          </a:p>
        </p:txBody>
      </p:sp>
      <p:sp>
        <p:nvSpPr>
          <p:cNvPr id="5" name="s6-stat">
            <a:extLst xmlns:a="http://schemas.openxmlformats.org/drawingml/2006/main">
              <a:ext uri="{FF2B5EF4-FFF2-40B4-BE49-F238E27FC236}">
                <a16:creationId xmlns:a16="http://schemas.microsoft.com/office/drawing/2014/main" id="{CDE68CE2-9F33-41A7-A9C6-C5F02DEA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64/64</a:t>
            </a:r>
          </a:p>
        </p:txBody>
      </p:sp>
      <p:sp>
        <p:nvSpPr>
          <p:cNvPr id="6" name="s6-stat-label">
            <a:extLst xmlns:a="http://schemas.openxmlformats.org/drawingml/2006/main">
              <a:ext uri="{FF2B5EF4-FFF2-40B4-BE49-F238E27FC236}">
                <a16:creationId xmlns:a16="http://schemas.microsoft.com/office/drawing/2014/main" id="{D817698C-7A3D-4405-9872-DF3F6885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86050"/>
            <a:ext cx="3048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arms valid, successful,
and correctly scoped</a:t>
            </a:r>
          </a:p>
        </p:txBody>
      </p:sp>
      <p:cxnSp>
        <p:nvCxnSpPr>
          <p:cNvPr id="22" name="s6-r1"/>
          <p:cNvCxnSpPr/>
          <p:nvPr/>
        </p:nvCxnSpPr>
        <p:spPr>
          <a:xfrm xmlns:a="http://schemas.openxmlformats.org/drawingml/2006/main">
            <a:off x="8039100" y="3638550"/>
            <a:ext cx="3162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6-supported">
            <a:extLst xmlns:a="http://schemas.openxmlformats.org/drawingml/2006/main">
              <a:ext uri="{FF2B5EF4-FFF2-40B4-BE49-F238E27FC236}">
                <a16:creationId xmlns:a16="http://schemas.microsoft.com/office/drawing/2014/main" id="{FE922A09-0B03-404E-91F1-E10E3009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Supported</a:t>
            </a:r>
          </a:p>
        </p:txBody>
      </p:sp>
      <p:sp>
        <p:nvSpPr>
          <p:cNvPr id="9" name="s6-supported-body">
            <a:extLst xmlns:a="http://schemas.openxmlformats.org/drawingml/2006/main">
              <a:ext uri="{FF2B5EF4-FFF2-40B4-BE49-F238E27FC236}">
                <a16:creationId xmlns:a16="http://schemas.microsoft.com/office/drawing/2014/main" id="{3C177898-B0AF-4F83-89E4-C792BEEC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291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produced a smaller Palace-owned payload than always-on Full Palace.</a:t>
            </a:r>
          </a:p>
        </p:txBody>
      </p:sp>
      <p:sp>
        <p:nvSpPr>
          <p:cNvPr id="10" name="s6-unsupported">
            <a:extLst xmlns:a="http://schemas.openxmlformats.org/drawingml/2006/main">
              <a:ext uri="{FF2B5EF4-FFF2-40B4-BE49-F238E27FC236}">
                <a16:creationId xmlns:a16="http://schemas.microsoft.com/office/drawing/2014/main" id="{18324A18-340B-4EAB-BE12-C928503E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515D"/>
                </a:solidFill>
                <a:latin typeface="Arial"/>
                <a:ea typeface="Arial"/>
                <a:cs typeface="Arial"/>
              </a:defRPr>
            </a:pPr>
            <a:r>
              <a:t>Not supported</a:t>
            </a:r>
          </a:p>
        </p:txBody>
      </p:sp>
      <p:sp>
        <p:nvSpPr>
          <p:cNvPr id="11" name="s6-unsupported-body">
            <a:extLst xmlns:a="http://schemas.openxmlformats.org/drawingml/2006/main">
              <a:ext uri="{FF2B5EF4-FFF2-40B4-BE49-F238E27FC236}">
                <a16:creationId xmlns:a16="http://schemas.microsoft.com/office/drawing/2014/main" id="{AD856CD7-9EE2-48D0-A902-79E56003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67350"/>
            <a:ext cx="3143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universal claim of lower end-to-end tokens or faster execution.</a:t>
            </a:r>
          </a:p>
        </p:txBody>
      </p:sp>
      <p:cxnSp>
        <p:nvCxnSpPr>
          <p:cNvPr id="27" name="footer-rule-6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A1B22078-607D-47F4-86C5-E3A17323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Exploratory v2.2 · 16 trials / 64 arms · Vertex Palace 0.2.1 · github.com/lohchanhin/benchmarks-ab-demo</a:t>
            </a:r>
          </a:p>
        </p:txBody>
      </p:sp>
      <p:sp>
        <p:nvSpPr>
          <p:cNvPr id="1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592928E7-D616-4B17-9567-2EEE4D85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2476500" y="1809750"/>
          <a:ext xmlns:a="http://schemas.openxmlformats.org/drawingml/2006/main" cx="48958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5fdcea74d24596"/>
          </a:graphicData>
        </a:graphic>
      </p:graphicFrame>
    </p:spTree>
    <p:extLst>
      <p:ext uri="{BB962C8B-B14F-4D97-AF65-F5344CB8AC3E}">
        <p14:creationId xmlns:p14="http://schemas.microsoft.com/office/powerpoint/2010/main" val="3336645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7-title">
            <a:extLst xmlns:a="http://schemas.openxmlformats.org/drawingml/2006/main">
              <a:ext uri="{FF2B5EF4-FFF2-40B4-BE49-F238E27FC236}">
                <a16:creationId xmlns:a16="http://schemas.microsoft.com/office/drawing/2014/main" id="{27FC7876-5211-4706-9520-259EF0DA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Build Week turned failed evidence into product changes.</a:t>
            </a:r>
          </a:p>
        </p:txBody>
      </p:sp>
      <p:sp>
        <p:nvSpPr>
          <p:cNvPr id="2" name="s7-subtitle">
            <a:extLst xmlns:a="http://schemas.openxmlformats.org/drawingml/2006/main">
              <a:ext uri="{FF2B5EF4-FFF2-40B4-BE49-F238E27FC236}">
                <a16:creationId xmlns:a16="http://schemas.microsoft.com/office/drawing/2014/main" id="{FDC73038-17AD-412F-BFB6-FC86DBDA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Codex with GPT-5.6 helped trace failures across routing, memory, CLI, MCP, packaging, and tests.</a:t>
            </a:r>
          </a:p>
        </p:txBody>
      </p:sp>
      <p:cxnSp>
        <p:nvCxnSpPr>
          <p:cNvPr id="28" name="s7-timeline"/>
          <p:cNvCxnSpPr/>
          <p:nvPr/>
        </p:nvCxnSpPr>
        <p:spPr>
          <a:xfrm xmlns:a="http://schemas.openxmlformats.org/drawingml/2006/main">
            <a:off x="1847850" y="4457700"/>
            <a:ext cx="8458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29" name="s7-c1"/>
          <p:cNvCxnSpPr/>
          <p:nvPr/>
        </p:nvCxnSpPr>
        <p:spPr>
          <a:xfrm xmlns:a="http://schemas.openxmlformats.org/drawingml/2006/main">
            <a:off x="23431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0" name="s7-c2"/>
          <p:cNvCxnSpPr/>
          <p:nvPr/>
        </p:nvCxnSpPr>
        <p:spPr>
          <a:xfrm xmlns:a="http://schemas.openxmlformats.org/drawingml/2006/main">
            <a:off x="60769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1" name="s7-c3"/>
          <p:cNvCxnSpPr/>
          <p:nvPr/>
        </p:nvCxnSpPr>
        <p:spPr>
          <a:xfrm xmlns:a="http://schemas.openxmlformats.org/drawingml/2006/main">
            <a:off x="98107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s7-card1">
            <a:extLst xmlns:a="http://schemas.openxmlformats.org/drawingml/2006/main">
              <a:ext uri="{FF2B5EF4-FFF2-40B4-BE49-F238E27FC236}">
                <a16:creationId xmlns:a16="http://schemas.microsoft.com/office/drawing/2014/main" id="{80B10633-CC49-4528-951B-FAC4295D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8" name="s7-card2">
            <a:extLst xmlns:a="http://schemas.openxmlformats.org/drawingml/2006/main">
              <a:ext uri="{FF2B5EF4-FFF2-40B4-BE49-F238E27FC236}">
                <a16:creationId xmlns:a16="http://schemas.microsoft.com/office/drawing/2014/main" id="{BB708C9D-ADCA-4DAD-B976-2ED33C17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9" name="s7-card3">
            <a:extLst xmlns:a="http://schemas.openxmlformats.org/drawingml/2006/main">
              <a:ext uri="{FF2B5EF4-FFF2-40B4-BE49-F238E27FC236}">
                <a16:creationId xmlns:a16="http://schemas.microsoft.com/office/drawing/2014/main" id="{1D3EBFCE-B074-4FE8-A1C1-38BFECEC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0" name="s7-dot1">
            <a:extLst xmlns:a="http://schemas.openxmlformats.org/drawingml/2006/main">
              <a:ext uri="{FF2B5EF4-FFF2-40B4-BE49-F238E27FC236}">
                <a16:creationId xmlns:a16="http://schemas.microsoft.com/office/drawing/2014/main" id="{D39059FC-DD61-41DB-9F5C-D940E87D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1224"/>
          </a:solidFill>
          <a:ln xmlns:a="http://schemas.openxmlformats.org/drawingml/2006/main" w="0">
            <a:solidFill>
              <a:srgbClr val="0A1224"/>
            </a:solidFill>
            <a:prstDash val="solid"/>
          </a:ln>
        </p:spPr>
      </p:sp>
      <p:sp>
        <p:nvSpPr>
          <p:cNvPr id="11" name="s7-dot2">
            <a:extLst xmlns:a="http://schemas.openxmlformats.org/drawingml/2006/main">
              <a:ext uri="{FF2B5EF4-FFF2-40B4-BE49-F238E27FC236}">
                <a16:creationId xmlns:a16="http://schemas.microsoft.com/office/drawing/2014/main" id="{6B251CA2-EDBD-4997-B4C7-A2333B46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7-dot3">
            <a:extLst xmlns:a="http://schemas.openxmlformats.org/drawingml/2006/main">
              <a:ext uri="{FF2B5EF4-FFF2-40B4-BE49-F238E27FC236}">
                <a16:creationId xmlns:a16="http://schemas.microsoft.com/office/drawing/2014/main" id="{40ABDC04-DA54-4AA2-A42E-FFA11751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13" name="s7-k1">
            <a:extLst xmlns:a="http://schemas.openxmlformats.org/drawingml/2006/main">
              <a:ext uri="{FF2B5EF4-FFF2-40B4-BE49-F238E27FC236}">
                <a16:creationId xmlns:a16="http://schemas.microsoft.com/office/drawing/2014/main" id="{A80966A8-8666-43C8-B9C8-416F1C1B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4" name="s7-b1">
            <a:extLst xmlns:a="http://schemas.openxmlformats.org/drawingml/2006/main">
              <a:ext uri="{FF2B5EF4-FFF2-40B4-BE49-F238E27FC236}">
                <a16:creationId xmlns:a16="http://schemas.microsoft.com/office/drawing/2014/main" id="{EC746CCD-3B0C-4E8E-A60F-20FB8D55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64-run study exposed a Full-Palace memory omission.</a:t>
            </a:r>
          </a:p>
        </p:txBody>
      </p:sp>
      <p:sp>
        <p:nvSpPr>
          <p:cNvPr id="15" name="s7-v1">
            <a:extLst xmlns:a="http://schemas.openxmlformats.org/drawingml/2006/main">
              <a:ext uri="{FF2B5EF4-FFF2-40B4-BE49-F238E27FC236}">
                <a16:creationId xmlns:a16="http://schemas.microsoft.com/office/drawing/2014/main" id="{31733DC4-9C55-49BC-BC79-25517120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v0.2.1</a:t>
            </a:r>
          </a:p>
        </p:txBody>
      </p:sp>
      <p:sp>
        <p:nvSpPr>
          <p:cNvPr id="16" name="s7-k2">
            <a:extLst xmlns:a="http://schemas.openxmlformats.org/drawingml/2006/main">
              <a:ext uri="{FF2B5EF4-FFF2-40B4-BE49-F238E27FC236}">
                <a16:creationId xmlns:a16="http://schemas.microsoft.com/office/drawing/2014/main" id="{0B325EC1-46EC-40BD-9791-635E24C4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FIX</a:t>
            </a:r>
          </a:p>
        </p:txBody>
      </p:sp>
      <p:sp>
        <p:nvSpPr>
          <p:cNvPr id="17" name="s7-b2">
            <a:extLst xmlns:a="http://schemas.openxmlformats.org/drawingml/2006/main">
              <a:ext uri="{FF2B5EF4-FFF2-40B4-BE49-F238E27FC236}">
                <a16:creationId xmlns:a16="http://schemas.microsoft.com/office/drawing/2014/main" id="{D008F08F-E162-455C-A1D4-1C984901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+ GPT-5.6 traced the root cause and added memory-fidelity regression tests.</a:t>
            </a:r>
          </a:p>
        </p:txBody>
      </p:sp>
      <p:sp>
        <p:nvSpPr>
          <p:cNvPr id="18" name="s7-v2">
            <a:extLst xmlns:a="http://schemas.openxmlformats.org/drawingml/2006/main">
              <a:ext uri="{FF2B5EF4-FFF2-40B4-BE49-F238E27FC236}">
                <a16:creationId xmlns:a16="http://schemas.microsoft.com/office/drawing/2014/main" id="{69E6F07F-7221-4FA9-9EA4-6296F4F8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677FF"/>
                </a:solidFill>
                <a:latin typeface="Consolas"/>
                <a:ea typeface="Consolas"/>
                <a:cs typeface="Consolas"/>
              </a:defRPr>
            </a:pPr>
            <a:r>
              <a:t>v0.2.2</a:t>
            </a:r>
          </a:p>
        </p:txBody>
      </p:sp>
      <p:sp>
        <p:nvSpPr>
          <p:cNvPr id="19" name="s7-k3">
            <a:extLst xmlns:a="http://schemas.openxmlformats.org/drawingml/2006/main">
              <a:ext uri="{FF2B5EF4-FFF2-40B4-BE49-F238E27FC236}">
                <a16:creationId xmlns:a16="http://schemas.microsoft.com/office/drawing/2014/main" id="{98A41F99-3E19-4ED7-A94E-5CC6CFD5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EXTEND</a:t>
            </a:r>
          </a:p>
        </p:txBody>
      </p:sp>
      <p:sp>
        <p:nvSpPr>
          <p:cNvPr id="20" name="s7-b3">
            <a:extLst xmlns:a="http://schemas.openxmlformats.org/drawingml/2006/main">
              <a:ext uri="{FF2B5EF4-FFF2-40B4-BE49-F238E27FC236}">
                <a16:creationId xmlns:a16="http://schemas.microsoft.com/office/drawing/2014/main" id="{69BEFD4D-B40C-4EB6-B114-6450069E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Release routing expanded across npm, MCP, plugin metadata, docs, and CI.</a:t>
            </a:r>
          </a:p>
        </p:txBody>
      </p:sp>
      <p:sp>
        <p:nvSpPr>
          <p:cNvPr id="21" name="s7-v3">
            <a:extLst xmlns:a="http://schemas.openxmlformats.org/drawingml/2006/main">
              <a:ext uri="{FF2B5EF4-FFF2-40B4-BE49-F238E27FC236}">
                <a16:creationId xmlns:a16="http://schemas.microsoft.com/office/drawing/2014/main" id="{A792DA74-DA87-40C2-AD7A-AF4972DA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v0.2.3</a:t>
            </a:r>
          </a:p>
        </p:txBody>
      </p:sp>
      <p:sp>
        <p:nvSpPr>
          <p:cNvPr id="22" name="s7-human">
            <a:extLst xmlns:a="http://schemas.openxmlformats.org/drawingml/2006/main">
              <a:ext uri="{FF2B5EF4-FFF2-40B4-BE49-F238E27FC236}">
                <a16:creationId xmlns:a16="http://schemas.microsoft.com/office/drawing/2014/main" id="{A39BF957-E6BC-4853-AE03-0D746692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3950"/>
            <a:ext cx="9448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Human decisions stayed explicit: deterministic local evaluation, scoped memory, and current code + tests before remembered advice.</a:t>
            </a:r>
          </a:p>
        </p:txBody>
      </p:sp>
      <p:cxnSp>
        <p:nvCxnSpPr>
          <p:cNvPr id="48" name="footer-rule-7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F3490E14-E7CD-4B1B-8F16-4FBBF4AA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Build Week record: BUILD_WEEK.md · dated Git history · /feedback Session 019f4280-40ee-7172-b94d-f5aa7aa46814</a:t>
            </a:r>
          </a:p>
        </p:txBody>
      </p:sp>
      <p:sp>
        <p:nvSpPr>
          <p:cNvPr id="2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8B504-CD81-4E39-A825-38D6D6C9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37349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8-eyebrow">
            <a:extLst xmlns:a="http://schemas.openxmlformats.org/drawingml/2006/main">
              <a:ext uri="{FF2B5EF4-FFF2-40B4-BE49-F238E27FC236}">
                <a16:creationId xmlns:a16="http://schemas.microsoft.com/office/drawing/2014/main" id="{E65E9B11-4AAA-4A35-9E53-B9898B75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READY TO TEST</a:t>
            </a:r>
          </a:p>
        </p:txBody>
      </p:sp>
      <p:sp>
        <p:nvSpPr>
          <p:cNvPr id="2" name="s8-title">
            <a:extLst xmlns:a="http://schemas.openxmlformats.org/drawingml/2006/main">
              <a:ext uri="{FF2B5EF4-FFF2-40B4-BE49-F238E27FC236}">
                <a16:creationId xmlns:a16="http://schemas.microsoft.com/office/drawing/2014/main" id="{25BCDD51-7836-4F24-87C2-AC7EEF0E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51435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Install.
Route.
Verify.</a:t>
            </a:r>
          </a:p>
        </p:txBody>
      </p:sp>
      <p:cxnSp>
        <p:nvCxnSpPr>
          <p:cNvPr id="21" name="s8-accent"/>
          <p:cNvCxnSpPr/>
          <p:nvPr/>
        </p:nvCxnSpPr>
        <p:spPr>
          <a:xfrm xmlns:a="http://schemas.openxmlformats.org/drawingml/2006/main">
            <a:off x="495300" y="4438650"/>
            <a:ext cx="12382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8-close">
            <a:extLst xmlns:a="http://schemas.openxmlformats.org/drawingml/2006/main">
              <a:ext uri="{FF2B5EF4-FFF2-40B4-BE49-F238E27FC236}">
                <a16:creationId xmlns:a16="http://schemas.microsoft.com/office/drawing/2014/main" id="{3DA98D3F-6812-446D-A866-C0E86E67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5238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map, a route, a memory, and evidence that the selected context was useful.</a:t>
            </a:r>
          </a:p>
        </p:txBody>
      </p:sp>
      <p:sp>
        <p:nvSpPr>
          <p:cNvPr id="5" name="s8-command-box">
            <a:extLst xmlns:a="http://schemas.openxmlformats.org/drawingml/2006/main">
              <a:ext uri="{FF2B5EF4-FFF2-40B4-BE49-F238E27FC236}">
                <a16:creationId xmlns:a16="http://schemas.microsoft.com/office/drawing/2014/main" id="{6F30E500-4C89-414A-8B10-A80AA3A3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5255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6" name="s8-command">
            <a:extLst xmlns:a="http://schemas.openxmlformats.org/drawingml/2006/main">
              <a:ext uri="{FF2B5EF4-FFF2-40B4-BE49-F238E27FC236}">
                <a16:creationId xmlns:a16="http://schemas.microsoft.com/office/drawing/2014/main" id="{54E3D959-D7D2-4F52-BF13-7DD089E9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14500"/>
            <a:ext cx="41719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npm install -g
vertex-palace@0.2.3</a:t>
            </a:r>
          </a:p>
        </p:txBody>
      </p:sp>
      <p:sp>
        <p:nvSpPr>
          <p:cNvPr id="7" name="s8-github">
            <a:extLst xmlns:a="http://schemas.openxmlformats.org/drawingml/2006/main">
              <a:ext uri="{FF2B5EF4-FFF2-40B4-BE49-F238E27FC236}">
                <a16:creationId xmlns:a16="http://schemas.microsoft.com/office/drawing/2014/main" id="{9D581FBD-7225-4AA5-84C1-813C8E3E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github.com/lohchanhin/vertex-palace</a:t>
            </a:r>
          </a:p>
        </p:txBody>
      </p:sp>
      <p:sp>
        <p:nvSpPr>
          <p:cNvPr id="8" name="s8-npm">
            <a:extLst xmlns:a="http://schemas.openxmlformats.org/drawingml/2006/main">
              <a:ext uri="{FF2B5EF4-FFF2-40B4-BE49-F238E27FC236}">
                <a16:creationId xmlns:a16="http://schemas.microsoft.com/office/drawing/2014/main" id="{D060CE72-FBE5-4677-9DC7-211735AA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npmjs.com/package/vertex-palace</a:t>
            </a:r>
          </a:p>
        </p:txBody>
      </p:sp>
      <p:sp>
        <p:nvSpPr>
          <p:cNvPr id="9" name="s8-d1">
            <a:extLst xmlns:a="http://schemas.openxmlformats.org/drawingml/2006/main">
              <a:ext uri="{FF2B5EF4-FFF2-40B4-BE49-F238E27FC236}">
                <a16:creationId xmlns:a16="http://schemas.microsoft.com/office/drawing/2014/main" id="{D46123D2-78D2-404D-BE78-BE31FD1B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10" name="s8-l1">
            <a:extLst xmlns:a="http://schemas.openxmlformats.org/drawingml/2006/main">
              <a:ext uri="{FF2B5EF4-FFF2-40B4-BE49-F238E27FC236}">
                <a16:creationId xmlns:a16="http://schemas.microsoft.com/office/drawing/2014/main" id="{6CD18A7C-A265-44FB-B991-E39D4459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CLI</a:t>
            </a:r>
          </a:p>
        </p:txBody>
      </p:sp>
      <p:sp>
        <p:nvSpPr>
          <p:cNvPr id="11" name="s8-d2">
            <a:extLst xmlns:a="http://schemas.openxmlformats.org/drawingml/2006/main">
              <a:ext uri="{FF2B5EF4-FFF2-40B4-BE49-F238E27FC236}">
                <a16:creationId xmlns:a16="http://schemas.microsoft.com/office/drawing/2014/main" id="{246562C9-B70A-42CB-B2DC-7DBED1CD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8-l2">
            <a:extLst xmlns:a="http://schemas.openxmlformats.org/drawingml/2006/main">
              <a:ext uri="{FF2B5EF4-FFF2-40B4-BE49-F238E27FC236}">
                <a16:creationId xmlns:a16="http://schemas.microsoft.com/office/drawing/2014/main" id="{FE49A203-DE64-47A4-8F4C-9228D59E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MCP</a:t>
            </a:r>
          </a:p>
        </p:txBody>
      </p:sp>
      <p:sp>
        <p:nvSpPr>
          <p:cNvPr id="13" name="s8-d3">
            <a:extLst xmlns:a="http://schemas.openxmlformats.org/drawingml/2006/main">
              <a:ext uri="{FF2B5EF4-FFF2-40B4-BE49-F238E27FC236}">
                <a16:creationId xmlns:a16="http://schemas.microsoft.com/office/drawing/2014/main" id="{FC0ED1D1-CC2C-48B0-93E0-8B658E3B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14" name="s8-l3">
            <a:extLst xmlns:a="http://schemas.openxmlformats.org/drawingml/2006/main">
              <a:ext uri="{FF2B5EF4-FFF2-40B4-BE49-F238E27FC236}">
                <a16:creationId xmlns:a16="http://schemas.microsoft.com/office/drawing/2014/main" id="{2919F2EF-2478-48DE-9EDB-92828A09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625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plugin</a:t>
            </a:r>
          </a:p>
        </p:txBody>
      </p:sp>
      <p:sp>
        <p:nvSpPr>
          <p:cNvPr id="15" name="s8-platforms">
            <a:extLst xmlns:a="http://schemas.openxmlformats.org/drawingml/2006/main">
              <a:ext uri="{FF2B5EF4-FFF2-40B4-BE49-F238E27FC236}">
                <a16:creationId xmlns:a16="http://schemas.microsoft.com/office/drawing/2014/main" id="{2E5456D7-0A3C-4095-B1DE-CBD341D5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34000"/>
            <a:ext cx="4857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MIT licensed · Windows, macOS, and Linux</a:t>
            </a:r>
          </a:p>
        </p:txBody>
      </p:sp>
      <p:cxnSp>
        <p:nvCxnSpPr>
          <p:cNvPr id="34" name="footer-rule-8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763819D6-142E-4027-9992-42159980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18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6529AE35-2D0E-403F-B31D-7FD915E3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346657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2026-07-19T10:35:45.6470000Z</dcterms:created>
  <dcterms:modified xsi:type="dcterms:W3CDTF">2026-07-19T10:35:45.6480000Z</dcterms:modified>
</coreProperties>
</file>