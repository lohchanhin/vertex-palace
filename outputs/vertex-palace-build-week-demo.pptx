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6274e081e9f42ef" /><Relationship Type="http://schemas.openxmlformats.org/officeDocument/2006/relationships/extended-properties" Target="/docProps/app.xml" Id="Ra833efafffc648b1" /><Relationship Type="http://schemas.openxmlformats.org/officeDocument/2006/relationships/officeDocument" Target="/ppt/presentation.xml" Id="Re4d958569c3a41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2c9a5baca9456e"/>
  </p:sldMasterIdLst>
  <p:notesMasterIdLst>
    <p:notesMasterId xmlns:r="http://schemas.openxmlformats.org/officeDocument/2006/relationships" r:id="R9823172bfb3b4dd3"/>
  </p:notesMasterIdLst>
  <p:sldIdLst>
    <p:sldId xmlns:r="http://schemas.openxmlformats.org/officeDocument/2006/relationships" id="256" r:id="R7a6a1aad2d4b4843"/>
    <p:sldId xmlns:r="http://schemas.openxmlformats.org/officeDocument/2006/relationships" id="257" r:id="R005125e0c92040e5"/>
    <p:sldId xmlns:r="http://schemas.openxmlformats.org/officeDocument/2006/relationships" id="258" r:id="Re2c08d55d21d49b6"/>
    <p:sldId xmlns:r="http://schemas.openxmlformats.org/officeDocument/2006/relationships" id="259" r:id="Ra9b4943a0e0546b9"/>
    <p:sldId xmlns:r="http://schemas.openxmlformats.org/officeDocument/2006/relationships" id="260" r:id="R07cebb8b9a344ec9"/>
    <p:sldId xmlns:r="http://schemas.openxmlformats.org/officeDocument/2006/relationships" id="261" r:id="R3a3ac93bbf0b439b"/>
    <p:sldId xmlns:r="http://schemas.openxmlformats.org/officeDocument/2006/relationships" id="262" r:id="Ra50b6d9c070e45ae"/>
    <p:sldId xmlns:r="http://schemas.openxmlformats.org/officeDocument/2006/relationships" id="263" r:id="R8bdfaaf9d0b4401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7e3d3fa08c4173" /><Relationship Type="http://schemas.openxmlformats.org/officeDocument/2006/relationships/slideMaster" Target="/ppt/slideMasters/slideMaster1.xml" Id="R912c9a5baca9456e" /><Relationship Type="http://schemas.openxmlformats.org/officeDocument/2006/relationships/notesMaster" Target="/ppt/notesMasters/notesMaster1.xml" Id="R9823172bfb3b4dd3" /><Relationship Type="http://schemas.openxmlformats.org/officeDocument/2006/relationships/presProps" Target="/ppt/presProps.xml" Id="R9dd48848aa4643b9" /><Relationship Type="http://schemas.openxmlformats.org/officeDocument/2006/relationships/tableStyles" Target="/ppt/tableStyles.xml" Id="R5e250325c44b4ba8" /><Relationship Type="http://schemas.openxmlformats.org/officeDocument/2006/relationships/slide" Target="/ppt/slides/slide1.xml" Id="R7a6a1aad2d4b4843" /><Relationship Type="http://schemas.openxmlformats.org/officeDocument/2006/relationships/slide" Target="/ppt/slides/slide2.xml" Id="R005125e0c92040e5" /><Relationship Type="http://schemas.openxmlformats.org/officeDocument/2006/relationships/slide" Target="/ppt/slides/slide3.xml" Id="Re2c08d55d21d49b6" /><Relationship Type="http://schemas.openxmlformats.org/officeDocument/2006/relationships/slide" Target="/ppt/slides/slide4.xml" Id="Ra9b4943a0e0546b9" /><Relationship Type="http://schemas.openxmlformats.org/officeDocument/2006/relationships/slide" Target="/ppt/slides/slide5.xml" Id="R07cebb8b9a344ec9" /><Relationship Type="http://schemas.openxmlformats.org/officeDocument/2006/relationships/slide" Target="/ppt/slides/slide6.xml" Id="R3a3ac93bbf0b439b" /><Relationship Type="http://schemas.openxmlformats.org/officeDocument/2006/relationships/slide" Target="/ppt/slides/slide7.xml" Id="Ra50b6d9c070e45ae" /><Relationship Type="http://schemas.openxmlformats.org/officeDocument/2006/relationships/slide" Target="/ppt/slides/slide8.xml" Id="R8bdfaaf9d0b4401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0392351c444ba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0a8fa24798b45f3" /><Relationship Type="http://schemas.openxmlformats.org/officeDocument/2006/relationships/notesMaster" Target="/ppt/notesMasters/notesMaster1.xml" Id="Ra438d29127a245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c3f283dfab439e" /><Relationship Type="http://schemas.openxmlformats.org/officeDocument/2006/relationships/notesMaster" Target="/ppt/notesMasters/notesMaster1.xml" Id="R5da13295664448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f96cabefd2e42e1" /><Relationship Type="http://schemas.openxmlformats.org/officeDocument/2006/relationships/notesMaster" Target="/ppt/notesMasters/notesMaster1.xml" Id="Rc163913f43664db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61a0e0c1a3b4ecb" /><Relationship Type="http://schemas.openxmlformats.org/officeDocument/2006/relationships/notesMaster" Target="/ppt/notesMasters/notesMaster1.xml" Id="Re54c7d05ee1f4c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06db5c455c842c8" /><Relationship Type="http://schemas.openxmlformats.org/officeDocument/2006/relationships/notesMaster" Target="/ppt/notesMasters/notesMaster1.xml" Id="R6667c620353f4af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e88b6c14374ad8" /><Relationship Type="http://schemas.openxmlformats.org/officeDocument/2006/relationships/notesMaster" Target="/ppt/notesMasters/notesMaster1.xml" Id="R9f32252d4cf043d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6ba0201c0041fc" /><Relationship Type="http://schemas.openxmlformats.org/officeDocument/2006/relationships/notesMaster" Target="/ppt/notesMasters/notesMaster1.xml" Id="R33509d70ffc24b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9e5d58abe4640b4" /><Relationship Type="http://schemas.openxmlformats.org/officeDocument/2006/relationships/notesMaster" Target="/ppt/notesMasters/notesMaster1.xml" Id="Re2736c5aa29748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product name and one sentence: Vertex Palace gives Codex a structured way to enter a large repository, retrieve focused context, remember relevant pitfalls, and measure whether the route actually helped.</a:t>
            </a:r>
          </a:p>
          <a:p xmlns:a="http://schemas.openxmlformats.org/drawingml/2006/main">
            <a:r>
              <a:t>Keep the opening brief. The next slide introduces the concrete problem.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problem in plain language. Large repositories make the agent search widely, reread context, and forget earlier decisions or deployment pitfalls.</a:t>
            </a:r>
          </a:p>
          <a:p xmlns:a="http://schemas.openxmlformats.org/drawingml/2006/main">
            <a:r>
              <a:t>Do not claim that all broad inspection is waste. The point is that the agent needs a task-specific entry path.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right: index the repository structure, select an adaptive mode, pack only primary and supporting context, execute the task, then preserve relevant decisions and pitfalls.</a:t>
            </a:r>
          </a:p>
          <a:p xmlns:a="http://schemas.openxmlformats.org/drawingml/2006/main">
            <a:r>
              <a:t>Emphasize that current code and tests outrank memory. The memory layer is a guardrail, not a source of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Recording cue: hold this slide for about two seconds, then cut to a 35 to 45 second screen recording that runs the exact palace context command. Return to the slide before advancing.</a:t>
            </a:r>
          </a:p>
          <a:p xmlns:a="http://schemas.openxmlformats.org/drawingml/2006/main">
            <a:r>
              <a:t>Point out the selected guarded-memory mode, the two primary implementation files, the bounded payload, and the current-code-first guardrail.</a:t>
            </a:r>
          </a:p>
          <a:p xmlns:a="http://schemas.openxmlformats.org/drawingml/2006/main">
            <a:r>
              <a:t>This visible output is from a real local run on Vertex Palace 0.2.3.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Vertex Palace evaluates its own retrieval. The current task reduced an 87,622-token indexed repository estimate to an 8,900-token context pack and still covered all three declared changed files.</a:t>
            </a:r>
          </a:p>
          <a:p xmlns:a="http://schemas.openxmlformats.org/drawingml/2006/main">
            <a:r>
              <a:t>Say the caveat aloud: this is context-pack reduction, not proof of lower end-to-end Codex usage.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 the benchmark honestly. Adaptive beat always-on Full Palace at the median for reported tokens and time, but it did not beat no-Palace Control overall.</a:t>
            </a:r>
          </a:p>
          <a:p xmlns:a="http://schemas.openxmlformats.org/drawingml/2006/main">
            <a:r>
              <a:t>The end-to-end intervals crossed zero. The defensible value is auditable routing and guarded project history, not a universal efficiency promise.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Build Week contribution as a learning loop. The pre-event baseline was v0.1.4. During the event, Codex and GPT-5.6 helped turn benchmark failures and release-routing mistakes into tested product changes.</a:t>
            </a:r>
          </a:p>
          <a:p xmlns:a="http://schemas.openxmlformats.org/drawingml/2006/main">
            <a:r>
              <a:t>Name the human decisions: keep the evaluator local and deterministic, scope memory, and let current code and tests outrank history.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judge path: install the public package, run palace context with auto mode, then evaluate the route after the task.</a:t>
            </a:r>
          </a:p>
          <a:p xmlns:a="http://schemas.openxmlformats.org/drawingml/2006/main">
            <a:r>
              <a:t>End on the product promise: Vertex Palace gives coding agents a map, a route, a memory, and measurable evidence about the context they selected.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e68d2426ff4d3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4a13d34b8d4f41" /><Relationship Type="http://schemas.openxmlformats.org/officeDocument/2006/relationships/slideLayout" Target="/ppt/slideLayouts/slideLayout1.xml" Id="R08ab4793d8b949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8ab4793d8b949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6d3e3527084361" /><Relationship Type="http://schemas.openxmlformats.org/officeDocument/2006/relationships/image" Target="/ppt/media/image.png" Id="R45b29ed6f1c84063" /><Relationship Type="http://schemas.openxmlformats.org/officeDocument/2006/relationships/notesSlide" Target="/ppt/notesSlides/notesSlide1.xml" Id="R34d892c9836943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4c14a93294cf9" /><Relationship Type="http://schemas.openxmlformats.org/officeDocument/2006/relationships/notesSlide" Target="/ppt/notesSlides/notesSlide2.xml" Id="R37db8b4d71e442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f8217783384eac" /><Relationship Type="http://schemas.openxmlformats.org/officeDocument/2006/relationships/notesSlide" Target="/ppt/notesSlides/notesSlide3.xml" Id="R02637a6b93644e0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b85a5091f04e93" /><Relationship Type="http://schemas.openxmlformats.org/officeDocument/2006/relationships/notesSlide" Target="/ppt/notesSlides/notesSlide4.xml" Id="R42d69fad5fa6471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7ebec4ff5a474d" /><Relationship Type="http://schemas.openxmlformats.org/officeDocument/2006/relationships/chart" Target="/ppt/slides/charts/chart1.xml" Id="R2d0c0a3a26044da2" /><Relationship Type="http://schemas.openxmlformats.org/officeDocument/2006/relationships/notesSlide" Target="/ppt/notesSlides/notesSlide5.xml" Id="R5eb9c3dfd8a746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931286d25444e9" /><Relationship Type="http://schemas.openxmlformats.org/officeDocument/2006/relationships/chart" Target="/ppt/slides/charts/chart2.xml" Id="Ra7c4e6c0cbe94e69" /><Relationship Type="http://schemas.openxmlformats.org/officeDocument/2006/relationships/notesSlide" Target="/ppt/notesSlides/notesSlide6.xml" Id="R88ebc788d02549a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04ca2eb4854514" /><Relationship Type="http://schemas.openxmlformats.org/officeDocument/2006/relationships/notesSlide" Target="/ppt/notesSlides/notesSlide7.xml" Id="R54c8258a490b420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1919fcc9aa4752" /><Relationship Type="http://schemas.openxmlformats.org/officeDocument/2006/relationships/notesSlide" Target="/ppt/notesSlides/notesSlide8.xml" Id="R5f235a80ef264562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Estimated tokens</c:v>
          </c:tx>
          <c:spPr>
            <a:solidFill xmlns:a="http://schemas.openxmlformats.org/drawingml/2006/main">
              <a:srgbClr val="1677FF"/>
            </a:solidFill>
          </c:spPr>
          <c:cat>
            <c:strLit>
              <c:ptCount val="2"/>
              <c:pt idx="0">
                <c:v>​</c:v>
              </c:pt>
              <c:pt idx="1">
                <c:v>‌</c:v>
              </c:pt>
            </c:strLit>
          </c:cat>
          <c:val>
            <c:numLit>
              <c:formatCode>General</c:formatCode>
              <c:ptCount val="2"/>
              <c:pt idx="0">
                <c:v>87622</c:v>
              </c:pt>
              <c:pt idx="1">
                <c:v>8900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FF3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Reported token difference</c:v>
          </c:tx>
          <c:spPr>
            <a:solidFill xmlns:a="http://schemas.openxmlformats.org/drawingml/2006/main">
              <a:srgbClr val="1677FF"/>
            </a:solidFill>
          </c:spPr>
          <c:invertIfNegative val="0"/>
          <c:cat>
            <c:strLit>
              <c:ptCount val="2"/>
              <c:pt idx="0">
                <c:v>​</c:v>
              </c:pt>
              <c:pt idx="1">
                <c:v>‌</c:v>
              </c:pt>
            </c:strLit>
          </c:cat>
          <c:val>
            <c:numLit>
              <c:formatCode>General</c:formatCode>
              <c:ptCount val="2"/>
              <c:pt idx="0">
                <c:v>-16522.5</c:v>
              </c:pt>
              <c:pt idx="1">
                <c:v>30147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FF3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14288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1-eyebrow">
            <a:extLst xmlns:a="http://schemas.openxmlformats.org/drawingml/2006/main">
              <a:ext uri="{FF2B5EF4-FFF2-40B4-BE49-F238E27FC236}">
                <a16:creationId xmlns:a16="http://schemas.microsoft.com/office/drawing/2014/main" id="{03938B8F-9401-4D99-9F04-3FF351557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9100"/>
            <a:ext cx="533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OPENAI BUILD WEEK 2026  /  DEVELOPER TOOLS</a:t>
            </a:r>
          </a:p>
        </p:txBody>
      </p:sp>
      <p:sp>
        <p:nvSpPr>
          <p:cNvPr id="2" name="s1-title">
            <a:extLst xmlns:a="http://schemas.openxmlformats.org/drawingml/2006/main">
              <a:ext uri="{FF2B5EF4-FFF2-40B4-BE49-F238E27FC236}">
                <a16:creationId xmlns:a16="http://schemas.microsoft.com/office/drawing/2014/main" id="{C6964373-B123-4D5B-B8BB-4C65FFD9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28750"/>
            <a:ext cx="5905500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1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Vertex
Palace</a:t>
            </a:r>
          </a:p>
        </p:txBody>
      </p:sp>
      <p:cxnSp>
        <p:nvCxnSpPr>
          <p:cNvPr id="9" name="s1-accent"/>
          <p:cNvCxnSpPr/>
          <p:nvPr/>
        </p:nvCxnSpPr>
        <p:spPr>
          <a:xfrm xmlns:a="http://schemas.openxmlformats.org/drawingml/2006/main">
            <a:off x="514350" y="3895725"/>
            <a:ext cx="12001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13B7D5"/>
            </a:solidFill>
            <a:prstDash val="solid"/>
          </a:ln>
        </p:spPr>
      </p:cxnSp>
      <p:sp>
        <p:nvSpPr>
          <p:cNvPr id="4" name="s1-subtitle">
            <a:extLst xmlns:a="http://schemas.openxmlformats.org/drawingml/2006/main">
              <a:ext uri="{FF2B5EF4-FFF2-40B4-BE49-F238E27FC236}">
                <a16:creationId xmlns:a16="http://schemas.microsoft.com/office/drawing/2014/main" id="{9EAD236D-6F0A-46A1-B2C2-6C427BDE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10050"/>
            <a:ext cx="581025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A local map, route, memory, and evidence layer for Codex.</a:t>
            </a:r>
          </a:p>
        </p:txBody>
      </p:sp>
      <p:sp>
        <p:nvSpPr>
          <p:cNvPr id="5" name="s1-version">
            <a:extLst xmlns:a="http://schemas.openxmlformats.org/drawingml/2006/main">
              <a:ext uri="{FF2B5EF4-FFF2-40B4-BE49-F238E27FC236}">
                <a16:creationId xmlns:a16="http://schemas.microsoft.com/office/drawing/2014/main" id="{BBB4C90D-B0D0-4D3A-9845-A25193521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007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vertex-palace@0.2.3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b29ed6f1c84063"/>
          <a:stretch xmlns:a="http://schemas.openxmlformats.org/drawingml/2006/main"/>
        </p:blipFill>
        <p:spPr>
          <a:xfrm xmlns:a="http://schemas.openxmlformats.org/drawingml/2006/main">
            <a:off x="6858000" y="1565275"/>
            <a:ext cx="4476750" cy="2984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244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s2-title">
            <a:extLst xmlns:a="http://schemas.openxmlformats.org/drawingml/2006/main">
              <a:ext uri="{FF2B5EF4-FFF2-40B4-BE49-F238E27FC236}">
                <a16:creationId xmlns:a16="http://schemas.microsoft.com/office/drawing/2014/main" id="{BB77534F-F9AA-4132-910A-DB968513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 repository is structured. Agent context often is not.</a:t>
            </a:r>
          </a:p>
        </p:txBody>
      </p:sp>
      <p:sp>
        <p:nvSpPr>
          <p:cNvPr id="2" name="s2-subtitle">
            <a:extLst xmlns:a="http://schemas.openxmlformats.org/drawingml/2006/main">
              <a:ext uri="{FF2B5EF4-FFF2-40B4-BE49-F238E27FC236}">
                <a16:creationId xmlns:a16="http://schemas.microsoft.com/office/drawing/2014/main" id="{8F755787-EACB-4CD2-85B9-539CBAE0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7715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Without a route, the agent repeatedly fans out across files and history.</a:t>
            </a:r>
          </a:p>
        </p:txBody>
      </p:sp>
      <p:cxnSp>
        <p:nvCxnSpPr>
          <p:cNvPr id="35" name="s2-link-a"/>
          <p:cNvCxnSpPr/>
          <p:nvPr/>
        </p:nvCxnSpPr>
        <p:spPr>
          <a:xfrm xmlns:a="http://schemas.openxmlformats.org/drawingml/2006/main">
            <a:off x="1400175" y="1981200"/>
            <a:ext cx="1257300" cy="14954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6" name="s2-link-b"/>
          <p:cNvCxnSpPr/>
          <p:nvPr/>
        </p:nvCxnSpPr>
        <p:spPr>
          <a:xfrm xmlns:a="http://schemas.openxmlformats.org/drawingml/2006/main">
            <a:off x="2657475" y="1685925"/>
            <a:ext cx="1562100" cy="1790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7" name="s2-link-c"/>
          <p:cNvCxnSpPr/>
          <p:nvPr/>
        </p:nvCxnSpPr>
        <p:spPr>
          <a:xfrm xmlns:a="http://schemas.openxmlformats.org/drawingml/2006/main">
            <a:off x="2657475" y="3181350"/>
            <a:ext cx="2400300" cy="2952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8" name="s2-link-d"/>
          <p:cNvCxnSpPr/>
          <p:nvPr/>
        </p:nvCxnSpPr>
        <p:spPr>
          <a:xfrm xmlns:a="http://schemas.openxmlformats.org/drawingml/2006/main">
            <a:off x="1533525" y="3476625"/>
            <a:ext cx="1123950" cy="1476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9" name="s2-link-e"/>
          <p:cNvCxnSpPr/>
          <p:nvPr/>
        </p:nvCxnSpPr>
        <p:spPr>
          <a:xfrm xmlns:a="http://schemas.openxmlformats.org/drawingml/2006/main">
            <a:off x="2657475" y="3476625"/>
            <a:ext cx="1771650" cy="15525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8" name="s2-agent">
            <a:extLst xmlns:a="http://schemas.openxmlformats.org/drawingml/2006/main">
              <a:ext uri="{FF2B5EF4-FFF2-40B4-BE49-F238E27FC236}">
                <a16:creationId xmlns:a16="http://schemas.microsoft.com/office/drawing/2014/main" id="{84A070B6-0251-4CDA-8F0D-ABE6A4AC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914650"/>
            <a:ext cx="1123950" cy="1123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1B3D"/>
          </a:solidFill>
          <a:ln xmlns:a="http://schemas.openxmlformats.org/drawingml/2006/main" w="0">
            <a:solidFill>
              <a:srgbClr val="061B3D"/>
            </a:solidFill>
            <a:prstDash val="solid"/>
          </a:ln>
        </p:spPr>
      </p:sp>
      <p:sp>
        <p:nvSpPr>
          <p:cNvPr id="9" name="s2-agent-label">
            <a:extLst xmlns:a="http://schemas.openxmlformats.org/drawingml/2006/main">
              <a:ext uri="{FF2B5EF4-FFF2-40B4-BE49-F238E27FC236}">
                <a16:creationId xmlns:a16="http://schemas.microsoft.com/office/drawing/2014/main" id="{6CF39E17-8373-440C-B2F0-D6AE2D15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286125"/>
            <a:ext cx="83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AGENT</a:t>
            </a:r>
          </a:p>
        </p:txBody>
      </p:sp>
      <p:sp>
        <p:nvSpPr>
          <p:cNvPr id="10" name="s2-file-a">
            <a:extLst xmlns:a="http://schemas.openxmlformats.org/drawingml/2006/main">
              <a:ext uri="{FF2B5EF4-FFF2-40B4-BE49-F238E27FC236}">
                <a16:creationId xmlns:a16="http://schemas.microsoft.com/office/drawing/2014/main" id="{474F3837-C022-4015-BDF4-6426BB161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1" name="s2-file-b">
            <a:extLst xmlns:a="http://schemas.openxmlformats.org/drawingml/2006/main">
              <a:ext uri="{FF2B5EF4-FFF2-40B4-BE49-F238E27FC236}">
                <a16:creationId xmlns:a16="http://schemas.microsoft.com/office/drawing/2014/main" id="{1F9D2184-C282-423E-ADA8-41ACF485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343025"/>
            <a:ext cx="1543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2" name="s2-file-c">
            <a:extLst xmlns:a="http://schemas.openxmlformats.org/drawingml/2006/main">
              <a:ext uri="{FF2B5EF4-FFF2-40B4-BE49-F238E27FC236}">
                <a16:creationId xmlns:a16="http://schemas.microsoft.com/office/drawing/2014/main" id="{B1B70562-D81A-4886-87E8-A3D80BA6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15049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3" name="s2-file-d">
            <a:extLst xmlns:a="http://schemas.openxmlformats.org/drawingml/2006/main">
              <a:ext uri="{FF2B5EF4-FFF2-40B4-BE49-F238E27FC236}">
                <a16:creationId xmlns:a16="http://schemas.microsoft.com/office/drawing/2014/main" id="{7592179F-30DA-4397-A78C-CA17A2F6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0100"/>
            <a:ext cx="1581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4" name="s2-file-e">
            <a:extLst xmlns:a="http://schemas.openxmlformats.org/drawingml/2006/main">
              <a:ext uri="{FF2B5EF4-FFF2-40B4-BE49-F238E27FC236}">
                <a16:creationId xmlns:a16="http://schemas.microsoft.com/office/drawing/2014/main" id="{DBBF86A9-80E5-4593-A0FB-378DE345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86300"/>
            <a:ext cx="1581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15" name="s2-file-a-label">
            <a:extLst xmlns:a="http://schemas.openxmlformats.org/drawingml/2006/main">
              <a:ext uri="{FF2B5EF4-FFF2-40B4-BE49-F238E27FC236}">
                <a16:creationId xmlns:a16="http://schemas.microsoft.com/office/drawing/2014/main" id="{52C289BA-ED16-45F6-BAEC-209AF30A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57375"/>
            <a:ext cx="1200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README.md</a:t>
            </a:r>
          </a:p>
        </p:txBody>
      </p:sp>
      <p:sp>
        <p:nvSpPr>
          <p:cNvPr id="16" name="s2-file-b-label">
            <a:extLst xmlns:a="http://schemas.openxmlformats.org/drawingml/2006/main">
              <a:ext uri="{FF2B5EF4-FFF2-40B4-BE49-F238E27FC236}">
                <a16:creationId xmlns:a16="http://schemas.microsoft.com/office/drawing/2014/main" id="{371A28E6-3656-4CE0-9306-57583871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562100"/>
            <a:ext cx="1295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checkout.ts</a:t>
            </a:r>
          </a:p>
        </p:txBody>
      </p:sp>
      <p:sp>
        <p:nvSpPr>
          <p:cNvPr id="17" name="s2-file-c-label">
            <a:extLst xmlns:a="http://schemas.openxmlformats.org/drawingml/2006/main">
              <a:ext uri="{FF2B5EF4-FFF2-40B4-BE49-F238E27FC236}">
                <a16:creationId xmlns:a16="http://schemas.microsoft.com/office/drawing/2014/main" id="{4D232135-AA59-4957-83E7-00A6160E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57525"/>
            <a:ext cx="1276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policy.json</a:t>
            </a:r>
          </a:p>
        </p:txBody>
      </p:sp>
      <p:sp>
        <p:nvSpPr>
          <p:cNvPr id="18" name="s2-file-d-label">
            <a:extLst xmlns:a="http://schemas.openxmlformats.org/drawingml/2006/main">
              <a:ext uri="{FF2B5EF4-FFF2-40B4-BE49-F238E27FC236}">
                <a16:creationId xmlns:a16="http://schemas.microsoft.com/office/drawing/2014/main" id="{E0A6DB81-F61D-4F8B-B007-73371BA7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29175"/>
            <a:ext cx="1352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footer.tsx</a:t>
            </a:r>
          </a:p>
        </p:txBody>
      </p:sp>
      <p:sp>
        <p:nvSpPr>
          <p:cNvPr id="19" name="s2-file-e-label">
            <a:extLst xmlns:a="http://schemas.openxmlformats.org/drawingml/2006/main">
              <a:ext uri="{FF2B5EF4-FFF2-40B4-BE49-F238E27FC236}">
                <a16:creationId xmlns:a16="http://schemas.microsoft.com/office/drawing/2014/main" id="{907BF0B7-D9A2-4176-824C-04AD2E5B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905375"/>
            <a:ext cx="1333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tests/...</a:t>
            </a:r>
          </a:p>
        </p:txBody>
      </p:sp>
      <p:sp>
        <p:nvSpPr>
          <p:cNvPr id="20" name="s2-n1">
            <a:extLst xmlns:a="http://schemas.openxmlformats.org/drawingml/2006/main">
              <a:ext uri="{FF2B5EF4-FFF2-40B4-BE49-F238E27FC236}">
                <a16:creationId xmlns:a16="http://schemas.microsoft.com/office/drawing/2014/main" id="{F2A33600-DC10-43DA-9051-472E5629B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62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B7D5"/>
          </a:solidFill>
          <a:ln xmlns:a="http://schemas.openxmlformats.org/drawingml/2006/main" w="0">
            <a:solidFill>
              <a:srgbClr val="13B7D5"/>
            </a:solidFill>
            <a:prstDash val="solid"/>
          </a:ln>
        </p:spPr>
      </p:sp>
      <p:sp>
        <p:nvSpPr>
          <p:cNvPr id="21" name="s2-n1-label">
            <a:extLst xmlns:a="http://schemas.openxmlformats.org/drawingml/2006/main">
              <a:ext uri="{FF2B5EF4-FFF2-40B4-BE49-F238E27FC236}">
                <a16:creationId xmlns:a16="http://schemas.microsoft.com/office/drawing/2014/main" id="{D0E9395D-C7D9-4376-B7B3-59C4D49DE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09775"/>
            <a:ext cx="323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22" name="s2-p1">
            <a:extLst xmlns:a="http://schemas.openxmlformats.org/drawingml/2006/main">
              <a:ext uri="{FF2B5EF4-FFF2-40B4-BE49-F238E27FC236}">
                <a16:creationId xmlns:a16="http://schemas.microsoft.com/office/drawing/2014/main" id="{7DEC690F-18E6-4923-8BA3-3279E863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47850"/>
            <a:ext cx="390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Broad search</a:t>
            </a:r>
          </a:p>
        </p:txBody>
      </p:sp>
      <p:sp>
        <p:nvSpPr>
          <p:cNvPr id="23" name="s2-n2">
            <a:extLst xmlns:a="http://schemas.openxmlformats.org/drawingml/2006/main">
              <a:ext uri="{FF2B5EF4-FFF2-40B4-BE49-F238E27FC236}">
                <a16:creationId xmlns:a16="http://schemas.microsoft.com/office/drawing/2014/main" id="{BEF91318-4C46-42D8-B543-666201F7E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43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0">
            <a:solidFill>
              <a:srgbClr val="1677FF"/>
            </a:solidFill>
            <a:prstDash val="solid"/>
          </a:ln>
        </p:spPr>
      </p:sp>
      <p:sp>
        <p:nvSpPr>
          <p:cNvPr id="24" name="s2-n2-label">
            <a:extLst xmlns:a="http://schemas.openxmlformats.org/drawingml/2006/main">
              <a:ext uri="{FF2B5EF4-FFF2-40B4-BE49-F238E27FC236}">
                <a16:creationId xmlns:a16="http://schemas.microsoft.com/office/drawing/2014/main" id="{AD7C54C5-F54F-4405-A9EF-3A9C34F3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90875"/>
            <a:ext cx="323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25" name="s2-p2">
            <a:extLst xmlns:a="http://schemas.openxmlformats.org/drawingml/2006/main">
              <a:ext uri="{FF2B5EF4-FFF2-40B4-BE49-F238E27FC236}">
                <a16:creationId xmlns:a16="http://schemas.microsoft.com/office/drawing/2014/main" id="{CEE263DF-BE37-4EC7-B255-167F41525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28950"/>
            <a:ext cx="390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Repeated reading</a:t>
            </a:r>
          </a:p>
        </p:txBody>
      </p:sp>
      <p:sp>
        <p:nvSpPr>
          <p:cNvPr id="26" name="s2-n3">
            <a:extLst xmlns:a="http://schemas.openxmlformats.org/drawingml/2006/main">
              <a:ext uri="{FF2B5EF4-FFF2-40B4-BE49-F238E27FC236}">
                <a16:creationId xmlns:a16="http://schemas.microsoft.com/office/drawing/2014/main" id="{98BCC457-4F97-45AA-AABD-4803AB7D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24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38F5"/>
          </a:solidFill>
          <a:ln xmlns:a="http://schemas.openxmlformats.org/drawingml/2006/main" w="0">
            <a:solidFill>
              <a:srgbClr val="7438F5"/>
            </a:solidFill>
            <a:prstDash val="solid"/>
          </a:ln>
        </p:spPr>
      </p:sp>
      <p:sp>
        <p:nvSpPr>
          <p:cNvPr id="27" name="s2-n3-label">
            <a:extLst xmlns:a="http://schemas.openxmlformats.org/drawingml/2006/main">
              <a:ext uri="{FF2B5EF4-FFF2-40B4-BE49-F238E27FC236}">
                <a16:creationId xmlns:a16="http://schemas.microsoft.com/office/drawing/2014/main" id="{7D86C3A0-F65E-4CCE-97AC-9083B16CC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71975"/>
            <a:ext cx="323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28" name="s2-p3">
            <a:extLst xmlns:a="http://schemas.openxmlformats.org/drawingml/2006/main">
              <a:ext uri="{FF2B5EF4-FFF2-40B4-BE49-F238E27FC236}">
                <a16:creationId xmlns:a16="http://schemas.microsoft.com/office/drawing/2014/main" id="{43A3EFAC-692A-48E2-85F5-A4D49CB34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210050"/>
            <a:ext cx="4095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Forgotten decisions</a:t>
            </a:r>
          </a:p>
        </p:txBody>
      </p:sp>
      <p:sp>
        <p:nvSpPr>
          <p:cNvPr id="29" name="s2-takeaway">
            <a:extLst xmlns:a="http://schemas.openxmlformats.org/drawingml/2006/main">
              <a:ext uri="{FF2B5EF4-FFF2-40B4-BE49-F238E27FC236}">
                <a16:creationId xmlns:a16="http://schemas.microsoft.com/office/drawing/2014/main" id="{5A1579B9-D99E-44DA-B6F1-56B71FB7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62550"/>
            <a:ext cx="46291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The cost is not only tokens. It is attention spent proving what is irrelevant.</a:t>
            </a:r>
          </a:p>
        </p:txBody>
      </p:sp>
      <p:cxnSp>
        <p:nvCxnSpPr>
          <p:cNvPr id="62" name="footer-rule-2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1" name="footer-source-2">
            <a:extLst xmlns:a="http://schemas.openxmlformats.org/drawingml/2006/main">
              <a:ext uri="{FF2B5EF4-FFF2-40B4-BE49-F238E27FC236}">
                <a16:creationId xmlns:a16="http://schemas.microsoft.com/office/drawing/2014/main" id="{38D4D3A4-4CC7-429F-B22D-8A410061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32" name="footer-number-2">
            <a:extLst xmlns:a="http://schemas.openxmlformats.org/drawingml/2006/main">
              <a:ext uri="{FF2B5EF4-FFF2-40B4-BE49-F238E27FC236}">
                <a16:creationId xmlns:a16="http://schemas.microsoft.com/office/drawing/2014/main" id="{A9292CFD-30D4-4A57-A124-44445084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61762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3-title">
            <a:extLst xmlns:a="http://schemas.openxmlformats.org/drawingml/2006/main">
              <a:ext uri="{FF2B5EF4-FFF2-40B4-BE49-F238E27FC236}">
                <a16:creationId xmlns:a16="http://schemas.microsoft.com/office/drawing/2014/main" id="{2D75350B-04D8-4216-9B8C-093B9D68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One request becomes a bounded, explainable route.</a:t>
            </a:r>
          </a:p>
        </p:txBody>
      </p:sp>
      <p:sp>
        <p:nvSpPr>
          <p:cNvPr id="2" name="s3-subtitle">
            <a:extLst xmlns:a="http://schemas.openxmlformats.org/drawingml/2006/main">
              <a:ext uri="{FF2B5EF4-FFF2-40B4-BE49-F238E27FC236}">
                <a16:creationId xmlns:a16="http://schemas.microsoft.com/office/drawing/2014/main" id="{1226F62E-28D2-4DB2-9108-54E65698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9239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Vertex Palace combines structural indexing, adaptive context, and scoped project memory.</a:t>
            </a:r>
          </a:p>
        </p:txBody>
      </p:sp>
      <p:cxnSp>
        <p:nvCxnSpPr>
          <p:cNvPr id="31" name="s3-c1"/>
          <p:cNvCxnSpPr/>
          <p:nvPr/>
        </p:nvCxnSpPr>
        <p:spPr>
          <a:xfrm xmlns:a="http://schemas.openxmlformats.org/drawingml/2006/main">
            <a:off x="2209800" y="2933700"/>
            <a:ext cx="76200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3B7D5"/>
            </a:solidFill>
            <a:prstDash val="solid"/>
          </a:ln>
        </p:spPr>
      </p:cxnSp>
      <p:cxnSp>
        <p:nvCxnSpPr>
          <p:cNvPr id="32" name="s3-c2"/>
          <p:cNvCxnSpPr/>
          <p:nvPr/>
        </p:nvCxnSpPr>
        <p:spPr>
          <a:xfrm xmlns:a="http://schemas.openxmlformats.org/drawingml/2006/main">
            <a:off x="4400550" y="2933700"/>
            <a:ext cx="76200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7FF"/>
            </a:solidFill>
            <a:prstDash val="solid"/>
          </a:ln>
        </p:spPr>
      </p:cxnSp>
      <p:cxnSp>
        <p:nvCxnSpPr>
          <p:cNvPr id="33" name="s3-c3"/>
          <p:cNvCxnSpPr/>
          <p:nvPr/>
        </p:nvCxnSpPr>
        <p:spPr>
          <a:xfrm xmlns:a="http://schemas.openxmlformats.org/drawingml/2006/main">
            <a:off x="6591300" y="2933700"/>
            <a:ext cx="76200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7438F5"/>
            </a:solidFill>
            <a:prstDash val="solid"/>
          </a:ln>
        </p:spPr>
      </p:cxnSp>
      <p:cxnSp>
        <p:nvCxnSpPr>
          <p:cNvPr id="34" name="s3-c4"/>
          <p:cNvCxnSpPr/>
          <p:nvPr/>
        </p:nvCxnSpPr>
        <p:spPr>
          <a:xfrm xmlns:a="http://schemas.openxmlformats.org/drawingml/2006/main">
            <a:off x="8782050" y="2933700"/>
            <a:ext cx="76200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A777"/>
            </a:solidFill>
            <a:prstDash val="solid"/>
          </a:ln>
        </p:spPr>
      </p:cxnSp>
      <p:cxnSp>
        <p:nvCxnSpPr>
          <p:cNvPr id="35" name="s3-memory-link"/>
          <p:cNvCxnSpPr/>
          <p:nvPr/>
        </p:nvCxnSpPr>
        <p:spPr>
          <a:xfrm xmlns:a="http://schemas.openxmlformats.org/drawingml/2006/main">
            <a:off x="7848600" y="3752850"/>
            <a:ext cx="2381250" cy="8382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8" name="s3-repo">
            <a:extLst xmlns:a="http://schemas.openxmlformats.org/drawingml/2006/main">
              <a:ext uri="{FF2B5EF4-FFF2-40B4-BE49-F238E27FC236}">
                <a16:creationId xmlns:a16="http://schemas.microsoft.com/office/drawing/2014/main" id="{7C3EAB46-D15D-486F-95F6-15FD0941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43125"/>
            <a:ext cx="16192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9" name="s3-index">
            <a:extLst xmlns:a="http://schemas.openxmlformats.org/drawingml/2006/main">
              <a:ext uri="{FF2B5EF4-FFF2-40B4-BE49-F238E27FC236}">
                <a16:creationId xmlns:a16="http://schemas.microsoft.com/office/drawing/2014/main" id="{02AF8924-9907-4398-B154-EA9EE1C0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43125"/>
            <a:ext cx="1428750" cy="16002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8F7FB"/>
          </a:solidFill>
          <a:ln xmlns:a="http://schemas.openxmlformats.org/drawingml/2006/main" w="0">
            <a:solidFill>
              <a:srgbClr val="E8F7FB"/>
            </a:solidFill>
            <a:prstDash val="solid"/>
          </a:ln>
        </p:spPr>
      </p:sp>
      <p:sp>
        <p:nvSpPr>
          <p:cNvPr id="10" name="s3-mode">
            <a:extLst xmlns:a="http://schemas.openxmlformats.org/drawingml/2006/main">
              <a:ext uri="{FF2B5EF4-FFF2-40B4-BE49-F238E27FC236}">
                <a16:creationId xmlns:a16="http://schemas.microsoft.com/office/drawing/2014/main" id="{FB9C79DB-8FF6-482C-828B-6293C2AB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143125"/>
            <a:ext cx="1428750" cy="16002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0">
            <a:solidFill>
              <a:srgbClr val="EAF1FF"/>
            </a:solidFill>
            <a:prstDash val="solid"/>
          </a:ln>
        </p:spPr>
      </p:sp>
      <p:sp>
        <p:nvSpPr>
          <p:cNvPr id="11" name="s3-pack">
            <a:extLst xmlns:a="http://schemas.openxmlformats.org/drawingml/2006/main">
              <a:ext uri="{FF2B5EF4-FFF2-40B4-BE49-F238E27FC236}">
                <a16:creationId xmlns:a16="http://schemas.microsoft.com/office/drawing/2014/main" id="{C42356E4-92A2-46D3-A225-04ED582C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43125"/>
            <a:ext cx="1428750" cy="16002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1EBFF"/>
          </a:solidFill>
          <a:ln xmlns:a="http://schemas.openxmlformats.org/drawingml/2006/main" w="0">
            <a:solidFill>
              <a:srgbClr val="F1EBFF"/>
            </a:solidFill>
            <a:prstDash val="solid"/>
          </a:ln>
        </p:spPr>
      </p:sp>
      <p:sp>
        <p:nvSpPr>
          <p:cNvPr id="12" name="s3-task">
            <a:extLst xmlns:a="http://schemas.openxmlformats.org/drawingml/2006/main">
              <a:ext uri="{FF2B5EF4-FFF2-40B4-BE49-F238E27FC236}">
                <a16:creationId xmlns:a16="http://schemas.microsoft.com/office/drawing/2014/main" id="{649CB1A1-49D3-4EF0-8BCC-4787FF0A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143125"/>
            <a:ext cx="18097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E9F7F2"/>
          </a:solidFill>
          <a:ln xmlns:a="http://schemas.openxmlformats.org/drawingml/2006/main" w="0">
            <a:solidFill>
              <a:srgbClr val="E9F7F2"/>
            </a:solidFill>
            <a:prstDash val="solid"/>
          </a:ln>
        </p:spPr>
      </p:sp>
      <p:sp>
        <p:nvSpPr>
          <p:cNvPr id="13" name="s3-repo-label">
            <a:extLst xmlns:a="http://schemas.openxmlformats.org/drawingml/2006/main">
              <a:ext uri="{FF2B5EF4-FFF2-40B4-BE49-F238E27FC236}">
                <a16:creationId xmlns:a16="http://schemas.microsoft.com/office/drawing/2014/main" id="{629BDD9B-C459-4F17-885F-3893511A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447925"/>
            <a:ext cx="129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REPOSITORY</a:t>
            </a:r>
          </a:p>
        </p:txBody>
      </p:sp>
      <p:sp>
        <p:nvSpPr>
          <p:cNvPr id="14" name="s3-repo-main">
            <a:extLst xmlns:a="http://schemas.openxmlformats.org/drawingml/2006/main">
              <a:ext uri="{FF2B5EF4-FFF2-40B4-BE49-F238E27FC236}">
                <a16:creationId xmlns:a16="http://schemas.microsoft.com/office/drawing/2014/main" id="{F033DB1B-F1F2-448C-877B-0F0F331B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43225"/>
            <a:ext cx="13525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Files + symbols</a:t>
            </a:r>
          </a:p>
        </p:txBody>
      </p:sp>
      <p:sp>
        <p:nvSpPr>
          <p:cNvPr id="15" name="s3-index-label">
            <a:extLst xmlns:a="http://schemas.openxmlformats.org/drawingml/2006/main">
              <a:ext uri="{FF2B5EF4-FFF2-40B4-BE49-F238E27FC236}">
                <a16:creationId xmlns:a16="http://schemas.microsoft.com/office/drawing/2014/main" id="{A4607E84-91D3-4340-960C-4926E252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47925"/>
            <a:ext cx="10858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3B7D5"/>
                </a:solidFill>
                <a:latin typeface="Arial"/>
                <a:ea typeface="Arial"/>
                <a:cs typeface="Arial"/>
              </a:defRPr>
            </a:pPr>
            <a:r>
              <a:t>INDEX</a:t>
            </a:r>
          </a:p>
        </p:txBody>
      </p:sp>
      <p:sp>
        <p:nvSpPr>
          <p:cNvPr id="16" name="s3-index-main">
            <a:extLst xmlns:a="http://schemas.openxmlformats.org/drawingml/2006/main">
              <a:ext uri="{FF2B5EF4-FFF2-40B4-BE49-F238E27FC236}">
                <a16:creationId xmlns:a16="http://schemas.microsoft.com/office/drawing/2014/main" id="{94FF517D-11BF-4F2A-94D9-69BB2856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943225"/>
            <a:ext cx="11620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Rooms + edges</a:t>
            </a:r>
          </a:p>
        </p:txBody>
      </p:sp>
      <p:sp>
        <p:nvSpPr>
          <p:cNvPr id="17" name="s3-mode-label">
            <a:extLst xmlns:a="http://schemas.openxmlformats.org/drawingml/2006/main">
              <a:ext uri="{FF2B5EF4-FFF2-40B4-BE49-F238E27FC236}">
                <a16:creationId xmlns:a16="http://schemas.microsoft.com/office/drawing/2014/main" id="{507034A9-0FE3-4EB2-8138-FB6AFAE3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47925"/>
            <a:ext cx="10858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ADAPT</a:t>
            </a:r>
          </a:p>
        </p:txBody>
      </p:sp>
      <p:sp>
        <p:nvSpPr>
          <p:cNvPr id="18" name="s3-mode-main">
            <a:extLst xmlns:a="http://schemas.openxmlformats.org/drawingml/2006/main">
              <a:ext uri="{FF2B5EF4-FFF2-40B4-BE49-F238E27FC236}">
                <a16:creationId xmlns:a16="http://schemas.microsoft.com/office/drawing/2014/main" id="{1B42CB96-CBE5-4028-BA7B-C3C98098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943225"/>
            <a:ext cx="11620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Choose mode</a:t>
            </a:r>
          </a:p>
        </p:txBody>
      </p:sp>
      <p:sp>
        <p:nvSpPr>
          <p:cNvPr id="19" name="s3-pack-label">
            <a:extLst xmlns:a="http://schemas.openxmlformats.org/drawingml/2006/main">
              <a:ext uri="{FF2B5EF4-FFF2-40B4-BE49-F238E27FC236}">
                <a16:creationId xmlns:a16="http://schemas.microsoft.com/office/drawing/2014/main" id="{B7529E3F-6E85-4FCA-ACE0-1C675F05D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47925"/>
            <a:ext cx="10858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438F5"/>
                </a:solidFill>
                <a:latin typeface="Arial"/>
                <a:ea typeface="Arial"/>
                <a:cs typeface="Arial"/>
              </a:defRPr>
            </a:pPr>
            <a:r>
              <a:t>PACK</a:t>
            </a:r>
          </a:p>
        </p:txBody>
      </p:sp>
      <p:sp>
        <p:nvSpPr>
          <p:cNvPr id="20" name="s3-pack-main">
            <a:extLst xmlns:a="http://schemas.openxmlformats.org/drawingml/2006/main">
              <a:ext uri="{FF2B5EF4-FFF2-40B4-BE49-F238E27FC236}">
                <a16:creationId xmlns:a16="http://schemas.microsoft.com/office/drawing/2014/main" id="{DB4DA38F-68CD-41B2-89BF-1C641C1C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857500"/>
            <a:ext cx="11811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Primary + support</a:t>
            </a:r>
          </a:p>
        </p:txBody>
      </p:sp>
      <p:sp>
        <p:nvSpPr>
          <p:cNvPr id="21" name="s3-task-label">
            <a:extLst xmlns:a="http://schemas.openxmlformats.org/drawingml/2006/main">
              <a:ext uri="{FF2B5EF4-FFF2-40B4-BE49-F238E27FC236}">
                <a16:creationId xmlns:a16="http://schemas.microsoft.com/office/drawing/2014/main" id="{98D605FC-4211-4229-B6BF-CFDE5585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447925"/>
            <a:ext cx="1447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EXECUTE</a:t>
            </a:r>
          </a:p>
        </p:txBody>
      </p:sp>
      <p:sp>
        <p:nvSpPr>
          <p:cNvPr id="22" name="s3-task-main">
            <a:extLst xmlns:a="http://schemas.openxmlformats.org/drawingml/2006/main">
              <a:ext uri="{FF2B5EF4-FFF2-40B4-BE49-F238E27FC236}">
                <a16:creationId xmlns:a16="http://schemas.microsoft.com/office/drawing/2014/main" id="{DDEC3D53-8E69-489E-9286-FEEB770D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943225"/>
            <a:ext cx="14478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Focused task</a:t>
            </a:r>
          </a:p>
        </p:txBody>
      </p:sp>
      <p:sp>
        <p:nvSpPr>
          <p:cNvPr id="23" name="s3-memory">
            <a:extLst xmlns:a="http://schemas.openxmlformats.org/drawingml/2006/main">
              <a:ext uri="{FF2B5EF4-FFF2-40B4-BE49-F238E27FC236}">
                <a16:creationId xmlns:a16="http://schemas.microsoft.com/office/drawing/2014/main" id="{50F66902-D3D4-4D63-8A19-E9992C97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591050"/>
            <a:ext cx="3714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61B3D"/>
          </a:solidFill>
          <a:ln xmlns:a="http://schemas.openxmlformats.org/drawingml/2006/main" w="0">
            <a:solidFill>
              <a:srgbClr val="061B3D"/>
            </a:solidFill>
            <a:prstDash val="solid"/>
          </a:ln>
        </p:spPr>
      </p:sp>
      <p:sp>
        <p:nvSpPr>
          <p:cNvPr id="24" name="s3-memory-label">
            <a:extLst xmlns:a="http://schemas.openxmlformats.org/drawingml/2006/main">
              <a:ext uri="{FF2B5EF4-FFF2-40B4-BE49-F238E27FC236}">
                <a16:creationId xmlns:a16="http://schemas.microsoft.com/office/drawing/2014/main" id="{F97EAA58-99D6-4058-86A5-1567651A6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62500"/>
            <a:ext cx="3219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3B7D5"/>
                </a:solidFill>
                <a:latin typeface="Arial"/>
                <a:ea typeface="Arial"/>
                <a:cs typeface="Arial"/>
              </a:defRPr>
            </a:pPr>
            <a:r>
              <a:t>PITFALL BOARD</a:t>
            </a:r>
          </a:p>
        </p:txBody>
      </p:sp>
      <p:sp>
        <p:nvSpPr>
          <p:cNvPr id="25" name="s3-memory-main">
            <a:extLst xmlns:a="http://schemas.openxmlformats.org/drawingml/2006/main">
              <a:ext uri="{FF2B5EF4-FFF2-40B4-BE49-F238E27FC236}">
                <a16:creationId xmlns:a16="http://schemas.microsoft.com/office/drawing/2014/main" id="{13687926-CB40-4FDA-9BDC-31A7E973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43500"/>
            <a:ext cx="32194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Relevant mistakes appear at the
entrance next time.</a:t>
            </a:r>
          </a:p>
        </p:txBody>
      </p:sp>
      <p:cxnSp>
        <p:nvCxnSpPr>
          <p:cNvPr id="54" name="footer-rule-3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7" name="footer-source-3">
            <a:extLst xmlns:a="http://schemas.openxmlformats.org/drawingml/2006/main">
              <a:ext uri="{FF2B5EF4-FFF2-40B4-BE49-F238E27FC236}">
                <a16:creationId xmlns:a16="http://schemas.microsoft.com/office/drawing/2014/main" id="{C8B0C1CF-FEC0-4645-8F8B-566956B0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28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6B3080F1-48BB-4099-83DF-D1686773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506126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4-title">
            <a:extLst xmlns:a="http://schemas.openxmlformats.org/drawingml/2006/main">
              <a:ext uri="{FF2B5EF4-FFF2-40B4-BE49-F238E27FC236}">
                <a16:creationId xmlns:a16="http://schemas.microsoft.com/office/drawing/2014/main" id="{8B8C0188-82E7-4AD9-A8F9-2AF9DC6FF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 useful route in one command.</a:t>
            </a:r>
          </a:p>
        </p:txBody>
      </p:sp>
      <p:sp>
        <p:nvSpPr>
          <p:cNvPr id="2" name="s4-subtitle">
            <a:extLst xmlns:a="http://schemas.openxmlformats.org/drawingml/2006/main">
              <a:ext uri="{FF2B5EF4-FFF2-40B4-BE49-F238E27FC236}">
                <a16:creationId xmlns:a16="http://schemas.microsoft.com/office/drawing/2014/main" id="{1FA8C591-B717-41F7-85EC-E7BF1EE2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933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The same call initializes, refreshes, routes, selects a mode, and packs context.</a:t>
            </a:r>
          </a:p>
        </p:txBody>
      </p:sp>
      <p:sp>
        <p:nvSpPr>
          <p:cNvPr id="3" name="s4-terminal">
            <a:extLst xmlns:a="http://schemas.openxmlformats.org/drawingml/2006/main">
              <a:ext uri="{FF2B5EF4-FFF2-40B4-BE49-F238E27FC236}">
                <a16:creationId xmlns:a16="http://schemas.microsoft.com/office/drawing/2014/main" id="{50E2F904-C757-4D4D-8C5A-813F5AFF1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11087100" cy="42672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061B3D"/>
          </a:solidFill>
          <a:ln xmlns:a="http://schemas.openxmlformats.org/drawingml/2006/main" w="9525">
            <a:solidFill>
              <a:srgbClr val="0B2B56"/>
            </a:solidFill>
            <a:prstDash val="solid"/>
          </a:ln>
        </p:spPr>
      </p:sp>
      <p:cxnSp>
        <p:nvCxnSpPr>
          <p:cNvPr id="29" name="s4-terminal-divider"/>
          <p:cNvCxnSpPr/>
          <p:nvPr/>
        </p:nvCxnSpPr>
        <p:spPr>
          <a:xfrm xmlns:a="http://schemas.openxmlformats.org/drawingml/2006/main">
            <a:off x="6334125" y="2038350"/>
            <a:ext cx="953" cy="335280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4466F"/>
            </a:solidFill>
            <a:prstDash val="solid"/>
          </a:ln>
        </p:spPr>
      </p:cxnSp>
      <p:sp>
        <p:nvSpPr>
          <p:cNvPr id="5" name="s4-dot1">
            <a:extLst xmlns:a="http://schemas.openxmlformats.org/drawingml/2006/main">
              <a:ext uri="{FF2B5EF4-FFF2-40B4-BE49-F238E27FC236}">
                <a16:creationId xmlns:a16="http://schemas.microsoft.com/office/drawing/2014/main" id="{3BB6B074-9212-4971-8044-C5F95D62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515D"/>
          </a:solidFill>
          <a:ln xmlns:a="http://schemas.openxmlformats.org/drawingml/2006/main" w="0">
            <a:solidFill>
              <a:srgbClr val="D4515D"/>
            </a:solidFill>
            <a:prstDash val="solid"/>
          </a:ln>
        </p:spPr>
      </p:sp>
      <p:sp>
        <p:nvSpPr>
          <p:cNvPr id="6" name="s4-dot2">
            <a:extLst xmlns:a="http://schemas.openxmlformats.org/drawingml/2006/main">
              <a:ext uri="{FF2B5EF4-FFF2-40B4-BE49-F238E27FC236}">
                <a16:creationId xmlns:a16="http://schemas.microsoft.com/office/drawing/2014/main" id="{2661CE75-B472-451B-8E7B-F049BE48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09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712"/>
          </a:solidFill>
          <a:ln xmlns:a="http://schemas.openxmlformats.org/drawingml/2006/main" w="0">
            <a:solidFill>
              <a:srgbClr val="B87712"/>
            </a:solidFill>
            <a:prstDash val="solid"/>
          </a:ln>
        </p:spPr>
      </p:sp>
      <p:sp>
        <p:nvSpPr>
          <p:cNvPr id="7" name="s4-dot3">
            <a:extLst xmlns:a="http://schemas.openxmlformats.org/drawingml/2006/main">
              <a:ext uri="{FF2B5EF4-FFF2-40B4-BE49-F238E27FC236}">
                <a16:creationId xmlns:a16="http://schemas.microsoft.com/office/drawing/2014/main" id="{9D0B8205-7F1B-4057-B6AB-13000945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09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A777"/>
          </a:solidFill>
          <a:ln xmlns:a="http://schemas.openxmlformats.org/drawingml/2006/main" w="0">
            <a:solidFill>
              <a:srgbClr val="15A777"/>
            </a:solidFill>
            <a:prstDash val="solid"/>
          </a:ln>
        </p:spPr>
      </p:sp>
      <p:sp>
        <p:nvSpPr>
          <p:cNvPr id="8" name="s4-command-label">
            <a:extLst xmlns:a="http://schemas.openxmlformats.org/drawingml/2006/main">
              <a:ext uri="{FF2B5EF4-FFF2-40B4-BE49-F238E27FC236}">
                <a16:creationId xmlns:a16="http://schemas.microsoft.com/office/drawing/2014/main" id="{3C980936-3782-4BFF-B638-ED8BD234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3B7D5"/>
                </a:solidFill>
                <a:latin typeface="Arial"/>
                <a:ea typeface="Arial"/>
                <a:cs typeface="Arial"/>
              </a:defRPr>
            </a:pPr>
            <a:r>
              <a:t>COMMAND</a:t>
            </a:r>
          </a:p>
        </p:txBody>
      </p:sp>
      <p:sp>
        <p:nvSpPr>
          <p:cNvPr id="9" name="s4-command">
            <a:extLst xmlns:a="http://schemas.openxmlformats.org/drawingml/2006/main">
              <a:ext uri="{FF2B5EF4-FFF2-40B4-BE49-F238E27FC236}">
                <a16:creationId xmlns:a16="http://schemas.microsoft.com/office/drawing/2014/main" id="{D72A38F0-99A7-447E-AB26-6DA78914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5000625" cy="213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$ palace context
  "Fix adaptive full-palace mode
   so relevant memory is included
   with current-code-first guardrails"
  --auto</a:t>
            </a:r>
          </a:p>
        </p:txBody>
      </p:sp>
      <p:sp>
        <p:nvSpPr>
          <p:cNvPr id="10" name="s4-command-note">
            <a:extLst xmlns:a="http://schemas.openxmlformats.org/drawingml/2006/main">
              <a:ext uri="{FF2B5EF4-FFF2-40B4-BE49-F238E27FC236}">
                <a16:creationId xmlns:a16="http://schemas.microsoft.com/office/drawing/2014/main" id="{A0B12E46-67A6-4916-A68D-FBA2DED2D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476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CC8FF"/>
                </a:solidFill>
                <a:latin typeface="Arial"/>
                <a:ea typeface="Arial"/>
                <a:cs typeface="Arial"/>
              </a:defRPr>
            </a:pPr>
            <a:r>
              <a:t>One request. No full-repo paste.</a:t>
            </a:r>
          </a:p>
        </p:txBody>
      </p:sp>
      <p:sp>
        <p:nvSpPr>
          <p:cNvPr id="11" name="s4-output-label">
            <a:extLst xmlns:a="http://schemas.openxmlformats.org/drawingml/2006/main">
              <a:ext uri="{FF2B5EF4-FFF2-40B4-BE49-F238E27FC236}">
                <a16:creationId xmlns:a16="http://schemas.microsoft.com/office/drawing/2014/main" id="{F4C0B86C-2BAE-4FFB-9698-DDCDA4825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71700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LIVE OUTPUT</a:t>
            </a:r>
          </a:p>
        </p:txBody>
      </p:sp>
      <p:sp>
        <p:nvSpPr>
          <p:cNvPr id="12" name="s4-o1a">
            <a:extLst xmlns:a="http://schemas.openxmlformats.org/drawingml/2006/main">
              <a:ext uri="{FF2B5EF4-FFF2-40B4-BE49-F238E27FC236}">
                <a16:creationId xmlns:a16="http://schemas.microsoft.com/office/drawing/2014/main" id="{324D1561-13E1-4C09-9662-F2EB996BF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2890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Mode</a:t>
            </a:r>
          </a:p>
        </p:txBody>
      </p:sp>
      <p:sp>
        <p:nvSpPr>
          <p:cNvPr id="13" name="s4-o1b">
            <a:extLst xmlns:a="http://schemas.openxmlformats.org/drawingml/2006/main">
              <a:ext uri="{FF2B5EF4-FFF2-40B4-BE49-F238E27FC236}">
                <a16:creationId xmlns:a16="http://schemas.microsoft.com/office/drawing/2014/main" id="{A6699324-BD9F-4517-A068-53C0A8C99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28900"/>
            <a:ext cx="276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guarded-memory-palace</a:t>
            </a:r>
          </a:p>
        </p:txBody>
      </p:sp>
      <p:sp>
        <p:nvSpPr>
          <p:cNvPr id="14" name="s4-o2a">
            <a:extLst xmlns:a="http://schemas.openxmlformats.org/drawingml/2006/main">
              <a:ext uri="{FF2B5EF4-FFF2-40B4-BE49-F238E27FC236}">
                <a16:creationId xmlns:a16="http://schemas.microsoft.com/office/drawing/2014/main" id="{D20F5E0C-41B9-418B-A01E-4A241408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57525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Route confidence</a:t>
            </a:r>
          </a:p>
        </p:txBody>
      </p:sp>
      <p:sp>
        <p:nvSpPr>
          <p:cNvPr id="15" name="s4-o2b">
            <a:extLst xmlns:a="http://schemas.openxmlformats.org/drawingml/2006/main">
              <a:ext uri="{FF2B5EF4-FFF2-40B4-BE49-F238E27FC236}">
                <a16:creationId xmlns:a16="http://schemas.microsoft.com/office/drawing/2014/main" id="{1426ECC5-6A3B-4BDE-A9B5-B121BBC2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57525"/>
            <a:ext cx="276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3B7D5"/>
                </a:solidFill>
                <a:latin typeface="Consolas"/>
                <a:ea typeface="Consolas"/>
                <a:cs typeface="Consolas"/>
              </a:defRPr>
            </a:pPr>
            <a:r>
              <a:t>0.81</a:t>
            </a:r>
          </a:p>
        </p:txBody>
      </p:sp>
      <p:sp>
        <p:nvSpPr>
          <p:cNvPr id="16" name="s4-o3a">
            <a:extLst xmlns:a="http://schemas.openxmlformats.org/drawingml/2006/main">
              <a:ext uri="{FF2B5EF4-FFF2-40B4-BE49-F238E27FC236}">
                <a16:creationId xmlns:a16="http://schemas.microsoft.com/office/drawing/2014/main" id="{332D7B6D-D5F3-466C-B8EE-79F700C3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8615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Payload</a:t>
            </a:r>
          </a:p>
        </p:txBody>
      </p:sp>
      <p:sp>
        <p:nvSpPr>
          <p:cNvPr id="17" name="s4-o3b">
            <a:extLst xmlns:a="http://schemas.openxmlformats.org/drawingml/2006/main">
              <a:ext uri="{FF2B5EF4-FFF2-40B4-BE49-F238E27FC236}">
                <a16:creationId xmlns:a16="http://schemas.microsoft.com/office/drawing/2014/main" id="{2B450276-144B-4529-BC74-0F240292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86150"/>
            <a:ext cx="276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1,165 est. tokens</a:t>
            </a:r>
          </a:p>
        </p:txBody>
      </p:sp>
      <p:sp>
        <p:nvSpPr>
          <p:cNvPr id="18" name="s4-o4a">
            <a:extLst xmlns:a="http://schemas.openxmlformats.org/drawingml/2006/main">
              <a:ext uri="{FF2B5EF4-FFF2-40B4-BE49-F238E27FC236}">
                <a16:creationId xmlns:a16="http://schemas.microsoft.com/office/drawing/2014/main" id="{95C9CF3D-AE33-46F7-9075-558E5C19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14775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Primary</a:t>
            </a:r>
          </a:p>
        </p:txBody>
      </p:sp>
      <p:sp>
        <p:nvSpPr>
          <p:cNvPr id="19" name="s4-o4b">
            <a:extLst xmlns:a="http://schemas.openxmlformats.org/drawingml/2006/main">
              <a:ext uri="{FF2B5EF4-FFF2-40B4-BE49-F238E27FC236}">
                <a16:creationId xmlns:a16="http://schemas.microsoft.com/office/drawing/2014/main" id="{B870409A-D6B6-449E-8CF3-8DC3EEDC2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14775"/>
            <a:ext cx="2762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context-packer.ts
mode-selector.ts</a:t>
            </a:r>
          </a:p>
        </p:txBody>
      </p:sp>
      <p:sp>
        <p:nvSpPr>
          <p:cNvPr id="20" name="s4-o5a">
            <a:extLst xmlns:a="http://schemas.openxmlformats.org/drawingml/2006/main">
              <a:ext uri="{FF2B5EF4-FFF2-40B4-BE49-F238E27FC236}">
                <a16:creationId xmlns:a16="http://schemas.microsoft.com/office/drawing/2014/main" id="{43329430-1FCE-4D17-A8BA-F1DC2393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2915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B0C8"/>
                </a:solidFill>
                <a:latin typeface="Consolas"/>
                <a:ea typeface="Consolas"/>
                <a:cs typeface="Consolas"/>
              </a:defRPr>
            </a:pPr>
            <a:r>
              <a:t>Memory</a:t>
            </a:r>
          </a:p>
        </p:txBody>
      </p:sp>
      <p:sp>
        <p:nvSpPr>
          <p:cNvPr id="21" name="s4-o5b">
            <a:extLst xmlns:a="http://schemas.openxmlformats.org/drawingml/2006/main">
              <a:ext uri="{FF2B5EF4-FFF2-40B4-BE49-F238E27FC236}">
                <a16:creationId xmlns:a16="http://schemas.microsoft.com/office/drawing/2014/main" id="{7DEE24E1-44BE-4E9B-A7E1-8486054A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629150"/>
            <a:ext cx="2762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A777"/>
                </a:solidFill>
                <a:latin typeface="Consolas"/>
                <a:ea typeface="Consolas"/>
                <a:cs typeface="Consolas"/>
              </a:defRPr>
            </a:pPr>
            <a:r>
              <a:t>3 items + 1 guardrail</a:t>
            </a:r>
          </a:p>
        </p:txBody>
      </p:sp>
      <p:sp>
        <p:nvSpPr>
          <p:cNvPr id="22" name="s4-output-note">
            <a:extLst xmlns:a="http://schemas.openxmlformats.org/drawingml/2006/main">
              <a:ext uri="{FF2B5EF4-FFF2-40B4-BE49-F238E27FC236}">
                <a16:creationId xmlns:a16="http://schemas.microsoft.com/office/drawing/2014/main" id="{9C6435BD-35FD-4B9C-ABC6-FDA92B96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219700"/>
            <a:ext cx="44386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C8FF"/>
                </a:solidFill>
                <a:latin typeface="Arial"/>
                <a:ea typeface="Arial"/>
                <a:cs typeface="Arial"/>
              </a:defRPr>
            </a:pPr>
            <a:r>
              <a:t>Primary files first. Supporting context stays bounded.</a:t>
            </a:r>
          </a:p>
        </p:txBody>
      </p:sp>
      <p:cxnSp>
        <p:nvCxnSpPr>
          <p:cNvPr id="48" name="footer-rule-4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4" name="footer-source-4">
            <a:extLst xmlns:a="http://schemas.openxmlformats.org/drawingml/2006/main">
              <a:ext uri="{FF2B5EF4-FFF2-40B4-BE49-F238E27FC236}">
                <a16:creationId xmlns:a16="http://schemas.microsoft.com/office/drawing/2014/main" id="{1F87CA40-A6D8-47BE-96E7-EBC389D92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Live local CLI output captured 2026-07-19 · vertex-palace@0.2.3</a:t>
            </a:r>
          </a:p>
        </p:txBody>
      </p:sp>
      <p:sp>
        <p:nvSpPr>
          <p:cNvPr id="2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AF4523AB-8F25-4B90-9938-025B3FEE8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034236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5-title">
            <a:extLst xmlns:a="http://schemas.openxmlformats.org/drawingml/2006/main">
              <a:ext uri="{FF2B5EF4-FFF2-40B4-BE49-F238E27FC236}">
                <a16:creationId xmlns:a16="http://schemas.microsoft.com/office/drawing/2014/main" id="{76E52DD2-A0C9-4656-92A8-F4E0988A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The route is measured after the task, not trusted blindly.</a:t>
            </a:r>
          </a:p>
        </p:txBody>
      </p:sp>
      <p:sp>
        <p:nvSpPr>
          <p:cNvPr id="2" name="s5-subtitle">
            <a:extLst xmlns:a="http://schemas.openxmlformats.org/drawingml/2006/main">
              <a:ext uri="{FF2B5EF4-FFF2-40B4-BE49-F238E27FC236}">
                <a16:creationId xmlns:a16="http://schemas.microsoft.com/office/drawing/2014/main" id="{1813B990-C9CA-4746-A818-EA77B804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933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palace evaluate compares the selected context with the files that actually changed.</a:t>
            </a:r>
          </a:p>
        </p:txBody>
      </p:sp>
      <p:sp>
        <p:nvSpPr>
          <p:cNvPr id="3" name="s5-chart-label-pack">
            <a:extLst xmlns:a="http://schemas.openxmlformats.org/drawingml/2006/main">
              <a:ext uri="{FF2B5EF4-FFF2-40B4-BE49-F238E27FC236}">
                <a16:creationId xmlns:a16="http://schemas.microsoft.com/office/drawing/2014/main" id="{C46B7979-995C-429D-986F-01DF6996E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10287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Context pack</a:t>
            </a:r>
          </a:p>
        </p:txBody>
      </p:sp>
      <p:sp>
        <p:nvSpPr>
          <p:cNvPr id="4" name="s5-chart-label-repo">
            <a:extLst xmlns:a="http://schemas.openxmlformats.org/drawingml/2006/main">
              <a:ext uri="{FF2B5EF4-FFF2-40B4-BE49-F238E27FC236}">
                <a16:creationId xmlns:a16="http://schemas.microsoft.com/office/drawing/2014/main" id="{31052C75-8E41-4E01-BE28-706892D54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62450"/>
            <a:ext cx="10287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Indexed repo</a:t>
            </a:r>
          </a:p>
        </p:txBody>
      </p:sp>
      <p:sp>
        <p:nvSpPr>
          <p:cNvPr id="5" name="s5-stat1">
            <a:extLst xmlns:a="http://schemas.openxmlformats.org/drawingml/2006/main">
              <a:ext uri="{FF2B5EF4-FFF2-40B4-BE49-F238E27FC236}">
                <a16:creationId xmlns:a16="http://schemas.microsoft.com/office/drawing/2014/main" id="{A1CA9DEA-A48C-43E1-86DA-83F491DD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43100"/>
            <a:ext cx="3333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100%</a:t>
            </a:r>
          </a:p>
        </p:txBody>
      </p:sp>
      <p:sp>
        <p:nvSpPr>
          <p:cNvPr id="6" name="s5-stat1-label">
            <a:extLst xmlns:a="http://schemas.openxmlformats.org/drawingml/2006/main">
              <a:ext uri="{FF2B5EF4-FFF2-40B4-BE49-F238E27FC236}">
                <a16:creationId xmlns:a16="http://schemas.microsoft.com/office/drawing/2014/main" id="{16203803-29F8-4903-B4BF-00FA3911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38450"/>
            <a:ext cx="3333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changed-file coverage</a:t>
            </a:r>
          </a:p>
        </p:txBody>
      </p:sp>
      <p:cxnSp>
        <p:nvCxnSpPr>
          <p:cNvPr id="23" name="s5-r1"/>
          <p:cNvCxnSpPr/>
          <p:nvPr/>
        </p:nvCxnSpPr>
        <p:spPr>
          <a:xfrm xmlns:a="http://schemas.openxmlformats.org/drawingml/2006/main">
            <a:off x="7867650" y="3371850"/>
            <a:ext cx="33147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8" name="s5-stat2">
            <a:extLst xmlns:a="http://schemas.openxmlformats.org/drawingml/2006/main">
              <a:ext uri="{FF2B5EF4-FFF2-40B4-BE49-F238E27FC236}">
                <a16:creationId xmlns:a16="http://schemas.microsoft.com/office/drawing/2014/main" id="{D285DE64-11D9-4B58-8AB8-73FD0AD3F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638550"/>
            <a:ext cx="1524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30%</a:t>
            </a:r>
          </a:p>
        </p:txBody>
      </p:sp>
      <p:sp>
        <p:nvSpPr>
          <p:cNvPr id="9" name="s5-stat2-label">
            <a:extLst xmlns:a="http://schemas.openxmlformats.org/drawingml/2006/main">
              <a:ext uri="{FF2B5EF4-FFF2-40B4-BE49-F238E27FC236}">
                <a16:creationId xmlns:a16="http://schemas.microsoft.com/office/drawing/2014/main" id="{B7E363B3-08A2-4447-B692-2D6F110F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95775"/>
            <a:ext cx="1619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route focus</a:t>
            </a:r>
          </a:p>
        </p:txBody>
      </p:sp>
      <p:sp>
        <p:nvSpPr>
          <p:cNvPr id="10" name="s5-stat3">
            <a:extLst xmlns:a="http://schemas.openxmlformats.org/drawingml/2006/main">
              <a:ext uri="{FF2B5EF4-FFF2-40B4-BE49-F238E27FC236}">
                <a16:creationId xmlns:a16="http://schemas.microsoft.com/office/drawing/2014/main" id="{1752231E-611E-445E-B4E1-A54C54B4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38550"/>
            <a:ext cx="1524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7438F5"/>
                </a:solidFill>
                <a:latin typeface="Arial"/>
                <a:ea typeface="Arial"/>
                <a:cs typeface="Arial"/>
              </a:defRPr>
            </a:pPr>
            <a:r>
              <a:t>0.81</a:t>
            </a:r>
          </a:p>
        </p:txBody>
      </p:sp>
      <p:sp>
        <p:nvSpPr>
          <p:cNvPr id="11" name="s5-stat3-label">
            <a:extLst xmlns:a="http://schemas.openxmlformats.org/drawingml/2006/main">
              <a:ext uri="{FF2B5EF4-FFF2-40B4-BE49-F238E27FC236}">
                <a16:creationId xmlns:a16="http://schemas.microsoft.com/office/drawing/2014/main" id="{0C9C64DF-9217-4490-AEA7-3A139C87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295775"/>
            <a:ext cx="1619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confidence</a:t>
            </a:r>
          </a:p>
        </p:txBody>
      </p:sp>
      <p:sp>
        <p:nvSpPr>
          <p:cNvPr id="12" name="s5-explain">
            <a:extLst xmlns:a="http://schemas.openxmlformats.org/drawingml/2006/main">
              <a:ext uri="{FF2B5EF4-FFF2-40B4-BE49-F238E27FC236}">
                <a16:creationId xmlns:a16="http://schemas.microsoft.com/office/drawing/2014/main" id="{F8E691CA-7234-488D-A4C4-C29DCCBF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38700"/>
            <a:ext cx="3333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Observed coverage was stronger than predicted, so the route was labeled underconfident.</a:t>
            </a:r>
          </a:p>
        </p:txBody>
      </p:sp>
      <p:cxnSp>
        <p:nvCxnSpPr>
          <p:cNvPr id="29" name="footer-rule-5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4" name="footer-source-5">
            <a:extLst xmlns:a="http://schemas.openxmlformats.org/drawingml/2006/main">
              <a:ext uri="{FF2B5EF4-FFF2-40B4-BE49-F238E27FC236}">
                <a16:creationId xmlns:a16="http://schemas.microsoft.com/office/drawing/2014/main" id="{08D00938-8CE1-4AB6-8B56-5D412A04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Current self-evaluation · 87,622 indexed estimated tokens · Context-pack reduction is not total Codex session-token savings</a:t>
            </a:r>
          </a:p>
        </p:txBody>
      </p:sp>
      <p:sp>
        <p:nvSpPr>
          <p:cNvPr id="1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831FFF51-2794-4601-9CD6-B9594BFF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5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1714500" y="1771650"/>
          <a:ext xmlns:a="http://schemas.openxmlformats.org/drawingml/2006/main" cx="5410200" cy="3924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d0c0a3a26044da2"/>
          </a:graphicData>
        </a:graphic>
      </p:graphicFrame>
    </p:spTree>
    <p:extLst>
      <p:ext uri="{BB962C8B-B14F-4D97-AF65-F5344CB8AC3E}">
        <p14:creationId xmlns:p14="http://schemas.microsoft.com/office/powerpoint/2010/main" val="18148096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6-title">
            <a:extLst xmlns:a="http://schemas.openxmlformats.org/drawingml/2006/main">
              <a:ext uri="{FF2B5EF4-FFF2-40B4-BE49-F238E27FC236}">
                <a16:creationId xmlns:a16="http://schemas.microsoft.com/office/drawing/2014/main" id="{ED7ACF8D-9A97-45E7-BDB0-415D135B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The research result is useful, not magical.</a:t>
            </a:r>
          </a:p>
        </p:txBody>
      </p:sp>
      <p:sp>
        <p:nvSpPr>
          <p:cNvPr id="2" name="s6-subtitle">
            <a:extLst xmlns:a="http://schemas.openxmlformats.org/drawingml/2006/main">
              <a:ext uri="{FF2B5EF4-FFF2-40B4-BE49-F238E27FC236}">
                <a16:creationId xmlns:a16="http://schemas.microsoft.com/office/drawing/2014/main" id="{B7FE93F4-B421-4AFD-9983-A482F00FD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668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A preregistered exploratory study compared Control, Route-only, Full Palace, and Adaptive Palace.</a:t>
            </a:r>
          </a:p>
        </p:txBody>
      </p:sp>
      <p:sp>
        <p:nvSpPr>
          <p:cNvPr id="3" name="s6-chart-label-control">
            <a:extLst xmlns:a="http://schemas.openxmlformats.org/drawingml/2006/main">
              <a:ext uri="{FF2B5EF4-FFF2-40B4-BE49-F238E27FC236}">
                <a16:creationId xmlns:a16="http://schemas.microsoft.com/office/drawing/2014/main" id="{A11A4637-B098-48E0-B7A1-B6C40639F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81300"/>
            <a:ext cx="1562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Adaptive vs Control</a:t>
            </a:r>
          </a:p>
        </p:txBody>
      </p:sp>
      <p:sp>
        <p:nvSpPr>
          <p:cNvPr id="4" name="s6-chart-label-full">
            <a:extLst xmlns:a="http://schemas.openxmlformats.org/drawingml/2006/main">
              <a:ext uri="{FF2B5EF4-FFF2-40B4-BE49-F238E27FC236}">
                <a16:creationId xmlns:a16="http://schemas.microsoft.com/office/drawing/2014/main" id="{8DCE5DD6-341D-4FD8-917B-7765B1C7D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76750"/>
            <a:ext cx="1562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Adaptive vs Full</a:t>
            </a:r>
          </a:p>
        </p:txBody>
      </p:sp>
      <p:sp>
        <p:nvSpPr>
          <p:cNvPr id="5" name="s6-stat">
            <a:extLst xmlns:a="http://schemas.openxmlformats.org/drawingml/2006/main">
              <a:ext uri="{FF2B5EF4-FFF2-40B4-BE49-F238E27FC236}">
                <a16:creationId xmlns:a16="http://schemas.microsoft.com/office/drawing/2014/main" id="{FC7C3E79-4475-43F4-A73F-7034EF71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64/64</a:t>
            </a:r>
          </a:p>
        </p:txBody>
      </p:sp>
      <p:sp>
        <p:nvSpPr>
          <p:cNvPr id="6" name="s6-stat-label">
            <a:extLst xmlns:a="http://schemas.openxmlformats.org/drawingml/2006/main">
              <a:ext uri="{FF2B5EF4-FFF2-40B4-BE49-F238E27FC236}">
                <a16:creationId xmlns:a16="http://schemas.microsoft.com/office/drawing/2014/main" id="{18A100F7-F96A-4D8D-8182-EE38E8FBF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86050"/>
            <a:ext cx="3048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arms valid, successful,
and correctly scoped</a:t>
            </a:r>
          </a:p>
        </p:txBody>
      </p:sp>
      <p:cxnSp>
        <p:nvCxnSpPr>
          <p:cNvPr id="22" name="s6-r1"/>
          <p:cNvCxnSpPr/>
          <p:nvPr/>
        </p:nvCxnSpPr>
        <p:spPr>
          <a:xfrm xmlns:a="http://schemas.openxmlformats.org/drawingml/2006/main">
            <a:off x="8039100" y="3638550"/>
            <a:ext cx="31623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8" name="s6-supported">
            <a:extLst xmlns:a="http://schemas.openxmlformats.org/drawingml/2006/main">
              <a:ext uri="{FF2B5EF4-FFF2-40B4-BE49-F238E27FC236}">
                <a16:creationId xmlns:a16="http://schemas.microsoft.com/office/drawing/2014/main" id="{4340F155-C1CF-4163-8363-A89633A9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8620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Supported</a:t>
            </a:r>
          </a:p>
        </p:txBody>
      </p:sp>
      <p:sp>
        <p:nvSpPr>
          <p:cNvPr id="9" name="s6-supported-body">
            <a:extLst xmlns:a="http://schemas.openxmlformats.org/drawingml/2006/main">
              <a:ext uri="{FF2B5EF4-FFF2-40B4-BE49-F238E27FC236}">
                <a16:creationId xmlns:a16="http://schemas.microsoft.com/office/drawing/2014/main" id="{6D69E72D-8FA2-40AC-9262-45689A499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29100"/>
            <a:ext cx="3143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Adaptive produced a smaller Palace-owned payload than always-on Full Palace.</a:t>
            </a:r>
          </a:p>
        </p:txBody>
      </p:sp>
      <p:sp>
        <p:nvSpPr>
          <p:cNvPr id="10" name="s6-unsupported">
            <a:extLst xmlns:a="http://schemas.openxmlformats.org/drawingml/2006/main">
              <a:ext uri="{FF2B5EF4-FFF2-40B4-BE49-F238E27FC236}">
                <a16:creationId xmlns:a16="http://schemas.microsoft.com/office/drawing/2014/main" id="{C6EDFF66-B66F-47BB-A6B1-0D0453AD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1714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4515D"/>
                </a:solidFill>
                <a:latin typeface="Arial"/>
                <a:ea typeface="Arial"/>
                <a:cs typeface="Arial"/>
              </a:defRPr>
            </a:pPr>
            <a:r>
              <a:t>Not supported</a:t>
            </a:r>
          </a:p>
        </p:txBody>
      </p:sp>
      <p:sp>
        <p:nvSpPr>
          <p:cNvPr id="11" name="s6-unsupported-body">
            <a:extLst xmlns:a="http://schemas.openxmlformats.org/drawingml/2006/main">
              <a:ext uri="{FF2B5EF4-FFF2-40B4-BE49-F238E27FC236}">
                <a16:creationId xmlns:a16="http://schemas.microsoft.com/office/drawing/2014/main" id="{A7CCA6D1-0FBB-4D8F-8ACA-3EE5F10DC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467350"/>
            <a:ext cx="3143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A universal claim of lower end-to-end tokens or faster execution.</a:t>
            </a:r>
          </a:p>
        </p:txBody>
      </p:sp>
      <p:cxnSp>
        <p:nvCxnSpPr>
          <p:cNvPr id="27" name="footer-rule-6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3" name="footer-source-6">
            <a:extLst xmlns:a="http://schemas.openxmlformats.org/drawingml/2006/main">
              <a:ext uri="{FF2B5EF4-FFF2-40B4-BE49-F238E27FC236}">
                <a16:creationId xmlns:a16="http://schemas.microsoft.com/office/drawing/2014/main" id="{A8B15FB6-0A23-400E-9FED-EEF02DB1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Exploratory v2.2 · 16 trials / 64 arms · Vertex Palace 0.2.1 · github.com/lohchanhin/benchmarks-ab-demo</a:t>
            </a:r>
          </a:p>
        </p:txBody>
      </p:sp>
      <p:sp>
        <p:nvSpPr>
          <p:cNvPr id="14" name="footer-number-6">
            <a:extLst xmlns:a="http://schemas.openxmlformats.org/drawingml/2006/main">
              <a:ext uri="{FF2B5EF4-FFF2-40B4-BE49-F238E27FC236}">
                <a16:creationId xmlns:a16="http://schemas.microsoft.com/office/drawing/2014/main" id="{70529FC6-A27F-493F-976F-403BB738A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6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2476500" y="1809750"/>
          <a:ext xmlns:a="http://schemas.openxmlformats.org/drawingml/2006/main" cx="48958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7c4e6c0cbe94e69"/>
          </a:graphicData>
        </a:graphic>
      </p:graphicFrame>
    </p:spTree>
    <p:extLst>
      <p:ext uri="{BB962C8B-B14F-4D97-AF65-F5344CB8AC3E}">
        <p14:creationId xmlns:p14="http://schemas.microsoft.com/office/powerpoint/2010/main" val="16112796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7-title">
            <a:extLst xmlns:a="http://schemas.openxmlformats.org/drawingml/2006/main">
              <a:ext uri="{FF2B5EF4-FFF2-40B4-BE49-F238E27FC236}">
                <a16:creationId xmlns:a16="http://schemas.microsoft.com/office/drawing/2014/main" id="{03B7C1E8-467A-4FB7-A335-9F11C2D1A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Build Week turned failed evidence into product changes.</a:t>
            </a:r>
          </a:p>
        </p:txBody>
      </p:sp>
      <p:sp>
        <p:nvSpPr>
          <p:cNvPr id="2" name="s7-subtitle">
            <a:extLst xmlns:a="http://schemas.openxmlformats.org/drawingml/2006/main">
              <a:ext uri="{FF2B5EF4-FFF2-40B4-BE49-F238E27FC236}">
                <a16:creationId xmlns:a16="http://schemas.microsoft.com/office/drawing/2014/main" id="{D83508C6-579F-489E-B53E-F6ABE4E9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668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Codex with GPT-5.6 helped trace failures across routing, memory, CLI, MCP, packaging, and tests.</a:t>
            </a:r>
          </a:p>
        </p:txBody>
      </p:sp>
      <p:cxnSp>
        <p:nvCxnSpPr>
          <p:cNvPr id="28" name="s7-timeline"/>
          <p:cNvCxnSpPr/>
          <p:nvPr/>
        </p:nvCxnSpPr>
        <p:spPr>
          <a:xfrm xmlns:a="http://schemas.openxmlformats.org/drawingml/2006/main">
            <a:off x="1847850" y="4457700"/>
            <a:ext cx="84582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29" name="s7-c1"/>
          <p:cNvCxnSpPr/>
          <p:nvPr/>
        </p:nvCxnSpPr>
        <p:spPr>
          <a:xfrm xmlns:a="http://schemas.openxmlformats.org/drawingml/2006/main">
            <a:off x="2343150" y="4133850"/>
            <a:ext cx="953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0" name="s7-c2"/>
          <p:cNvCxnSpPr/>
          <p:nvPr/>
        </p:nvCxnSpPr>
        <p:spPr>
          <a:xfrm xmlns:a="http://schemas.openxmlformats.org/drawingml/2006/main">
            <a:off x="6076950" y="4133850"/>
            <a:ext cx="953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cxnSp>
        <p:nvCxnSpPr>
          <p:cNvPr id="31" name="s7-c3"/>
          <p:cNvCxnSpPr/>
          <p:nvPr/>
        </p:nvCxnSpPr>
        <p:spPr>
          <a:xfrm xmlns:a="http://schemas.openxmlformats.org/drawingml/2006/main">
            <a:off x="9810750" y="4133850"/>
            <a:ext cx="953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7" name="s7-card1">
            <a:extLst xmlns:a="http://schemas.openxmlformats.org/drawingml/2006/main">
              <a:ext uri="{FF2B5EF4-FFF2-40B4-BE49-F238E27FC236}">
                <a16:creationId xmlns:a16="http://schemas.microsoft.com/office/drawing/2014/main" id="{21247143-F275-40E1-99F2-48BB27D6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3276600" cy="23241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DEFF3"/>
          </a:solidFill>
          <a:ln xmlns:a="http://schemas.openxmlformats.org/drawingml/2006/main" w="0">
            <a:solidFill>
              <a:srgbClr val="EDEFF3"/>
            </a:solidFill>
            <a:prstDash val="solid"/>
          </a:ln>
        </p:spPr>
      </p:sp>
      <p:sp>
        <p:nvSpPr>
          <p:cNvPr id="8" name="s7-card2">
            <a:extLst xmlns:a="http://schemas.openxmlformats.org/drawingml/2006/main">
              <a:ext uri="{FF2B5EF4-FFF2-40B4-BE49-F238E27FC236}">
                <a16:creationId xmlns:a16="http://schemas.microsoft.com/office/drawing/2014/main" id="{CB5EB1B5-9F0B-4526-9413-2F7E507F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09750"/>
            <a:ext cx="3276600" cy="23241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0">
            <a:solidFill>
              <a:srgbClr val="EAF1FF"/>
            </a:solidFill>
            <a:prstDash val="solid"/>
          </a:ln>
        </p:spPr>
      </p:sp>
      <p:sp>
        <p:nvSpPr>
          <p:cNvPr id="9" name="s7-card3">
            <a:extLst xmlns:a="http://schemas.openxmlformats.org/drawingml/2006/main">
              <a:ext uri="{FF2B5EF4-FFF2-40B4-BE49-F238E27FC236}">
                <a16:creationId xmlns:a16="http://schemas.microsoft.com/office/drawing/2014/main" id="{3F3C764D-703D-4E0B-93B9-F192494D1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09750"/>
            <a:ext cx="3276600" cy="23241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9F7F2"/>
          </a:solidFill>
          <a:ln xmlns:a="http://schemas.openxmlformats.org/drawingml/2006/main" w="0">
            <a:solidFill>
              <a:srgbClr val="E9F7F2"/>
            </a:solidFill>
            <a:prstDash val="solid"/>
          </a:ln>
        </p:spPr>
      </p:sp>
      <p:sp>
        <p:nvSpPr>
          <p:cNvPr id="10" name="s7-dot1">
            <a:extLst xmlns:a="http://schemas.openxmlformats.org/drawingml/2006/main">
              <a:ext uri="{FF2B5EF4-FFF2-40B4-BE49-F238E27FC236}">
                <a16:creationId xmlns:a16="http://schemas.microsoft.com/office/drawing/2014/main" id="{112E9A34-9440-4627-A59B-03B488D71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43148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1224"/>
          </a:solidFill>
          <a:ln xmlns:a="http://schemas.openxmlformats.org/drawingml/2006/main" w="0">
            <a:solidFill>
              <a:srgbClr val="0A1224"/>
            </a:solidFill>
            <a:prstDash val="solid"/>
          </a:ln>
        </p:spPr>
      </p:sp>
      <p:sp>
        <p:nvSpPr>
          <p:cNvPr id="11" name="s7-dot2">
            <a:extLst xmlns:a="http://schemas.openxmlformats.org/drawingml/2006/main">
              <a:ext uri="{FF2B5EF4-FFF2-40B4-BE49-F238E27FC236}">
                <a16:creationId xmlns:a16="http://schemas.microsoft.com/office/drawing/2014/main" id="{8FD38703-4F01-4ED0-AFFA-3AC5BFE4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43148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0">
            <a:solidFill>
              <a:srgbClr val="1677FF"/>
            </a:solidFill>
            <a:prstDash val="solid"/>
          </a:ln>
        </p:spPr>
      </p:sp>
      <p:sp>
        <p:nvSpPr>
          <p:cNvPr id="12" name="s7-dot3">
            <a:extLst xmlns:a="http://schemas.openxmlformats.org/drawingml/2006/main">
              <a:ext uri="{FF2B5EF4-FFF2-40B4-BE49-F238E27FC236}">
                <a16:creationId xmlns:a16="http://schemas.microsoft.com/office/drawing/2014/main" id="{378290FE-912F-4B2C-8282-C5EF63A6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3148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A777"/>
          </a:solidFill>
          <a:ln xmlns:a="http://schemas.openxmlformats.org/drawingml/2006/main" w="0">
            <a:solidFill>
              <a:srgbClr val="15A777"/>
            </a:solidFill>
            <a:prstDash val="solid"/>
          </a:ln>
        </p:spPr>
      </p:sp>
      <p:sp>
        <p:nvSpPr>
          <p:cNvPr id="13" name="s7-k1">
            <a:extLst xmlns:a="http://schemas.openxmlformats.org/drawingml/2006/main">
              <a:ext uri="{FF2B5EF4-FFF2-40B4-BE49-F238E27FC236}">
                <a16:creationId xmlns:a16="http://schemas.microsoft.com/office/drawing/2014/main" id="{A8C7007A-C652-4111-A9DC-22DCC2C9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2705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EVIDENCE</a:t>
            </a:r>
          </a:p>
        </p:txBody>
      </p:sp>
      <p:sp>
        <p:nvSpPr>
          <p:cNvPr id="14" name="s7-b1">
            <a:extLst xmlns:a="http://schemas.openxmlformats.org/drawingml/2006/main">
              <a:ext uri="{FF2B5EF4-FFF2-40B4-BE49-F238E27FC236}">
                <a16:creationId xmlns:a16="http://schemas.microsoft.com/office/drawing/2014/main" id="{6F20B9D8-A2F4-43A8-8A11-C5CC861DE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43175"/>
            <a:ext cx="27051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The 64-run study exposed a Full-Palace memory omission.</a:t>
            </a:r>
          </a:p>
        </p:txBody>
      </p:sp>
      <p:sp>
        <p:nvSpPr>
          <p:cNvPr id="15" name="s7-v1">
            <a:extLst xmlns:a="http://schemas.openxmlformats.org/drawingml/2006/main">
              <a:ext uri="{FF2B5EF4-FFF2-40B4-BE49-F238E27FC236}">
                <a16:creationId xmlns:a16="http://schemas.microsoft.com/office/drawing/2014/main" id="{4AEFE631-5819-4709-9C27-488199A72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0522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071"/>
                </a:solidFill>
                <a:latin typeface="Consolas"/>
                <a:ea typeface="Consolas"/>
                <a:cs typeface="Consolas"/>
              </a:defRPr>
            </a:pPr>
            <a:r>
              <a:t>v0.2.1</a:t>
            </a:r>
          </a:p>
        </p:txBody>
      </p:sp>
      <p:sp>
        <p:nvSpPr>
          <p:cNvPr id="16" name="s7-k2">
            <a:extLst xmlns:a="http://schemas.openxmlformats.org/drawingml/2006/main">
              <a:ext uri="{FF2B5EF4-FFF2-40B4-BE49-F238E27FC236}">
                <a16:creationId xmlns:a16="http://schemas.microsoft.com/office/drawing/2014/main" id="{EA586754-56B6-4F53-B736-7F69C31EF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095500"/>
            <a:ext cx="2705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FIX</a:t>
            </a:r>
          </a:p>
        </p:txBody>
      </p:sp>
      <p:sp>
        <p:nvSpPr>
          <p:cNvPr id="17" name="s7-b2">
            <a:extLst xmlns:a="http://schemas.openxmlformats.org/drawingml/2006/main">
              <a:ext uri="{FF2B5EF4-FFF2-40B4-BE49-F238E27FC236}">
                <a16:creationId xmlns:a16="http://schemas.microsoft.com/office/drawing/2014/main" id="{B5112A16-7B65-4B5A-A067-AE5F1109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43175"/>
            <a:ext cx="27051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Codex + GPT-5.6 traced the root cause and added memory-fidelity regression tests.</a:t>
            </a:r>
          </a:p>
        </p:txBody>
      </p:sp>
      <p:sp>
        <p:nvSpPr>
          <p:cNvPr id="18" name="s7-v2">
            <a:extLst xmlns:a="http://schemas.openxmlformats.org/drawingml/2006/main">
              <a:ext uri="{FF2B5EF4-FFF2-40B4-BE49-F238E27FC236}">
                <a16:creationId xmlns:a16="http://schemas.microsoft.com/office/drawing/2014/main" id="{F60FAED7-DF7A-43D0-9915-EF8647B4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70522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677FF"/>
                </a:solidFill>
                <a:latin typeface="Consolas"/>
                <a:ea typeface="Consolas"/>
                <a:cs typeface="Consolas"/>
              </a:defRPr>
            </a:pPr>
            <a:r>
              <a:t>v0.2.2</a:t>
            </a:r>
          </a:p>
        </p:txBody>
      </p:sp>
      <p:sp>
        <p:nvSpPr>
          <p:cNvPr id="19" name="s7-k3">
            <a:extLst xmlns:a="http://schemas.openxmlformats.org/drawingml/2006/main">
              <a:ext uri="{FF2B5EF4-FFF2-40B4-BE49-F238E27FC236}">
                <a16:creationId xmlns:a16="http://schemas.microsoft.com/office/drawing/2014/main" id="{B0CFCDA9-FB2D-4DB7-9E19-64C1BEE6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95500"/>
            <a:ext cx="2705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A777"/>
                </a:solidFill>
                <a:latin typeface="Arial"/>
                <a:ea typeface="Arial"/>
                <a:cs typeface="Arial"/>
              </a:defRPr>
            </a:pPr>
            <a:r>
              <a:t>EXTEND</a:t>
            </a:r>
          </a:p>
        </p:txBody>
      </p:sp>
      <p:sp>
        <p:nvSpPr>
          <p:cNvPr id="20" name="s7-b3">
            <a:extLst xmlns:a="http://schemas.openxmlformats.org/drawingml/2006/main">
              <a:ext uri="{FF2B5EF4-FFF2-40B4-BE49-F238E27FC236}">
                <a16:creationId xmlns:a16="http://schemas.microsoft.com/office/drawing/2014/main" id="{673231AC-28AD-4369-9015-55410F3F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43175"/>
            <a:ext cx="27051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Release routing expanded across npm, MCP, plugin metadata, docs, and CI.</a:t>
            </a:r>
          </a:p>
        </p:txBody>
      </p:sp>
      <p:sp>
        <p:nvSpPr>
          <p:cNvPr id="21" name="s7-v3">
            <a:extLst xmlns:a="http://schemas.openxmlformats.org/drawingml/2006/main">
              <a:ext uri="{FF2B5EF4-FFF2-40B4-BE49-F238E27FC236}">
                <a16:creationId xmlns:a16="http://schemas.microsoft.com/office/drawing/2014/main" id="{7B717499-FEEA-4A74-A9C3-D052F594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05225"/>
            <a:ext cx="1238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A777"/>
                </a:solidFill>
                <a:latin typeface="Consolas"/>
                <a:ea typeface="Consolas"/>
                <a:cs typeface="Consolas"/>
              </a:defRPr>
            </a:pPr>
            <a:r>
              <a:t>v0.2.3</a:t>
            </a:r>
          </a:p>
        </p:txBody>
      </p:sp>
      <p:sp>
        <p:nvSpPr>
          <p:cNvPr id="22" name="s7-human">
            <a:extLst xmlns:a="http://schemas.openxmlformats.org/drawingml/2006/main">
              <a:ext uri="{FF2B5EF4-FFF2-40B4-BE49-F238E27FC236}">
                <a16:creationId xmlns:a16="http://schemas.microsoft.com/office/drawing/2014/main" id="{8AA98AF3-2A0E-4641-8F12-FD23DD71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33950"/>
            <a:ext cx="94488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Human decisions stayed explicit: deterministic local evaluation, scoped memory, and current code + tests before remembered advice.</a:t>
            </a:r>
          </a:p>
        </p:txBody>
      </p:sp>
      <p:cxnSp>
        <p:nvCxnSpPr>
          <p:cNvPr id="48" name="footer-rule-7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4" name="footer-source-7">
            <a:extLst xmlns:a="http://schemas.openxmlformats.org/drawingml/2006/main">
              <a:ext uri="{FF2B5EF4-FFF2-40B4-BE49-F238E27FC236}">
                <a16:creationId xmlns:a16="http://schemas.microsoft.com/office/drawing/2014/main" id="{D9C37DDF-E9FF-4A42-982F-DC1FA15E1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Build Week record: BUILD_WEEK.md · dated Git history · /feedback Session 019f4280-40ee-7172-b94d-f5aa7aa46814</a:t>
            </a:r>
          </a:p>
        </p:txBody>
      </p:sp>
      <p:sp>
        <p:nvSpPr>
          <p:cNvPr id="2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F62FBA15-FEF3-4D4C-9098-D55086DFA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364526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8-eyebrow">
            <a:extLst xmlns:a="http://schemas.openxmlformats.org/drawingml/2006/main">
              <a:ext uri="{FF2B5EF4-FFF2-40B4-BE49-F238E27FC236}">
                <a16:creationId xmlns:a16="http://schemas.microsoft.com/office/drawing/2014/main" id="{A1164D58-772E-4CC7-8977-6C367666C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77FF"/>
                </a:solidFill>
                <a:latin typeface="Arial"/>
                <a:ea typeface="Arial"/>
                <a:cs typeface="Arial"/>
              </a:defRPr>
            </a:pPr>
            <a:r>
              <a:t>READY TO TEST</a:t>
            </a:r>
          </a:p>
        </p:txBody>
      </p:sp>
      <p:sp>
        <p:nvSpPr>
          <p:cNvPr id="2" name="s8-title">
            <a:extLst xmlns:a="http://schemas.openxmlformats.org/drawingml/2006/main">
              <a:ext uri="{FF2B5EF4-FFF2-40B4-BE49-F238E27FC236}">
                <a16:creationId xmlns:a16="http://schemas.microsoft.com/office/drawing/2014/main" id="{4F225D14-19EF-4F7A-B8E4-DE0E650A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5143500" cy="285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Install.
Route.
Verify.</a:t>
            </a:r>
          </a:p>
        </p:txBody>
      </p:sp>
      <p:cxnSp>
        <p:nvCxnSpPr>
          <p:cNvPr id="21" name="s8-accent"/>
          <p:cNvCxnSpPr/>
          <p:nvPr/>
        </p:nvCxnSpPr>
        <p:spPr>
          <a:xfrm xmlns:a="http://schemas.openxmlformats.org/drawingml/2006/main">
            <a:off x="495300" y="4438650"/>
            <a:ext cx="12382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13B7D5"/>
            </a:solidFill>
            <a:prstDash val="solid"/>
          </a:ln>
        </p:spPr>
      </p:cxnSp>
      <p:sp>
        <p:nvSpPr>
          <p:cNvPr id="4" name="s8-close">
            <a:extLst xmlns:a="http://schemas.openxmlformats.org/drawingml/2006/main">
              <a:ext uri="{FF2B5EF4-FFF2-40B4-BE49-F238E27FC236}">
                <a16:creationId xmlns:a16="http://schemas.microsoft.com/office/drawing/2014/main" id="{25881C26-2EDC-4629-9175-8B03FB5A6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19650"/>
            <a:ext cx="5238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A map, a route, a memory, and evidence that the selected context was useful.</a:t>
            </a:r>
          </a:p>
        </p:txBody>
      </p:sp>
      <p:sp>
        <p:nvSpPr>
          <p:cNvPr id="5" name="s8-command-box">
            <a:extLst xmlns:a="http://schemas.openxmlformats.org/drawingml/2006/main">
              <a:ext uri="{FF2B5EF4-FFF2-40B4-BE49-F238E27FC236}">
                <a16:creationId xmlns:a16="http://schemas.microsoft.com/office/drawing/2014/main" id="{102B6943-1C89-4322-9BA2-38DBF95E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352550"/>
            <a:ext cx="48577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61B3D"/>
          </a:solidFill>
          <a:ln xmlns:a="http://schemas.openxmlformats.org/drawingml/2006/main" w="0">
            <a:solidFill>
              <a:srgbClr val="061B3D"/>
            </a:solidFill>
            <a:prstDash val="solid"/>
          </a:ln>
        </p:spPr>
      </p:sp>
      <p:sp>
        <p:nvSpPr>
          <p:cNvPr id="6" name="s8-command">
            <a:extLst xmlns:a="http://schemas.openxmlformats.org/drawingml/2006/main">
              <a:ext uri="{FF2B5EF4-FFF2-40B4-BE49-F238E27FC236}">
                <a16:creationId xmlns:a16="http://schemas.microsoft.com/office/drawing/2014/main" id="{C41EA649-6BD4-46B8-B8BA-712C8129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714500"/>
            <a:ext cx="41719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npm install -g
vertex-palace@0.2.3</a:t>
            </a:r>
          </a:p>
        </p:txBody>
      </p:sp>
      <p:sp>
        <p:nvSpPr>
          <p:cNvPr id="7" name="s8-github">
            <a:extLst xmlns:a="http://schemas.openxmlformats.org/drawingml/2006/main">
              <a:ext uri="{FF2B5EF4-FFF2-40B4-BE49-F238E27FC236}">
                <a16:creationId xmlns:a16="http://schemas.microsoft.com/office/drawing/2014/main" id="{EFDA97DB-97DE-4762-9F6F-46060F90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52800"/>
            <a:ext cx="4857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A1224"/>
                </a:solidFill>
                <a:latin typeface="Consolas"/>
                <a:ea typeface="Consolas"/>
                <a:cs typeface="Consolas"/>
              </a:defRPr>
            </a:pPr>
            <a:r>
              <a:t>github.com/lohchanhin/vertex-palace</a:t>
            </a:r>
          </a:p>
        </p:txBody>
      </p:sp>
      <p:sp>
        <p:nvSpPr>
          <p:cNvPr id="8" name="s8-npm">
            <a:extLst xmlns:a="http://schemas.openxmlformats.org/drawingml/2006/main">
              <a:ext uri="{FF2B5EF4-FFF2-40B4-BE49-F238E27FC236}">
                <a16:creationId xmlns:a16="http://schemas.microsoft.com/office/drawing/2014/main" id="{AE89145D-5F3B-41F7-BEBC-48C64F93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48100"/>
            <a:ext cx="4857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71"/>
                </a:solidFill>
                <a:latin typeface="Consolas"/>
                <a:ea typeface="Consolas"/>
                <a:cs typeface="Consolas"/>
              </a:defRPr>
            </a:pPr>
            <a:r>
              <a:t>npmjs.com/package/vertex-palace</a:t>
            </a:r>
          </a:p>
        </p:txBody>
      </p:sp>
      <p:sp>
        <p:nvSpPr>
          <p:cNvPr id="9" name="s8-d1">
            <a:extLst xmlns:a="http://schemas.openxmlformats.org/drawingml/2006/main">
              <a:ext uri="{FF2B5EF4-FFF2-40B4-BE49-F238E27FC236}">
                <a16:creationId xmlns:a16="http://schemas.microsoft.com/office/drawing/2014/main" id="{9B81D749-F4F4-42CF-BEB4-1E5C0BC1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38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B7D5"/>
          </a:solidFill>
          <a:ln xmlns:a="http://schemas.openxmlformats.org/drawingml/2006/main" w="0">
            <a:solidFill>
              <a:srgbClr val="13B7D5"/>
            </a:solidFill>
            <a:prstDash val="solid"/>
          </a:ln>
        </p:spPr>
      </p:sp>
      <p:sp>
        <p:nvSpPr>
          <p:cNvPr id="10" name="s8-l1">
            <a:extLst xmlns:a="http://schemas.openxmlformats.org/drawingml/2006/main">
              <a:ext uri="{FF2B5EF4-FFF2-40B4-BE49-F238E27FC236}">
                <a16:creationId xmlns:a16="http://schemas.microsoft.com/office/drawing/2014/main" id="{1BF375C9-5B3C-4D25-9E28-FD7DA4205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762500"/>
            <a:ext cx="762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CLI</a:t>
            </a:r>
          </a:p>
        </p:txBody>
      </p:sp>
      <p:sp>
        <p:nvSpPr>
          <p:cNvPr id="11" name="s8-d2">
            <a:extLst xmlns:a="http://schemas.openxmlformats.org/drawingml/2006/main">
              <a:ext uri="{FF2B5EF4-FFF2-40B4-BE49-F238E27FC236}">
                <a16:creationId xmlns:a16="http://schemas.microsoft.com/office/drawing/2014/main" id="{DE39F716-AE9E-4450-9296-35AD08AE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38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0">
            <a:solidFill>
              <a:srgbClr val="1677FF"/>
            </a:solidFill>
            <a:prstDash val="solid"/>
          </a:ln>
        </p:spPr>
      </p:sp>
      <p:sp>
        <p:nvSpPr>
          <p:cNvPr id="12" name="s8-l2">
            <a:extLst xmlns:a="http://schemas.openxmlformats.org/drawingml/2006/main">
              <a:ext uri="{FF2B5EF4-FFF2-40B4-BE49-F238E27FC236}">
                <a16:creationId xmlns:a16="http://schemas.microsoft.com/office/drawing/2014/main" id="{BF547D23-5F61-4104-96C8-55A0136CE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762500"/>
            <a:ext cx="762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MCP</a:t>
            </a:r>
          </a:p>
        </p:txBody>
      </p:sp>
      <p:sp>
        <p:nvSpPr>
          <p:cNvPr id="13" name="s8-d3">
            <a:extLst xmlns:a="http://schemas.openxmlformats.org/drawingml/2006/main">
              <a:ext uri="{FF2B5EF4-FFF2-40B4-BE49-F238E27FC236}">
                <a16:creationId xmlns:a16="http://schemas.microsoft.com/office/drawing/2014/main" id="{302B440F-0A6E-4F63-AC28-93B3711D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387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38F5"/>
          </a:solidFill>
          <a:ln xmlns:a="http://schemas.openxmlformats.org/drawingml/2006/main" w="0">
            <a:solidFill>
              <a:srgbClr val="7438F5"/>
            </a:solidFill>
            <a:prstDash val="solid"/>
          </a:ln>
        </p:spPr>
      </p:sp>
      <p:sp>
        <p:nvSpPr>
          <p:cNvPr id="14" name="s8-l3">
            <a:extLst xmlns:a="http://schemas.openxmlformats.org/drawingml/2006/main">
              <a:ext uri="{FF2B5EF4-FFF2-40B4-BE49-F238E27FC236}">
                <a16:creationId xmlns:a16="http://schemas.microsoft.com/office/drawing/2014/main" id="{89866269-C75F-424B-987A-91225CE0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762500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224"/>
                </a:solidFill>
                <a:latin typeface="Arial"/>
                <a:ea typeface="Arial"/>
                <a:cs typeface="Arial"/>
              </a:defRPr>
            </a:pPr>
            <a:r>
              <a:t>Codex plugin</a:t>
            </a:r>
          </a:p>
        </p:txBody>
      </p:sp>
      <p:sp>
        <p:nvSpPr>
          <p:cNvPr id="15" name="s8-platforms">
            <a:extLst xmlns:a="http://schemas.openxmlformats.org/drawingml/2006/main">
              <a:ext uri="{FF2B5EF4-FFF2-40B4-BE49-F238E27FC236}">
                <a16:creationId xmlns:a16="http://schemas.microsoft.com/office/drawing/2014/main" id="{5590FA77-B0AB-48F3-A33F-B318B423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334000"/>
            <a:ext cx="4857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MIT licensed · Windows, macOS, and Linux</a:t>
            </a:r>
          </a:p>
        </p:txBody>
      </p:sp>
      <p:cxnSp>
        <p:nvCxnSpPr>
          <p:cNvPr id="34" name="footer-rule-8"/>
          <p:cNvCxnSpPr/>
          <p:nvPr/>
        </p:nvCxnSpPr>
        <p:spPr>
          <a:xfrm xmlns:a="http://schemas.openxmlformats.org/drawingml/2006/main">
            <a:off x="400050" y="6162675"/>
            <a:ext cx="113919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footer-source-8">
            <a:extLst xmlns:a="http://schemas.openxmlformats.org/drawingml/2006/main">
              <a:ext uri="{FF2B5EF4-FFF2-40B4-BE49-F238E27FC236}">
                <a16:creationId xmlns:a16="http://schemas.microsoft.com/office/drawing/2014/main" id="{CC04D024-2E07-4A39-9EDE-3CBF7679D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38875"/>
            <a:ext cx="1000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</p:txBody>
      </p:sp>
      <p:sp>
        <p:nvSpPr>
          <p:cNvPr id="18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0F932832-8320-4E80-9359-862E281E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38875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7361788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2026-07-19T10:15:18.7060000Z</dcterms:created>
  <dcterms:modified xsi:type="dcterms:W3CDTF">2026-07-19T10:15:18.7060000Z</dcterms:modified>
</coreProperties>
</file>