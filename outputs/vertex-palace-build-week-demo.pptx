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0b2c23f7c7409b" /><Relationship Type="http://schemas.openxmlformats.org/officeDocument/2006/relationships/extended-properties" Target="/docProps/app.xml" Id="R91797b0f4f104fbf" /><Relationship Type="http://schemas.openxmlformats.org/officeDocument/2006/relationships/officeDocument" Target="/ppt/presentation.xml" Id="Rbaa7dd31e32543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bdefaf395e490e"/>
  </p:sldMasterIdLst>
  <p:notesMasterIdLst>
    <p:notesMasterId xmlns:r="http://schemas.openxmlformats.org/officeDocument/2006/relationships" r:id="Rc34b74eb9f5142bc"/>
  </p:notesMasterIdLst>
  <p:sldIdLst>
    <p:sldId xmlns:r="http://schemas.openxmlformats.org/officeDocument/2006/relationships" id="256" r:id="R39f7a98369034cca"/>
    <p:sldId xmlns:r="http://schemas.openxmlformats.org/officeDocument/2006/relationships" id="257" r:id="R8b76a65345ab4a79"/>
    <p:sldId xmlns:r="http://schemas.openxmlformats.org/officeDocument/2006/relationships" id="258" r:id="R4a9d51c5d6d2426f"/>
    <p:sldId xmlns:r="http://schemas.openxmlformats.org/officeDocument/2006/relationships" id="259" r:id="R9d509893f2314f34"/>
    <p:sldId xmlns:r="http://schemas.openxmlformats.org/officeDocument/2006/relationships" id="260" r:id="Ree36d4941d4348ac"/>
    <p:sldId xmlns:r="http://schemas.openxmlformats.org/officeDocument/2006/relationships" id="261" r:id="R46364cad20e14537"/>
    <p:sldId xmlns:r="http://schemas.openxmlformats.org/officeDocument/2006/relationships" id="262" r:id="R954f177c827342ca"/>
    <p:sldId xmlns:r="http://schemas.openxmlformats.org/officeDocument/2006/relationships" id="263" r:id="R88ca8e012d33440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970a0b956f489d" /><Relationship Type="http://schemas.openxmlformats.org/officeDocument/2006/relationships/slideMaster" Target="/ppt/slideMasters/slideMaster1.xml" Id="R2abdefaf395e490e" /><Relationship Type="http://schemas.openxmlformats.org/officeDocument/2006/relationships/notesMaster" Target="/ppt/notesMasters/notesMaster1.xml" Id="Rc34b74eb9f5142bc" /><Relationship Type="http://schemas.openxmlformats.org/officeDocument/2006/relationships/presProps" Target="/ppt/presProps.xml" Id="Rcd7ca454ef2f473d" /><Relationship Type="http://schemas.openxmlformats.org/officeDocument/2006/relationships/tableStyles" Target="/ppt/tableStyles.xml" Id="Rc36dd237d6224223" /><Relationship Type="http://schemas.openxmlformats.org/officeDocument/2006/relationships/slide" Target="/ppt/slides/slide1.xml" Id="R39f7a98369034cca" /><Relationship Type="http://schemas.openxmlformats.org/officeDocument/2006/relationships/slide" Target="/ppt/slides/slide2.xml" Id="R8b76a65345ab4a79" /><Relationship Type="http://schemas.openxmlformats.org/officeDocument/2006/relationships/slide" Target="/ppt/slides/slide3.xml" Id="R4a9d51c5d6d2426f" /><Relationship Type="http://schemas.openxmlformats.org/officeDocument/2006/relationships/slide" Target="/ppt/slides/slide4.xml" Id="R9d509893f2314f34" /><Relationship Type="http://schemas.openxmlformats.org/officeDocument/2006/relationships/slide" Target="/ppt/slides/slide5.xml" Id="Ree36d4941d4348ac" /><Relationship Type="http://schemas.openxmlformats.org/officeDocument/2006/relationships/slide" Target="/ppt/slides/slide6.xml" Id="R46364cad20e14537" /><Relationship Type="http://schemas.openxmlformats.org/officeDocument/2006/relationships/slide" Target="/ppt/slides/slide7.xml" Id="R954f177c827342ca" /><Relationship Type="http://schemas.openxmlformats.org/officeDocument/2006/relationships/slide" Target="/ppt/slides/slide8.xml" Id="R88ca8e012d3344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60657bc5dc45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33534329c64f3b" /><Relationship Type="http://schemas.openxmlformats.org/officeDocument/2006/relationships/notesMaster" Target="/ppt/notesMasters/notesMaster1.xml" Id="Rcfb067f0c91b45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756c6c7dba4dcf" /><Relationship Type="http://schemas.openxmlformats.org/officeDocument/2006/relationships/notesMaster" Target="/ppt/notesMasters/notesMaster1.xml" Id="R08d247a9324e45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0909a232514192" /><Relationship Type="http://schemas.openxmlformats.org/officeDocument/2006/relationships/notesMaster" Target="/ppt/notesMasters/notesMaster1.xml" Id="R984da74b439046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3bee7046d34831" /><Relationship Type="http://schemas.openxmlformats.org/officeDocument/2006/relationships/notesMaster" Target="/ppt/notesMasters/notesMaster1.xml" Id="R7e254d333a0a4d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9f429505184f10" /><Relationship Type="http://schemas.openxmlformats.org/officeDocument/2006/relationships/notesMaster" Target="/ppt/notesMasters/notesMaster1.xml" Id="Rbc3a0261b1d841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9e506478634ea0" /><Relationship Type="http://schemas.openxmlformats.org/officeDocument/2006/relationships/notesMaster" Target="/ppt/notesMasters/notesMaster1.xml" Id="R1295652af87349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51719ea7b64d4f" /><Relationship Type="http://schemas.openxmlformats.org/officeDocument/2006/relationships/notesMaster" Target="/ppt/notesMasters/notesMaster1.xml" Id="R056f8004315144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921b27241a410e" /><Relationship Type="http://schemas.openxmlformats.org/officeDocument/2006/relationships/notesMaster" Target="/ppt/notesMasters/notesMaster1.xml" Id="R0e42f64d7d9443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name and one sentence: Vertex Palace gives Codex a structured way to enter a large repository, retrieve focused context, remember relevant pitfalls, and measure whether the route actually helped.</a:t>
            </a:r>
          </a:p>
          <a:p xmlns:a="http://schemas.openxmlformats.org/drawingml/2006/main">
            <a:r>
              <a:t>Keep the opening brief. The next slide introduces the concrete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 in the first person. Vertex Palace began with a recurring problem in my own large projects: a single issue could take more than an hour, while token usage climbed as the agent rediscovered files, relationships, and earlier decisions.</a:t>
            </a:r>
          </a:p>
          <a:p xmlns:a="http://schemas.openxmlformats.org/drawingml/2006/main">
            <a:r>
              <a:t>This was the point where I stopped treating the context cost as an inconvenience and decided to build a task-specific entry path. Do not present this personal experience as a universal benchmark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original idea began with a spatial question: could a flat, two-dimensional repository tree become a three-dimensional place? A building became the natural model, with domains as floors, features as rooms, and files and symbols as cabinets and drawers.</a:t>
            </a:r>
          </a:p>
          <a:p xmlns:a="http://schemas.openxmlformats.org/drawingml/2006/main">
            <a:r>
              <a:t>The connection to the human memory-palace technique came next. Once the repository had places, a task could follow a route through them and relevant past mistakes could wait at the entrance.</a:t>
            </a:r>
          </a:p>
          <a:p xmlns:a="http://schemas.openxmlformats.org/drawingml/2006/main">
            <a:r>
              <a:t>Walk left to right: index the repository structure, select an adaptive mode, pack only primary and supporting context, execute the task, then preserve relevant decisions and pitfalls at the entrance for the next task.</a:t>
            </a:r>
          </a:p>
          <a:p xmlns:a="http://schemas.openxmlformats.org/drawingml/2006/main">
            <a:r>
              <a:t>Emphasize that current code and tests outrank memory. The memory layer is a guardrail, not a source of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Recording cue: hold this slide for about two seconds, then cut to a 35 to 45 second screen recording that runs the exact palace context command. Return to the slide before advancing.</a:t>
            </a:r>
          </a:p>
          <a:p xmlns:a="http://schemas.openxmlformats.org/drawingml/2006/main">
            <a:r>
              <a:t>Point out the selected guarded-memory mode, the two primary implementation files, the bounded payload, and the current-code-first guardrail.</a:t>
            </a:r>
          </a:p>
          <a:p xmlns:a="http://schemas.openxmlformats.org/drawingml/2006/main">
            <a:r>
              <a:t>This visible output is from a real local run on Vertex Palace 0.2.3.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Vertex Palace evaluates its own retrieval. The current task reduced an 87,622-token indexed repository estimate to an 8,900-token context pack and still covered all three declared changed files.</a:t>
            </a:r>
          </a:p>
          <a:p xmlns:a="http://schemas.openxmlformats.org/drawingml/2006/main">
            <a:r>
              <a:t>Say the caveat aloud: this is context-pack reduction, not proof of lower end-to-end Codex usage.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benchmark honestly. Adaptive beat always-on Full Palace at the median for reported tokens and time, but it did not beat no-Palace Control overall.</a:t>
            </a:r>
          </a:p>
          <a:p xmlns:a="http://schemas.openxmlformats.org/drawingml/2006/main">
            <a:r>
              <a:t>The end-to-end intervals crossed zero. The defensible value is auditable routing and guarded project history, not a universal efficiency promise.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Build Week contribution as a learning loop. The pre-event baseline was v0.1.4. During the event, Codex and GPT-5.6 helped turn benchmark failures and release-routing mistakes into tested product changes.</a:t>
            </a:r>
          </a:p>
          <a:p xmlns:a="http://schemas.openxmlformats.org/drawingml/2006/main">
            <a:r>
              <a:t>Name the human decisions: keep the evaluator local and deterministic, scope memory, and let current code and tests outrank history.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judge path: install the public package, run palace context with auto mode, then evaluate the route after the task.</a:t>
            </a:r>
          </a:p>
          <a:p xmlns:a="http://schemas.openxmlformats.org/drawingml/2006/main">
            <a:r>
              <a:t>End on the product promise: Vertex Palace gives coding agents a map, a route, a memory, and measurable evidence about the context they selected.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10307afeae48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9b36376a2f40cc" /><Relationship Type="http://schemas.openxmlformats.org/officeDocument/2006/relationships/slideLayout" Target="/ppt/slideLayouts/slideLayout1.xml" Id="Rfeaf7f294e654a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af7f294e654a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1a81db57a45e3" /><Relationship Type="http://schemas.openxmlformats.org/officeDocument/2006/relationships/image" Target="/ppt/media/image.png" Id="Rb0f2c6423231481c" /><Relationship Type="http://schemas.openxmlformats.org/officeDocument/2006/relationships/notesSlide" Target="/ppt/notesSlides/notesSlide1.xml" Id="R5a87b73438714d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5e992da2549ea" /><Relationship Type="http://schemas.openxmlformats.org/officeDocument/2006/relationships/notesSlide" Target="/ppt/notesSlides/notesSlide2.xml" Id="R5f716239254346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b0791a5244f72" /><Relationship Type="http://schemas.openxmlformats.org/officeDocument/2006/relationships/notesSlide" Target="/ppt/notesSlides/notesSlide3.xml" Id="R549d8a97a9f34c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dc04ac09447af" /><Relationship Type="http://schemas.openxmlformats.org/officeDocument/2006/relationships/notesSlide" Target="/ppt/notesSlides/notesSlide4.xml" Id="R7bed4366d98244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013d8fb3a74eee" /><Relationship Type="http://schemas.openxmlformats.org/officeDocument/2006/relationships/chart" Target="/ppt/slides/charts/chart1.xml" Id="R47ea2b50f6794f4e" /><Relationship Type="http://schemas.openxmlformats.org/officeDocument/2006/relationships/notesSlide" Target="/ppt/notesSlides/notesSlide5.xml" Id="R6bb14798682849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0eda431ed4b69" /><Relationship Type="http://schemas.openxmlformats.org/officeDocument/2006/relationships/chart" Target="/ppt/slides/charts/chart2.xml" Id="R15084b7a54204e72" /><Relationship Type="http://schemas.openxmlformats.org/officeDocument/2006/relationships/notesSlide" Target="/ppt/notesSlides/notesSlide6.xml" Id="R295382142c404c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abc960de749c8" /><Relationship Type="http://schemas.openxmlformats.org/officeDocument/2006/relationships/notesSlide" Target="/ppt/notesSlides/notesSlide7.xml" Id="R94636ed11bc542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6b877b1944e79" /><Relationship Type="http://schemas.openxmlformats.org/officeDocument/2006/relationships/notesSlide" Target="/ppt/notesSlides/notesSlide8.xml" Id="Recb197bc379b4e91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Estimated tokens</c:v>
          </c:tx>
          <c:spPr>
            <a:solidFill xmlns:a="http://schemas.openxmlformats.org/drawingml/2006/main">
              <a:srgbClr val="1677FF"/>
            </a:solidFill>
          </c:spPr>
          <c:cat>
            <c:strLit>
              <c:ptCount val="2"/>
              <c:pt idx="0">
                <c:v>​</c:v>
              </c:pt>
              <c:pt idx="1">
                <c:v>‌</c:v>
              </c:pt>
            </c:strLit>
          </c:cat>
          <c:val>
            <c:numLit>
              <c:formatCode>General</c:formatCode>
              <c:ptCount val="2"/>
              <c:pt idx="0">
                <c:v>87622</c:v>
              </c:pt>
              <c:pt idx="1">
                <c:v>8900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F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Reported token difference</c:v>
          </c:tx>
          <c:spPr>
            <a:solidFill xmlns:a="http://schemas.openxmlformats.org/drawingml/2006/main">
              <a:srgbClr val="1677FF"/>
            </a:solidFill>
          </c:spPr>
          <c:invertIfNegative val="0"/>
          <c:cat>
            <c:strLit>
              <c:ptCount val="2"/>
              <c:pt idx="0">
                <c:v>​</c:v>
              </c:pt>
              <c:pt idx="1">
                <c:v>‌</c:v>
              </c:pt>
            </c:strLit>
          </c:cat>
          <c:val>
            <c:numLit>
              <c:formatCode>General</c:formatCode>
              <c:ptCount val="2"/>
              <c:pt idx="0">
                <c:v>-16522.5</c:v>
              </c:pt>
              <c:pt idx="1">
                <c:v>30147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F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14288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1-eyebrow">
            <a:extLst xmlns:a="http://schemas.openxmlformats.org/drawingml/2006/main">
              <a:ext uri="{FF2B5EF4-FFF2-40B4-BE49-F238E27FC236}">
                <a16:creationId xmlns:a16="http://schemas.microsoft.com/office/drawing/2014/main" id="{B7B1FA98-806C-40C5-A554-1071E086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OPENAI BUILD WEEK 2026  /  DEVELOPER TOOLS</a:t>
            </a:r>
          </a:p>
        </p:txBody>
      </p:sp>
      <p:sp>
        <p:nvSpPr>
          <p:cNvPr id="2" name="s1-title">
            <a:extLst xmlns:a="http://schemas.openxmlformats.org/drawingml/2006/main">
              <a:ext uri="{FF2B5EF4-FFF2-40B4-BE49-F238E27FC236}">
                <a16:creationId xmlns:a16="http://schemas.microsoft.com/office/drawing/2014/main" id="{C1889C3F-BF41-4D7C-8A0A-ED337414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59055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Vertex
Palace</a:t>
            </a:r>
          </a:p>
        </p:txBody>
      </p:sp>
      <p:cxnSp>
        <p:nvCxnSpPr>
          <p:cNvPr id="9" name="s1-accent"/>
          <p:cNvCxnSpPr/>
          <p:nvPr/>
        </p:nvCxnSpPr>
        <p:spPr>
          <a:xfrm xmlns:a="http://schemas.openxmlformats.org/drawingml/2006/main">
            <a:off x="514350" y="3895725"/>
            <a:ext cx="12001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13B7D5"/>
            </a:solidFill>
            <a:prstDash val="solid"/>
          </a:ln>
        </p:spPr>
      </p:cxnSp>
      <p:sp>
        <p:nvSpPr>
          <p:cNvPr id="4" name="s1-subtitle">
            <a:extLst xmlns:a="http://schemas.openxmlformats.org/drawingml/2006/main">
              <a:ext uri="{FF2B5EF4-FFF2-40B4-BE49-F238E27FC236}">
                <a16:creationId xmlns:a16="http://schemas.microsoft.com/office/drawing/2014/main" id="{4669666D-118B-4D03-ACA6-8F67931B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10050"/>
            <a:ext cx="58102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local map, route, memory, and evidence layer for Codex.</a:t>
            </a:r>
          </a:p>
        </p:txBody>
      </p:sp>
      <p:sp>
        <p:nvSpPr>
          <p:cNvPr id="5" name="s1-version">
            <a:extLst xmlns:a="http://schemas.openxmlformats.org/drawingml/2006/main">
              <a:ext uri="{FF2B5EF4-FFF2-40B4-BE49-F238E27FC236}">
                <a16:creationId xmlns:a16="http://schemas.microsoft.com/office/drawing/2014/main" id="{6DDE248A-DE7A-44C3-BBD9-7FC9B0CE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007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vertex-palace@0.2.3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2c6423231481c"/>
          <a:stretch xmlns:a="http://schemas.openxmlformats.org/drawingml/2006/main"/>
        </p:blipFill>
        <p:spPr>
          <a:xfrm xmlns:a="http://schemas.openxmlformats.org/drawingml/2006/main">
            <a:off x="6858000" y="1565275"/>
            <a:ext cx="4476750" cy="2984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227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s2-title">
            <a:extLst xmlns:a="http://schemas.openxmlformats.org/drawingml/2006/main">
              <a:ext uri="{FF2B5EF4-FFF2-40B4-BE49-F238E27FC236}">
                <a16:creationId xmlns:a16="http://schemas.microsoft.com/office/drawing/2014/main" id="{C5FC4020-68D7-4811-ADE7-A817D4BC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As my projects grew, one issue could take over an hour.</a:t>
            </a:r>
          </a:p>
        </p:txBody>
      </p:sp>
      <p:sp>
        <p:nvSpPr>
          <p:cNvPr id="2" name="s2-subtitle">
            <a:extLst xmlns:a="http://schemas.openxmlformats.org/drawingml/2006/main">
              <a:ext uri="{FF2B5EF4-FFF2-40B4-BE49-F238E27FC236}">
                <a16:creationId xmlns:a16="http://schemas.microsoft.com/office/drawing/2014/main" id="{4940A15F-891F-4344-A13A-B1C339B0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3919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Token use became just as unreasonable as the agent repeatedly rediscovered the same repository.</a:t>
            </a:r>
          </a:p>
        </p:txBody>
      </p:sp>
      <p:cxnSp>
        <p:nvCxnSpPr>
          <p:cNvPr id="35" name="s2-link-a"/>
          <p:cNvCxnSpPr/>
          <p:nvPr/>
        </p:nvCxnSpPr>
        <p:spPr>
          <a:xfrm xmlns:a="http://schemas.openxmlformats.org/drawingml/2006/main">
            <a:off x="1400175" y="1981200"/>
            <a:ext cx="1257300" cy="1495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6" name="s2-link-b"/>
          <p:cNvCxnSpPr/>
          <p:nvPr/>
        </p:nvCxnSpPr>
        <p:spPr>
          <a:xfrm xmlns:a="http://schemas.openxmlformats.org/drawingml/2006/main">
            <a:off x="2657475" y="1685925"/>
            <a:ext cx="1562100" cy="1790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7" name="s2-link-c"/>
          <p:cNvCxnSpPr/>
          <p:nvPr/>
        </p:nvCxnSpPr>
        <p:spPr>
          <a:xfrm xmlns:a="http://schemas.openxmlformats.org/drawingml/2006/main">
            <a:off x="2657475" y="3181350"/>
            <a:ext cx="2400300" cy="295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8" name="s2-link-d"/>
          <p:cNvCxnSpPr/>
          <p:nvPr/>
        </p:nvCxnSpPr>
        <p:spPr>
          <a:xfrm xmlns:a="http://schemas.openxmlformats.org/drawingml/2006/main">
            <a:off x="1533525" y="3476625"/>
            <a:ext cx="1123950" cy="1476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9" name="s2-link-e"/>
          <p:cNvCxnSpPr/>
          <p:nvPr/>
        </p:nvCxnSpPr>
        <p:spPr>
          <a:xfrm xmlns:a="http://schemas.openxmlformats.org/drawingml/2006/main">
            <a:off x="2657475" y="3476625"/>
            <a:ext cx="1771650" cy="1552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8" name="s2-agent">
            <a:extLst xmlns:a="http://schemas.openxmlformats.org/drawingml/2006/main">
              <a:ext uri="{FF2B5EF4-FFF2-40B4-BE49-F238E27FC236}">
                <a16:creationId xmlns:a16="http://schemas.microsoft.com/office/drawing/2014/main" id="{A01F559D-912B-4B3C-965D-04A0BBEC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146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9" name="s2-agent-label">
            <a:extLst xmlns:a="http://schemas.openxmlformats.org/drawingml/2006/main">
              <a:ext uri="{FF2B5EF4-FFF2-40B4-BE49-F238E27FC236}">
                <a16:creationId xmlns:a16="http://schemas.microsoft.com/office/drawing/2014/main" id="{A44C0778-51D2-4D50-9E6C-D44F690E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86125"/>
            <a:ext cx="83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AGENT</a:t>
            </a:r>
          </a:p>
        </p:txBody>
      </p:sp>
      <p:sp>
        <p:nvSpPr>
          <p:cNvPr id="10" name="s2-file-a">
            <a:extLst xmlns:a="http://schemas.openxmlformats.org/drawingml/2006/main">
              <a:ext uri="{FF2B5EF4-FFF2-40B4-BE49-F238E27FC236}">
                <a16:creationId xmlns:a16="http://schemas.microsoft.com/office/drawing/2014/main" id="{7DD03FA1-A93C-481A-A316-AB9D1126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1" name="s2-file-b">
            <a:extLst xmlns:a="http://schemas.openxmlformats.org/drawingml/2006/main">
              <a:ext uri="{FF2B5EF4-FFF2-40B4-BE49-F238E27FC236}">
                <a16:creationId xmlns:a16="http://schemas.microsoft.com/office/drawing/2014/main" id="{200592A9-79DC-475F-981B-0164FB53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343025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2" name="s2-file-c">
            <a:extLst xmlns:a="http://schemas.openxmlformats.org/drawingml/2006/main">
              <a:ext uri="{FF2B5EF4-FFF2-40B4-BE49-F238E27FC236}">
                <a16:creationId xmlns:a16="http://schemas.microsoft.com/office/drawing/2014/main" id="{F024A584-4103-45D1-8D3E-DEF1CB2E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15049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3" name="s2-file-d">
            <a:extLst xmlns:a="http://schemas.openxmlformats.org/drawingml/2006/main">
              <a:ext uri="{FF2B5EF4-FFF2-40B4-BE49-F238E27FC236}">
                <a16:creationId xmlns:a16="http://schemas.microsoft.com/office/drawing/2014/main" id="{8DDC61FB-59DB-4BE7-BF2A-2316C278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4" name="s2-file-e">
            <a:extLst xmlns:a="http://schemas.openxmlformats.org/drawingml/2006/main">
              <a:ext uri="{FF2B5EF4-FFF2-40B4-BE49-F238E27FC236}">
                <a16:creationId xmlns:a16="http://schemas.microsoft.com/office/drawing/2014/main" id="{B33BFD1E-4A8B-4F32-AB43-EB36FA45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863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5" name="s2-file-a-label">
            <a:extLst xmlns:a="http://schemas.openxmlformats.org/drawingml/2006/main">
              <a:ext uri="{FF2B5EF4-FFF2-40B4-BE49-F238E27FC236}">
                <a16:creationId xmlns:a16="http://schemas.microsoft.com/office/drawing/2014/main" id="{32BF2F3A-D65D-4DF4-A83D-4A0FB33B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57375"/>
            <a:ext cx="1200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README.md</a:t>
            </a:r>
          </a:p>
        </p:txBody>
      </p:sp>
      <p:sp>
        <p:nvSpPr>
          <p:cNvPr id="16" name="s2-file-b-label">
            <a:extLst xmlns:a="http://schemas.openxmlformats.org/drawingml/2006/main">
              <a:ext uri="{FF2B5EF4-FFF2-40B4-BE49-F238E27FC236}">
                <a16:creationId xmlns:a16="http://schemas.microsoft.com/office/drawing/2014/main" id="{4587D486-932F-4FB6-B402-137073E3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562100"/>
            <a:ext cx="1295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checkout.ts</a:t>
            </a:r>
          </a:p>
        </p:txBody>
      </p:sp>
      <p:sp>
        <p:nvSpPr>
          <p:cNvPr id="17" name="s2-file-c-label">
            <a:extLst xmlns:a="http://schemas.openxmlformats.org/drawingml/2006/main">
              <a:ext uri="{FF2B5EF4-FFF2-40B4-BE49-F238E27FC236}">
                <a16:creationId xmlns:a16="http://schemas.microsoft.com/office/drawing/2014/main" id="{56E77D73-AFAD-438B-9DA9-99357F7C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57525"/>
            <a:ext cx="1276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policy.json</a:t>
            </a:r>
          </a:p>
        </p:txBody>
      </p:sp>
      <p:sp>
        <p:nvSpPr>
          <p:cNvPr id="18" name="s2-file-d-label">
            <a:extLst xmlns:a="http://schemas.openxmlformats.org/drawingml/2006/main">
              <a:ext uri="{FF2B5EF4-FFF2-40B4-BE49-F238E27FC236}">
                <a16:creationId xmlns:a16="http://schemas.microsoft.com/office/drawing/2014/main" id="{F306541C-8593-40AC-A877-CC3DE563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29175"/>
            <a:ext cx="135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footer.tsx</a:t>
            </a:r>
          </a:p>
        </p:txBody>
      </p:sp>
      <p:sp>
        <p:nvSpPr>
          <p:cNvPr id="19" name="s2-file-e-label">
            <a:extLst xmlns:a="http://schemas.openxmlformats.org/drawingml/2006/main">
              <a:ext uri="{FF2B5EF4-FFF2-40B4-BE49-F238E27FC236}">
                <a16:creationId xmlns:a16="http://schemas.microsoft.com/office/drawing/2014/main" id="{8D3B657F-C97B-47DA-AE05-3EB3F1CD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905375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tests/...</a:t>
            </a:r>
          </a:p>
        </p:txBody>
      </p:sp>
      <p:sp>
        <p:nvSpPr>
          <p:cNvPr id="20" name="s2-n1">
            <a:extLst xmlns:a="http://schemas.openxmlformats.org/drawingml/2006/main">
              <a:ext uri="{FF2B5EF4-FFF2-40B4-BE49-F238E27FC236}">
                <a16:creationId xmlns:a16="http://schemas.microsoft.com/office/drawing/2014/main" id="{D8FEB7E8-7602-4187-B600-F0EA3B74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62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B7D5"/>
          </a:solidFill>
          <a:ln xmlns:a="http://schemas.openxmlformats.org/drawingml/2006/main" w="0">
            <a:solidFill>
              <a:srgbClr val="13B7D5"/>
            </a:solidFill>
            <a:prstDash val="solid"/>
          </a:ln>
        </p:spPr>
      </p:sp>
      <p:sp>
        <p:nvSpPr>
          <p:cNvPr id="21" name="s2-n1-label">
            <a:extLst xmlns:a="http://schemas.openxmlformats.org/drawingml/2006/main">
              <a:ext uri="{FF2B5EF4-FFF2-40B4-BE49-F238E27FC236}">
                <a16:creationId xmlns:a16="http://schemas.microsoft.com/office/drawing/2014/main" id="{62768408-9234-4E1A-86BD-3089003B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097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22" name="s2-p1">
            <a:extLst xmlns:a="http://schemas.openxmlformats.org/drawingml/2006/main">
              <a:ext uri="{FF2B5EF4-FFF2-40B4-BE49-F238E27FC236}">
                <a16:creationId xmlns:a16="http://schemas.microsoft.com/office/drawing/2014/main" id="{F5162042-A516-4172-987A-DEC9A562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47850"/>
            <a:ext cx="390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Broad search</a:t>
            </a:r>
          </a:p>
        </p:txBody>
      </p:sp>
      <p:sp>
        <p:nvSpPr>
          <p:cNvPr id="23" name="s2-n2">
            <a:extLst xmlns:a="http://schemas.openxmlformats.org/drawingml/2006/main">
              <a:ext uri="{FF2B5EF4-FFF2-40B4-BE49-F238E27FC236}">
                <a16:creationId xmlns:a16="http://schemas.microsoft.com/office/drawing/2014/main" id="{B4BD2993-05F2-4960-93EC-545FE3A7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24" name="s2-n2-label">
            <a:extLst xmlns:a="http://schemas.openxmlformats.org/drawingml/2006/main">
              <a:ext uri="{FF2B5EF4-FFF2-40B4-BE49-F238E27FC236}">
                <a16:creationId xmlns:a16="http://schemas.microsoft.com/office/drawing/2014/main" id="{758B1B5C-4A3A-4E43-9223-B0F64104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908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25" name="s2-p2">
            <a:extLst xmlns:a="http://schemas.openxmlformats.org/drawingml/2006/main">
              <a:ext uri="{FF2B5EF4-FFF2-40B4-BE49-F238E27FC236}">
                <a16:creationId xmlns:a16="http://schemas.microsoft.com/office/drawing/2014/main" id="{216F0699-0303-427C-A104-396B5BFA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28950"/>
            <a:ext cx="390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Repeated reading</a:t>
            </a:r>
          </a:p>
        </p:txBody>
      </p:sp>
      <p:sp>
        <p:nvSpPr>
          <p:cNvPr id="26" name="s2-n3">
            <a:extLst xmlns:a="http://schemas.openxmlformats.org/drawingml/2006/main">
              <a:ext uri="{FF2B5EF4-FFF2-40B4-BE49-F238E27FC236}">
                <a16:creationId xmlns:a16="http://schemas.microsoft.com/office/drawing/2014/main" id="{953A21F2-A6AD-4166-9B57-9F79639E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24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38F5"/>
          </a:solidFill>
          <a:ln xmlns:a="http://schemas.openxmlformats.org/drawingml/2006/main" w="0">
            <a:solidFill>
              <a:srgbClr val="7438F5"/>
            </a:solidFill>
            <a:prstDash val="solid"/>
          </a:ln>
        </p:spPr>
      </p:sp>
      <p:sp>
        <p:nvSpPr>
          <p:cNvPr id="27" name="s2-n3-label">
            <a:extLst xmlns:a="http://schemas.openxmlformats.org/drawingml/2006/main">
              <a:ext uri="{FF2B5EF4-FFF2-40B4-BE49-F238E27FC236}">
                <a16:creationId xmlns:a16="http://schemas.microsoft.com/office/drawing/2014/main" id="{67E3757C-7BC9-473D-BD3D-0A16007A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719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28" name="s2-p3">
            <a:extLst xmlns:a="http://schemas.openxmlformats.org/drawingml/2006/main">
              <a:ext uri="{FF2B5EF4-FFF2-40B4-BE49-F238E27FC236}">
                <a16:creationId xmlns:a16="http://schemas.microsoft.com/office/drawing/2014/main" id="{769800D5-994F-4BB1-AD39-63597201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10050"/>
            <a:ext cx="4095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Forgotten decisions</a:t>
            </a:r>
          </a:p>
        </p:txBody>
      </p:sp>
      <p:sp>
        <p:nvSpPr>
          <p:cNvPr id="29" name="s2-takeaway">
            <a:extLst xmlns:a="http://schemas.openxmlformats.org/drawingml/2006/main">
              <a:ext uri="{FF2B5EF4-FFF2-40B4-BE49-F238E27FC236}">
                <a16:creationId xmlns:a16="http://schemas.microsoft.com/office/drawing/2014/main" id="{F96DB957-1493-4D0D-8297-7670DA2B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62550"/>
            <a:ext cx="46291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That frustration became the reason I built Vertex Palace.</a:t>
            </a:r>
          </a:p>
        </p:txBody>
      </p:sp>
      <p:cxnSp>
        <p:nvCxnSpPr>
          <p:cNvPr id="62" name="footer-rule-2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1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73CFBAD0-5848-46F1-AA68-4BF1E8A1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2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C40432CF-26AF-4DE0-B190-F8AE9AB0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422363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3-title">
            <a:extLst xmlns:a="http://schemas.openxmlformats.org/drawingml/2006/main">
              <a:ext uri="{FF2B5EF4-FFF2-40B4-BE49-F238E27FC236}">
                <a16:creationId xmlns:a16="http://schemas.microsoft.com/office/drawing/2014/main" id="{E27733F7-45C4-4741-BECA-AB6F8949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I wanted to turn a 2D repository into a 3D building.</a:t>
            </a:r>
          </a:p>
        </p:txBody>
      </p:sp>
      <p:sp>
        <p:nvSpPr>
          <p:cNvPr id="2" name="s3-subtitle">
            <a:extLst xmlns:a="http://schemas.openxmlformats.org/drawingml/2006/main">
              <a:ext uri="{FF2B5EF4-FFF2-40B4-BE49-F238E27FC236}">
                <a16:creationId xmlns:a16="http://schemas.microsoft.com/office/drawing/2014/main" id="{D8B89513-F66C-4268-806F-44E2DF33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3919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Domains became floors. Features became rooms. Files and symbols became cabinets and drawers.</a:t>
            </a:r>
          </a:p>
        </p:txBody>
      </p:sp>
      <p:cxnSp>
        <p:nvCxnSpPr>
          <p:cNvPr id="31" name="s3-c1"/>
          <p:cNvCxnSpPr/>
          <p:nvPr/>
        </p:nvCxnSpPr>
        <p:spPr>
          <a:xfrm xmlns:a="http://schemas.openxmlformats.org/drawingml/2006/main">
            <a:off x="220980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3B7D5"/>
            </a:solidFill>
            <a:prstDash val="solid"/>
          </a:ln>
        </p:spPr>
      </p:cxnSp>
      <p:cxnSp>
        <p:nvCxnSpPr>
          <p:cNvPr id="32" name="s3-c2"/>
          <p:cNvCxnSpPr/>
          <p:nvPr/>
        </p:nvCxnSpPr>
        <p:spPr>
          <a:xfrm xmlns:a="http://schemas.openxmlformats.org/drawingml/2006/main">
            <a:off x="440055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FF"/>
            </a:solidFill>
            <a:prstDash val="solid"/>
          </a:ln>
        </p:spPr>
      </p:cxnSp>
      <p:cxnSp>
        <p:nvCxnSpPr>
          <p:cNvPr id="33" name="s3-c3"/>
          <p:cNvCxnSpPr/>
          <p:nvPr/>
        </p:nvCxnSpPr>
        <p:spPr>
          <a:xfrm xmlns:a="http://schemas.openxmlformats.org/drawingml/2006/main">
            <a:off x="659130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438F5"/>
            </a:solidFill>
            <a:prstDash val="solid"/>
          </a:ln>
        </p:spPr>
      </p:cxnSp>
      <p:cxnSp>
        <p:nvCxnSpPr>
          <p:cNvPr id="34" name="s3-c4"/>
          <p:cNvCxnSpPr/>
          <p:nvPr/>
        </p:nvCxnSpPr>
        <p:spPr>
          <a:xfrm xmlns:a="http://schemas.openxmlformats.org/drawingml/2006/main">
            <a:off x="878205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A777"/>
            </a:solidFill>
            <a:prstDash val="solid"/>
          </a:ln>
        </p:spPr>
      </p:cxnSp>
      <p:cxnSp>
        <p:nvCxnSpPr>
          <p:cNvPr id="35" name="s3-memory-link"/>
          <p:cNvCxnSpPr/>
          <p:nvPr/>
        </p:nvCxnSpPr>
        <p:spPr>
          <a:xfrm xmlns:a="http://schemas.openxmlformats.org/drawingml/2006/main">
            <a:off x="7848600" y="3752850"/>
            <a:ext cx="2381250" cy="838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8" name="s3-repo">
            <a:extLst xmlns:a="http://schemas.openxmlformats.org/drawingml/2006/main">
              <a:ext uri="{FF2B5EF4-FFF2-40B4-BE49-F238E27FC236}">
                <a16:creationId xmlns:a16="http://schemas.microsoft.com/office/drawing/2014/main" id="{F84B093C-FEA3-4914-8E41-2D9A530B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43125"/>
            <a:ext cx="16192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9" name="s3-index">
            <a:extLst xmlns:a="http://schemas.openxmlformats.org/drawingml/2006/main">
              <a:ext uri="{FF2B5EF4-FFF2-40B4-BE49-F238E27FC236}">
                <a16:creationId xmlns:a16="http://schemas.microsoft.com/office/drawing/2014/main" id="{89846913-9258-41E6-A885-56F6F473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43125"/>
            <a:ext cx="1428750" cy="16002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7FB"/>
          </a:solidFill>
          <a:ln xmlns:a="http://schemas.openxmlformats.org/drawingml/2006/main" w="0">
            <a:solidFill>
              <a:srgbClr val="E8F7FB"/>
            </a:solidFill>
            <a:prstDash val="solid"/>
          </a:ln>
        </p:spPr>
      </p:sp>
      <p:sp>
        <p:nvSpPr>
          <p:cNvPr id="10" name="s3-mode">
            <a:extLst xmlns:a="http://schemas.openxmlformats.org/drawingml/2006/main">
              <a:ext uri="{FF2B5EF4-FFF2-40B4-BE49-F238E27FC236}">
                <a16:creationId xmlns:a16="http://schemas.microsoft.com/office/drawing/2014/main" id="{C55F47EA-5C65-456D-B485-4D330B21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43125"/>
            <a:ext cx="1428750" cy="16002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solidFill>
              <a:srgbClr val="EAF1FF"/>
            </a:solidFill>
            <a:prstDash val="solid"/>
          </a:ln>
        </p:spPr>
      </p:sp>
      <p:sp>
        <p:nvSpPr>
          <p:cNvPr id="11" name="s3-pack">
            <a:extLst xmlns:a="http://schemas.openxmlformats.org/drawingml/2006/main">
              <a:ext uri="{FF2B5EF4-FFF2-40B4-BE49-F238E27FC236}">
                <a16:creationId xmlns:a16="http://schemas.microsoft.com/office/drawing/2014/main" id="{253B49D7-D4B8-44CF-8038-1EC8F11B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43125"/>
            <a:ext cx="1428750" cy="16002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1EBFF"/>
          </a:solidFill>
          <a:ln xmlns:a="http://schemas.openxmlformats.org/drawingml/2006/main" w="0">
            <a:solidFill>
              <a:srgbClr val="F1EBFF"/>
            </a:solidFill>
            <a:prstDash val="solid"/>
          </a:ln>
        </p:spPr>
      </p:sp>
      <p:sp>
        <p:nvSpPr>
          <p:cNvPr id="12" name="s3-task">
            <a:extLst xmlns:a="http://schemas.openxmlformats.org/drawingml/2006/main">
              <a:ext uri="{FF2B5EF4-FFF2-40B4-BE49-F238E27FC236}">
                <a16:creationId xmlns:a16="http://schemas.microsoft.com/office/drawing/2014/main" id="{8D16ACD7-C8C3-4977-8C92-5CC73FFE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143125"/>
            <a:ext cx="18097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9F7F2"/>
          </a:solidFill>
          <a:ln xmlns:a="http://schemas.openxmlformats.org/drawingml/2006/main" w="0">
            <a:solidFill>
              <a:srgbClr val="E9F7F2"/>
            </a:solidFill>
            <a:prstDash val="solid"/>
          </a:ln>
        </p:spPr>
      </p:sp>
      <p:sp>
        <p:nvSpPr>
          <p:cNvPr id="13" name="s3-repo-label">
            <a:extLst xmlns:a="http://schemas.openxmlformats.org/drawingml/2006/main">
              <a:ext uri="{FF2B5EF4-FFF2-40B4-BE49-F238E27FC236}">
                <a16:creationId xmlns:a16="http://schemas.microsoft.com/office/drawing/2014/main" id="{DE66DED8-C4E0-495F-9EA6-E16BAEC4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466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2D REPOSITORY</a:t>
            </a:r>
          </a:p>
        </p:txBody>
      </p:sp>
      <p:sp>
        <p:nvSpPr>
          <p:cNvPr id="14" name="s3-repo-main">
            <a:extLst xmlns:a="http://schemas.openxmlformats.org/drawingml/2006/main">
              <a:ext uri="{FF2B5EF4-FFF2-40B4-BE49-F238E27FC236}">
                <a16:creationId xmlns:a16="http://schemas.microsoft.com/office/drawing/2014/main" id="{68158F59-AA4A-4B63-BB04-EEB6328F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13525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Files + symbols</a:t>
            </a:r>
          </a:p>
        </p:txBody>
      </p:sp>
      <p:sp>
        <p:nvSpPr>
          <p:cNvPr id="15" name="s3-index-label">
            <a:extLst xmlns:a="http://schemas.openxmlformats.org/drawingml/2006/main">
              <a:ext uri="{FF2B5EF4-FFF2-40B4-BE49-F238E27FC236}">
                <a16:creationId xmlns:a16="http://schemas.microsoft.com/office/drawing/2014/main" id="{61C61F4D-AB50-4C8A-A245-D365FFB1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47925"/>
            <a:ext cx="1085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3D MAP</a:t>
            </a:r>
          </a:p>
        </p:txBody>
      </p:sp>
      <p:sp>
        <p:nvSpPr>
          <p:cNvPr id="16" name="s3-index-main">
            <a:extLst xmlns:a="http://schemas.openxmlformats.org/drawingml/2006/main">
              <a:ext uri="{FF2B5EF4-FFF2-40B4-BE49-F238E27FC236}">
                <a16:creationId xmlns:a16="http://schemas.microsoft.com/office/drawing/2014/main" id="{80ED80A2-8106-4FBE-B141-772AB77F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43225"/>
            <a:ext cx="11620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Floors + rooms</a:t>
            </a:r>
          </a:p>
        </p:txBody>
      </p:sp>
      <p:sp>
        <p:nvSpPr>
          <p:cNvPr id="17" name="s3-mode-label">
            <a:extLst xmlns:a="http://schemas.openxmlformats.org/drawingml/2006/main">
              <a:ext uri="{FF2B5EF4-FFF2-40B4-BE49-F238E27FC236}">
                <a16:creationId xmlns:a16="http://schemas.microsoft.com/office/drawing/2014/main" id="{50EC9758-2A1F-4CCC-AFCC-3FE14473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47925"/>
            <a:ext cx="1085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ADAPT</a:t>
            </a:r>
          </a:p>
        </p:txBody>
      </p:sp>
      <p:sp>
        <p:nvSpPr>
          <p:cNvPr id="18" name="s3-mode-main">
            <a:extLst xmlns:a="http://schemas.openxmlformats.org/drawingml/2006/main">
              <a:ext uri="{FF2B5EF4-FFF2-40B4-BE49-F238E27FC236}">
                <a16:creationId xmlns:a16="http://schemas.microsoft.com/office/drawing/2014/main" id="{1141A154-71D2-4D75-BBBC-811FF386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43225"/>
            <a:ext cx="11620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Choose mode</a:t>
            </a:r>
          </a:p>
        </p:txBody>
      </p:sp>
      <p:sp>
        <p:nvSpPr>
          <p:cNvPr id="19" name="s3-pack-label">
            <a:extLst xmlns:a="http://schemas.openxmlformats.org/drawingml/2006/main">
              <a:ext uri="{FF2B5EF4-FFF2-40B4-BE49-F238E27FC236}">
                <a16:creationId xmlns:a16="http://schemas.microsoft.com/office/drawing/2014/main" id="{CC3A3F32-7EEA-4FEA-ABB0-35FC9A1F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47925"/>
            <a:ext cx="1085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438F5"/>
                </a:solidFill>
                <a:latin typeface="Arial"/>
                <a:ea typeface="Arial"/>
                <a:cs typeface="Arial"/>
              </a:defRPr>
            </a:pPr>
            <a:r>
              <a:t>PACK</a:t>
            </a:r>
          </a:p>
        </p:txBody>
      </p:sp>
      <p:sp>
        <p:nvSpPr>
          <p:cNvPr id="20" name="s3-pack-main">
            <a:extLst xmlns:a="http://schemas.openxmlformats.org/drawingml/2006/main">
              <a:ext uri="{FF2B5EF4-FFF2-40B4-BE49-F238E27FC236}">
                <a16:creationId xmlns:a16="http://schemas.microsoft.com/office/drawing/2014/main" id="{514BDFEB-EBD4-4270-A5E1-9EC8CDB4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57500"/>
            <a:ext cx="11811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Primary + support</a:t>
            </a:r>
          </a:p>
        </p:txBody>
      </p:sp>
      <p:sp>
        <p:nvSpPr>
          <p:cNvPr id="21" name="s3-task-label">
            <a:extLst xmlns:a="http://schemas.openxmlformats.org/drawingml/2006/main">
              <a:ext uri="{FF2B5EF4-FFF2-40B4-BE49-F238E27FC236}">
                <a16:creationId xmlns:a16="http://schemas.microsoft.com/office/drawing/2014/main" id="{9BA4AB6D-90C4-4A8D-B33E-DF077609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447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EXECUTE</a:t>
            </a:r>
          </a:p>
        </p:txBody>
      </p:sp>
      <p:sp>
        <p:nvSpPr>
          <p:cNvPr id="22" name="s3-task-main">
            <a:extLst xmlns:a="http://schemas.openxmlformats.org/drawingml/2006/main">
              <a:ext uri="{FF2B5EF4-FFF2-40B4-BE49-F238E27FC236}">
                <a16:creationId xmlns:a16="http://schemas.microsoft.com/office/drawing/2014/main" id="{ACB93DFB-A28F-45E4-A94B-BAB1B6B6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43225"/>
            <a:ext cx="1447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Focused task</a:t>
            </a:r>
          </a:p>
        </p:txBody>
      </p:sp>
      <p:sp>
        <p:nvSpPr>
          <p:cNvPr id="23" name="s3-memory">
            <a:extLst xmlns:a="http://schemas.openxmlformats.org/drawingml/2006/main">
              <a:ext uri="{FF2B5EF4-FFF2-40B4-BE49-F238E27FC236}">
                <a16:creationId xmlns:a16="http://schemas.microsoft.com/office/drawing/2014/main" id="{22661A92-B252-4608-BE68-42477823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91050"/>
            <a:ext cx="3714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24" name="s3-memory-label">
            <a:extLst xmlns:a="http://schemas.openxmlformats.org/drawingml/2006/main">
              <a:ext uri="{FF2B5EF4-FFF2-40B4-BE49-F238E27FC236}">
                <a16:creationId xmlns:a16="http://schemas.microsoft.com/office/drawing/2014/main" id="{38A2F781-4E22-45E9-A836-99B70AAF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62500"/>
            <a:ext cx="3219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PITFALL BOARD</a:t>
            </a:r>
          </a:p>
        </p:txBody>
      </p:sp>
      <p:sp>
        <p:nvSpPr>
          <p:cNvPr id="25" name="s3-memory-main">
            <a:extLst xmlns:a="http://schemas.openxmlformats.org/drawingml/2006/main">
              <a:ext uri="{FF2B5EF4-FFF2-40B4-BE49-F238E27FC236}">
                <a16:creationId xmlns:a16="http://schemas.microsoft.com/office/drawing/2014/main" id="{9176910D-FF8F-47BD-9D19-D6FF5585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32194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Relevant mistakes appear at the
entrance next time.</a:t>
            </a:r>
          </a:p>
        </p:txBody>
      </p:sp>
      <p:cxnSp>
        <p:nvCxnSpPr>
          <p:cNvPr id="54" name="footer-rule-3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7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D36EEE0C-5739-45FB-998D-4F61E564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28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FF2E9AEF-FEBB-42E0-B537-B71C9B50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584245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4-title">
            <a:extLst xmlns:a="http://schemas.openxmlformats.org/drawingml/2006/main">
              <a:ext uri="{FF2B5EF4-FFF2-40B4-BE49-F238E27FC236}">
                <a16:creationId xmlns:a16="http://schemas.microsoft.com/office/drawing/2014/main" id="{ECA5D961-2EE9-4A5E-B81F-8A968889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useful route in one command.</a:t>
            </a:r>
          </a:p>
        </p:txBody>
      </p:sp>
      <p:sp>
        <p:nvSpPr>
          <p:cNvPr id="2" name="s4-subtitle">
            <a:extLst xmlns:a="http://schemas.openxmlformats.org/drawingml/2006/main">
              <a:ext uri="{FF2B5EF4-FFF2-40B4-BE49-F238E27FC236}">
                <a16:creationId xmlns:a16="http://schemas.microsoft.com/office/drawing/2014/main" id="{321E7CAC-0FC2-46A7-9274-8A907B2D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933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The same call initializes, refreshes, routes, selects a mode, and packs context.</a:t>
            </a:r>
          </a:p>
        </p:txBody>
      </p:sp>
      <p:sp>
        <p:nvSpPr>
          <p:cNvPr id="3" name="s4-terminal">
            <a:extLst xmlns:a="http://schemas.openxmlformats.org/drawingml/2006/main">
              <a:ext uri="{FF2B5EF4-FFF2-40B4-BE49-F238E27FC236}">
                <a16:creationId xmlns:a16="http://schemas.microsoft.com/office/drawing/2014/main" id="{DFE91957-DDAD-4185-BD6E-A67F17BD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10871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9525">
            <a:solidFill>
              <a:srgbClr val="0B2B56"/>
            </a:solidFill>
            <a:prstDash val="solid"/>
          </a:ln>
        </p:spPr>
      </p:sp>
      <p:cxnSp>
        <p:nvCxnSpPr>
          <p:cNvPr id="29" name="s4-terminal-divider"/>
          <p:cNvCxnSpPr/>
          <p:nvPr/>
        </p:nvCxnSpPr>
        <p:spPr>
          <a:xfrm xmlns:a="http://schemas.openxmlformats.org/drawingml/2006/main">
            <a:off x="6334125" y="2038350"/>
            <a:ext cx="953" cy="33528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4466F"/>
            </a:solidFill>
            <a:prstDash val="solid"/>
          </a:ln>
        </p:spPr>
      </p:cxnSp>
      <p:sp>
        <p:nvSpPr>
          <p:cNvPr id="5" name="s4-dot1">
            <a:extLst xmlns:a="http://schemas.openxmlformats.org/drawingml/2006/main">
              <a:ext uri="{FF2B5EF4-FFF2-40B4-BE49-F238E27FC236}">
                <a16:creationId xmlns:a16="http://schemas.microsoft.com/office/drawing/2014/main" id="{DCF94B8F-E198-417E-90D2-D57B665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515D"/>
          </a:solidFill>
          <a:ln xmlns:a="http://schemas.openxmlformats.org/drawingml/2006/main" w="0">
            <a:solidFill>
              <a:srgbClr val="D4515D"/>
            </a:solidFill>
            <a:prstDash val="solid"/>
          </a:ln>
        </p:spPr>
      </p:sp>
      <p:sp>
        <p:nvSpPr>
          <p:cNvPr id="6" name="s4-dot2">
            <a:extLst xmlns:a="http://schemas.openxmlformats.org/drawingml/2006/main">
              <a:ext uri="{FF2B5EF4-FFF2-40B4-BE49-F238E27FC236}">
                <a16:creationId xmlns:a16="http://schemas.microsoft.com/office/drawing/2014/main" id="{580B3C56-7D5F-472B-BC43-74DBD9CC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712"/>
          </a:solidFill>
          <a:ln xmlns:a="http://schemas.openxmlformats.org/drawingml/2006/main" w="0">
            <a:solidFill>
              <a:srgbClr val="B87712"/>
            </a:solidFill>
            <a:prstDash val="solid"/>
          </a:ln>
        </p:spPr>
      </p:sp>
      <p:sp>
        <p:nvSpPr>
          <p:cNvPr id="7" name="s4-dot3">
            <a:extLst xmlns:a="http://schemas.openxmlformats.org/drawingml/2006/main">
              <a:ext uri="{FF2B5EF4-FFF2-40B4-BE49-F238E27FC236}">
                <a16:creationId xmlns:a16="http://schemas.microsoft.com/office/drawing/2014/main" id="{94D12B48-C7BB-495D-87D3-42E1E09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777"/>
          </a:solidFill>
          <a:ln xmlns:a="http://schemas.openxmlformats.org/drawingml/2006/main" w="0">
            <a:solidFill>
              <a:srgbClr val="15A777"/>
            </a:solidFill>
            <a:prstDash val="solid"/>
          </a:ln>
        </p:spPr>
      </p:sp>
      <p:sp>
        <p:nvSpPr>
          <p:cNvPr id="8" name="s4-command-label">
            <a:extLst xmlns:a="http://schemas.openxmlformats.org/drawingml/2006/main">
              <a:ext uri="{FF2B5EF4-FFF2-40B4-BE49-F238E27FC236}">
                <a16:creationId xmlns:a16="http://schemas.microsoft.com/office/drawing/2014/main" id="{6BFAD678-1E01-48C1-9FEB-A1066E62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COMMAND</a:t>
            </a:r>
          </a:p>
        </p:txBody>
      </p:sp>
      <p:sp>
        <p:nvSpPr>
          <p:cNvPr id="9" name="s4-command">
            <a:extLst xmlns:a="http://schemas.openxmlformats.org/drawingml/2006/main">
              <a:ext uri="{FF2B5EF4-FFF2-40B4-BE49-F238E27FC236}">
                <a16:creationId xmlns:a16="http://schemas.microsoft.com/office/drawing/2014/main" id="{BC067BAD-F1B8-430C-A94A-24FD66FB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5000625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$ palace context
  "Fix adaptive full-palace mode
   so relevant memory is included
   with current-code-first guardrails"
  --auto</a:t>
            </a:r>
          </a:p>
        </p:txBody>
      </p:sp>
      <p:sp>
        <p:nvSpPr>
          <p:cNvPr id="10" name="s4-command-note">
            <a:extLst xmlns:a="http://schemas.openxmlformats.org/drawingml/2006/main">
              <a:ext uri="{FF2B5EF4-FFF2-40B4-BE49-F238E27FC236}">
                <a16:creationId xmlns:a16="http://schemas.microsoft.com/office/drawing/2014/main" id="{B2E2F647-B92F-471E-BE3A-2804F7CE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476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CC8FF"/>
                </a:solidFill>
                <a:latin typeface="Arial"/>
                <a:ea typeface="Arial"/>
                <a:cs typeface="Arial"/>
              </a:defRPr>
            </a:pPr>
            <a:r>
              <a:t>One request. No full-repo paste.</a:t>
            </a:r>
          </a:p>
        </p:txBody>
      </p:sp>
      <p:sp>
        <p:nvSpPr>
          <p:cNvPr id="11" name="s4-output-label">
            <a:extLst xmlns:a="http://schemas.openxmlformats.org/drawingml/2006/main">
              <a:ext uri="{FF2B5EF4-FFF2-40B4-BE49-F238E27FC236}">
                <a16:creationId xmlns:a16="http://schemas.microsoft.com/office/drawing/2014/main" id="{B5358BA2-183D-49E8-89FC-E121568F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717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LIVE OUTPUT</a:t>
            </a:r>
          </a:p>
        </p:txBody>
      </p:sp>
      <p:sp>
        <p:nvSpPr>
          <p:cNvPr id="12" name="s4-o1a">
            <a:extLst xmlns:a="http://schemas.openxmlformats.org/drawingml/2006/main">
              <a:ext uri="{FF2B5EF4-FFF2-40B4-BE49-F238E27FC236}">
                <a16:creationId xmlns:a16="http://schemas.microsoft.com/office/drawing/2014/main" id="{3F3A315A-A832-4508-B97E-057AC5D7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2890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Mode</a:t>
            </a:r>
          </a:p>
        </p:txBody>
      </p:sp>
      <p:sp>
        <p:nvSpPr>
          <p:cNvPr id="13" name="s4-o1b">
            <a:extLst xmlns:a="http://schemas.openxmlformats.org/drawingml/2006/main">
              <a:ext uri="{FF2B5EF4-FFF2-40B4-BE49-F238E27FC236}">
                <a16:creationId xmlns:a16="http://schemas.microsoft.com/office/drawing/2014/main" id="{415326A1-EA95-438B-A5A9-078EB0DF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2890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guarded-memory-palace</a:t>
            </a:r>
          </a:p>
        </p:txBody>
      </p:sp>
      <p:sp>
        <p:nvSpPr>
          <p:cNvPr id="14" name="s4-o2a">
            <a:extLst xmlns:a="http://schemas.openxmlformats.org/drawingml/2006/main">
              <a:ext uri="{FF2B5EF4-FFF2-40B4-BE49-F238E27FC236}">
                <a16:creationId xmlns:a16="http://schemas.microsoft.com/office/drawing/2014/main" id="{C150D3AC-C6E0-4280-AB80-17F3590A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5752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Route confidence</a:t>
            </a:r>
          </a:p>
        </p:txBody>
      </p:sp>
      <p:sp>
        <p:nvSpPr>
          <p:cNvPr id="15" name="s4-o2b">
            <a:extLst xmlns:a="http://schemas.openxmlformats.org/drawingml/2006/main">
              <a:ext uri="{FF2B5EF4-FFF2-40B4-BE49-F238E27FC236}">
                <a16:creationId xmlns:a16="http://schemas.microsoft.com/office/drawing/2014/main" id="{9D684430-950D-41C8-A2D1-D44F19D8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57525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B7D5"/>
                </a:solidFill>
                <a:latin typeface="Consolas"/>
                <a:ea typeface="Consolas"/>
                <a:cs typeface="Consolas"/>
              </a:defRPr>
            </a:pPr>
            <a:r>
              <a:t>0.81</a:t>
            </a:r>
          </a:p>
        </p:txBody>
      </p:sp>
      <p:sp>
        <p:nvSpPr>
          <p:cNvPr id="16" name="s4-o3a">
            <a:extLst xmlns:a="http://schemas.openxmlformats.org/drawingml/2006/main">
              <a:ext uri="{FF2B5EF4-FFF2-40B4-BE49-F238E27FC236}">
                <a16:creationId xmlns:a16="http://schemas.microsoft.com/office/drawing/2014/main" id="{7C63FBB0-FD02-4013-A128-D24B97FA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861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Payload</a:t>
            </a:r>
          </a:p>
        </p:txBody>
      </p:sp>
      <p:sp>
        <p:nvSpPr>
          <p:cNvPr id="17" name="s4-o3b">
            <a:extLst xmlns:a="http://schemas.openxmlformats.org/drawingml/2006/main">
              <a:ext uri="{FF2B5EF4-FFF2-40B4-BE49-F238E27FC236}">
                <a16:creationId xmlns:a16="http://schemas.microsoft.com/office/drawing/2014/main" id="{174A7B0C-D948-4F71-9367-164A398F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1,165 est. tokens</a:t>
            </a:r>
          </a:p>
        </p:txBody>
      </p:sp>
      <p:sp>
        <p:nvSpPr>
          <p:cNvPr id="18" name="s4-o4a">
            <a:extLst xmlns:a="http://schemas.openxmlformats.org/drawingml/2006/main">
              <a:ext uri="{FF2B5EF4-FFF2-40B4-BE49-F238E27FC236}">
                <a16:creationId xmlns:a16="http://schemas.microsoft.com/office/drawing/2014/main" id="{6AE3775C-738C-413E-9136-2502F8B1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Primary</a:t>
            </a:r>
          </a:p>
        </p:txBody>
      </p:sp>
      <p:sp>
        <p:nvSpPr>
          <p:cNvPr id="19" name="s4-o4b">
            <a:extLst xmlns:a="http://schemas.openxmlformats.org/drawingml/2006/main">
              <a:ext uri="{FF2B5EF4-FFF2-40B4-BE49-F238E27FC236}">
                <a16:creationId xmlns:a16="http://schemas.microsoft.com/office/drawing/2014/main" id="{75695E33-5176-479E-B4B9-FE1001AA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14775"/>
            <a:ext cx="2762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context-packer.ts
mode-selector.ts</a:t>
            </a:r>
          </a:p>
        </p:txBody>
      </p:sp>
      <p:sp>
        <p:nvSpPr>
          <p:cNvPr id="20" name="s4-o5a">
            <a:extLst xmlns:a="http://schemas.openxmlformats.org/drawingml/2006/main">
              <a:ext uri="{FF2B5EF4-FFF2-40B4-BE49-F238E27FC236}">
                <a16:creationId xmlns:a16="http://schemas.microsoft.com/office/drawing/2014/main" id="{70530514-10EB-4369-BE2E-6D6ABE0C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291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Memory</a:t>
            </a:r>
          </a:p>
        </p:txBody>
      </p:sp>
      <p:sp>
        <p:nvSpPr>
          <p:cNvPr id="21" name="s4-o5b">
            <a:extLst xmlns:a="http://schemas.openxmlformats.org/drawingml/2006/main">
              <a:ext uri="{FF2B5EF4-FFF2-40B4-BE49-F238E27FC236}">
                <a16:creationId xmlns:a16="http://schemas.microsoft.com/office/drawing/2014/main" id="{1AB4CD06-0FF7-4127-BC5B-79E885B2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A777"/>
                </a:solidFill>
                <a:latin typeface="Consolas"/>
                <a:ea typeface="Consolas"/>
                <a:cs typeface="Consolas"/>
              </a:defRPr>
            </a:pPr>
            <a:r>
              <a:t>3 items + 1 guardrail</a:t>
            </a:r>
          </a:p>
        </p:txBody>
      </p:sp>
      <p:sp>
        <p:nvSpPr>
          <p:cNvPr id="22" name="s4-output-note">
            <a:extLst xmlns:a="http://schemas.openxmlformats.org/drawingml/2006/main">
              <a:ext uri="{FF2B5EF4-FFF2-40B4-BE49-F238E27FC236}">
                <a16:creationId xmlns:a16="http://schemas.microsoft.com/office/drawing/2014/main" id="{1FAC71B4-C94A-4FBA-94A6-E7E5C2E3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438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C8FF"/>
                </a:solidFill>
                <a:latin typeface="Arial"/>
                <a:ea typeface="Arial"/>
                <a:cs typeface="Arial"/>
              </a:defRPr>
            </a:pPr>
            <a:r>
              <a:t>Primary files first. Supporting context stays bounded.</a:t>
            </a:r>
          </a:p>
        </p:txBody>
      </p:sp>
      <p:cxnSp>
        <p:nvCxnSpPr>
          <p:cNvPr id="48" name="footer-rule-4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F63D8B2C-3A87-4263-9A45-5C444E22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Live local CLI output captured 2026-07-19 · vertex-palace@0.2.3</a:t>
            </a:r>
          </a:p>
        </p:txBody>
      </p:sp>
      <p:sp>
        <p:nvSpPr>
          <p:cNvPr id="2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A9B14503-75BC-4257-BC86-E0D03F6C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118259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5-title">
            <a:extLst xmlns:a="http://schemas.openxmlformats.org/drawingml/2006/main">
              <a:ext uri="{FF2B5EF4-FFF2-40B4-BE49-F238E27FC236}">
                <a16:creationId xmlns:a16="http://schemas.microsoft.com/office/drawing/2014/main" id="{9960B5BD-357D-46AC-9292-A4FEF925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route is measured after the task, not trusted blindly.</a:t>
            </a:r>
          </a:p>
        </p:txBody>
      </p:sp>
      <p:sp>
        <p:nvSpPr>
          <p:cNvPr id="2" name="s5-subtitle">
            <a:extLst xmlns:a="http://schemas.openxmlformats.org/drawingml/2006/main">
              <a:ext uri="{FF2B5EF4-FFF2-40B4-BE49-F238E27FC236}">
                <a16:creationId xmlns:a16="http://schemas.microsoft.com/office/drawing/2014/main" id="{D4B1788C-1D9B-40A2-9F2B-5E4B3A84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933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palace evaluate compares the selected context with the files that actually changed.</a:t>
            </a:r>
          </a:p>
        </p:txBody>
      </p:sp>
      <p:sp>
        <p:nvSpPr>
          <p:cNvPr id="3" name="s5-chart-label-pack">
            <a:extLst xmlns:a="http://schemas.openxmlformats.org/drawingml/2006/main">
              <a:ext uri="{FF2B5EF4-FFF2-40B4-BE49-F238E27FC236}">
                <a16:creationId xmlns:a16="http://schemas.microsoft.com/office/drawing/2014/main" id="{B302D2F5-7B48-496C-8A30-671D8C51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028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Context pack</a:t>
            </a:r>
          </a:p>
        </p:txBody>
      </p:sp>
      <p:sp>
        <p:nvSpPr>
          <p:cNvPr id="4" name="s5-chart-label-repo">
            <a:extLst xmlns:a="http://schemas.openxmlformats.org/drawingml/2006/main">
              <a:ext uri="{FF2B5EF4-FFF2-40B4-BE49-F238E27FC236}">
                <a16:creationId xmlns:a16="http://schemas.microsoft.com/office/drawing/2014/main" id="{0873D7B7-95FB-41E8-A9FF-10CD59A4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1028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Indexed repo</a:t>
            </a:r>
          </a:p>
        </p:txBody>
      </p:sp>
      <p:sp>
        <p:nvSpPr>
          <p:cNvPr id="5" name="s5-stat1">
            <a:extLst xmlns:a="http://schemas.openxmlformats.org/drawingml/2006/main">
              <a:ext uri="{FF2B5EF4-FFF2-40B4-BE49-F238E27FC236}">
                <a16:creationId xmlns:a16="http://schemas.microsoft.com/office/drawing/2014/main" id="{CFABFDA4-1947-4A45-9087-E5CA71C2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43100"/>
            <a:ext cx="3333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100%</a:t>
            </a:r>
          </a:p>
        </p:txBody>
      </p:sp>
      <p:sp>
        <p:nvSpPr>
          <p:cNvPr id="6" name="s5-stat1-label">
            <a:extLst xmlns:a="http://schemas.openxmlformats.org/drawingml/2006/main">
              <a:ext uri="{FF2B5EF4-FFF2-40B4-BE49-F238E27FC236}">
                <a16:creationId xmlns:a16="http://schemas.microsoft.com/office/drawing/2014/main" id="{89784536-19BF-4B39-9A6C-DB166297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38450"/>
            <a:ext cx="3333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changed-file coverage</a:t>
            </a:r>
          </a:p>
        </p:txBody>
      </p:sp>
      <p:cxnSp>
        <p:nvCxnSpPr>
          <p:cNvPr id="23" name="s5-r1"/>
          <p:cNvCxnSpPr/>
          <p:nvPr/>
        </p:nvCxnSpPr>
        <p:spPr>
          <a:xfrm xmlns:a="http://schemas.openxmlformats.org/drawingml/2006/main">
            <a:off x="7867650" y="3371850"/>
            <a:ext cx="33147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s5-stat2">
            <a:extLst xmlns:a="http://schemas.openxmlformats.org/drawingml/2006/main">
              <a:ext uri="{FF2B5EF4-FFF2-40B4-BE49-F238E27FC236}">
                <a16:creationId xmlns:a16="http://schemas.microsoft.com/office/drawing/2014/main" id="{6BF0995E-B27D-412A-85ED-C7385FE3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38550"/>
            <a:ext cx="1524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30%</a:t>
            </a:r>
          </a:p>
        </p:txBody>
      </p:sp>
      <p:sp>
        <p:nvSpPr>
          <p:cNvPr id="9" name="s5-stat2-label">
            <a:extLst xmlns:a="http://schemas.openxmlformats.org/drawingml/2006/main">
              <a:ext uri="{FF2B5EF4-FFF2-40B4-BE49-F238E27FC236}">
                <a16:creationId xmlns:a16="http://schemas.microsoft.com/office/drawing/2014/main" id="{CDBE5ED7-B628-4456-A1F8-6E0A939C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9577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route focus</a:t>
            </a:r>
          </a:p>
        </p:txBody>
      </p:sp>
      <p:sp>
        <p:nvSpPr>
          <p:cNvPr id="10" name="s5-stat3">
            <a:extLst xmlns:a="http://schemas.openxmlformats.org/drawingml/2006/main">
              <a:ext uri="{FF2B5EF4-FFF2-40B4-BE49-F238E27FC236}">
                <a16:creationId xmlns:a16="http://schemas.microsoft.com/office/drawing/2014/main" id="{B89465DC-908F-48F5-A652-8F0C3FF5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38550"/>
            <a:ext cx="1524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7438F5"/>
                </a:solidFill>
                <a:latin typeface="Arial"/>
                <a:ea typeface="Arial"/>
                <a:cs typeface="Arial"/>
              </a:defRPr>
            </a:pPr>
            <a:r>
              <a:t>0.81</a:t>
            </a:r>
          </a:p>
        </p:txBody>
      </p:sp>
      <p:sp>
        <p:nvSpPr>
          <p:cNvPr id="11" name="s5-stat3-label">
            <a:extLst xmlns:a="http://schemas.openxmlformats.org/drawingml/2006/main">
              <a:ext uri="{FF2B5EF4-FFF2-40B4-BE49-F238E27FC236}">
                <a16:creationId xmlns:a16="http://schemas.microsoft.com/office/drawing/2014/main" id="{D387EA68-54E2-41A5-98F2-1033EC89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9577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confidence</a:t>
            </a:r>
          </a:p>
        </p:txBody>
      </p:sp>
      <p:sp>
        <p:nvSpPr>
          <p:cNvPr id="12" name="s5-explain">
            <a:extLst xmlns:a="http://schemas.openxmlformats.org/drawingml/2006/main">
              <a:ext uri="{FF2B5EF4-FFF2-40B4-BE49-F238E27FC236}">
                <a16:creationId xmlns:a16="http://schemas.microsoft.com/office/drawing/2014/main" id="{DF8A17DB-F518-4892-B58A-892C81AC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38700"/>
            <a:ext cx="3333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Observed coverage was stronger than predicted, so the route was labeled underconfident.</a:t>
            </a:r>
          </a:p>
        </p:txBody>
      </p:sp>
      <p:cxnSp>
        <p:nvCxnSpPr>
          <p:cNvPr id="29" name="footer-rule-5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1381C75E-9B0D-4D19-8364-9EFF93B7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Current self-evaluation · 87,622 indexed estimated tokens · Context-pack reduction is not total Codex session-token savings</a:t>
            </a:r>
          </a:p>
        </p:txBody>
      </p:sp>
      <p:sp>
        <p:nvSpPr>
          <p:cNvPr id="1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98F320C5-9CE7-40CA-9357-4765D322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1714500" y="1771650"/>
          <a:ext xmlns:a="http://schemas.openxmlformats.org/drawingml/2006/main" cx="5410200" cy="3924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ea2b50f6794f4e"/>
          </a:graphicData>
        </a:graphic>
      </p:graphicFrame>
    </p:spTree>
    <p:extLst>
      <p:ext uri="{BB962C8B-B14F-4D97-AF65-F5344CB8AC3E}">
        <p14:creationId xmlns:p14="http://schemas.microsoft.com/office/powerpoint/2010/main" val="18004578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6-title">
            <a:extLst xmlns:a="http://schemas.openxmlformats.org/drawingml/2006/main">
              <a:ext uri="{FF2B5EF4-FFF2-40B4-BE49-F238E27FC236}">
                <a16:creationId xmlns:a16="http://schemas.microsoft.com/office/drawing/2014/main" id="{0C2D433A-0A5F-4750-A545-B4BBADD0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research result is useful, not magical.</a:t>
            </a:r>
          </a:p>
        </p:txBody>
      </p:sp>
      <p:sp>
        <p:nvSpPr>
          <p:cNvPr id="2" name="s6-subtitle">
            <a:extLst xmlns:a="http://schemas.openxmlformats.org/drawingml/2006/main">
              <a:ext uri="{FF2B5EF4-FFF2-40B4-BE49-F238E27FC236}">
                <a16:creationId xmlns:a16="http://schemas.microsoft.com/office/drawing/2014/main" id="{EE4BFD3C-F413-4E75-8CA7-AEE80452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preregistered exploratory study compared Control, Route-only, Full Palace, and Adaptive Palace.</a:t>
            </a:r>
          </a:p>
        </p:txBody>
      </p:sp>
      <p:sp>
        <p:nvSpPr>
          <p:cNvPr id="3" name="s6-chart-label-control">
            <a:extLst xmlns:a="http://schemas.openxmlformats.org/drawingml/2006/main">
              <a:ext uri="{FF2B5EF4-FFF2-40B4-BE49-F238E27FC236}">
                <a16:creationId xmlns:a16="http://schemas.microsoft.com/office/drawing/2014/main" id="{5466175F-C1E1-40DE-ACAC-C3FCC407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1562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vs Control</a:t>
            </a:r>
          </a:p>
        </p:txBody>
      </p:sp>
      <p:sp>
        <p:nvSpPr>
          <p:cNvPr id="4" name="s6-chart-label-full">
            <a:extLst xmlns:a="http://schemas.openxmlformats.org/drawingml/2006/main">
              <a:ext uri="{FF2B5EF4-FFF2-40B4-BE49-F238E27FC236}">
                <a16:creationId xmlns:a16="http://schemas.microsoft.com/office/drawing/2014/main" id="{DED135FB-2FD2-4960-98DF-81D70C0B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76750"/>
            <a:ext cx="1562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vs Full</a:t>
            </a:r>
          </a:p>
        </p:txBody>
      </p:sp>
      <p:sp>
        <p:nvSpPr>
          <p:cNvPr id="5" name="s6-stat">
            <a:extLst xmlns:a="http://schemas.openxmlformats.org/drawingml/2006/main">
              <a:ext uri="{FF2B5EF4-FFF2-40B4-BE49-F238E27FC236}">
                <a16:creationId xmlns:a16="http://schemas.microsoft.com/office/drawing/2014/main" id="{768D07AB-4D1A-474B-95EF-569164FA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64/64</a:t>
            </a:r>
          </a:p>
        </p:txBody>
      </p:sp>
      <p:sp>
        <p:nvSpPr>
          <p:cNvPr id="6" name="s6-stat-label">
            <a:extLst xmlns:a="http://schemas.openxmlformats.org/drawingml/2006/main">
              <a:ext uri="{FF2B5EF4-FFF2-40B4-BE49-F238E27FC236}">
                <a16:creationId xmlns:a16="http://schemas.microsoft.com/office/drawing/2014/main" id="{CA80A2BD-C7B1-4FC9-ACE0-97F54DB4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86050"/>
            <a:ext cx="3048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arms valid, successful,
and correctly scoped</a:t>
            </a:r>
          </a:p>
        </p:txBody>
      </p:sp>
      <p:cxnSp>
        <p:nvCxnSpPr>
          <p:cNvPr id="22" name="s6-r1"/>
          <p:cNvCxnSpPr/>
          <p:nvPr/>
        </p:nvCxnSpPr>
        <p:spPr>
          <a:xfrm xmlns:a="http://schemas.openxmlformats.org/drawingml/2006/main">
            <a:off x="8039100" y="3638550"/>
            <a:ext cx="31623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s6-supported">
            <a:extLst xmlns:a="http://schemas.openxmlformats.org/drawingml/2006/main">
              <a:ext uri="{FF2B5EF4-FFF2-40B4-BE49-F238E27FC236}">
                <a16:creationId xmlns:a16="http://schemas.microsoft.com/office/drawing/2014/main" id="{D0A0DAFF-993E-4627-AFDA-3E7F1ED7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862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Supported</a:t>
            </a:r>
          </a:p>
        </p:txBody>
      </p:sp>
      <p:sp>
        <p:nvSpPr>
          <p:cNvPr id="9" name="s6-supported-body">
            <a:extLst xmlns:a="http://schemas.openxmlformats.org/drawingml/2006/main">
              <a:ext uri="{FF2B5EF4-FFF2-40B4-BE49-F238E27FC236}">
                <a16:creationId xmlns:a16="http://schemas.microsoft.com/office/drawing/2014/main" id="{70FABB36-C603-47F5-B3B7-CC579B84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291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produced a smaller Palace-owned payload than always-on Full Palace.</a:t>
            </a:r>
          </a:p>
        </p:txBody>
      </p:sp>
      <p:sp>
        <p:nvSpPr>
          <p:cNvPr id="10" name="s6-unsupported">
            <a:extLst xmlns:a="http://schemas.openxmlformats.org/drawingml/2006/main">
              <a:ext uri="{FF2B5EF4-FFF2-40B4-BE49-F238E27FC236}">
                <a16:creationId xmlns:a16="http://schemas.microsoft.com/office/drawing/2014/main" id="{657E45F9-7E83-44B6-8BB0-27AE799F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515D"/>
                </a:solidFill>
                <a:latin typeface="Arial"/>
                <a:ea typeface="Arial"/>
                <a:cs typeface="Arial"/>
              </a:defRPr>
            </a:pPr>
            <a:r>
              <a:t>Not supported</a:t>
            </a:r>
          </a:p>
        </p:txBody>
      </p:sp>
      <p:sp>
        <p:nvSpPr>
          <p:cNvPr id="11" name="s6-unsupported-body">
            <a:extLst xmlns:a="http://schemas.openxmlformats.org/drawingml/2006/main">
              <a:ext uri="{FF2B5EF4-FFF2-40B4-BE49-F238E27FC236}">
                <a16:creationId xmlns:a16="http://schemas.microsoft.com/office/drawing/2014/main" id="{3197535D-34AD-4118-A1DC-E0D9BB39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467350"/>
            <a:ext cx="3143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universal claim of lower end-to-end tokens or faster execution.</a:t>
            </a:r>
          </a:p>
        </p:txBody>
      </p:sp>
      <p:cxnSp>
        <p:nvCxnSpPr>
          <p:cNvPr id="27" name="footer-rule-6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73332EA1-1677-4881-8B67-C3684940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Exploratory v2.2 · 16 trials / 64 arms · Vertex Palace 0.2.1 · github.com/lohchanhin/benchmarks-ab-demo</a:t>
            </a:r>
          </a:p>
        </p:txBody>
      </p:sp>
      <p:sp>
        <p:nvSpPr>
          <p:cNvPr id="14" name="footer-number-6">
            <a:extLst xmlns:a="http://schemas.openxmlformats.org/drawingml/2006/main">
              <a:ext uri="{FF2B5EF4-FFF2-40B4-BE49-F238E27FC236}">
                <a16:creationId xmlns:a16="http://schemas.microsoft.com/office/drawing/2014/main" id="{6F2BDA4C-3ED2-43E4-8C63-9F217061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2476500" y="1809750"/>
          <a:ext xmlns:a="http://schemas.openxmlformats.org/drawingml/2006/main" cx="48958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084b7a54204e72"/>
          </a:graphicData>
        </a:graphic>
      </p:graphicFrame>
    </p:spTree>
    <p:extLst>
      <p:ext uri="{BB962C8B-B14F-4D97-AF65-F5344CB8AC3E}">
        <p14:creationId xmlns:p14="http://schemas.microsoft.com/office/powerpoint/2010/main" val="20354594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7-title">
            <a:extLst xmlns:a="http://schemas.openxmlformats.org/drawingml/2006/main">
              <a:ext uri="{FF2B5EF4-FFF2-40B4-BE49-F238E27FC236}">
                <a16:creationId xmlns:a16="http://schemas.microsoft.com/office/drawing/2014/main" id="{62307740-79C4-45E5-B354-B214B79B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Build Week turned failed evidence into product changes.</a:t>
            </a:r>
          </a:p>
        </p:txBody>
      </p:sp>
      <p:sp>
        <p:nvSpPr>
          <p:cNvPr id="2" name="s7-subtitle">
            <a:extLst xmlns:a="http://schemas.openxmlformats.org/drawingml/2006/main">
              <a:ext uri="{FF2B5EF4-FFF2-40B4-BE49-F238E27FC236}">
                <a16:creationId xmlns:a16="http://schemas.microsoft.com/office/drawing/2014/main" id="{6BC49522-2AF5-485D-A1E4-5D5DC0DB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Codex with GPT-5.6 helped trace failures across routing, memory, CLI, MCP, packaging, and tests.</a:t>
            </a:r>
          </a:p>
        </p:txBody>
      </p:sp>
      <p:cxnSp>
        <p:nvCxnSpPr>
          <p:cNvPr id="28" name="s7-timeline"/>
          <p:cNvCxnSpPr/>
          <p:nvPr/>
        </p:nvCxnSpPr>
        <p:spPr>
          <a:xfrm xmlns:a="http://schemas.openxmlformats.org/drawingml/2006/main">
            <a:off x="1847850" y="4457700"/>
            <a:ext cx="8458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29" name="s7-c1"/>
          <p:cNvCxnSpPr/>
          <p:nvPr/>
        </p:nvCxnSpPr>
        <p:spPr>
          <a:xfrm xmlns:a="http://schemas.openxmlformats.org/drawingml/2006/main">
            <a:off x="23431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0" name="s7-c2"/>
          <p:cNvCxnSpPr/>
          <p:nvPr/>
        </p:nvCxnSpPr>
        <p:spPr>
          <a:xfrm xmlns:a="http://schemas.openxmlformats.org/drawingml/2006/main">
            <a:off x="60769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1" name="s7-c3"/>
          <p:cNvCxnSpPr/>
          <p:nvPr/>
        </p:nvCxnSpPr>
        <p:spPr>
          <a:xfrm xmlns:a="http://schemas.openxmlformats.org/drawingml/2006/main">
            <a:off x="98107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s7-card1">
            <a:extLst xmlns:a="http://schemas.openxmlformats.org/drawingml/2006/main">
              <a:ext uri="{FF2B5EF4-FFF2-40B4-BE49-F238E27FC236}">
                <a16:creationId xmlns:a16="http://schemas.microsoft.com/office/drawing/2014/main" id="{7D7C20F4-85BD-450E-B486-4D4FF916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8" name="s7-card2">
            <a:extLst xmlns:a="http://schemas.openxmlformats.org/drawingml/2006/main">
              <a:ext uri="{FF2B5EF4-FFF2-40B4-BE49-F238E27FC236}">
                <a16:creationId xmlns:a16="http://schemas.microsoft.com/office/drawing/2014/main" id="{1CF1ADA0-1C81-4FFC-8E1D-A5B7BFE5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solidFill>
              <a:srgbClr val="EAF1FF"/>
            </a:solidFill>
            <a:prstDash val="solid"/>
          </a:ln>
        </p:spPr>
      </p:sp>
      <p:sp>
        <p:nvSpPr>
          <p:cNvPr id="9" name="s7-card3">
            <a:extLst xmlns:a="http://schemas.openxmlformats.org/drawingml/2006/main">
              <a:ext uri="{FF2B5EF4-FFF2-40B4-BE49-F238E27FC236}">
                <a16:creationId xmlns:a16="http://schemas.microsoft.com/office/drawing/2014/main" id="{EC2E9828-528B-4CC5-ABDA-345FCA59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F7F2"/>
          </a:solidFill>
          <a:ln xmlns:a="http://schemas.openxmlformats.org/drawingml/2006/main" w="0">
            <a:solidFill>
              <a:srgbClr val="E9F7F2"/>
            </a:solidFill>
            <a:prstDash val="solid"/>
          </a:ln>
        </p:spPr>
      </p:sp>
      <p:sp>
        <p:nvSpPr>
          <p:cNvPr id="10" name="s7-dot1">
            <a:extLst xmlns:a="http://schemas.openxmlformats.org/drawingml/2006/main">
              <a:ext uri="{FF2B5EF4-FFF2-40B4-BE49-F238E27FC236}">
                <a16:creationId xmlns:a16="http://schemas.microsoft.com/office/drawing/2014/main" id="{DB69A42A-1C50-434E-8916-B189559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1224"/>
          </a:solidFill>
          <a:ln xmlns:a="http://schemas.openxmlformats.org/drawingml/2006/main" w="0">
            <a:solidFill>
              <a:srgbClr val="0A1224"/>
            </a:solidFill>
            <a:prstDash val="solid"/>
          </a:ln>
        </p:spPr>
      </p:sp>
      <p:sp>
        <p:nvSpPr>
          <p:cNvPr id="11" name="s7-dot2">
            <a:extLst xmlns:a="http://schemas.openxmlformats.org/drawingml/2006/main">
              <a:ext uri="{FF2B5EF4-FFF2-40B4-BE49-F238E27FC236}">
                <a16:creationId xmlns:a16="http://schemas.microsoft.com/office/drawing/2014/main" id="{099A993C-DB73-478B-8AA3-5359D133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12" name="s7-dot3">
            <a:extLst xmlns:a="http://schemas.openxmlformats.org/drawingml/2006/main">
              <a:ext uri="{FF2B5EF4-FFF2-40B4-BE49-F238E27FC236}">
                <a16:creationId xmlns:a16="http://schemas.microsoft.com/office/drawing/2014/main" id="{0FF17C76-E67E-40BD-8193-C19D1F53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777"/>
          </a:solidFill>
          <a:ln xmlns:a="http://schemas.openxmlformats.org/drawingml/2006/main" w="0">
            <a:solidFill>
              <a:srgbClr val="15A777"/>
            </a:solidFill>
            <a:prstDash val="solid"/>
          </a:ln>
        </p:spPr>
      </p:sp>
      <p:sp>
        <p:nvSpPr>
          <p:cNvPr id="13" name="s7-k1">
            <a:extLst xmlns:a="http://schemas.openxmlformats.org/drawingml/2006/main">
              <a:ext uri="{FF2B5EF4-FFF2-40B4-BE49-F238E27FC236}">
                <a16:creationId xmlns:a16="http://schemas.microsoft.com/office/drawing/2014/main" id="{E003B36B-D895-4A69-AF86-E865C0F6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EVIDENCE</a:t>
            </a:r>
          </a:p>
        </p:txBody>
      </p:sp>
      <p:sp>
        <p:nvSpPr>
          <p:cNvPr id="14" name="s7-b1">
            <a:extLst xmlns:a="http://schemas.openxmlformats.org/drawingml/2006/main">
              <a:ext uri="{FF2B5EF4-FFF2-40B4-BE49-F238E27FC236}">
                <a16:creationId xmlns:a16="http://schemas.microsoft.com/office/drawing/2014/main" id="{1F0365B3-BFDD-4DC1-BCFC-1F3FB892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64-run study exposed a Full-Palace memory omission.</a:t>
            </a:r>
          </a:p>
        </p:txBody>
      </p:sp>
      <p:sp>
        <p:nvSpPr>
          <p:cNvPr id="15" name="s7-v1">
            <a:extLst xmlns:a="http://schemas.openxmlformats.org/drawingml/2006/main">
              <a:ext uri="{FF2B5EF4-FFF2-40B4-BE49-F238E27FC236}">
                <a16:creationId xmlns:a16="http://schemas.microsoft.com/office/drawing/2014/main" id="{FBE9EF65-4136-486E-BE12-E0468B1E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071"/>
                </a:solidFill>
                <a:latin typeface="Consolas"/>
                <a:ea typeface="Consolas"/>
                <a:cs typeface="Consolas"/>
              </a:defRPr>
            </a:pPr>
            <a:r>
              <a:t>v0.2.1</a:t>
            </a:r>
          </a:p>
        </p:txBody>
      </p:sp>
      <p:sp>
        <p:nvSpPr>
          <p:cNvPr id="16" name="s7-k2">
            <a:extLst xmlns:a="http://schemas.openxmlformats.org/drawingml/2006/main">
              <a:ext uri="{FF2B5EF4-FFF2-40B4-BE49-F238E27FC236}">
                <a16:creationId xmlns:a16="http://schemas.microsoft.com/office/drawing/2014/main" id="{20E20B9E-D1DD-4ECD-AE19-C63C1198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FIX</a:t>
            </a:r>
          </a:p>
        </p:txBody>
      </p:sp>
      <p:sp>
        <p:nvSpPr>
          <p:cNvPr id="17" name="s7-b2">
            <a:extLst xmlns:a="http://schemas.openxmlformats.org/drawingml/2006/main">
              <a:ext uri="{FF2B5EF4-FFF2-40B4-BE49-F238E27FC236}">
                <a16:creationId xmlns:a16="http://schemas.microsoft.com/office/drawing/2014/main" id="{576DBC82-DCA6-4348-9207-B83374DA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Codex + GPT-5.6 traced the root cause and added memory-fidelity regression tests.</a:t>
            </a:r>
          </a:p>
        </p:txBody>
      </p:sp>
      <p:sp>
        <p:nvSpPr>
          <p:cNvPr id="18" name="s7-v2">
            <a:extLst xmlns:a="http://schemas.openxmlformats.org/drawingml/2006/main">
              <a:ext uri="{FF2B5EF4-FFF2-40B4-BE49-F238E27FC236}">
                <a16:creationId xmlns:a16="http://schemas.microsoft.com/office/drawing/2014/main" id="{66E86001-6B3D-40E3-9828-1C9CF27D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677FF"/>
                </a:solidFill>
                <a:latin typeface="Consolas"/>
                <a:ea typeface="Consolas"/>
                <a:cs typeface="Consolas"/>
              </a:defRPr>
            </a:pPr>
            <a:r>
              <a:t>v0.2.2</a:t>
            </a:r>
          </a:p>
        </p:txBody>
      </p:sp>
      <p:sp>
        <p:nvSpPr>
          <p:cNvPr id="19" name="s7-k3">
            <a:extLst xmlns:a="http://schemas.openxmlformats.org/drawingml/2006/main">
              <a:ext uri="{FF2B5EF4-FFF2-40B4-BE49-F238E27FC236}">
                <a16:creationId xmlns:a16="http://schemas.microsoft.com/office/drawing/2014/main" id="{8F05AB0E-788D-4EED-9BAB-B94073A8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EXTEND</a:t>
            </a:r>
          </a:p>
        </p:txBody>
      </p:sp>
      <p:sp>
        <p:nvSpPr>
          <p:cNvPr id="20" name="s7-b3">
            <a:extLst xmlns:a="http://schemas.openxmlformats.org/drawingml/2006/main">
              <a:ext uri="{FF2B5EF4-FFF2-40B4-BE49-F238E27FC236}">
                <a16:creationId xmlns:a16="http://schemas.microsoft.com/office/drawing/2014/main" id="{605B9B9E-C4D1-4650-AFB3-77F2F043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Release routing expanded across npm, MCP, plugin metadata, docs, and CI.</a:t>
            </a:r>
          </a:p>
        </p:txBody>
      </p:sp>
      <p:sp>
        <p:nvSpPr>
          <p:cNvPr id="21" name="s7-v3">
            <a:extLst xmlns:a="http://schemas.openxmlformats.org/drawingml/2006/main">
              <a:ext uri="{FF2B5EF4-FFF2-40B4-BE49-F238E27FC236}">
                <a16:creationId xmlns:a16="http://schemas.microsoft.com/office/drawing/2014/main" id="{D63B3F2D-1A06-4909-9C0E-B0D6FFAA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A777"/>
                </a:solidFill>
                <a:latin typeface="Consolas"/>
                <a:ea typeface="Consolas"/>
                <a:cs typeface="Consolas"/>
              </a:defRPr>
            </a:pPr>
            <a:r>
              <a:t>v0.2.3</a:t>
            </a:r>
          </a:p>
        </p:txBody>
      </p:sp>
      <p:sp>
        <p:nvSpPr>
          <p:cNvPr id="22" name="s7-human">
            <a:extLst xmlns:a="http://schemas.openxmlformats.org/drawingml/2006/main">
              <a:ext uri="{FF2B5EF4-FFF2-40B4-BE49-F238E27FC236}">
                <a16:creationId xmlns:a16="http://schemas.microsoft.com/office/drawing/2014/main" id="{F3EC9779-C014-4A0D-8FD0-E6E2FABE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33950"/>
            <a:ext cx="9448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Human decisions stayed explicit: deterministic local evaluation, scoped memory, and current code + tests before remembered advice.</a:t>
            </a:r>
          </a:p>
        </p:txBody>
      </p:sp>
      <p:cxnSp>
        <p:nvCxnSpPr>
          <p:cNvPr id="48" name="footer-rule-7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DB55EB28-2BFD-4C16-8A1D-162669AB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Build Week record: BUILD_WEEK.md · dated Git history · /feedback Session 019f4280-40ee-7172-b94d-f5aa7aa46814</a:t>
            </a:r>
          </a:p>
        </p:txBody>
      </p:sp>
      <p:sp>
        <p:nvSpPr>
          <p:cNvPr id="2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FEC4E551-9CD6-4DCF-A25E-83D70960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444323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8-eyebrow">
            <a:extLst xmlns:a="http://schemas.openxmlformats.org/drawingml/2006/main">
              <a:ext uri="{FF2B5EF4-FFF2-40B4-BE49-F238E27FC236}">
                <a16:creationId xmlns:a16="http://schemas.microsoft.com/office/drawing/2014/main" id="{D7A16CD0-B306-4ACB-AE6E-0629C612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READY TO TEST</a:t>
            </a:r>
          </a:p>
        </p:txBody>
      </p:sp>
      <p:sp>
        <p:nvSpPr>
          <p:cNvPr id="2" name="s8-title">
            <a:extLst xmlns:a="http://schemas.openxmlformats.org/drawingml/2006/main">
              <a:ext uri="{FF2B5EF4-FFF2-40B4-BE49-F238E27FC236}">
                <a16:creationId xmlns:a16="http://schemas.microsoft.com/office/drawing/2014/main" id="{ABBA4495-E05B-46A6-B02F-D6184652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5143500" cy="285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Install.
Route.
Verify.</a:t>
            </a:r>
          </a:p>
        </p:txBody>
      </p:sp>
      <p:cxnSp>
        <p:nvCxnSpPr>
          <p:cNvPr id="21" name="s8-accent"/>
          <p:cNvCxnSpPr/>
          <p:nvPr/>
        </p:nvCxnSpPr>
        <p:spPr>
          <a:xfrm xmlns:a="http://schemas.openxmlformats.org/drawingml/2006/main">
            <a:off x="495300" y="4438650"/>
            <a:ext cx="12382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13B7D5"/>
            </a:solidFill>
            <a:prstDash val="solid"/>
          </a:ln>
        </p:spPr>
      </p:cxnSp>
      <p:sp>
        <p:nvSpPr>
          <p:cNvPr id="4" name="s8-close">
            <a:extLst xmlns:a="http://schemas.openxmlformats.org/drawingml/2006/main">
              <a:ext uri="{FF2B5EF4-FFF2-40B4-BE49-F238E27FC236}">
                <a16:creationId xmlns:a16="http://schemas.microsoft.com/office/drawing/2014/main" id="{74B32A34-E346-4563-8FB7-E78BCEB6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9650"/>
            <a:ext cx="5238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map, a route, a memory, and evidence that the selected context was useful.</a:t>
            </a:r>
          </a:p>
        </p:txBody>
      </p:sp>
      <p:sp>
        <p:nvSpPr>
          <p:cNvPr id="5" name="s8-command-box">
            <a:extLst xmlns:a="http://schemas.openxmlformats.org/drawingml/2006/main">
              <a:ext uri="{FF2B5EF4-FFF2-40B4-BE49-F238E27FC236}">
                <a16:creationId xmlns:a16="http://schemas.microsoft.com/office/drawing/2014/main" id="{8939BC3B-C64F-4496-8C4E-469BA1F4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5255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6" name="s8-command">
            <a:extLst xmlns:a="http://schemas.openxmlformats.org/drawingml/2006/main">
              <a:ext uri="{FF2B5EF4-FFF2-40B4-BE49-F238E27FC236}">
                <a16:creationId xmlns:a16="http://schemas.microsoft.com/office/drawing/2014/main" id="{2741DBFD-99D2-4EEA-867E-7CC67701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14500"/>
            <a:ext cx="41719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npm install -g
vertex-palace@0.2.3</a:t>
            </a:r>
          </a:p>
        </p:txBody>
      </p:sp>
      <p:sp>
        <p:nvSpPr>
          <p:cNvPr id="7" name="s8-github">
            <a:extLst xmlns:a="http://schemas.openxmlformats.org/drawingml/2006/main">
              <a:ext uri="{FF2B5EF4-FFF2-40B4-BE49-F238E27FC236}">
                <a16:creationId xmlns:a16="http://schemas.microsoft.com/office/drawing/2014/main" id="{BFE149C0-BDB7-4F64-AD11-15F053E4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52800"/>
            <a:ext cx="4857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github.com/lohchanhin/vertex-palace</a:t>
            </a:r>
          </a:p>
        </p:txBody>
      </p:sp>
      <p:sp>
        <p:nvSpPr>
          <p:cNvPr id="8" name="s8-npm">
            <a:extLst xmlns:a="http://schemas.openxmlformats.org/drawingml/2006/main">
              <a:ext uri="{FF2B5EF4-FFF2-40B4-BE49-F238E27FC236}">
                <a16:creationId xmlns:a16="http://schemas.microsoft.com/office/drawing/2014/main" id="{F7F6D1C7-5851-4975-90C6-4D666912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857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Consolas"/>
                <a:ea typeface="Consolas"/>
                <a:cs typeface="Consolas"/>
              </a:defRPr>
            </a:pPr>
            <a:r>
              <a:t>npmjs.com/package/vertex-palace</a:t>
            </a:r>
          </a:p>
        </p:txBody>
      </p:sp>
      <p:sp>
        <p:nvSpPr>
          <p:cNvPr id="9" name="s8-d1">
            <a:extLst xmlns:a="http://schemas.openxmlformats.org/drawingml/2006/main">
              <a:ext uri="{FF2B5EF4-FFF2-40B4-BE49-F238E27FC236}">
                <a16:creationId xmlns:a16="http://schemas.microsoft.com/office/drawing/2014/main" id="{91DDB8B8-A07A-4FC4-8CAD-37D30C3B7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B7D5"/>
          </a:solidFill>
          <a:ln xmlns:a="http://schemas.openxmlformats.org/drawingml/2006/main" w="0">
            <a:solidFill>
              <a:srgbClr val="13B7D5"/>
            </a:solidFill>
            <a:prstDash val="solid"/>
          </a:ln>
        </p:spPr>
      </p:sp>
      <p:sp>
        <p:nvSpPr>
          <p:cNvPr id="10" name="s8-l1">
            <a:extLst xmlns:a="http://schemas.openxmlformats.org/drawingml/2006/main">
              <a:ext uri="{FF2B5EF4-FFF2-40B4-BE49-F238E27FC236}">
                <a16:creationId xmlns:a16="http://schemas.microsoft.com/office/drawing/2014/main" id="{C4805384-80DD-439A-9F3B-748EBDBA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62500"/>
            <a:ext cx="76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CLI</a:t>
            </a:r>
          </a:p>
        </p:txBody>
      </p:sp>
      <p:sp>
        <p:nvSpPr>
          <p:cNvPr id="11" name="s8-d2">
            <a:extLst xmlns:a="http://schemas.openxmlformats.org/drawingml/2006/main">
              <a:ext uri="{FF2B5EF4-FFF2-40B4-BE49-F238E27FC236}">
                <a16:creationId xmlns:a16="http://schemas.microsoft.com/office/drawing/2014/main" id="{7A57D747-4406-4A9B-899E-21395821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12" name="s8-l2">
            <a:extLst xmlns:a="http://schemas.openxmlformats.org/drawingml/2006/main">
              <a:ext uri="{FF2B5EF4-FFF2-40B4-BE49-F238E27FC236}">
                <a16:creationId xmlns:a16="http://schemas.microsoft.com/office/drawing/2014/main" id="{6C2106C5-A204-4920-8066-80634490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62500"/>
            <a:ext cx="76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MCP</a:t>
            </a:r>
          </a:p>
        </p:txBody>
      </p:sp>
      <p:sp>
        <p:nvSpPr>
          <p:cNvPr id="13" name="s8-d3">
            <a:extLst xmlns:a="http://schemas.openxmlformats.org/drawingml/2006/main">
              <a:ext uri="{FF2B5EF4-FFF2-40B4-BE49-F238E27FC236}">
                <a16:creationId xmlns:a16="http://schemas.microsoft.com/office/drawing/2014/main" id="{EA0B3F80-C9A0-4924-A30A-361F11D6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38F5"/>
          </a:solidFill>
          <a:ln xmlns:a="http://schemas.openxmlformats.org/drawingml/2006/main" w="0">
            <a:solidFill>
              <a:srgbClr val="7438F5"/>
            </a:solidFill>
            <a:prstDash val="solid"/>
          </a:ln>
        </p:spPr>
      </p:sp>
      <p:sp>
        <p:nvSpPr>
          <p:cNvPr id="14" name="s8-l3">
            <a:extLst xmlns:a="http://schemas.openxmlformats.org/drawingml/2006/main">
              <a:ext uri="{FF2B5EF4-FFF2-40B4-BE49-F238E27FC236}">
                <a16:creationId xmlns:a16="http://schemas.microsoft.com/office/drawing/2014/main" id="{7EEF8C95-F7D6-4C9C-A2C6-AAD26866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625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Codex plugin</a:t>
            </a:r>
          </a:p>
        </p:txBody>
      </p:sp>
      <p:sp>
        <p:nvSpPr>
          <p:cNvPr id="15" name="s8-platforms">
            <a:extLst xmlns:a="http://schemas.openxmlformats.org/drawingml/2006/main">
              <a:ext uri="{FF2B5EF4-FFF2-40B4-BE49-F238E27FC236}">
                <a16:creationId xmlns:a16="http://schemas.microsoft.com/office/drawing/2014/main" id="{7DAD2529-C304-4C68-A7AE-81A7C31E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34000"/>
            <a:ext cx="4857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MIT licensed · Windows, macOS, and Linux</a:t>
            </a:r>
          </a:p>
        </p:txBody>
      </p:sp>
      <p:cxnSp>
        <p:nvCxnSpPr>
          <p:cNvPr id="34" name="footer-rule-8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7B79A44B-BBE1-49AD-98B9-18B5D349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18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06D2C7E8-428D-49E7-BE60-DD3EECA2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845385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2026-07-19T10:45:34.8440000Z</dcterms:created>
  <dcterms:modified xsi:type="dcterms:W3CDTF">2026-07-19T10:45:34.8440000Z</dcterms:modified>
</coreProperties>
</file>