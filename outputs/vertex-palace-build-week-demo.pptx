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a40a2e94b044923" /><Relationship Type="http://schemas.openxmlformats.org/officeDocument/2006/relationships/extended-properties" Target="/docProps/app.xml" Id="Rf0391ed6901347d9" /><Relationship Type="http://schemas.openxmlformats.org/officeDocument/2006/relationships/officeDocument" Target="/ppt/presentation.xml" Id="Rd9f5200ee86a447f" /></Relationships>
</file>

<file path=ppt/presentation.xml><?xml version="1.0" encoding="utf-8"?>
<p:presentation xmlns:p="http://schemas.openxmlformats.org/presentationml/2006/main">
  <p:sldMasterIdLst>
    <p:sldMasterId xmlns:r="http://schemas.openxmlformats.org/officeDocument/2006/relationships" id="2147483648" r:id="Rfa7efd61061c429f"/>
  </p:sldMasterIdLst>
  <p:notesMasterIdLst>
    <p:notesMasterId xmlns:r="http://schemas.openxmlformats.org/officeDocument/2006/relationships" r:id="Rdc5b3f1b06fa4e75"/>
  </p:notesMasterIdLst>
  <p:sldIdLst>
    <p:sldId xmlns:r="http://schemas.openxmlformats.org/officeDocument/2006/relationships" id="256" r:id="R8f8f2530d2df4f6c"/>
    <p:sldId xmlns:r="http://schemas.openxmlformats.org/officeDocument/2006/relationships" id="257" r:id="Ra553d0c38f834a20"/>
    <p:sldId xmlns:r="http://schemas.openxmlformats.org/officeDocument/2006/relationships" id="258" r:id="R88478c72c5244abf"/>
    <p:sldId xmlns:r="http://schemas.openxmlformats.org/officeDocument/2006/relationships" id="259" r:id="Rfa3e39caf32949f1"/>
    <p:sldId xmlns:r="http://schemas.openxmlformats.org/officeDocument/2006/relationships" id="260" r:id="R0a4c72b3dcb444a0"/>
    <p:sldId xmlns:r="http://schemas.openxmlformats.org/officeDocument/2006/relationships" id="261" r:id="Raa743e28550944a7"/>
    <p:sldId xmlns:r="http://schemas.openxmlformats.org/officeDocument/2006/relationships" id="262" r:id="R305d7fe5ea074677"/>
    <p:sldId xmlns:r="http://schemas.openxmlformats.org/officeDocument/2006/relationships" id="263" r:id="R4c741d9685b2475d"/>
    <p:sldId xmlns:r="http://schemas.openxmlformats.org/officeDocument/2006/relationships" id="264" r:id="Reac28eb7789c4297"/>
    <p:sldId xmlns:r="http://schemas.openxmlformats.org/officeDocument/2006/relationships" id="265" r:id="R7ceae9fe556b4351"/>
    <p:sldId xmlns:r="http://schemas.openxmlformats.org/officeDocument/2006/relationships" id="266" r:id="Rcf74c570646a4b09"/>
    <p:sldId xmlns:r="http://schemas.openxmlformats.org/officeDocument/2006/relationships" id="267" r:id="Rd3ef8fe7668c4a6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fb90fc1bc0420e" /><Relationship Type="http://schemas.openxmlformats.org/officeDocument/2006/relationships/slideMaster" Target="/ppt/slideMasters/slideMaster1.xml" Id="Rfa7efd61061c429f" /><Relationship Type="http://schemas.openxmlformats.org/officeDocument/2006/relationships/notesMaster" Target="/ppt/notesMasters/notesMaster1.xml" Id="Rdc5b3f1b06fa4e75" /><Relationship Type="http://schemas.openxmlformats.org/officeDocument/2006/relationships/presProps" Target="/ppt/presProps.xml" Id="R68413af8b06346ae" /><Relationship Type="http://schemas.openxmlformats.org/officeDocument/2006/relationships/tableStyles" Target="/ppt/tableStyles.xml" Id="Rc9cab3dd88a84f11" /><Relationship Type="http://schemas.openxmlformats.org/officeDocument/2006/relationships/slide" Target="/ppt/slides/slide1.xml" Id="R8f8f2530d2df4f6c" /><Relationship Type="http://schemas.openxmlformats.org/officeDocument/2006/relationships/slide" Target="/ppt/slides/slide2.xml" Id="Ra553d0c38f834a20" /><Relationship Type="http://schemas.openxmlformats.org/officeDocument/2006/relationships/slide" Target="/ppt/slides/slide3.xml" Id="R88478c72c5244abf" /><Relationship Type="http://schemas.openxmlformats.org/officeDocument/2006/relationships/slide" Target="/ppt/slides/slide4.xml" Id="Rfa3e39caf32949f1" /><Relationship Type="http://schemas.openxmlformats.org/officeDocument/2006/relationships/slide" Target="/ppt/slides/slide5.xml" Id="R0a4c72b3dcb444a0" /><Relationship Type="http://schemas.openxmlformats.org/officeDocument/2006/relationships/slide" Target="/ppt/slides/slide6.xml" Id="Raa743e28550944a7" /><Relationship Type="http://schemas.openxmlformats.org/officeDocument/2006/relationships/slide" Target="/ppt/slides/slide7.xml" Id="R305d7fe5ea074677" /><Relationship Type="http://schemas.openxmlformats.org/officeDocument/2006/relationships/slide" Target="/ppt/slides/slide8.xml" Id="R4c741d9685b2475d" /><Relationship Type="http://schemas.openxmlformats.org/officeDocument/2006/relationships/slide" Target="/ppt/slides/slide9.xml" Id="Reac28eb7789c4297" /><Relationship Type="http://schemas.openxmlformats.org/officeDocument/2006/relationships/slide" Target="/ppt/slides/slide10.xml" Id="R7ceae9fe556b4351" /><Relationship Type="http://schemas.openxmlformats.org/officeDocument/2006/relationships/slide" Target="/ppt/slides/slide11.xml" Id="Rcf74c570646a4b09" /><Relationship Type="http://schemas.openxmlformats.org/officeDocument/2006/relationships/slide" Target="/ppt/slides/slide12.xml" Id="Rd3ef8fe7668c4a6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7a286211db4a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41178d282745f4" /><Relationship Type="http://schemas.openxmlformats.org/officeDocument/2006/relationships/notesMaster" Target="/ppt/notesMasters/notesMaster1.xml" Id="Re95edb6be14945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6d2208cb584e0c" /><Relationship Type="http://schemas.openxmlformats.org/officeDocument/2006/relationships/notesMaster" Target="/ppt/notesMasters/notesMaster1.xml" Id="R3283f964fab84026"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6f7e9037c246e4" /><Relationship Type="http://schemas.openxmlformats.org/officeDocument/2006/relationships/notesMaster" Target="/ppt/notesMasters/notesMaster1.xml" Id="Rc9c70906f7174c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8e77be6bc1476f" /><Relationship Type="http://schemas.openxmlformats.org/officeDocument/2006/relationships/notesMaster" Target="/ppt/notesMasters/notesMaster1.xml" Id="R4d7a2060dff847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4218ebcf4c494ebf" /><Relationship Type="http://schemas.openxmlformats.org/officeDocument/2006/relationships/notesMaster" Target="/ppt/notesMasters/notesMaster1.xml" Id="R20ff75c75f5049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d781f8ee884e15" /><Relationship Type="http://schemas.openxmlformats.org/officeDocument/2006/relationships/notesMaster" Target="/ppt/notesMasters/notesMaster1.xml" Id="R7b1e08641cad44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cfc9d5884142dd" /><Relationship Type="http://schemas.openxmlformats.org/officeDocument/2006/relationships/notesMaster" Target="/ppt/notesMasters/notesMaster1.xml" Id="R3d7aa315475347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362a6a59d64458" /><Relationship Type="http://schemas.openxmlformats.org/officeDocument/2006/relationships/notesMaster" Target="/ppt/notesMasters/notesMaster1.xml" Id="Rc720651f977048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2fb3e0a9364adb" /><Relationship Type="http://schemas.openxmlformats.org/officeDocument/2006/relationships/notesMaster" Target="/ppt/notesMasters/notesMaster1.xml" Id="R893b9d97758b450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fac46eb90c4b9a" /><Relationship Type="http://schemas.openxmlformats.org/officeDocument/2006/relationships/notesMaster" Target="/ppt/notesMasters/notesMaster1.xml" Id="Rf9341a3ffc9b41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90bf097276b40de" /><Relationship Type="http://schemas.openxmlformats.org/officeDocument/2006/relationships/notesMaster" Target="/ppt/notesMasters/notesMaster1.xml" Id="R0260ea83eeff46d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b16306b90b4566" /><Relationship Type="http://schemas.openxmlformats.org/officeDocument/2006/relationships/notesMaster" Target="/ppt/notesMasters/notesMaster1.xml" Id="R9bb56a362dbb46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product name and one sentence: Vertex Palace gives Codex a structured way to enter a large repository, retrieve focused context, remember relevant pitfalls, and measure whether the route actually helped.</a:t>
            </a:r>
          </a:p>
          <a:p xmlns:a="http://schemas.openxmlformats.org/drawingml/2006/main">
            <a:r>
              <a:t>Keep the opening brief. The next slide introduces the concrete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in the first person. Vertex Palace began with a recurring problem in my own large projects: a single issue could take more than an hour, while token usage climbed as the agent rediscovered files, relationships, and earlier decisions.</a:t>
            </a:r>
          </a:p>
          <a:p xmlns:a="http://schemas.openxmlformats.org/drawingml/2006/main">
            <a:r>
              <a:t>This was the point where I stopped treating the context cost as an inconvenience and decided to build a task-specific entry path. Do not present this personal experience as a universal benchmark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2D-to-3D idea only becomes useful when each axis has a stable meaning. X is the horizontal functional area or module, such as auth, checkout, or blog.</a:t>
            </a:r>
          </a:p>
          <a:p xmlns:a="http://schemas.openxmlformats.org/drawingml/2006/main">
            <a:r>
              <a:t>Y is the vertical architectural floor, such as interface, implementation, data, verification, or runtime. Z is inspection depth: room overview, file cabinet, symbol drawer, then the smallest useful snippet.</a:t>
            </a:r>
          </a:p>
          <a:p xmlns:a="http://schemas.openxmlformats.org/drawingml/2006/main">
            <a:r>
              <a:t>For example, checkout / implementation / shippingQuote() is one address. A task route is a path between addresses; memory, evidence, confidence, and the Pitfall Board attach to places instead of becoming extra axes.</a:t>
            </a:r>
          </a:p>
          <a:p xmlns:a="http://schemas.openxmlformats.org/drawingml/2006/main">
            <a:r>
              <a:t>This keeps the building stable as the repository changes. Current code and tests still outrank remembered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cue: hold this slide for about two seconds, then cut to a 35 to 45 second screen recording that runs the exact palace context command. Return to the slide before advancing.</a:t>
            </a:r>
          </a:p>
          <a:p xmlns:a="http://schemas.openxmlformats.org/drawingml/2006/main">
            <a:r>
              <a:t>Point out the selected guarded-memory mode, the two primary implementation files, the bounded payload, and the current-code-first guardrail.</a:t>
            </a:r>
          </a:p>
          <a:p xmlns:a="http://schemas.openxmlformats.org/drawingml/2006/main">
            <a:r>
              <a:t>This visible output is from a real local run on Vertex Palace 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Vertex Palace evaluates its own retrieval. The current task reduced an 87,622-token indexed repository estimate to an 8,900-token context pack and still covered all three declared changed files.</a:t>
            </a:r>
          </a:p>
          <a:p xmlns:a="http://schemas.openxmlformats.org/drawingml/2006/main">
            <a:r>
              <a:t>Say the caveat aloud: this is context-pack reduction, not proof of lower end-to-end Codex usage.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experimental control. Sixteen tasks were each run four ways: no Palace, route metadata only, always-on Full Palace, and Adaptive mode selection.</a:t>
            </a:r>
          </a:p>
          <a:p xmlns:a="http://schemas.openxmlformats.org/drawingml/2006/main">
            <a:r>
              <a:t>The task, generated fixture, model, prompt, public tests, and hidden oracle stayed fixed. Only the repository-context strategy changed, producing 64 paired arms.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the uncomfortable result plainly: if Vertex Palace were forced on for every task, this benchmark would argue that it was unnecessary for these deterministic synthetic fixtures. Adaptive added 4.5 tool calls, while reported Token and time central estimates were higher but inconclusive.</a:t>
            </a:r>
          </a:p>
          <a:p xmlns:a="http://schemas.openxmlformats.org/drawingml/2006/main">
            <a:r>
              <a:t>The product response is not to hide the result. Current v0.2.3 can bypass packed context for one explicit file, use route-lite for bounded work, and reserve Full or Guarded mode for cross-stack, contract, and memory risk. Bypass still costs one Palace decision call.</a:t>
            </a:r>
          </a:p>
          <a:p xmlns:a="http://schemas.openxmlformats.org/drawingml/2006/main">
            <a:r>
              <a:t>This policy change is not confirmatory performance proof. The next study still needs larger real repositories, hidden memory-dependent traps, and repetitions across models, machines, and long-lived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Against always-on Full Palace, Adaptive reduced Palace-owned output by 898.5 bytes at the paired median. Its interval stayed below zero, so this is the clearest supported efficiency result.</a:t>
            </a:r>
          </a:p>
          <a:p xmlns:a="http://schemas.openxmlformats.org/drawingml/2006/main">
            <a:r>
              <a:t>Reported tokens and wall time favored Adaptive at the median, but their intervals crossed zero. The study supports a smaller Palace payload, not universal end-to-end token or time savings.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Efficiency comparisons only matter if correctness is held constant. All 64 arms were valid and successful, passed public tests and the hidden oracle, achieved full declared scope, and avoided forbidden files.</a:t>
            </a:r>
          </a:p>
          <a:p xmlns:a="http://schemas.openxmlformats.org/drawingml/2006/main">
            <a:r>
              <a:t>All four treatments were correct, so there was no correctness winner. State the research boundary: this frozen exploratory study ran Vertex Palace 0.2.1 and does not prove universal token, time, or correctness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product engineering from the exploratory benchmark. The current repository passes 55 automated tests: 51 Core, two CLI, and two MCP, plus build, TypeScript lint, and a ten-tool MCP smoke test.</a:t>
            </a:r>
          </a:p>
          <a:p xmlns:a="http://schemas.openxmlformats.org/drawingml/2006/main">
            <a:r>
              <a:t>The verified GitHub Actions run passed five jobs across Ubuntu, Windows, macOS, Node 20, Node 24, and the package dry run.</a:t>
            </a:r>
          </a:p>
          <a:p xmlns:a="http://schemas.openxmlformats.org/drawingml/2006/main">
            <a:r>
              <a:t>Release verification also covered clean tarball and public npm installs, the CLI release route, MCP initialization, registry hash equality, and tag, plugin, marketplace, and MCP version pins.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benchmark exposed a deterministic memory omission in version 0.2.1: Adaptive selected Full Palace but delivered zero memory in every useful-memory trial.</a:t>
            </a:r>
          </a:p>
          <a:p xmlns:a="http://schemas.openxmlformats.org/drawingml/2006/main">
            <a:r>
              <a:t>Version 0.2.2 fixed the memory level, added JSON delivery and guardrails, and turned the bug into a regression contract verified on clean and registry fixtures.</a:t>
            </a:r>
          </a:p>
          <a:p xmlns:a="http://schemas.openxmlformats.org/drawingml/2006/main">
            <a:r>
              <a:t>Version 0.2.3 generalized the lesson with a release-routing matrix across npm, Codex plugins, PyPI, Chinese intent, negative controls, CI, and public distribution. The research became a product feedback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judge path: install the public package, run palace context with auto mode, then evaluate the route after the task.</a:t>
            </a:r>
          </a:p>
          <a:p xmlns:a="http://schemas.openxmlformats.org/drawingml/2006/main">
            <a:r>
              <a:t>End on the product promise: Vertex Palace gives coding agents a map, a route, a memory, and measurable evidence about the context they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271ad1eb884a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1265c96a3348a4" /><Relationship Type="http://schemas.openxmlformats.org/officeDocument/2006/relationships/slideLayout" Target="/ppt/slideLayouts/slideLayout1.xml" Id="R850c1df3decc42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0c1df3decc42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a8779afc78c48a0" /><Relationship Type="http://schemas.openxmlformats.org/officeDocument/2006/relationships/image" Target="/ppt/media/image.png" Id="R09ce5c00e97644fc" /><Relationship Type="http://schemas.openxmlformats.org/officeDocument/2006/relationships/notesSlide" Target="/ppt/notesSlides/notesSlide1.xml" Id="R385a5884ffb044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d630d3133fb4861" /><Relationship Type="http://schemas.openxmlformats.org/officeDocument/2006/relationships/notesSlide" Target="/ppt/notesSlides/notesSlide2.xml" Id="R31b53c7f028542e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d2f3b94d7e2494c" /><Relationship Type="http://schemas.openxmlformats.org/officeDocument/2006/relationships/notesSlide" Target="/ppt/notesSlides/notesSlide3.xml" Id="R6e8ea83ea8614bd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33b97120554f9d" /><Relationship Type="http://schemas.openxmlformats.org/officeDocument/2006/relationships/notesSlide" Target="/ppt/notesSlides/notesSlide4.xml" Id="R9ea9e3d9662245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dc2371e1f0c492a" /><Relationship Type="http://schemas.openxmlformats.org/officeDocument/2006/relationships/chart" Target="/ppt/slides/charts/chart1.xml" Id="R9776da1c92664094" /><Relationship Type="http://schemas.openxmlformats.org/officeDocument/2006/relationships/notesSlide" Target="/ppt/notesSlides/notesSlide5.xml" Id="R4f48c94c64f449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3fe917d5e2447a8" /><Relationship Type="http://schemas.openxmlformats.org/officeDocument/2006/relationships/notesSlide" Target="/ppt/notesSlides/notesSlide6.xml" Id="R39ba8d843fd2493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69dbe8029b5406c" /><Relationship Type="http://schemas.openxmlformats.org/officeDocument/2006/relationships/notesSlide" Target="/ppt/notesSlides/notesSlide7.xml" Id="Rf598f770c51a4c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d82d763df564ba8" /><Relationship Type="http://schemas.openxmlformats.org/officeDocument/2006/relationships/notesSlide" Target="/ppt/notesSlides/notesSlide8.xml" Id="R3d16690ed311491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1e2a52d0d7049ce" /><Relationship Type="http://schemas.openxmlformats.org/officeDocument/2006/relationships/notesSlide" Target="/ppt/notesSlides/notesSlide9.xml" Id="R1c9374ca22f14a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232d866ec7d48ec" /><Relationship Type="http://schemas.openxmlformats.org/officeDocument/2006/relationships/notesSlide" Target="/ppt/notesSlides/notesSlide10.xml" Id="Rdf247a8f0233406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6e925b7c4ef4de4" /><Relationship Type="http://schemas.openxmlformats.org/officeDocument/2006/relationships/notesSlide" Target="/ppt/notesSlides/notesSlide11.xml" Id="R6d56f995d16a464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053984d670947c9" /><Relationship Type="http://schemas.openxmlformats.org/officeDocument/2006/relationships/notesSlide" Target="/ppt/notesSlides/notesSlide12.xml" Id="R0d4e9eac163c4312" /></Relationships>
</file>

<file path=ppt/slides/charts/chart1.xml><?xml version="1.0" encoding="utf-8"?>
<c:chartSpace xmlns:c="http://schemas.openxmlformats.org/drawingml/2006/chart">
  <c:lang val="en-US"/>
  <c:chart>
    <c:plotArea>
      <c:barChart>
        <c:barDir val="bar"/>
        <c:grouping val="clustered"/>
        <c:varyColors val="0"/>
        <c:ser>
          <c:idx val="0"/>
          <c:order val="0"/>
          <c:tx>
            <c:v>Estimated tokens</c:v>
          </c:tx>
          <c:spPr>
            <a:solidFill xmlns:a="http://schemas.openxmlformats.org/drawingml/2006/main">
              <a:srgbClr val="1677FF"/>
            </a:solidFill>
          </c:spPr>
          <c:cat>
            <c:strLit>
              <c:ptCount val="2"/>
              <c:pt idx="0">
                <c:v>​</c:v>
              </c:pt>
              <c:pt idx="1">
                <c:v>‌</c:v>
              </c:pt>
            </c:strLit>
          </c:cat>
          <c:val>
            <c:numLit>
              <c:formatCode>General</c:formatCode>
              <c:ptCount val="2"/>
              <c:pt idx="0">
                <c:v>87622</c:v>
              </c:pt>
              <c:pt idx="1">
                <c:v>8900</c:v>
              </c:pt>
            </c:numLit>
          </c:val>
        </c:ser>
        <c:dLbls>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1200">
                <a:solidFill>
                  <a:srgbClr val="FFFFFF"/>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1-eyebrow">
            <a:extLst xmlns:a="http://schemas.openxmlformats.org/drawingml/2006/main">
              <a:ext uri="{FF2B5EF4-FFF2-40B4-BE49-F238E27FC236}">
                <a16:creationId xmlns:a16="http://schemas.microsoft.com/office/drawing/2014/main" id="{41C192AE-BED5-4A4F-943E-64B34B26425D}"/>
              </a:ext>
            </a:extLst>
          </p:cNvPr>
          <p:cNvSpPr>
            <a:spLocks xmlns:a="http://schemas.openxmlformats.org/drawingml/2006/main" noGrp="1"/>
          </p:cNvSpPr>
          <p:nvPr/>
        </p:nvSpPr>
        <p:spPr>
          <a:xfrm xmlns:a="http://schemas.openxmlformats.org/drawingml/2006/main">
            <a:off x="495300" y="419100"/>
            <a:ext cx="533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OPENAI BUILD WEEK 2026  /  DEVELOPER TOOLS</a:t>
            </a:r>
          </a:p>
        </p:txBody>
      </p:sp>
      <p:sp>
        <p:nvSpPr>
          <p:cNvPr id="2" name="s1-title">
            <a:extLst xmlns:a="http://schemas.openxmlformats.org/drawingml/2006/main">
              <a:ext uri="{FF2B5EF4-FFF2-40B4-BE49-F238E27FC236}">
                <a16:creationId xmlns:a16="http://schemas.microsoft.com/office/drawing/2014/main" id="{E8116F1E-3E9F-4042-8978-8FAFFD912EE8}"/>
              </a:ext>
            </a:extLst>
          </p:cNvPr>
          <p:cNvSpPr>
            <a:spLocks xmlns:a="http://schemas.openxmlformats.org/drawingml/2006/main" noGrp="1"/>
          </p:cNvSpPr>
          <p:nvPr/>
        </p:nvSpPr>
        <p:spPr>
          <a:xfrm xmlns:a="http://schemas.openxmlformats.org/drawingml/2006/main">
            <a:off x="495300" y="1428750"/>
            <a:ext cx="5905500" cy="2190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0A1224"/>
                </a:solidFill>
                <a:latin typeface="Arial"/>
                <a:ea typeface="Arial"/>
                <a:cs typeface="Arial"/>
              </a:defRPr>
            </a:pPr>
            <a:r>
              <a:t>Vertex
Palace</a:t>
            </a:r>
          </a:p>
        </p:txBody>
      </p:sp>
      <p:cxnSp>
        <p:nvCxnSpPr>
          <p:cNvPr id="9" name="s1-accent"/>
          <p:cNvCxnSpPr/>
          <p:nvPr/>
        </p:nvCxnSpPr>
        <p:spPr>
          <a:xfrm xmlns:a="http://schemas.openxmlformats.org/drawingml/2006/main">
            <a:off x="514350" y="3895725"/>
            <a:ext cx="12001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subtitle">
            <a:extLst xmlns:a="http://schemas.openxmlformats.org/drawingml/2006/main">
              <a:ext uri="{FF2B5EF4-FFF2-40B4-BE49-F238E27FC236}">
                <a16:creationId xmlns:a16="http://schemas.microsoft.com/office/drawing/2014/main" id="{574F8BF2-2299-40E0-BE13-7D0B6EAF6549}"/>
              </a:ext>
            </a:extLst>
          </p:cNvPr>
          <p:cNvSpPr>
            <a:spLocks xmlns:a="http://schemas.openxmlformats.org/drawingml/2006/main" noGrp="1"/>
          </p:cNvSpPr>
          <p:nvPr/>
        </p:nvSpPr>
        <p:spPr>
          <a:xfrm xmlns:a="http://schemas.openxmlformats.org/drawingml/2006/main">
            <a:off x="495300" y="4210050"/>
            <a:ext cx="5810250" cy="1028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071"/>
                </a:solidFill>
                <a:latin typeface="Arial"/>
                <a:ea typeface="Arial"/>
                <a:cs typeface="Arial"/>
              </a:defRPr>
            </a:pPr>
            <a:r>
              <a:t>A local map, route, memory, and evidence layer for Codex.</a:t>
            </a:r>
          </a:p>
        </p:txBody>
      </p:sp>
      <p:sp>
        <p:nvSpPr>
          <p:cNvPr id="5" name="s1-version">
            <a:extLst xmlns:a="http://schemas.openxmlformats.org/drawingml/2006/main">
              <a:ext uri="{FF2B5EF4-FFF2-40B4-BE49-F238E27FC236}">
                <a16:creationId xmlns:a16="http://schemas.microsoft.com/office/drawing/2014/main" id="{A8EB010A-B1A3-4B88-BE4E-F08BBAE27F7B}"/>
              </a:ext>
            </a:extLst>
          </p:cNvPr>
          <p:cNvSpPr>
            <a:spLocks xmlns:a="http://schemas.openxmlformats.org/drawingml/2006/main" noGrp="1"/>
          </p:cNvSpPr>
          <p:nvPr/>
        </p:nvSpPr>
        <p:spPr>
          <a:xfrm xmlns:a="http://schemas.openxmlformats.org/drawingml/2006/main">
            <a:off x="495300" y="5600700"/>
            <a:ext cx="3048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vertex-palace@0.2.3</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9ce5c00e97644fc"/>
          <a:stretch xmlns:a="http://schemas.openxmlformats.org/drawingml/2006/main"/>
        </p:blipFill>
        <p:spPr>
          <a:xfrm xmlns:a="http://schemas.openxmlformats.org/drawingml/2006/main">
            <a:off x="6858000" y="1565275"/>
            <a:ext cx="4476750" cy="2984500"/>
          </a:xfrm>
          <a:prstGeom xmlns:a="http://schemas.openxmlformats.org/drawingml/2006/main" prst="rect">
            <a:avLst/>
          </a:prstGeom>
        </p:spPr>
      </p:pic>
    </p:spTree>
    <p:extLst>
      <p:ext uri="{BB962C8B-B14F-4D97-AF65-F5344CB8AC3E}">
        <p14:creationId xmlns:p14="http://schemas.microsoft.com/office/powerpoint/2010/main" val="101758000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2-title">
            <a:extLst xmlns:a="http://schemas.openxmlformats.org/drawingml/2006/main">
              <a:ext uri="{FF2B5EF4-FFF2-40B4-BE49-F238E27FC236}">
                <a16:creationId xmlns:a16="http://schemas.microsoft.com/office/drawing/2014/main" id="{D4217F34-942D-44AC-B9F5-3CBB5861F309}"/>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As my projects grew, one issue could take over an hour.</a:t>
            </a:r>
          </a:p>
        </p:txBody>
      </p:sp>
      <p:sp>
        <p:nvSpPr>
          <p:cNvPr id="2" name="s2-subtitle">
            <a:extLst xmlns:a="http://schemas.openxmlformats.org/drawingml/2006/main">
              <a:ext uri="{FF2B5EF4-FFF2-40B4-BE49-F238E27FC236}">
                <a16:creationId xmlns:a16="http://schemas.microsoft.com/office/drawing/2014/main" id="{A3C65415-11E0-42D3-B208-7F06D07B409B}"/>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Token use became just as unreasonable as the agent repeatedly rediscovered the same repository.</a:t>
            </a:r>
          </a:p>
        </p:txBody>
      </p:sp>
      <p:cxnSp>
        <p:nvCxnSpPr>
          <p:cNvPr id="35" name="s2-link-a"/>
          <p:cNvCxnSpPr/>
          <p:nvPr/>
        </p:nvCxnSpPr>
        <p:spPr>
          <a:xfrm xmlns:a="http://schemas.openxmlformats.org/drawingml/2006/main">
            <a:off x="1400175" y="1981200"/>
            <a:ext cx="1257300" cy="1495425"/>
          </a:xfrm>
          <a:prstGeom xmlns:a="http://schemas.openxmlformats.org/drawingml/2006/main" prst="straightConnector1">
            <a:avLst/>
          </a:prstGeom>
          <a:ln xmlns:a="http://schemas.openxmlformats.org/drawingml/2006/main" w="19050">
            <a:solidFill>
              <a:srgbClr val="B8BCC4"/>
            </a:solidFill>
            <a:prstDash val="solid"/>
          </a:ln>
        </p:spPr>
      </p:cxnSp>
      <p:cxnSp>
        <p:nvCxnSpPr>
          <p:cNvPr id="36" name="s2-link-b"/>
          <p:cNvCxnSpPr/>
          <p:nvPr/>
        </p:nvCxnSpPr>
        <p:spPr>
          <a:xfrm xmlns:a="http://schemas.openxmlformats.org/drawingml/2006/main">
            <a:off x="2657475" y="1685925"/>
            <a:ext cx="1562100" cy="1790700"/>
          </a:xfrm>
          <a:prstGeom xmlns:a="http://schemas.openxmlformats.org/drawingml/2006/main" prst="straightConnector1">
            <a:avLst/>
          </a:prstGeom>
          <a:ln xmlns:a="http://schemas.openxmlformats.org/drawingml/2006/main" w="19050">
            <a:solidFill>
              <a:srgbClr val="B8BCC4"/>
            </a:solidFill>
            <a:prstDash val="solid"/>
          </a:ln>
        </p:spPr>
      </p:cxnSp>
      <p:cxnSp>
        <p:nvCxnSpPr>
          <p:cNvPr id="37" name="s2-link-c"/>
          <p:cNvCxnSpPr/>
          <p:nvPr/>
        </p:nvCxnSpPr>
        <p:spPr>
          <a:xfrm xmlns:a="http://schemas.openxmlformats.org/drawingml/2006/main">
            <a:off x="2657475" y="3181350"/>
            <a:ext cx="2400300" cy="295275"/>
          </a:xfrm>
          <a:prstGeom xmlns:a="http://schemas.openxmlformats.org/drawingml/2006/main" prst="straightConnector1">
            <a:avLst/>
          </a:prstGeom>
          <a:ln xmlns:a="http://schemas.openxmlformats.org/drawingml/2006/main" w="19050">
            <a:solidFill>
              <a:srgbClr val="B8BCC4"/>
            </a:solidFill>
            <a:prstDash val="solid"/>
          </a:ln>
        </p:spPr>
      </p:cxnSp>
      <p:cxnSp>
        <p:nvCxnSpPr>
          <p:cNvPr id="38" name="s2-link-d"/>
          <p:cNvCxnSpPr/>
          <p:nvPr/>
        </p:nvCxnSpPr>
        <p:spPr>
          <a:xfrm xmlns:a="http://schemas.openxmlformats.org/drawingml/2006/main">
            <a:off x="1533525" y="3476625"/>
            <a:ext cx="1123950" cy="1476375"/>
          </a:xfrm>
          <a:prstGeom xmlns:a="http://schemas.openxmlformats.org/drawingml/2006/main" prst="straightConnector1">
            <a:avLst/>
          </a:prstGeom>
          <a:ln xmlns:a="http://schemas.openxmlformats.org/drawingml/2006/main" w="19050">
            <a:solidFill>
              <a:srgbClr val="B8BCC4"/>
            </a:solidFill>
            <a:prstDash val="solid"/>
          </a:ln>
        </p:spPr>
      </p:cxnSp>
      <p:cxnSp>
        <p:nvCxnSpPr>
          <p:cNvPr id="39" name="s2-link-e"/>
          <p:cNvCxnSpPr/>
          <p:nvPr/>
        </p:nvCxnSpPr>
        <p:spPr>
          <a:xfrm xmlns:a="http://schemas.openxmlformats.org/drawingml/2006/main">
            <a:off x="2657475" y="3476625"/>
            <a:ext cx="1771650" cy="1552575"/>
          </a:xfrm>
          <a:prstGeom xmlns:a="http://schemas.openxmlformats.org/drawingml/2006/main" prst="straightConnector1">
            <a:avLst/>
          </a:prstGeom>
          <a:ln xmlns:a="http://schemas.openxmlformats.org/drawingml/2006/main" w="19050">
            <a:solidFill>
              <a:srgbClr val="B8BCC4"/>
            </a:solidFill>
            <a:prstDash val="solid"/>
          </a:ln>
        </p:spPr>
      </p:cxnSp>
      <p:sp>
        <p:nvSpPr>
          <p:cNvPr id="8" name="s2-agent">
            <a:extLst xmlns:a="http://schemas.openxmlformats.org/drawingml/2006/main">
              <a:ext uri="{FF2B5EF4-FFF2-40B4-BE49-F238E27FC236}">
                <a16:creationId xmlns:a16="http://schemas.microsoft.com/office/drawing/2014/main" id="{4A66E9DF-E3D7-4C60-A342-770FDC1548E1}"/>
              </a:ext>
            </a:extLst>
          </p:cNvPr>
          <p:cNvSpPr>
            <a:spLocks xmlns:a="http://schemas.openxmlformats.org/drawingml/2006/main" noGrp="1"/>
          </p:cNvSpPr>
          <p:nvPr/>
        </p:nvSpPr>
        <p:spPr>
          <a:xfrm xmlns:a="http://schemas.openxmlformats.org/drawingml/2006/main">
            <a:off x="2095500" y="2914650"/>
            <a:ext cx="1123950" cy="1123950"/>
          </a:xfrm>
          <a:prstGeom xmlns:a="http://schemas.openxmlformats.org/drawingml/2006/main" prst="ellipse">
            <a:avLst/>
          </a:prstGeom>
          <a:solidFill xmlns:a="http://schemas.openxmlformats.org/drawingml/2006/main">
            <a:srgbClr val="061B3D"/>
          </a:solidFill>
          <a:ln xmlns:a="http://schemas.openxmlformats.org/drawingml/2006/main" w="0">
            <a:solidFill>
              <a:srgbClr val="061B3D"/>
            </a:solidFill>
            <a:prstDash val="solid"/>
          </a:ln>
        </p:spPr>
      </p:sp>
      <p:sp>
        <p:nvSpPr>
          <p:cNvPr id="9" name="s2-agent-label">
            <a:extLst xmlns:a="http://schemas.openxmlformats.org/drawingml/2006/main">
              <a:ext uri="{FF2B5EF4-FFF2-40B4-BE49-F238E27FC236}">
                <a16:creationId xmlns:a16="http://schemas.microsoft.com/office/drawing/2014/main" id="{C9435926-405F-4235-A003-F4847ABBC510}"/>
              </a:ext>
            </a:extLst>
          </p:cNvPr>
          <p:cNvSpPr>
            <a:spLocks xmlns:a="http://schemas.openxmlformats.org/drawingml/2006/main" noGrp="1"/>
          </p:cNvSpPr>
          <p:nvPr/>
        </p:nvSpPr>
        <p:spPr>
          <a:xfrm xmlns:a="http://schemas.openxmlformats.org/drawingml/2006/main">
            <a:off x="2238375" y="3286125"/>
            <a:ext cx="8382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t>AGENT</a:t>
            </a:r>
          </a:p>
        </p:txBody>
      </p:sp>
      <p:sp>
        <p:nvSpPr>
          <p:cNvPr id="10" name="s2-file-a">
            <a:extLst xmlns:a="http://schemas.openxmlformats.org/drawingml/2006/main">
              <a:ext uri="{FF2B5EF4-FFF2-40B4-BE49-F238E27FC236}">
                <a16:creationId xmlns:a16="http://schemas.microsoft.com/office/drawing/2014/main" id="{D24AF75A-FFE9-4933-9BB2-C0D45480D322}"/>
              </a:ext>
            </a:extLst>
          </p:cNvPr>
          <p:cNvSpPr>
            <a:spLocks xmlns:a="http://schemas.openxmlformats.org/drawingml/2006/main" noGrp="1"/>
          </p:cNvSpPr>
          <p:nvPr/>
        </p:nvSpPr>
        <p:spPr>
          <a:xfrm xmlns:a="http://schemas.openxmlformats.org/drawingml/2006/main">
            <a:off x="685800" y="1638300"/>
            <a:ext cx="14287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1" name="s2-file-b">
            <a:extLst xmlns:a="http://schemas.openxmlformats.org/drawingml/2006/main">
              <a:ext uri="{FF2B5EF4-FFF2-40B4-BE49-F238E27FC236}">
                <a16:creationId xmlns:a16="http://schemas.microsoft.com/office/drawing/2014/main" id="{A4B71D6A-4D1C-4B81-812C-9EE6A1CD41E6}"/>
              </a:ext>
            </a:extLst>
          </p:cNvPr>
          <p:cNvSpPr>
            <a:spLocks xmlns:a="http://schemas.openxmlformats.org/drawingml/2006/main" noGrp="1"/>
          </p:cNvSpPr>
          <p:nvPr/>
        </p:nvSpPr>
        <p:spPr>
          <a:xfrm xmlns:a="http://schemas.openxmlformats.org/drawingml/2006/main">
            <a:off x="3448050" y="1343025"/>
            <a:ext cx="15430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2" name="s2-file-c">
            <a:extLst xmlns:a="http://schemas.openxmlformats.org/drawingml/2006/main">
              <a:ext uri="{FF2B5EF4-FFF2-40B4-BE49-F238E27FC236}">
                <a16:creationId xmlns:a16="http://schemas.microsoft.com/office/drawing/2014/main" id="{C4894B43-A2D4-43CD-A175-6EC33B022700}"/>
              </a:ext>
            </a:extLst>
          </p:cNvPr>
          <p:cNvSpPr>
            <a:spLocks xmlns:a="http://schemas.openxmlformats.org/drawingml/2006/main" noGrp="1"/>
          </p:cNvSpPr>
          <p:nvPr/>
        </p:nvSpPr>
        <p:spPr>
          <a:xfrm xmlns:a="http://schemas.openxmlformats.org/drawingml/2006/main">
            <a:off x="4305300" y="2838450"/>
            <a:ext cx="15049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3" name="s2-file-d">
            <a:extLst xmlns:a="http://schemas.openxmlformats.org/drawingml/2006/main">
              <a:ext uri="{FF2B5EF4-FFF2-40B4-BE49-F238E27FC236}">
                <a16:creationId xmlns:a16="http://schemas.microsoft.com/office/drawing/2014/main" id="{344C97E6-4F03-4BDA-965D-970786B50785}"/>
              </a:ext>
            </a:extLst>
          </p:cNvPr>
          <p:cNvSpPr>
            <a:spLocks xmlns:a="http://schemas.openxmlformats.org/drawingml/2006/main" noGrp="1"/>
          </p:cNvSpPr>
          <p:nvPr/>
        </p:nvSpPr>
        <p:spPr>
          <a:xfrm xmlns:a="http://schemas.openxmlformats.org/drawingml/2006/main">
            <a:off x="742950" y="46101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4" name="s2-file-e">
            <a:extLst xmlns:a="http://schemas.openxmlformats.org/drawingml/2006/main">
              <a:ext uri="{FF2B5EF4-FFF2-40B4-BE49-F238E27FC236}">
                <a16:creationId xmlns:a16="http://schemas.microsoft.com/office/drawing/2014/main" id="{7AA431F2-B0BE-46BF-847C-BF44F95F8FC1}"/>
              </a:ext>
            </a:extLst>
          </p:cNvPr>
          <p:cNvSpPr>
            <a:spLocks xmlns:a="http://schemas.openxmlformats.org/drawingml/2006/main" noGrp="1"/>
          </p:cNvSpPr>
          <p:nvPr/>
        </p:nvSpPr>
        <p:spPr>
          <a:xfrm xmlns:a="http://schemas.openxmlformats.org/drawingml/2006/main">
            <a:off x="3638550" y="46863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5" name="s2-file-a-label">
            <a:extLst xmlns:a="http://schemas.openxmlformats.org/drawingml/2006/main">
              <a:ext uri="{FF2B5EF4-FFF2-40B4-BE49-F238E27FC236}">
                <a16:creationId xmlns:a16="http://schemas.microsoft.com/office/drawing/2014/main" id="{5034AA7B-A186-4426-A322-B7352398D8FC}"/>
              </a:ext>
            </a:extLst>
          </p:cNvPr>
          <p:cNvSpPr>
            <a:spLocks xmlns:a="http://schemas.openxmlformats.org/drawingml/2006/main" noGrp="1"/>
          </p:cNvSpPr>
          <p:nvPr/>
        </p:nvSpPr>
        <p:spPr>
          <a:xfrm xmlns:a="http://schemas.openxmlformats.org/drawingml/2006/main">
            <a:off x="800100" y="1857375"/>
            <a:ext cx="12001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README.md</a:t>
            </a:r>
          </a:p>
        </p:txBody>
      </p:sp>
      <p:sp>
        <p:nvSpPr>
          <p:cNvPr id="16" name="s2-file-b-label">
            <a:extLst xmlns:a="http://schemas.openxmlformats.org/drawingml/2006/main">
              <a:ext uri="{FF2B5EF4-FFF2-40B4-BE49-F238E27FC236}">
                <a16:creationId xmlns:a16="http://schemas.microsoft.com/office/drawing/2014/main" id="{6AB0B5BE-18B4-402C-BDEF-1F999CF10361}"/>
              </a:ext>
            </a:extLst>
          </p:cNvPr>
          <p:cNvSpPr>
            <a:spLocks xmlns:a="http://schemas.openxmlformats.org/drawingml/2006/main" noGrp="1"/>
          </p:cNvSpPr>
          <p:nvPr/>
        </p:nvSpPr>
        <p:spPr>
          <a:xfrm xmlns:a="http://schemas.openxmlformats.org/drawingml/2006/main">
            <a:off x="3571875" y="1562100"/>
            <a:ext cx="1295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checkout.ts</a:t>
            </a:r>
          </a:p>
        </p:txBody>
      </p:sp>
      <p:sp>
        <p:nvSpPr>
          <p:cNvPr id="17" name="s2-file-c-label">
            <a:extLst xmlns:a="http://schemas.openxmlformats.org/drawingml/2006/main">
              <a:ext uri="{FF2B5EF4-FFF2-40B4-BE49-F238E27FC236}">
                <a16:creationId xmlns:a16="http://schemas.microsoft.com/office/drawing/2014/main" id="{47204CF0-30D5-4D4C-998E-AF8E604F2398}"/>
              </a:ext>
            </a:extLst>
          </p:cNvPr>
          <p:cNvSpPr>
            <a:spLocks xmlns:a="http://schemas.openxmlformats.org/drawingml/2006/main" noGrp="1"/>
          </p:cNvSpPr>
          <p:nvPr/>
        </p:nvSpPr>
        <p:spPr>
          <a:xfrm xmlns:a="http://schemas.openxmlformats.org/drawingml/2006/main">
            <a:off x="4419600" y="3057525"/>
            <a:ext cx="1276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policy.json</a:t>
            </a:r>
          </a:p>
        </p:txBody>
      </p:sp>
      <p:sp>
        <p:nvSpPr>
          <p:cNvPr id="18" name="s2-file-d-label">
            <a:extLst xmlns:a="http://schemas.openxmlformats.org/drawingml/2006/main">
              <a:ext uri="{FF2B5EF4-FFF2-40B4-BE49-F238E27FC236}">
                <a16:creationId xmlns:a16="http://schemas.microsoft.com/office/drawing/2014/main" id="{7D121530-0933-4A3B-A533-86E54302F464}"/>
              </a:ext>
            </a:extLst>
          </p:cNvPr>
          <p:cNvSpPr>
            <a:spLocks xmlns:a="http://schemas.openxmlformats.org/drawingml/2006/main" noGrp="1"/>
          </p:cNvSpPr>
          <p:nvPr/>
        </p:nvSpPr>
        <p:spPr>
          <a:xfrm xmlns:a="http://schemas.openxmlformats.org/drawingml/2006/main">
            <a:off x="857250" y="4829175"/>
            <a:ext cx="1352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footer.tsx</a:t>
            </a:r>
          </a:p>
        </p:txBody>
      </p:sp>
      <p:sp>
        <p:nvSpPr>
          <p:cNvPr id="19" name="s2-file-e-label">
            <a:extLst xmlns:a="http://schemas.openxmlformats.org/drawingml/2006/main">
              <a:ext uri="{FF2B5EF4-FFF2-40B4-BE49-F238E27FC236}">
                <a16:creationId xmlns:a16="http://schemas.microsoft.com/office/drawing/2014/main" id="{B31332A7-AA25-4AF2-ABCC-3F00BC66EF77}"/>
              </a:ext>
            </a:extLst>
          </p:cNvPr>
          <p:cNvSpPr>
            <a:spLocks xmlns:a="http://schemas.openxmlformats.org/drawingml/2006/main" noGrp="1"/>
          </p:cNvSpPr>
          <p:nvPr/>
        </p:nvSpPr>
        <p:spPr>
          <a:xfrm xmlns:a="http://schemas.openxmlformats.org/drawingml/2006/main">
            <a:off x="3762375" y="4905375"/>
            <a:ext cx="1333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tests/...</a:t>
            </a:r>
          </a:p>
        </p:txBody>
      </p:sp>
      <p:sp>
        <p:nvSpPr>
          <p:cNvPr id="20" name="s2-n1">
            <a:extLst xmlns:a="http://schemas.openxmlformats.org/drawingml/2006/main">
              <a:ext uri="{FF2B5EF4-FFF2-40B4-BE49-F238E27FC236}">
                <a16:creationId xmlns:a16="http://schemas.microsoft.com/office/drawing/2014/main" id="{FB0AF871-16EE-45D8-8B1B-A548953ACF9E}"/>
              </a:ext>
            </a:extLst>
          </p:cNvPr>
          <p:cNvSpPr>
            <a:spLocks xmlns:a="http://schemas.openxmlformats.org/drawingml/2006/main" noGrp="1"/>
          </p:cNvSpPr>
          <p:nvPr/>
        </p:nvSpPr>
        <p:spPr>
          <a:xfrm xmlns:a="http://schemas.openxmlformats.org/drawingml/2006/main">
            <a:off x="6762750" y="1962150"/>
            <a:ext cx="323850" cy="32385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21" name="s2-n1-label">
            <a:extLst xmlns:a="http://schemas.openxmlformats.org/drawingml/2006/main">
              <a:ext uri="{FF2B5EF4-FFF2-40B4-BE49-F238E27FC236}">
                <a16:creationId xmlns:a16="http://schemas.microsoft.com/office/drawing/2014/main" id="{57869D4F-53EB-4C23-99EA-88763AEFCD21}"/>
              </a:ext>
            </a:extLst>
          </p:cNvPr>
          <p:cNvSpPr>
            <a:spLocks xmlns:a="http://schemas.openxmlformats.org/drawingml/2006/main" noGrp="1"/>
          </p:cNvSpPr>
          <p:nvPr/>
        </p:nvSpPr>
        <p:spPr>
          <a:xfrm xmlns:a="http://schemas.openxmlformats.org/drawingml/2006/main">
            <a:off x="6762750" y="20097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1</a:t>
            </a:r>
          </a:p>
        </p:txBody>
      </p:sp>
      <p:sp>
        <p:nvSpPr>
          <p:cNvPr id="22" name="s2-p1">
            <a:extLst xmlns:a="http://schemas.openxmlformats.org/drawingml/2006/main">
              <a:ext uri="{FF2B5EF4-FFF2-40B4-BE49-F238E27FC236}">
                <a16:creationId xmlns:a16="http://schemas.microsoft.com/office/drawing/2014/main" id="{A96FAC6A-2F04-473B-9F12-CC75CD1844CB}"/>
              </a:ext>
            </a:extLst>
          </p:cNvPr>
          <p:cNvSpPr>
            <a:spLocks xmlns:a="http://schemas.openxmlformats.org/drawingml/2006/main" noGrp="1"/>
          </p:cNvSpPr>
          <p:nvPr/>
        </p:nvSpPr>
        <p:spPr>
          <a:xfrm xmlns:a="http://schemas.openxmlformats.org/drawingml/2006/main">
            <a:off x="7296150" y="18478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Broad search</a:t>
            </a:r>
          </a:p>
        </p:txBody>
      </p:sp>
      <p:sp>
        <p:nvSpPr>
          <p:cNvPr id="23" name="s2-n2">
            <a:extLst xmlns:a="http://schemas.openxmlformats.org/drawingml/2006/main">
              <a:ext uri="{FF2B5EF4-FFF2-40B4-BE49-F238E27FC236}">
                <a16:creationId xmlns:a16="http://schemas.microsoft.com/office/drawing/2014/main" id="{B94514C9-B05A-4EFE-B07D-975C619477E8}"/>
              </a:ext>
            </a:extLst>
          </p:cNvPr>
          <p:cNvSpPr>
            <a:spLocks xmlns:a="http://schemas.openxmlformats.org/drawingml/2006/main" noGrp="1"/>
          </p:cNvSpPr>
          <p:nvPr/>
        </p:nvSpPr>
        <p:spPr>
          <a:xfrm xmlns:a="http://schemas.openxmlformats.org/drawingml/2006/main">
            <a:off x="6762750" y="3143250"/>
            <a:ext cx="323850" cy="32385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24" name="s2-n2-label">
            <a:extLst xmlns:a="http://schemas.openxmlformats.org/drawingml/2006/main">
              <a:ext uri="{FF2B5EF4-FFF2-40B4-BE49-F238E27FC236}">
                <a16:creationId xmlns:a16="http://schemas.microsoft.com/office/drawing/2014/main" id="{BFFCE878-872D-4097-B957-8F49DD999C05}"/>
              </a:ext>
            </a:extLst>
          </p:cNvPr>
          <p:cNvSpPr>
            <a:spLocks xmlns:a="http://schemas.openxmlformats.org/drawingml/2006/main" noGrp="1"/>
          </p:cNvSpPr>
          <p:nvPr/>
        </p:nvSpPr>
        <p:spPr>
          <a:xfrm xmlns:a="http://schemas.openxmlformats.org/drawingml/2006/main">
            <a:off x="6762750" y="31908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2</a:t>
            </a:r>
          </a:p>
        </p:txBody>
      </p:sp>
      <p:sp>
        <p:nvSpPr>
          <p:cNvPr id="25" name="s2-p2">
            <a:extLst xmlns:a="http://schemas.openxmlformats.org/drawingml/2006/main">
              <a:ext uri="{FF2B5EF4-FFF2-40B4-BE49-F238E27FC236}">
                <a16:creationId xmlns:a16="http://schemas.microsoft.com/office/drawing/2014/main" id="{0F674F13-18FD-459B-A95E-D4BD5869322B}"/>
              </a:ext>
            </a:extLst>
          </p:cNvPr>
          <p:cNvSpPr>
            <a:spLocks xmlns:a="http://schemas.openxmlformats.org/drawingml/2006/main" noGrp="1"/>
          </p:cNvSpPr>
          <p:nvPr/>
        </p:nvSpPr>
        <p:spPr>
          <a:xfrm xmlns:a="http://schemas.openxmlformats.org/drawingml/2006/main">
            <a:off x="7296150" y="30289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Repeated reading</a:t>
            </a:r>
          </a:p>
        </p:txBody>
      </p:sp>
      <p:sp>
        <p:nvSpPr>
          <p:cNvPr id="26" name="s2-n3">
            <a:extLst xmlns:a="http://schemas.openxmlformats.org/drawingml/2006/main">
              <a:ext uri="{FF2B5EF4-FFF2-40B4-BE49-F238E27FC236}">
                <a16:creationId xmlns:a16="http://schemas.microsoft.com/office/drawing/2014/main" id="{B59033F0-4A80-4203-9F17-187664502D06}"/>
              </a:ext>
            </a:extLst>
          </p:cNvPr>
          <p:cNvSpPr>
            <a:spLocks xmlns:a="http://schemas.openxmlformats.org/drawingml/2006/main" noGrp="1"/>
          </p:cNvSpPr>
          <p:nvPr/>
        </p:nvSpPr>
        <p:spPr>
          <a:xfrm xmlns:a="http://schemas.openxmlformats.org/drawingml/2006/main">
            <a:off x="6762750" y="4324350"/>
            <a:ext cx="323850" cy="32385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27" name="s2-n3-label">
            <a:extLst xmlns:a="http://schemas.openxmlformats.org/drawingml/2006/main">
              <a:ext uri="{FF2B5EF4-FFF2-40B4-BE49-F238E27FC236}">
                <a16:creationId xmlns:a16="http://schemas.microsoft.com/office/drawing/2014/main" id="{7D736D9D-557F-4B99-A22D-D48C82A19D3C}"/>
              </a:ext>
            </a:extLst>
          </p:cNvPr>
          <p:cNvSpPr>
            <a:spLocks xmlns:a="http://schemas.openxmlformats.org/drawingml/2006/main" noGrp="1"/>
          </p:cNvSpPr>
          <p:nvPr/>
        </p:nvSpPr>
        <p:spPr>
          <a:xfrm xmlns:a="http://schemas.openxmlformats.org/drawingml/2006/main">
            <a:off x="6762750" y="43719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3</a:t>
            </a:r>
          </a:p>
        </p:txBody>
      </p:sp>
      <p:sp>
        <p:nvSpPr>
          <p:cNvPr id="28" name="s2-p3">
            <a:extLst xmlns:a="http://schemas.openxmlformats.org/drawingml/2006/main">
              <a:ext uri="{FF2B5EF4-FFF2-40B4-BE49-F238E27FC236}">
                <a16:creationId xmlns:a16="http://schemas.microsoft.com/office/drawing/2014/main" id="{91DE6FA7-E672-4D5C-A33E-E4C51DE231D2}"/>
              </a:ext>
            </a:extLst>
          </p:cNvPr>
          <p:cNvSpPr>
            <a:spLocks xmlns:a="http://schemas.openxmlformats.org/drawingml/2006/main" noGrp="1"/>
          </p:cNvSpPr>
          <p:nvPr/>
        </p:nvSpPr>
        <p:spPr>
          <a:xfrm xmlns:a="http://schemas.openxmlformats.org/drawingml/2006/main">
            <a:off x="7296150" y="4210050"/>
            <a:ext cx="4095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Forgotten decisions</a:t>
            </a:r>
          </a:p>
        </p:txBody>
      </p:sp>
      <p:sp>
        <p:nvSpPr>
          <p:cNvPr id="29" name="s2-takeaway">
            <a:extLst xmlns:a="http://schemas.openxmlformats.org/drawingml/2006/main">
              <a:ext uri="{FF2B5EF4-FFF2-40B4-BE49-F238E27FC236}">
                <a16:creationId xmlns:a16="http://schemas.microsoft.com/office/drawing/2014/main" id="{8F5823AC-E459-4DA7-AFDD-3916BD97E5E7}"/>
              </a:ext>
            </a:extLst>
          </p:cNvPr>
          <p:cNvSpPr>
            <a:spLocks xmlns:a="http://schemas.openxmlformats.org/drawingml/2006/main" noGrp="1"/>
          </p:cNvSpPr>
          <p:nvPr/>
        </p:nvSpPr>
        <p:spPr>
          <a:xfrm xmlns:a="http://schemas.openxmlformats.org/drawingml/2006/main">
            <a:off x="6762750" y="5162550"/>
            <a:ext cx="4629150" cy="704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071"/>
                </a:solidFill>
                <a:latin typeface="Arial"/>
                <a:ea typeface="Arial"/>
                <a:cs typeface="Arial"/>
              </a:defRPr>
            </a:pPr>
            <a:r>
              <a:t>That frustration became the reason I built Vertex Palace.</a:t>
            </a:r>
          </a:p>
        </p:txBody>
      </p:sp>
      <p:cxnSp>
        <p:nvCxnSpPr>
          <p:cNvPr id="62" name="footer-rule-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2">
            <a:extLst xmlns:a="http://schemas.openxmlformats.org/drawingml/2006/main">
              <a:ext uri="{FF2B5EF4-FFF2-40B4-BE49-F238E27FC236}">
                <a16:creationId xmlns:a16="http://schemas.microsoft.com/office/drawing/2014/main" id="{053667B1-D1E6-4AF0-BE2C-77B46C022AF2}"/>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2" name="footer-number-2">
            <a:extLst xmlns:a="http://schemas.openxmlformats.org/drawingml/2006/main">
              <a:ext uri="{FF2B5EF4-FFF2-40B4-BE49-F238E27FC236}">
                <a16:creationId xmlns:a16="http://schemas.microsoft.com/office/drawing/2014/main" id="{FD03E0DA-8C35-4FE6-B15B-A45DA2327FF7}"/>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2</a:t>
            </a:r>
          </a:p>
        </p:txBody>
      </p:sp>
    </p:spTree>
    <p:extLst>
      <p:ext uri="{BB962C8B-B14F-4D97-AF65-F5344CB8AC3E}">
        <p14:creationId xmlns:p14="http://schemas.microsoft.com/office/powerpoint/2010/main" val="13474488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s3-title">
            <a:extLst xmlns:a="http://schemas.openxmlformats.org/drawingml/2006/main">
              <a:ext uri="{FF2B5EF4-FFF2-40B4-BE49-F238E27FC236}">
                <a16:creationId xmlns:a16="http://schemas.microsoft.com/office/drawing/2014/main" id="{1AA5167D-8585-4D61-80DF-1055F52DF77E}"/>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3D building gives every context item an address.</a:t>
            </a:r>
          </a:p>
        </p:txBody>
      </p:sp>
      <p:sp>
        <p:nvSpPr>
          <p:cNvPr id="2" name="s3-subtitle">
            <a:extLst xmlns:a="http://schemas.openxmlformats.org/drawingml/2006/main">
              <a:ext uri="{FF2B5EF4-FFF2-40B4-BE49-F238E27FC236}">
                <a16:creationId xmlns:a16="http://schemas.microsoft.com/office/drawing/2014/main" id="{5B692289-CD0A-42CB-9B3E-DE3CFDA25683}"/>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X locates the domain. Y selects the architectural floor. Z controls inspection depth.</a:t>
            </a:r>
          </a:p>
        </p:txBody>
      </p:sp>
      <p:cxnSp>
        <p:nvCxnSpPr>
          <p:cNvPr id="40" name="s3-rule-x"/>
          <p:cNvCxnSpPr/>
          <p:nvPr/>
        </p:nvCxnSpPr>
        <p:spPr>
          <a:xfrm xmlns:a="http://schemas.openxmlformats.org/drawingml/2006/main">
            <a:off x="1428750" y="2886075"/>
            <a:ext cx="4762500" cy="953"/>
          </a:xfrm>
          <a:prstGeom xmlns:a="http://schemas.openxmlformats.org/drawingml/2006/main" prst="straightConnector1">
            <a:avLst/>
          </a:prstGeom>
          <a:ln xmlns:a="http://schemas.openxmlformats.org/drawingml/2006/main" w="9525">
            <a:solidFill>
              <a:srgbClr val="B8BCC4"/>
            </a:solidFill>
            <a:prstDash val="solid"/>
          </a:ln>
        </p:spPr>
      </p:cxnSp>
      <p:cxnSp>
        <p:nvCxnSpPr>
          <p:cNvPr id="41" name="s3-rule-y"/>
          <p:cNvCxnSpPr/>
          <p:nvPr/>
        </p:nvCxnSpPr>
        <p:spPr>
          <a:xfrm xmlns:a="http://schemas.openxmlformats.org/drawingml/2006/main">
            <a:off x="1428750" y="4076700"/>
            <a:ext cx="4762500" cy="953"/>
          </a:xfrm>
          <a:prstGeom xmlns:a="http://schemas.openxmlformats.org/drawingml/2006/main" prst="straightConnector1">
            <a:avLst/>
          </a:prstGeom>
          <a:ln xmlns:a="http://schemas.openxmlformats.org/drawingml/2006/main" w="9525">
            <a:solidFill>
              <a:srgbClr val="B8BCC4"/>
            </a:solidFill>
            <a:prstDash val="solid"/>
          </a:ln>
        </p:spPr>
      </p:cxnSp>
      <p:sp>
        <p:nvSpPr>
          <p:cNvPr id="5" name="s3-address-panel">
            <a:extLst xmlns:a="http://schemas.openxmlformats.org/drawingml/2006/main">
              <a:ext uri="{FF2B5EF4-FFF2-40B4-BE49-F238E27FC236}">
                <a16:creationId xmlns:a16="http://schemas.microsoft.com/office/drawing/2014/main" id="{B86D3D54-FE14-4903-98D9-CA9D154914CE}"/>
              </a:ext>
            </a:extLst>
          </p:cNvPr>
          <p:cNvSpPr>
            <a:spLocks xmlns:a="http://schemas.openxmlformats.org/drawingml/2006/main" noGrp="1"/>
          </p:cNvSpPr>
          <p:nvPr/>
        </p:nvSpPr>
        <p:spPr>
          <a:xfrm xmlns:a="http://schemas.openxmlformats.org/drawingml/2006/main">
            <a:off x="6858000" y="1809750"/>
            <a:ext cx="4762500" cy="3238500"/>
          </a:xfrm>
          <a:prstGeom xmlns:a="http://schemas.openxmlformats.org/drawingml/2006/main" prst="roundRect">
            <a:avLst>
              <a:gd name="adj" fmla="val 2353"/>
            </a:avLst>
          </a:prstGeom>
          <a:solidFill xmlns:a="http://schemas.openxmlformats.org/drawingml/2006/main">
            <a:srgbClr val="061B3D"/>
          </a:solidFill>
          <a:ln xmlns:a="http://schemas.openxmlformats.org/drawingml/2006/main" w="9525">
            <a:solidFill>
              <a:srgbClr val="0B2B56"/>
            </a:solidFill>
            <a:prstDash val="solid"/>
          </a:ln>
        </p:spPr>
      </p:sp>
      <p:cxnSp>
        <p:nvCxnSpPr>
          <p:cNvPr id="43" name="s3-address-rule-1"/>
          <p:cNvCxnSpPr/>
          <p:nvPr/>
        </p:nvCxnSpPr>
        <p:spPr>
          <a:xfrm xmlns:a="http://schemas.openxmlformats.org/drawingml/2006/main">
            <a:off x="7219950" y="2476500"/>
            <a:ext cx="4038600" cy="953"/>
          </a:xfrm>
          <a:prstGeom xmlns:a="http://schemas.openxmlformats.org/drawingml/2006/main" prst="straightConnector1">
            <a:avLst/>
          </a:prstGeom>
          <a:ln xmlns:a="http://schemas.openxmlformats.org/drawingml/2006/main" w="9525">
            <a:solidFill>
              <a:srgbClr val="24466F"/>
            </a:solidFill>
            <a:prstDash val="solid"/>
          </a:ln>
        </p:spPr>
      </p:cxnSp>
      <p:cxnSp>
        <p:nvCxnSpPr>
          <p:cNvPr id="44" name="s3-address-rule-2"/>
          <p:cNvCxnSpPr/>
          <p:nvPr/>
        </p:nvCxnSpPr>
        <p:spPr>
          <a:xfrm xmlns:a="http://schemas.openxmlformats.org/drawingml/2006/main">
            <a:off x="7219950" y="4267200"/>
            <a:ext cx="4038600" cy="953"/>
          </a:xfrm>
          <a:prstGeom xmlns:a="http://schemas.openxmlformats.org/drawingml/2006/main" prst="straightConnector1">
            <a:avLst/>
          </a:prstGeom>
          <a:ln xmlns:a="http://schemas.openxmlformats.org/drawingml/2006/main" w="9525">
            <a:solidFill>
              <a:srgbClr val="24466F"/>
            </a:solidFill>
            <a:prstDash val="solid"/>
          </a:ln>
        </p:spPr>
      </p:cxnSp>
      <p:sp>
        <p:nvSpPr>
          <p:cNvPr id="8" name="s3-x">
            <a:extLst xmlns:a="http://schemas.openxmlformats.org/drawingml/2006/main">
              <a:ext uri="{FF2B5EF4-FFF2-40B4-BE49-F238E27FC236}">
                <a16:creationId xmlns:a16="http://schemas.microsoft.com/office/drawing/2014/main" id="{A30D06ED-94BF-4994-82EB-74729C949082}"/>
              </a:ext>
            </a:extLst>
          </p:cNvPr>
          <p:cNvSpPr>
            <a:spLocks xmlns:a="http://schemas.openxmlformats.org/drawingml/2006/main" noGrp="1"/>
          </p:cNvSpPr>
          <p:nvPr/>
        </p:nvSpPr>
        <p:spPr>
          <a:xfrm xmlns:a="http://schemas.openxmlformats.org/drawingml/2006/main">
            <a:off x="666750" y="2000250"/>
            <a:ext cx="533400" cy="5334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9" name="s3-x-letter">
            <a:extLst xmlns:a="http://schemas.openxmlformats.org/drawingml/2006/main">
              <a:ext uri="{FF2B5EF4-FFF2-40B4-BE49-F238E27FC236}">
                <a16:creationId xmlns:a16="http://schemas.microsoft.com/office/drawing/2014/main" id="{F0D697D9-DEE0-420A-96C9-566ECE493345}"/>
              </a:ext>
            </a:extLst>
          </p:cNvPr>
          <p:cNvSpPr>
            <a:spLocks xmlns:a="http://schemas.openxmlformats.org/drawingml/2006/main" noGrp="1"/>
          </p:cNvSpPr>
          <p:nvPr/>
        </p:nvSpPr>
        <p:spPr>
          <a:xfrm xmlns:a="http://schemas.openxmlformats.org/drawingml/2006/main">
            <a:off x="666750" y="211455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X</a:t>
            </a:r>
          </a:p>
        </p:txBody>
      </p:sp>
      <p:sp>
        <p:nvSpPr>
          <p:cNvPr id="10" name="s3-x-label">
            <a:extLst xmlns:a="http://schemas.openxmlformats.org/drawingml/2006/main">
              <a:ext uri="{FF2B5EF4-FFF2-40B4-BE49-F238E27FC236}">
                <a16:creationId xmlns:a16="http://schemas.microsoft.com/office/drawing/2014/main" id="{8BE6172B-40FB-4186-8601-D5F9960BD064}"/>
              </a:ext>
            </a:extLst>
          </p:cNvPr>
          <p:cNvSpPr>
            <a:spLocks xmlns:a="http://schemas.openxmlformats.org/drawingml/2006/main" noGrp="1"/>
          </p:cNvSpPr>
          <p:nvPr/>
        </p:nvSpPr>
        <p:spPr>
          <a:xfrm xmlns:a="http://schemas.openxmlformats.org/drawingml/2006/main">
            <a:off x="1428750" y="193357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3B7D5"/>
                </a:solidFill>
                <a:latin typeface="Arial"/>
                <a:ea typeface="Arial"/>
                <a:cs typeface="Arial"/>
              </a:defRPr>
            </a:pPr>
            <a:r>
              <a:t>X / DOMAIN OR MODULE</a:t>
            </a:r>
          </a:p>
        </p:txBody>
      </p:sp>
      <p:sp>
        <p:nvSpPr>
          <p:cNvPr id="11" name="s3-x-main">
            <a:extLst xmlns:a="http://schemas.openxmlformats.org/drawingml/2006/main">
              <a:ext uri="{FF2B5EF4-FFF2-40B4-BE49-F238E27FC236}">
                <a16:creationId xmlns:a16="http://schemas.microsoft.com/office/drawing/2014/main" id="{77F53F81-98F0-40EF-B92C-4756ED8DD125}"/>
              </a:ext>
            </a:extLst>
          </p:cNvPr>
          <p:cNvSpPr>
            <a:spLocks xmlns:a="http://schemas.openxmlformats.org/drawingml/2006/main" noGrp="1"/>
          </p:cNvSpPr>
          <p:nvPr/>
        </p:nvSpPr>
        <p:spPr>
          <a:xfrm xmlns:a="http://schemas.openxmlformats.org/drawingml/2006/main">
            <a:off x="1428750" y="2238375"/>
            <a:ext cx="47625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0A1224"/>
                </a:solidFill>
                <a:latin typeface="Consolas"/>
                <a:ea typeface="Consolas"/>
                <a:cs typeface="Consolas"/>
              </a:defRPr>
            </a:pPr>
            <a:r>
              <a:t>auth  /  checkout  /  blog</a:t>
            </a:r>
          </a:p>
        </p:txBody>
      </p:sp>
      <p:sp>
        <p:nvSpPr>
          <p:cNvPr id="12" name="s3-x-question">
            <a:extLst xmlns:a="http://schemas.openxmlformats.org/drawingml/2006/main">
              <a:ext uri="{FF2B5EF4-FFF2-40B4-BE49-F238E27FC236}">
                <a16:creationId xmlns:a16="http://schemas.microsoft.com/office/drawing/2014/main" id="{5DC9BAA3-0B1A-45FB-A8D5-8EB8CEEB9FF8}"/>
              </a:ext>
            </a:extLst>
          </p:cNvPr>
          <p:cNvSpPr>
            <a:spLocks xmlns:a="http://schemas.openxmlformats.org/drawingml/2006/main" noGrp="1"/>
          </p:cNvSpPr>
          <p:nvPr/>
        </p:nvSpPr>
        <p:spPr>
          <a:xfrm xmlns:a="http://schemas.openxmlformats.org/drawingml/2006/main">
            <a:off x="1428750" y="260985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product area?</a:t>
            </a:r>
          </a:p>
        </p:txBody>
      </p:sp>
      <p:sp>
        <p:nvSpPr>
          <p:cNvPr id="13" name="s3-y">
            <a:extLst xmlns:a="http://schemas.openxmlformats.org/drawingml/2006/main">
              <a:ext uri="{FF2B5EF4-FFF2-40B4-BE49-F238E27FC236}">
                <a16:creationId xmlns:a16="http://schemas.microsoft.com/office/drawing/2014/main" id="{26E50144-EA2E-4B4A-9977-1BAEEE60CEF3}"/>
              </a:ext>
            </a:extLst>
          </p:cNvPr>
          <p:cNvSpPr>
            <a:spLocks xmlns:a="http://schemas.openxmlformats.org/drawingml/2006/main" noGrp="1"/>
          </p:cNvSpPr>
          <p:nvPr/>
        </p:nvSpPr>
        <p:spPr>
          <a:xfrm xmlns:a="http://schemas.openxmlformats.org/drawingml/2006/main">
            <a:off x="666750" y="3190875"/>
            <a:ext cx="533400" cy="5334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4" name="s3-y-letter">
            <a:extLst xmlns:a="http://schemas.openxmlformats.org/drawingml/2006/main">
              <a:ext uri="{FF2B5EF4-FFF2-40B4-BE49-F238E27FC236}">
                <a16:creationId xmlns:a16="http://schemas.microsoft.com/office/drawing/2014/main" id="{6C9F8289-FB14-46FB-B69F-36CCA350268F}"/>
              </a:ext>
            </a:extLst>
          </p:cNvPr>
          <p:cNvSpPr>
            <a:spLocks xmlns:a="http://schemas.openxmlformats.org/drawingml/2006/main" noGrp="1"/>
          </p:cNvSpPr>
          <p:nvPr/>
        </p:nvSpPr>
        <p:spPr>
          <a:xfrm xmlns:a="http://schemas.openxmlformats.org/drawingml/2006/main">
            <a:off x="666750" y="3305175"/>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Y</a:t>
            </a:r>
          </a:p>
        </p:txBody>
      </p:sp>
      <p:sp>
        <p:nvSpPr>
          <p:cNvPr id="15" name="s3-y-label">
            <a:extLst xmlns:a="http://schemas.openxmlformats.org/drawingml/2006/main">
              <a:ext uri="{FF2B5EF4-FFF2-40B4-BE49-F238E27FC236}">
                <a16:creationId xmlns:a16="http://schemas.microsoft.com/office/drawing/2014/main" id="{84B69546-30FC-4C3A-B0AF-38DCA6ED8727}"/>
              </a:ext>
            </a:extLst>
          </p:cNvPr>
          <p:cNvSpPr>
            <a:spLocks xmlns:a="http://schemas.openxmlformats.org/drawingml/2006/main" noGrp="1"/>
          </p:cNvSpPr>
          <p:nvPr/>
        </p:nvSpPr>
        <p:spPr>
          <a:xfrm xmlns:a="http://schemas.openxmlformats.org/drawingml/2006/main">
            <a:off x="1428750" y="3124200"/>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677FF"/>
                </a:solidFill>
                <a:latin typeface="Arial"/>
                <a:ea typeface="Arial"/>
                <a:cs typeface="Arial"/>
              </a:defRPr>
            </a:pPr>
            <a:r>
              <a:t>Y / ARCHITECTURE FLOOR</a:t>
            </a:r>
          </a:p>
        </p:txBody>
      </p:sp>
      <p:sp>
        <p:nvSpPr>
          <p:cNvPr id="16" name="s3-y-main">
            <a:extLst xmlns:a="http://schemas.openxmlformats.org/drawingml/2006/main">
              <a:ext uri="{FF2B5EF4-FFF2-40B4-BE49-F238E27FC236}">
                <a16:creationId xmlns:a16="http://schemas.microsoft.com/office/drawing/2014/main" id="{9B414944-4228-4BFA-9CED-C0A1F4556A8C}"/>
              </a:ext>
            </a:extLst>
          </p:cNvPr>
          <p:cNvSpPr>
            <a:spLocks xmlns:a="http://schemas.openxmlformats.org/drawingml/2006/main" noGrp="1"/>
          </p:cNvSpPr>
          <p:nvPr/>
        </p:nvSpPr>
        <p:spPr>
          <a:xfrm xmlns:a="http://schemas.openxmlformats.org/drawingml/2006/main">
            <a:off x="1428750" y="342900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interface  /  implementation  /  data</a:t>
            </a:r>
          </a:p>
        </p:txBody>
      </p:sp>
      <p:sp>
        <p:nvSpPr>
          <p:cNvPr id="17" name="s3-y-question">
            <a:extLst xmlns:a="http://schemas.openxmlformats.org/drawingml/2006/main">
              <a:ext uri="{FF2B5EF4-FFF2-40B4-BE49-F238E27FC236}">
                <a16:creationId xmlns:a16="http://schemas.microsoft.com/office/drawing/2014/main" id="{EFE28FA1-750E-47B5-8787-D62D17B0BFDB}"/>
              </a:ext>
            </a:extLst>
          </p:cNvPr>
          <p:cNvSpPr>
            <a:spLocks xmlns:a="http://schemas.openxmlformats.org/drawingml/2006/main" noGrp="1"/>
          </p:cNvSpPr>
          <p:nvPr/>
        </p:nvSpPr>
        <p:spPr>
          <a:xfrm xmlns:a="http://schemas.openxmlformats.org/drawingml/2006/main">
            <a:off x="1428750" y="3800475"/>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responsibility layer?</a:t>
            </a:r>
          </a:p>
        </p:txBody>
      </p:sp>
      <p:sp>
        <p:nvSpPr>
          <p:cNvPr id="18" name="s3-z">
            <a:extLst xmlns:a="http://schemas.openxmlformats.org/drawingml/2006/main">
              <a:ext uri="{FF2B5EF4-FFF2-40B4-BE49-F238E27FC236}">
                <a16:creationId xmlns:a16="http://schemas.microsoft.com/office/drawing/2014/main" id="{65920A7D-09ED-4038-846A-97A5D870DC28}"/>
              </a:ext>
            </a:extLst>
          </p:cNvPr>
          <p:cNvSpPr>
            <a:spLocks xmlns:a="http://schemas.openxmlformats.org/drawingml/2006/main" noGrp="1"/>
          </p:cNvSpPr>
          <p:nvPr/>
        </p:nvSpPr>
        <p:spPr>
          <a:xfrm xmlns:a="http://schemas.openxmlformats.org/drawingml/2006/main">
            <a:off x="666750" y="4381500"/>
            <a:ext cx="533400" cy="5334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9" name="s3-z-letter">
            <a:extLst xmlns:a="http://schemas.openxmlformats.org/drawingml/2006/main">
              <a:ext uri="{FF2B5EF4-FFF2-40B4-BE49-F238E27FC236}">
                <a16:creationId xmlns:a16="http://schemas.microsoft.com/office/drawing/2014/main" id="{5FE4107F-3322-415A-9588-40AFCECF606E}"/>
              </a:ext>
            </a:extLst>
          </p:cNvPr>
          <p:cNvSpPr>
            <a:spLocks xmlns:a="http://schemas.openxmlformats.org/drawingml/2006/main" noGrp="1"/>
          </p:cNvSpPr>
          <p:nvPr/>
        </p:nvSpPr>
        <p:spPr>
          <a:xfrm xmlns:a="http://schemas.openxmlformats.org/drawingml/2006/main">
            <a:off x="666750" y="449580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Z</a:t>
            </a:r>
          </a:p>
        </p:txBody>
      </p:sp>
      <p:sp>
        <p:nvSpPr>
          <p:cNvPr id="20" name="s3-z-label">
            <a:extLst xmlns:a="http://schemas.openxmlformats.org/drawingml/2006/main">
              <a:ext uri="{FF2B5EF4-FFF2-40B4-BE49-F238E27FC236}">
                <a16:creationId xmlns:a16="http://schemas.microsoft.com/office/drawing/2014/main" id="{E0555D1A-7FDE-4F44-A3DD-A99592BC8707}"/>
              </a:ext>
            </a:extLst>
          </p:cNvPr>
          <p:cNvSpPr>
            <a:spLocks xmlns:a="http://schemas.openxmlformats.org/drawingml/2006/main" noGrp="1"/>
          </p:cNvSpPr>
          <p:nvPr/>
        </p:nvSpPr>
        <p:spPr>
          <a:xfrm xmlns:a="http://schemas.openxmlformats.org/drawingml/2006/main">
            <a:off x="1428750" y="431482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7438F5"/>
                </a:solidFill>
                <a:latin typeface="Arial"/>
                <a:ea typeface="Arial"/>
                <a:cs typeface="Arial"/>
              </a:defRPr>
            </a:pPr>
            <a:r>
              <a:t>Z / INSPECTION DEPTH</a:t>
            </a:r>
          </a:p>
        </p:txBody>
      </p:sp>
      <p:sp>
        <p:nvSpPr>
          <p:cNvPr id="21" name="s3-z-main">
            <a:extLst xmlns:a="http://schemas.openxmlformats.org/drawingml/2006/main">
              <a:ext uri="{FF2B5EF4-FFF2-40B4-BE49-F238E27FC236}">
                <a16:creationId xmlns:a16="http://schemas.microsoft.com/office/drawing/2014/main" id="{16D70E96-1884-438E-8F9E-35033947F7AF}"/>
              </a:ext>
            </a:extLst>
          </p:cNvPr>
          <p:cNvSpPr>
            <a:spLocks xmlns:a="http://schemas.openxmlformats.org/drawingml/2006/main" noGrp="1"/>
          </p:cNvSpPr>
          <p:nvPr/>
        </p:nvSpPr>
        <p:spPr>
          <a:xfrm xmlns:a="http://schemas.openxmlformats.org/drawingml/2006/main">
            <a:off x="1428750" y="4619625"/>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room  -&gt;  file  -&gt;  symbol  -&gt;  snippet</a:t>
            </a:r>
          </a:p>
        </p:txBody>
      </p:sp>
      <p:sp>
        <p:nvSpPr>
          <p:cNvPr id="22" name="s3-z-question">
            <a:extLst xmlns:a="http://schemas.openxmlformats.org/drawingml/2006/main">
              <a:ext uri="{FF2B5EF4-FFF2-40B4-BE49-F238E27FC236}">
                <a16:creationId xmlns:a16="http://schemas.microsoft.com/office/drawing/2014/main" id="{BAB8A95C-37D3-45C6-B307-11841E2C7FDD}"/>
              </a:ext>
            </a:extLst>
          </p:cNvPr>
          <p:cNvSpPr>
            <a:spLocks xmlns:a="http://schemas.openxmlformats.org/drawingml/2006/main" noGrp="1"/>
          </p:cNvSpPr>
          <p:nvPr/>
        </p:nvSpPr>
        <p:spPr>
          <a:xfrm xmlns:a="http://schemas.openxmlformats.org/drawingml/2006/main">
            <a:off x="1428750" y="499110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How much context is needed?</a:t>
            </a:r>
          </a:p>
        </p:txBody>
      </p:sp>
      <p:sp>
        <p:nvSpPr>
          <p:cNvPr id="23" name="s3-address-label">
            <a:extLst xmlns:a="http://schemas.openxmlformats.org/drawingml/2006/main">
              <a:ext uri="{FF2B5EF4-FFF2-40B4-BE49-F238E27FC236}">
                <a16:creationId xmlns:a16="http://schemas.microsoft.com/office/drawing/2014/main" id="{8CE274BD-7C85-45EF-9B02-FCCB694E022F}"/>
              </a:ext>
            </a:extLst>
          </p:cNvPr>
          <p:cNvSpPr>
            <a:spLocks xmlns:a="http://schemas.openxmlformats.org/drawingml/2006/main" noGrp="1"/>
          </p:cNvSpPr>
          <p:nvPr/>
        </p:nvSpPr>
        <p:spPr>
          <a:xfrm xmlns:a="http://schemas.openxmlformats.org/drawingml/2006/main">
            <a:off x="7219950" y="2095500"/>
            <a:ext cx="40386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ONE ADDRESS</a:t>
            </a:r>
          </a:p>
        </p:txBody>
      </p:sp>
      <p:sp>
        <p:nvSpPr>
          <p:cNvPr id="24" name="s3-address-x">
            <a:extLst xmlns:a="http://schemas.openxmlformats.org/drawingml/2006/main">
              <a:ext uri="{FF2B5EF4-FFF2-40B4-BE49-F238E27FC236}">
                <a16:creationId xmlns:a16="http://schemas.microsoft.com/office/drawing/2014/main" id="{66FAE4F1-A16E-47FD-9C75-6A4CD95FAB2E}"/>
              </a:ext>
            </a:extLst>
          </p:cNvPr>
          <p:cNvSpPr>
            <a:spLocks xmlns:a="http://schemas.openxmlformats.org/drawingml/2006/main" noGrp="1"/>
          </p:cNvSpPr>
          <p:nvPr/>
        </p:nvSpPr>
        <p:spPr>
          <a:xfrm xmlns:a="http://schemas.openxmlformats.org/drawingml/2006/main">
            <a:off x="7219950" y="27241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3B7D5"/>
                </a:solidFill>
                <a:latin typeface="Arial"/>
                <a:ea typeface="Arial"/>
                <a:cs typeface="Arial"/>
              </a:defRPr>
            </a:pPr>
            <a:r>
              <a:t>X</a:t>
            </a:r>
          </a:p>
        </p:txBody>
      </p:sp>
      <p:sp>
        <p:nvSpPr>
          <p:cNvPr id="25" name="s3-address-x-value">
            <a:extLst xmlns:a="http://schemas.openxmlformats.org/drawingml/2006/main">
              <a:ext uri="{FF2B5EF4-FFF2-40B4-BE49-F238E27FC236}">
                <a16:creationId xmlns:a16="http://schemas.microsoft.com/office/drawing/2014/main" id="{24D254DE-2F72-4B88-AEB9-E369A5E1D239}"/>
              </a:ext>
            </a:extLst>
          </p:cNvPr>
          <p:cNvSpPr>
            <a:spLocks xmlns:a="http://schemas.openxmlformats.org/drawingml/2006/main" noGrp="1"/>
          </p:cNvSpPr>
          <p:nvPr/>
        </p:nvSpPr>
        <p:spPr>
          <a:xfrm xmlns:a="http://schemas.openxmlformats.org/drawingml/2006/main">
            <a:off x="7734300" y="27051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checkout</a:t>
            </a:r>
          </a:p>
        </p:txBody>
      </p:sp>
      <p:sp>
        <p:nvSpPr>
          <p:cNvPr id="26" name="s3-address-y">
            <a:extLst xmlns:a="http://schemas.openxmlformats.org/drawingml/2006/main">
              <a:ext uri="{FF2B5EF4-FFF2-40B4-BE49-F238E27FC236}">
                <a16:creationId xmlns:a16="http://schemas.microsoft.com/office/drawing/2014/main" id="{663B16E4-999C-4D78-8D27-59CB7E0A504A}"/>
              </a:ext>
            </a:extLst>
          </p:cNvPr>
          <p:cNvSpPr>
            <a:spLocks xmlns:a="http://schemas.openxmlformats.org/drawingml/2006/main" noGrp="1"/>
          </p:cNvSpPr>
          <p:nvPr/>
        </p:nvSpPr>
        <p:spPr>
          <a:xfrm xmlns:a="http://schemas.openxmlformats.org/drawingml/2006/main">
            <a:off x="7219950" y="32575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677FF"/>
                </a:solidFill>
                <a:latin typeface="Arial"/>
                <a:ea typeface="Arial"/>
                <a:cs typeface="Arial"/>
              </a:defRPr>
            </a:pPr>
            <a:r>
              <a:t>Y</a:t>
            </a:r>
          </a:p>
        </p:txBody>
      </p:sp>
      <p:sp>
        <p:nvSpPr>
          <p:cNvPr id="27" name="s3-address-y-value">
            <a:extLst xmlns:a="http://schemas.openxmlformats.org/drawingml/2006/main">
              <a:ext uri="{FF2B5EF4-FFF2-40B4-BE49-F238E27FC236}">
                <a16:creationId xmlns:a16="http://schemas.microsoft.com/office/drawing/2014/main" id="{093CE907-53D1-4441-B27C-319C5A2DD6AE}"/>
              </a:ext>
            </a:extLst>
          </p:cNvPr>
          <p:cNvSpPr>
            <a:spLocks xmlns:a="http://schemas.openxmlformats.org/drawingml/2006/main" noGrp="1"/>
          </p:cNvSpPr>
          <p:nvPr/>
        </p:nvSpPr>
        <p:spPr>
          <a:xfrm xmlns:a="http://schemas.openxmlformats.org/drawingml/2006/main">
            <a:off x="7734300" y="32385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implementation</a:t>
            </a:r>
          </a:p>
        </p:txBody>
      </p:sp>
      <p:sp>
        <p:nvSpPr>
          <p:cNvPr id="28" name="s3-address-z">
            <a:extLst xmlns:a="http://schemas.openxmlformats.org/drawingml/2006/main">
              <a:ext uri="{FF2B5EF4-FFF2-40B4-BE49-F238E27FC236}">
                <a16:creationId xmlns:a16="http://schemas.microsoft.com/office/drawing/2014/main" id="{69387AC3-10C5-474D-8A54-A95C5036C855}"/>
              </a:ext>
            </a:extLst>
          </p:cNvPr>
          <p:cNvSpPr>
            <a:spLocks xmlns:a="http://schemas.openxmlformats.org/drawingml/2006/main" noGrp="1"/>
          </p:cNvSpPr>
          <p:nvPr/>
        </p:nvSpPr>
        <p:spPr>
          <a:xfrm xmlns:a="http://schemas.openxmlformats.org/drawingml/2006/main">
            <a:off x="7219950" y="37909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7438F5"/>
                </a:solidFill>
                <a:latin typeface="Arial"/>
                <a:ea typeface="Arial"/>
                <a:cs typeface="Arial"/>
              </a:defRPr>
            </a:pPr>
            <a:r>
              <a:t>Z</a:t>
            </a:r>
          </a:p>
        </p:txBody>
      </p:sp>
      <p:sp>
        <p:nvSpPr>
          <p:cNvPr id="29" name="s3-address-z-value">
            <a:extLst xmlns:a="http://schemas.openxmlformats.org/drawingml/2006/main">
              <a:ext uri="{FF2B5EF4-FFF2-40B4-BE49-F238E27FC236}">
                <a16:creationId xmlns:a16="http://schemas.microsoft.com/office/drawing/2014/main" id="{3C45EDE7-8AA7-435B-96EB-45120B09832B}"/>
              </a:ext>
            </a:extLst>
          </p:cNvPr>
          <p:cNvSpPr>
            <a:spLocks xmlns:a="http://schemas.openxmlformats.org/drawingml/2006/main" noGrp="1"/>
          </p:cNvSpPr>
          <p:nvPr/>
        </p:nvSpPr>
        <p:spPr>
          <a:xfrm xmlns:a="http://schemas.openxmlformats.org/drawingml/2006/main">
            <a:off x="7734300" y="37719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shippingQuote()</a:t>
            </a:r>
          </a:p>
        </p:txBody>
      </p:sp>
      <p:sp>
        <p:nvSpPr>
          <p:cNvPr id="30" name="s3-address-note">
            <a:extLst xmlns:a="http://schemas.openxmlformats.org/drawingml/2006/main">
              <a:ext uri="{FF2B5EF4-FFF2-40B4-BE49-F238E27FC236}">
                <a16:creationId xmlns:a16="http://schemas.microsoft.com/office/drawing/2014/main" id="{88BEF165-F0C9-47AC-85ED-5A0BE9F1F040}"/>
              </a:ext>
            </a:extLst>
          </p:cNvPr>
          <p:cNvSpPr>
            <a:spLocks xmlns:a="http://schemas.openxmlformats.org/drawingml/2006/main" noGrp="1"/>
          </p:cNvSpPr>
          <p:nvPr/>
        </p:nvSpPr>
        <p:spPr>
          <a:xfrm xmlns:a="http://schemas.openxmlformats.org/drawingml/2006/main">
            <a:off x="7219950" y="4476750"/>
            <a:ext cx="40386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9CC8FF"/>
                </a:solidFill>
                <a:latin typeface="Arial"/>
                <a:ea typeface="Arial"/>
                <a:cs typeface="Arial"/>
              </a:defRPr>
            </a:pPr>
            <a:r>
              <a:t>One bounded entry point.</a:t>
            </a:r>
          </a:p>
        </p:txBody>
      </p:sp>
      <p:sp>
        <p:nvSpPr>
          <p:cNvPr id="31" name="s3-route-label">
            <a:extLst xmlns:a="http://schemas.openxmlformats.org/drawingml/2006/main">
              <a:ext uri="{FF2B5EF4-FFF2-40B4-BE49-F238E27FC236}">
                <a16:creationId xmlns:a16="http://schemas.microsoft.com/office/drawing/2014/main" id="{F66DE204-DCED-4365-99E9-131D1817EF89}"/>
              </a:ext>
            </a:extLst>
          </p:cNvPr>
          <p:cNvSpPr>
            <a:spLocks xmlns:a="http://schemas.openxmlformats.org/drawingml/2006/main" noGrp="1"/>
          </p:cNvSpPr>
          <p:nvPr/>
        </p:nvSpPr>
        <p:spPr>
          <a:xfrm xmlns:a="http://schemas.openxmlformats.org/drawingml/2006/main">
            <a:off x="6858000" y="5276850"/>
            <a:ext cx="742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ROUTE</a:t>
            </a:r>
          </a:p>
        </p:txBody>
      </p:sp>
      <p:sp>
        <p:nvSpPr>
          <p:cNvPr id="32" name="s3-route-main">
            <a:extLst xmlns:a="http://schemas.openxmlformats.org/drawingml/2006/main">
              <a:ext uri="{FF2B5EF4-FFF2-40B4-BE49-F238E27FC236}">
                <a16:creationId xmlns:a16="http://schemas.microsoft.com/office/drawing/2014/main" id="{4EA3DD46-43BE-452B-9961-205C5485D58A}"/>
              </a:ext>
            </a:extLst>
          </p:cNvPr>
          <p:cNvSpPr>
            <a:spLocks xmlns:a="http://schemas.openxmlformats.org/drawingml/2006/main" noGrp="1"/>
          </p:cNvSpPr>
          <p:nvPr/>
        </p:nvSpPr>
        <p:spPr>
          <a:xfrm xmlns:a="http://schemas.openxmlformats.org/drawingml/2006/main">
            <a:off x="7639050" y="52768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task-specific path between addresses</a:t>
            </a:r>
          </a:p>
        </p:txBody>
      </p:sp>
      <p:sp>
        <p:nvSpPr>
          <p:cNvPr id="33" name="s3-memory-label">
            <a:extLst xmlns:a="http://schemas.openxmlformats.org/drawingml/2006/main">
              <a:ext uri="{FF2B5EF4-FFF2-40B4-BE49-F238E27FC236}">
                <a16:creationId xmlns:a16="http://schemas.microsoft.com/office/drawing/2014/main" id="{62A5391B-43A8-4B53-B7A3-29773BAF062D}"/>
              </a:ext>
            </a:extLst>
          </p:cNvPr>
          <p:cNvSpPr>
            <a:spLocks xmlns:a="http://schemas.openxmlformats.org/drawingml/2006/main" noGrp="1"/>
          </p:cNvSpPr>
          <p:nvPr/>
        </p:nvSpPr>
        <p:spPr>
          <a:xfrm xmlns:a="http://schemas.openxmlformats.org/drawingml/2006/main">
            <a:off x="6858000" y="5581650"/>
            <a:ext cx="8001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MEMORY</a:t>
            </a:r>
          </a:p>
        </p:txBody>
      </p:sp>
      <p:sp>
        <p:nvSpPr>
          <p:cNvPr id="34" name="s3-memory-main">
            <a:extLst xmlns:a="http://schemas.openxmlformats.org/drawingml/2006/main">
              <a:ext uri="{FF2B5EF4-FFF2-40B4-BE49-F238E27FC236}">
                <a16:creationId xmlns:a16="http://schemas.microsoft.com/office/drawing/2014/main" id="{1B78DEA4-B5BD-4C61-8797-71054E068288}"/>
              </a:ext>
            </a:extLst>
          </p:cNvPr>
          <p:cNvSpPr>
            <a:spLocks xmlns:a="http://schemas.openxmlformats.org/drawingml/2006/main" noGrp="1"/>
          </p:cNvSpPr>
          <p:nvPr/>
        </p:nvSpPr>
        <p:spPr>
          <a:xfrm xmlns:a="http://schemas.openxmlformats.org/drawingml/2006/main">
            <a:off x="7696200" y="5581650"/>
            <a:ext cx="39243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evidence + pitfalls attached to places, not another axis</a:t>
            </a:r>
          </a:p>
        </p:txBody>
      </p:sp>
      <p:cxnSp>
        <p:nvCxnSpPr>
          <p:cNvPr id="72" name="footer-rule-3"/>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6" name="footer-source-3">
            <a:extLst xmlns:a="http://schemas.openxmlformats.org/drawingml/2006/main">
              <a:ext uri="{FF2B5EF4-FFF2-40B4-BE49-F238E27FC236}">
                <a16:creationId xmlns:a16="http://schemas.microsoft.com/office/drawing/2014/main" id="{2204F213-185C-4C85-A88E-E62E73AFCA97}"/>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7" name="footer-number-3">
            <a:extLst xmlns:a="http://schemas.openxmlformats.org/drawingml/2006/main">
              <a:ext uri="{FF2B5EF4-FFF2-40B4-BE49-F238E27FC236}">
                <a16:creationId xmlns:a16="http://schemas.microsoft.com/office/drawing/2014/main" id="{AE267F97-2FB0-45B8-9662-73BE554017CC}"/>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3</a:t>
            </a:r>
          </a:p>
        </p:txBody>
      </p:sp>
    </p:spTree>
    <p:extLst>
      <p:ext uri="{BB962C8B-B14F-4D97-AF65-F5344CB8AC3E}">
        <p14:creationId xmlns:p14="http://schemas.microsoft.com/office/powerpoint/2010/main" val="2583597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4-title">
            <a:extLst xmlns:a="http://schemas.openxmlformats.org/drawingml/2006/main">
              <a:ext uri="{FF2B5EF4-FFF2-40B4-BE49-F238E27FC236}">
                <a16:creationId xmlns:a16="http://schemas.microsoft.com/office/drawing/2014/main" id="{B8534018-2C61-45E0-9079-62251C560226}"/>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 useful route in one command.</a:t>
            </a:r>
          </a:p>
        </p:txBody>
      </p:sp>
      <p:sp>
        <p:nvSpPr>
          <p:cNvPr id="2" name="s4-subtitle">
            <a:extLst xmlns:a="http://schemas.openxmlformats.org/drawingml/2006/main">
              <a:ext uri="{FF2B5EF4-FFF2-40B4-BE49-F238E27FC236}">
                <a16:creationId xmlns:a16="http://schemas.microsoft.com/office/drawing/2014/main" id="{A7964411-9CAC-44DB-BB39-CB0F2B0DCB15}"/>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same call initializes, refreshes, routes, selects a mode, and packs context.</a:t>
            </a:r>
          </a:p>
        </p:txBody>
      </p:sp>
      <p:sp>
        <p:nvSpPr>
          <p:cNvPr id="3" name="s4-terminal">
            <a:extLst xmlns:a="http://schemas.openxmlformats.org/drawingml/2006/main">
              <a:ext uri="{FF2B5EF4-FFF2-40B4-BE49-F238E27FC236}">
                <a16:creationId xmlns:a16="http://schemas.microsoft.com/office/drawing/2014/main" id="{374592C3-ABE8-41C9-91DC-5A3399C15983}"/>
              </a:ext>
            </a:extLst>
          </p:cNvPr>
          <p:cNvSpPr>
            <a:spLocks xmlns:a="http://schemas.openxmlformats.org/drawingml/2006/main" noGrp="1"/>
          </p:cNvSpPr>
          <p:nvPr/>
        </p:nvSpPr>
        <p:spPr>
          <a:xfrm xmlns:a="http://schemas.openxmlformats.org/drawingml/2006/main">
            <a:off x="552450" y="1619250"/>
            <a:ext cx="11087100" cy="4267200"/>
          </a:xfrm>
          <a:prstGeom xmlns:a="http://schemas.openxmlformats.org/drawingml/2006/main" prst="roundRect">
            <a:avLst>
              <a:gd name="adj" fmla="val 1786"/>
            </a:avLst>
          </a:prstGeom>
          <a:solidFill xmlns:a="http://schemas.openxmlformats.org/drawingml/2006/main">
            <a:srgbClr val="061B3D"/>
          </a:solidFill>
          <a:ln xmlns:a="http://schemas.openxmlformats.org/drawingml/2006/main" w="9525">
            <a:solidFill>
              <a:srgbClr val="0B2B56"/>
            </a:solidFill>
            <a:prstDash val="solid"/>
          </a:ln>
        </p:spPr>
      </p:sp>
      <p:cxnSp>
        <p:nvCxnSpPr>
          <p:cNvPr id="29" name="s4-terminal-divider"/>
          <p:cNvCxnSpPr/>
          <p:nvPr/>
        </p:nvCxnSpPr>
        <p:spPr>
          <a:xfrm xmlns:a="http://schemas.openxmlformats.org/drawingml/2006/main">
            <a:off x="6334125" y="2038350"/>
            <a:ext cx="953" cy="3352800"/>
          </a:xfrm>
          <a:prstGeom xmlns:a="http://schemas.openxmlformats.org/drawingml/2006/main" prst="straightConnector1">
            <a:avLst/>
          </a:prstGeom>
          <a:ln xmlns:a="http://schemas.openxmlformats.org/drawingml/2006/main" w="9525">
            <a:solidFill>
              <a:srgbClr val="24466F"/>
            </a:solidFill>
            <a:prstDash val="solid"/>
          </a:ln>
        </p:spPr>
      </p:cxnSp>
      <p:sp>
        <p:nvSpPr>
          <p:cNvPr id="5" name="s4-dot1">
            <a:extLst xmlns:a="http://schemas.openxmlformats.org/drawingml/2006/main">
              <a:ext uri="{FF2B5EF4-FFF2-40B4-BE49-F238E27FC236}">
                <a16:creationId xmlns:a16="http://schemas.microsoft.com/office/drawing/2014/main" id="{B6465859-204C-4A4A-A8B6-C101101C9256}"/>
              </a:ext>
            </a:extLst>
          </p:cNvPr>
          <p:cNvSpPr>
            <a:spLocks xmlns:a="http://schemas.openxmlformats.org/drawingml/2006/main" noGrp="1"/>
          </p:cNvSpPr>
          <p:nvPr/>
        </p:nvSpPr>
        <p:spPr>
          <a:xfrm xmlns:a="http://schemas.openxmlformats.org/drawingml/2006/main">
            <a:off x="819150" y="1809750"/>
            <a:ext cx="114300" cy="11430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6" name="s4-dot2">
            <a:extLst xmlns:a="http://schemas.openxmlformats.org/drawingml/2006/main">
              <a:ext uri="{FF2B5EF4-FFF2-40B4-BE49-F238E27FC236}">
                <a16:creationId xmlns:a16="http://schemas.microsoft.com/office/drawing/2014/main" id="{C42EDEFC-549A-4381-BC95-8C6BEF2CB020}"/>
              </a:ext>
            </a:extLst>
          </p:cNvPr>
          <p:cNvSpPr>
            <a:spLocks xmlns:a="http://schemas.openxmlformats.org/drawingml/2006/main" noGrp="1"/>
          </p:cNvSpPr>
          <p:nvPr/>
        </p:nvSpPr>
        <p:spPr>
          <a:xfrm xmlns:a="http://schemas.openxmlformats.org/drawingml/2006/main">
            <a:off x="1009650" y="1809750"/>
            <a:ext cx="114300" cy="11430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7" name="s4-dot3">
            <a:extLst xmlns:a="http://schemas.openxmlformats.org/drawingml/2006/main">
              <a:ext uri="{FF2B5EF4-FFF2-40B4-BE49-F238E27FC236}">
                <a16:creationId xmlns:a16="http://schemas.microsoft.com/office/drawing/2014/main" id="{F6215524-12D9-4B09-B615-2CB72FD8652B}"/>
              </a:ext>
            </a:extLst>
          </p:cNvPr>
          <p:cNvSpPr>
            <a:spLocks xmlns:a="http://schemas.openxmlformats.org/drawingml/2006/main" noGrp="1"/>
          </p:cNvSpPr>
          <p:nvPr/>
        </p:nvSpPr>
        <p:spPr>
          <a:xfrm xmlns:a="http://schemas.openxmlformats.org/drawingml/2006/main">
            <a:off x="1200150" y="1809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8" name="s4-command-label">
            <a:extLst xmlns:a="http://schemas.openxmlformats.org/drawingml/2006/main">
              <a:ext uri="{FF2B5EF4-FFF2-40B4-BE49-F238E27FC236}">
                <a16:creationId xmlns:a16="http://schemas.microsoft.com/office/drawing/2014/main" id="{6B5621D3-E86B-4C89-8F21-6C10A9187453}"/>
              </a:ext>
            </a:extLst>
          </p:cNvPr>
          <p:cNvSpPr>
            <a:spLocks xmlns:a="http://schemas.openxmlformats.org/drawingml/2006/main" noGrp="1"/>
          </p:cNvSpPr>
          <p:nvPr/>
        </p:nvSpPr>
        <p:spPr>
          <a:xfrm xmlns:a="http://schemas.openxmlformats.org/drawingml/2006/main">
            <a:off x="81915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3B7D5"/>
                </a:solidFill>
                <a:latin typeface="Arial"/>
                <a:ea typeface="Arial"/>
                <a:cs typeface="Arial"/>
              </a:defRPr>
            </a:pPr>
            <a:r>
              <a:t>COMMAND</a:t>
            </a:r>
          </a:p>
        </p:txBody>
      </p:sp>
      <p:sp>
        <p:nvSpPr>
          <p:cNvPr id="9" name="s4-command">
            <a:extLst xmlns:a="http://schemas.openxmlformats.org/drawingml/2006/main">
              <a:ext uri="{FF2B5EF4-FFF2-40B4-BE49-F238E27FC236}">
                <a16:creationId xmlns:a16="http://schemas.microsoft.com/office/drawing/2014/main" id="{96E25078-C8BD-4041-9B59-5BBDAF6B45C6}"/>
              </a:ext>
            </a:extLst>
          </p:cNvPr>
          <p:cNvSpPr>
            <a:spLocks xmlns:a="http://schemas.openxmlformats.org/drawingml/2006/main" noGrp="1"/>
          </p:cNvSpPr>
          <p:nvPr/>
        </p:nvSpPr>
        <p:spPr>
          <a:xfrm xmlns:a="http://schemas.openxmlformats.org/drawingml/2006/main">
            <a:off x="819150" y="2571750"/>
            <a:ext cx="5000625" cy="2133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FFFFFF"/>
                </a:solidFill>
                <a:latin typeface="Consolas"/>
                <a:ea typeface="Consolas"/>
                <a:cs typeface="Consolas"/>
              </a:defRPr>
            </a:pPr>
            <a:r>
              <a:t>$ palace context
  "Fix adaptive full-palace mode
   so relevant memory is included
   with current-code-first guardrails"
  --auto</a:t>
            </a:r>
          </a:p>
        </p:txBody>
      </p:sp>
      <p:sp>
        <p:nvSpPr>
          <p:cNvPr id="10" name="s4-command-note">
            <a:extLst xmlns:a="http://schemas.openxmlformats.org/drawingml/2006/main">
              <a:ext uri="{FF2B5EF4-FFF2-40B4-BE49-F238E27FC236}">
                <a16:creationId xmlns:a16="http://schemas.microsoft.com/office/drawing/2014/main" id="{F1E1ADCA-16E6-4D75-8E6B-34372BA70BFE}"/>
              </a:ext>
            </a:extLst>
          </p:cNvPr>
          <p:cNvSpPr>
            <a:spLocks xmlns:a="http://schemas.openxmlformats.org/drawingml/2006/main" noGrp="1"/>
          </p:cNvSpPr>
          <p:nvPr/>
        </p:nvSpPr>
        <p:spPr>
          <a:xfrm xmlns:a="http://schemas.openxmlformats.org/drawingml/2006/main">
            <a:off x="819150" y="504825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9CC8FF"/>
                </a:solidFill>
                <a:latin typeface="Arial"/>
                <a:ea typeface="Arial"/>
                <a:cs typeface="Arial"/>
              </a:defRPr>
            </a:pPr>
            <a:r>
              <a:t>One request. No full-repo paste.</a:t>
            </a:r>
          </a:p>
        </p:txBody>
      </p:sp>
      <p:sp>
        <p:nvSpPr>
          <p:cNvPr id="11" name="s4-output-label">
            <a:extLst xmlns:a="http://schemas.openxmlformats.org/drawingml/2006/main">
              <a:ext uri="{FF2B5EF4-FFF2-40B4-BE49-F238E27FC236}">
                <a16:creationId xmlns:a16="http://schemas.microsoft.com/office/drawing/2014/main" id="{6DE21CE4-3262-41EC-B8EE-B9D169795E63}"/>
              </a:ext>
            </a:extLst>
          </p:cNvPr>
          <p:cNvSpPr>
            <a:spLocks xmlns:a="http://schemas.openxmlformats.org/drawingml/2006/main" noGrp="1"/>
          </p:cNvSpPr>
          <p:nvPr/>
        </p:nvSpPr>
        <p:spPr>
          <a:xfrm xmlns:a="http://schemas.openxmlformats.org/drawingml/2006/main">
            <a:off x="670560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LIVE OUTPUT</a:t>
            </a:r>
          </a:p>
        </p:txBody>
      </p:sp>
      <p:sp>
        <p:nvSpPr>
          <p:cNvPr id="12" name="s4-o1a">
            <a:extLst xmlns:a="http://schemas.openxmlformats.org/drawingml/2006/main">
              <a:ext uri="{FF2B5EF4-FFF2-40B4-BE49-F238E27FC236}">
                <a16:creationId xmlns:a16="http://schemas.microsoft.com/office/drawing/2014/main" id="{55CBCF61-0045-432B-9560-CBB9B4F96D48}"/>
              </a:ext>
            </a:extLst>
          </p:cNvPr>
          <p:cNvSpPr>
            <a:spLocks xmlns:a="http://schemas.openxmlformats.org/drawingml/2006/main" noGrp="1"/>
          </p:cNvSpPr>
          <p:nvPr/>
        </p:nvSpPr>
        <p:spPr>
          <a:xfrm xmlns:a="http://schemas.openxmlformats.org/drawingml/2006/main">
            <a:off x="6705600" y="262890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Mode</a:t>
            </a:r>
          </a:p>
        </p:txBody>
      </p:sp>
      <p:sp>
        <p:nvSpPr>
          <p:cNvPr id="13" name="s4-o1b">
            <a:extLst xmlns:a="http://schemas.openxmlformats.org/drawingml/2006/main">
              <a:ext uri="{FF2B5EF4-FFF2-40B4-BE49-F238E27FC236}">
                <a16:creationId xmlns:a16="http://schemas.microsoft.com/office/drawing/2014/main" id="{263401F0-FC22-4C0C-A1A8-73B123EA56AF}"/>
              </a:ext>
            </a:extLst>
          </p:cNvPr>
          <p:cNvSpPr>
            <a:spLocks xmlns:a="http://schemas.openxmlformats.org/drawingml/2006/main" noGrp="1"/>
          </p:cNvSpPr>
          <p:nvPr/>
        </p:nvSpPr>
        <p:spPr>
          <a:xfrm xmlns:a="http://schemas.openxmlformats.org/drawingml/2006/main">
            <a:off x="8420100" y="26289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guarded-memory-palace</a:t>
            </a:r>
          </a:p>
        </p:txBody>
      </p:sp>
      <p:sp>
        <p:nvSpPr>
          <p:cNvPr id="14" name="s4-o2a">
            <a:extLst xmlns:a="http://schemas.openxmlformats.org/drawingml/2006/main">
              <a:ext uri="{FF2B5EF4-FFF2-40B4-BE49-F238E27FC236}">
                <a16:creationId xmlns:a16="http://schemas.microsoft.com/office/drawing/2014/main" id="{04EF874B-2E71-4C72-A1E2-738DA8DFA539}"/>
              </a:ext>
            </a:extLst>
          </p:cNvPr>
          <p:cNvSpPr>
            <a:spLocks xmlns:a="http://schemas.openxmlformats.org/drawingml/2006/main" noGrp="1"/>
          </p:cNvSpPr>
          <p:nvPr/>
        </p:nvSpPr>
        <p:spPr>
          <a:xfrm xmlns:a="http://schemas.openxmlformats.org/drawingml/2006/main">
            <a:off x="6705600" y="305752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Route confidence</a:t>
            </a:r>
          </a:p>
        </p:txBody>
      </p:sp>
      <p:sp>
        <p:nvSpPr>
          <p:cNvPr id="15" name="s4-o2b">
            <a:extLst xmlns:a="http://schemas.openxmlformats.org/drawingml/2006/main">
              <a:ext uri="{FF2B5EF4-FFF2-40B4-BE49-F238E27FC236}">
                <a16:creationId xmlns:a16="http://schemas.microsoft.com/office/drawing/2014/main" id="{AD2C15D4-77D7-4592-8261-D59DC9487869}"/>
              </a:ext>
            </a:extLst>
          </p:cNvPr>
          <p:cNvSpPr>
            <a:spLocks xmlns:a="http://schemas.openxmlformats.org/drawingml/2006/main" noGrp="1"/>
          </p:cNvSpPr>
          <p:nvPr/>
        </p:nvSpPr>
        <p:spPr>
          <a:xfrm xmlns:a="http://schemas.openxmlformats.org/drawingml/2006/main">
            <a:off x="8420100" y="3057525"/>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3B7D5"/>
                </a:solidFill>
                <a:latin typeface="Consolas"/>
                <a:ea typeface="Consolas"/>
                <a:cs typeface="Consolas"/>
              </a:defRPr>
            </a:pPr>
            <a:r>
              <a:t>0.81</a:t>
            </a:r>
          </a:p>
        </p:txBody>
      </p:sp>
      <p:sp>
        <p:nvSpPr>
          <p:cNvPr id="16" name="s4-o3a">
            <a:extLst xmlns:a="http://schemas.openxmlformats.org/drawingml/2006/main">
              <a:ext uri="{FF2B5EF4-FFF2-40B4-BE49-F238E27FC236}">
                <a16:creationId xmlns:a16="http://schemas.microsoft.com/office/drawing/2014/main" id="{94B56EFC-0A4A-4A4F-8BBF-733AECDB1E80}"/>
              </a:ext>
            </a:extLst>
          </p:cNvPr>
          <p:cNvSpPr>
            <a:spLocks xmlns:a="http://schemas.openxmlformats.org/drawingml/2006/main" noGrp="1"/>
          </p:cNvSpPr>
          <p:nvPr/>
        </p:nvSpPr>
        <p:spPr>
          <a:xfrm xmlns:a="http://schemas.openxmlformats.org/drawingml/2006/main">
            <a:off x="6705600" y="3486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Payload</a:t>
            </a:r>
          </a:p>
        </p:txBody>
      </p:sp>
      <p:sp>
        <p:nvSpPr>
          <p:cNvPr id="17" name="s4-o3b">
            <a:extLst xmlns:a="http://schemas.openxmlformats.org/drawingml/2006/main">
              <a:ext uri="{FF2B5EF4-FFF2-40B4-BE49-F238E27FC236}">
                <a16:creationId xmlns:a16="http://schemas.microsoft.com/office/drawing/2014/main" id="{310DF74A-6BCC-41D7-AD43-74F5FD5AB3A5}"/>
              </a:ext>
            </a:extLst>
          </p:cNvPr>
          <p:cNvSpPr>
            <a:spLocks xmlns:a="http://schemas.openxmlformats.org/drawingml/2006/main" noGrp="1"/>
          </p:cNvSpPr>
          <p:nvPr/>
        </p:nvSpPr>
        <p:spPr>
          <a:xfrm xmlns:a="http://schemas.openxmlformats.org/drawingml/2006/main">
            <a:off x="8420100" y="3486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1,165 est. tokens</a:t>
            </a:r>
          </a:p>
        </p:txBody>
      </p:sp>
      <p:sp>
        <p:nvSpPr>
          <p:cNvPr id="18" name="s4-o4a">
            <a:extLst xmlns:a="http://schemas.openxmlformats.org/drawingml/2006/main">
              <a:ext uri="{FF2B5EF4-FFF2-40B4-BE49-F238E27FC236}">
                <a16:creationId xmlns:a16="http://schemas.microsoft.com/office/drawing/2014/main" id="{8FFABE4F-ACA9-407D-834F-F375E79F37E6}"/>
              </a:ext>
            </a:extLst>
          </p:cNvPr>
          <p:cNvSpPr>
            <a:spLocks xmlns:a="http://schemas.openxmlformats.org/drawingml/2006/main" noGrp="1"/>
          </p:cNvSpPr>
          <p:nvPr/>
        </p:nvSpPr>
        <p:spPr>
          <a:xfrm xmlns:a="http://schemas.openxmlformats.org/drawingml/2006/main">
            <a:off x="6705600" y="391477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Primary</a:t>
            </a:r>
          </a:p>
        </p:txBody>
      </p:sp>
      <p:sp>
        <p:nvSpPr>
          <p:cNvPr id="19" name="s4-o4b">
            <a:extLst xmlns:a="http://schemas.openxmlformats.org/drawingml/2006/main">
              <a:ext uri="{FF2B5EF4-FFF2-40B4-BE49-F238E27FC236}">
                <a16:creationId xmlns:a16="http://schemas.microsoft.com/office/drawing/2014/main" id="{16CF5A6B-3D7F-4333-BBCE-69A32093F17D}"/>
              </a:ext>
            </a:extLst>
          </p:cNvPr>
          <p:cNvSpPr>
            <a:spLocks xmlns:a="http://schemas.openxmlformats.org/drawingml/2006/main" noGrp="1"/>
          </p:cNvSpPr>
          <p:nvPr/>
        </p:nvSpPr>
        <p:spPr>
          <a:xfrm xmlns:a="http://schemas.openxmlformats.org/drawingml/2006/main">
            <a:off x="8420100" y="3914775"/>
            <a:ext cx="27622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context-packer.ts
mode-selector.ts</a:t>
            </a:r>
          </a:p>
        </p:txBody>
      </p:sp>
      <p:sp>
        <p:nvSpPr>
          <p:cNvPr id="20" name="s4-o5a">
            <a:extLst xmlns:a="http://schemas.openxmlformats.org/drawingml/2006/main">
              <a:ext uri="{FF2B5EF4-FFF2-40B4-BE49-F238E27FC236}">
                <a16:creationId xmlns:a16="http://schemas.microsoft.com/office/drawing/2014/main" id="{C366C86B-0CEB-4537-9050-D6522D98E795}"/>
              </a:ext>
            </a:extLst>
          </p:cNvPr>
          <p:cNvSpPr>
            <a:spLocks xmlns:a="http://schemas.openxmlformats.org/drawingml/2006/main" noGrp="1"/>
          </p:cNvSpPr>
          <p:nvPr/>
        </p:nvSpPr>
        <p:spPr>
          <a:xfrm xmlns:a="http://schemas.openxmlformats.org/drawingml/2006/main">
            <a:off x="6705600" y="4629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Memory</a:t>
            </a:r>
          </a:p>
        </p:txBody>
      </p:sp>
      <p:sp>
        <p:nvSpPr>
          <p:cNvPr id="21" name="s4-o5b">
            <a:extLst xmlns:a="http://schemas.openxmlformats.org/drawingml/2006/main">
              <a:ext uri="{FF2B5EF4-FFF2-40B4-BE49-F238E27FC236}">
                <a16:creationId xmlns:a16="http://schemas.microsoft.com/office/drawing/2014/main" id="{A68220AC-DB30-4F38-8B07-2A8A8CE7A703}"/>
              </a:ext>
            </a:extLst>
          </p:cNvPr>
          <p:cNvSpPr>
            <a:spLocks xmlns:a="http://schemas.openxmlformats.org/drawingml/2006/main" noGrp="1"/>
          </p:cNvSpPr>
          <p:nvPr/>
        </p:nvSpPr>
        <p:spPr>
          <a:xfrm xmlns:a="http://schemas.openxmlformats.org/drawingml/2006/main">
            <a:off x="8420100" y="4629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5A777"/>
                </a:solidFill>
                <a:latin typeface="Consolas"/>
                <a:ea typeface="Consolas"/>
                <a:cs typeface="Consolas"/>
              </a:defRPr>
            </a:pPr>
            <a:r>
              <a:t>3 items + 1 guardrail</a:t>
            </a:r>
          </a:p>
        </p:txBody>
      </p:sp>
      <p:sp>
        <p:nvSpPr>
          <p:cNvPr id="22" name="s4-output-note">
            <a:extLst xmlns:a="http://schemas.openxmlformats.org/drawingml/2006/main">
              <a:ext uri="{FF2B5EF4-FFF2-40B4-BE49-F238E27FC236}">
                <a16:creationId xmlns:a16="http://schemas.microsoft.com/office/drawing/2014/main" id="{CA7DA214-33EE-467E-862C-265C0BD54042}"/>
              </a:ext>
            </a:extLst>
          </p:cNvPr>
          <p:cNvSpPr>
            <a:spLocks xmlns:a="http://schemas.openxmlformats.org/drawingml/2006/main" noGrp="1"/>
          </p:cNvSpPr>
          <p:nvPr/>
        </p:nvSpPr>
        <p:spPr>
          <a:xfrm xmlns:a="http://schemas.openxmlformats.org/drawingml/2006/main">
            <a:off x="6705600" y="5219700"/>
            <a:ext cx="44386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9CC8FF"/>
                </a:solidFill>
                <a:latin typeface="Arial"/>
                <a:ea typeface="Arial"/>
                <a:cs typeface="Arial"/>
              </a:defRPr>
            </a:pPr>
            <a:r>
              <a:t>Primary files first. Supporting context stays bounded.</a:t>
            </a:r>
          </a:p>
        </p:txBody>
      </p:sp>
      <p:cxnSp>
        <p:nvCxnSpPr>
          <p:cNvPr id="48" name="footer-rule-4"/>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4" name="footer-source-4">
            <a:extLst xmlns:a="http://schemas.openxmlformats.org/drawingml/2006/main">
              <a:ext uri="{FF2B5EF4-FFF2-40B4-BE49-F238E27FC236}">
                <a16:creationId xmlns:a16="http://schemas.microsoft.com/office/drawing/2014/main" id="{25F69B25-3CA0-4FC0-B547-AF351C0CC33A}"/>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Live local CLI output captured 2026-07-19 · vertex-palace@0.2.3</a:t>
            </a:r>
          </a:p>
        </p:txBody>
      </p:sp>
      <p:sp>
        <p:nvSpPr>
          <p:cNvPr id="25" name="footer-number-4">
            <a:extLst xmlns:a="http://schemas.openxmlformats.org/drawingml/2006/main">
              <a:ext uri="{FF2B5EF4-FFF2-40B4-BE49-F238E27FC236}">
                <a16:creationId xmlns:a16="http://schemas.microsoft.com/office/drawing/2014/main" id="{B41098A5-02E2-4250-AB80-DF673F6B8D5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4</a:t>
            </a:r>
          </a:p>
        </p:txBody>
      </p:sp>
    </p:spTree>
    <p:extLst>
      <p:ext uri="{BB962C8B-B14F-4D97-AF65-F5344CB8AC3E}">
        <p14:creationId xmlns:p14="http://schemas.microsoft.com/office/powerpoint/2010/main" val="13640545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5-title">
            <a:extLst xmlns:a="http://schemas.openxmlformats.org/drawingml/2006/main">
              <a:ext uri="{FF2B5EF4-FFF2-40B4-BE49-F238E27FC236}">
                <a16:creationId xmlns:a16="http://schemas.microsoft.com/office/drawing/2014/main" id="{74DA6ED6-06FE-4224-85E7-0A91E7CFEE25}"/>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route is measured after the task, not trusted blindly.</a:t>
            </a:r>
          </a:p>
        </p:txBody>
      </p:sp>
      <p:sp>
        <p:nvSpPr>
          <p:cNvPr id="2" name="s5-subtitle">
            <a:extLst xmlns:a="http://schemas.openxmlformats.org/drawingml/2006/main">
              <a:ext uri="{FF2B5EF4-FFF2-40B4-BE49-F238E27FC236}">
                <a16:creationId xmlns:a16="http://schemas.microsoft.com/office/drawing/2014/main" id="{568803E9-E27E-48B5-BBFE-C5A43901D13E}"/>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palace evaluate compares the selected context with the files that actually changed.</a:t>
            </a:r>
          </a:p>
        </p:txBody>
      </p:sp>
      <p:sp>
        <p:nvSpPr>
          <p:cNvPr id="3" name="s5-chart-label-pack">
            <a:extLst xmlns:a="http://schemas.openxmlformats.org/drawingml/2006/main">
              <a:ext uri="{FF2B5EF4-FFF2-40B4-BE49-F238E27FC236}">
                <a16:creationId xmlns:a16="http://schemas.microsoft.com/office/drawing/2014/main" id="{A7CEEAB7-7DB4-410E-81DD-966190CC8685}"/>
              </a:ext>
            </a:extLst>
          </p:cNvPr>
          <p:cNvSpPr>
            <a:spLocks xmlns:a="http://schemas.openxmlformats.org/drawingml/2006/main" noGrp="1"/>
          </p:cNvSpPr>
          <p:nvPr/>
        </p:nvSpPr>
        <p:spPr>
          <a:xfrm xmlns:a="http://schemas.openxmlformats.org/drawingml/2006/main">
            <a:off x="400050" y="27241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Context pack</a:t>
            </a:r>
          </a:p>
        </p:txBody>
      </p:sp>
      <p:sp>
        <p:nvSpPr>
          <p:cNvPr id="4" name="s5-chart-label-repo">
            <a:extLst xmlns:a="http://schemas.openxmlformats.org/drawingml/2006/main">
              <a:ext uri="{FF2B5EF4-FFF2-40B4-BE49-F238E27FC236}">
                <a16:creationId xmlns:a16="http://schemas.microsoft.com/office/drawing/2014/main" id="{EF9F52B7-0006-4D85-89A7-A5D976FE12EA}"/>
              </a:ext>
            </a:extLst>
          </p:cNvPr>
          <p:cNvSpPr>
            <a:spLocks xmlns:a="http://schemas.openxmlformats.org/drawingml/2006/main" noGrp="1"/>
          </p:cNvSpPr>
          <p:nvPr/>
        </p:nvSpPr>
        <p:spPr>
          <a:xfrm xmlns:a="http://schemas.openxmlformats.org/drawingml/2006/main">
            <a:off x="400050" y="43624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Indexed repo</a:t>
            </a:r>
          </a:p>
        </p:txBody>
      </p:sp>
      <p:sp>
        <p:nvSpPr>
          <p:cNvPr id="5" name="s5-stat1">
            <a:extLst xmlns:a="http://schemas.openxmlformats.org/drawingml/2006/main">
              <a:ext uri="{FF2B5EF4-FFF2-40B4-BE49-F238E27FC236}">
                <a16:creationId xmlns:a16="http://schemas.microsoft.com/office/drawing/2014/main" id="{46FCD730-E35F-4463-8F14-0165DCA2CD57}"/>
              </a:ext>
            </a:extLst>
          </p:cNvPr>
          <p:cNvSpPr>
            <a:spLocks xmlns:a="http://schemas.openxmlformats.org/drawingml/2006/main" noGrp="1"/>
          </p:cNvSpPr>
          <p:nvPr/>
        </p:nvSpPr>
        <p:spPr>
          <a:xfrm xmlns:a="http://schemas.openxmlformats.org/drawingml/2006/main">
            <a:off x="7867650" y="1943100"/>
            <a:ext cx="3333750" cy="895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15A777"/>
                </a:solidFill>
                <a:latin typeface="Arial"/>
                <a:ea typeface="Arial"/>
                <a:cs typeface="Arial"/>
              </a:defRPr>
            </a:pPr>
            <a:r>
              <a:t>100%</a:t>
            </a:r>
          </a:p>
        </p:txBody>
      </p:sp>
      <p:sp>
        <p:nvSpPr>
          <p:cNvPr id="6" name="s5-stat1-label">
            <a:extLst xmlns:a="http://schemas.openxmlformats.org/drawingml/2006/main">
              <a:ext uri="{FF2B5EF4-FFF2-40B4-BE49-F238E27FC236}">
                <a16:creationId xmlns:a16="http://schemas.microsoft.com/office/drawing/2014/main" id="{A309F327-8DD3-4DC5-BFFA-A2DCCFC34C74}"/>
              </a:ext>
            </a:extLst>
          </p:cNvPr>
          <p:cNvSpPr>
            <a:spLocks xmlns:a="http://schemas.openxmlformats.org/drawingml/2006/main" noGrp="1"/>
          </p:cNvSpPr>
          <p:nvPr/>
        </p:nvSpPr>
        <p:spPr>
          <a:xfrm xmlns:a="http://schemas.openxmlformats.org/drawingml/2006/main">
            <a:off x="7905750" y="283845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changed-file coverage</a:t>
            </a:r>
          </a:p>
        </p:txBody>
      </p:sp>
      <p:cxnSp>
        <p:nvCxnSpPr>
          <p:cNvPr id="23" name="s5-r1"/>
          <p:cNvCxnSpPr/>
          <p:nvPr/>
        </p:nvCxnSpPr>
        <p:spPr>
          <a:xfrm xmlns:a="http://schemas.openxmlformats.org/drawingml/2006/main">
            <a:off x="7867650" y="3371850"/>
            <a:ext cx="331470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5-stat2">
            <a:extLst xmlns:a="http://schemas.openxmlformats.org/drawingml/2006/main">
              <a:ext uri="{FF2B5EF4-FFF2-40B4-BE49-F238E27FC236}">
                <a16:creationId xmlns:a16="http://schemas.microsoft.com/office/drawing/2014/main" id="{FCD22507-BDC5-4D38-B57C-9C4D22171D53}"/>
              </a:ext>
            </a:extLst>
          </p:cNvPr>
          <p:cNvSpPr>
            <a:spLocks xmlns:a="http://schemas.openxmlformats.org/drawingml/2006/main" noGrp="1"/>
          </p:cNvSpPr>
          <p:nvPr/>
        </p:nvSpPr>
        <p:spPr>
          <a:xfrm xmlns:a="http://schemas.openxmlformats.org/drawingml/2006/main">
            <a:off x="78676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677FF"/>
                </a:solidFill>
                <a:latin typeface="Arial"/>
                <a:ea typeface="Arial"/>
                <a:cs typeface="Arial"/>
              </a:defRPr>
            </a:pPr>
            <a:r>
              <a:t>30%</a:t>
            </a:r>
          </a:p>
        </p:txBody>
      </p:sp>
      <p:sp>
        <p:nvSpPr>
          <p:cNvPr id="9" name="s5-stat2-label">
            <a:extLst xmlns:a="http://schemas.openxmlformats.org/drawingml/2006/main">
              <a:ext uri="{FF2B5EF4-FFF2-40B4-BE49-F238E27FC236}">
                <a16:creationId xmlns:a16="http://schemas.microsoft.com/office/drawing/2014/main" id="{ACE7F8FC-D809-4277-818A-59B403ABD74F}"/>
              </a:ext>
            </a:extLst>
          </p:cNvPr>
          <p:cNvSpPr>
            <a:spLocks xmlns:a="http://schemas.openxmlformats.org/drawingml/2006/main" noGrp="1"/>
          </p:cNvSpPr>
          <p:nvPr/>
        </p:nvSpPr>
        <p:spPr>
          <a:xfrm xmlns:a="http://schemas.openxmlformats.org/drawingml/2006/main">
            <a:off x="78676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route focus</a:t>
            </a:r>
          </a:p>
        </p:txBody>
      </p:sp>
      <p:sp>
        <p:nvSpPr>
          <p:cNvPr id="10" name="s5-stat3">
            <a:extLst xmlns:a="http://schemas.openxmlformats.org/drawingml/2006/main">
              <a:ext uri="{FF2B5EF4-FFF2-40B4-BE49-F238E27FC236}">
                <a16:creationId xmlns:a16="http://schemas.microsoft.com/office/drawing/2014/main" id="{8207CA7A-8A6A-4056-9E54-A69ACECB7A63}"/>
              </a:ext>
            </a:extLst>
          </p:cNvPr>
          <p:cNvSpPr>
            <a:spLocks xmlns:a="http://schemas.openxmlformats.org/drawingml/2006/main" noGrp="1"/>
          </p:cNvSpPr>
          <p:nvPr/>
        </p:nvSpPr>
        <p:spPr>
          <a:xfrm xmlns:a="http://schemas.openxmlformats.org/drawingml/2006/main">
            <a:off x="96202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7438F5"/>
                </a:solidFill>
                <a:latin typeface="Arial"/>
                <a:ea typeface="Arial"/>
                <a:cs typeface="Arial"/>
              </a:defRPr>
            </a:pPr>
            <a:r>
              <a:t>0.81</a:t>
            </a:r>
          </a:p>
        </p:txBody>
      </p:sp>
      <p:sp>
        <p:nvSpPr>
          <p:cNvPr id="11" name="s5-stat3-label">
            <a:extLst xmlns:a="http://schemas.openxmlformats.org/drawingml/2006/main">
              <a:ext uri="{FF2B5EF4-FFF2-40B4-BE49-F238E27FC236}">
                <a16:creationId xmlns:a16="http://schemas.microsoft.com/office/drawing/2014/main" id="{66BBAA00-A630-4E58-BF85-D44F5ED01336}"/>
              </a:ext>
            </a:extLst>
          </p:cNvPr>
          <p:cNvSpPr>
            <a:spLocks xmlns:a="http://schemas.openxmlformats.org/drawingml/2006/main" noGrp="1"/>
          </p:cNvSpPr>
          <p:nvPr/>
        </p:nvSpPr>
        <p:spPr>
          <a:xfrm xmlns:a="http://schemas.openxmlformats.org/drawingml/2006/main">
            <a:off x="96202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confidence</a:t>
            </a:r>
          </a:p>
        </p:txBody>
      </p:sp>
      <p:sp>
        <p:nvSpPr>
          <p:cNvPr id="12" name="s5-explain">
            <a:extLst xmlns:a="http://schemas.openxmlformats.org/drawingml/2006/main">
              <a:ext uri="{FF2B5EF4-FFF2-40B4-BE49-F238E27FC236}">
                <a16:creationId xmlns:a16="http://schemas.microsoft.com/office/drawing/2014/main" id="{FD580B01-E853-44F2-867E-A4F0A1C8A795}"/>
              </a:ext>
            </a:extLst>
          </p:cNvPr>
          <p:cNvSpPr>
            <a:spLocks xmlns:a="http://schemas.openxmlformats.org/drawingml/2006/main" noGrp="1"/>
          </p:cNvSpPr>
          <p:nvPr/>
        </p:nvSpPr>
        <p:spPr>
          <a:xfrm xmlns:a="http://schemas.openxmlformats.org/drawingml/2006/main">
            <a:off x="7867650" y="4838700"/>
            <a:ext cx="333375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Observed coverage was stronger than predicted, so the route was labeled underconfident.</a:t>
            </a:r>
          </a:p>
        </p:txBody>
      </p:sp>
      <p:cxnSp>
        <p:nvCxnSpPr>
          <p:cNvPr id="29" name="footer-rule-5"/>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4" name="footer-source-5">
            <a:extLst xmlns:a="http://schemas.openxmlformats.org/drawingml/2006/main">
              <a:ext uri="{FF2B5EF4-FFF2-40B4-BE49-F238E27FC236}">
                <a16:creationId xmlns:a16="http://schemas.microsoft.com/office/drawing/2014/main" id="{B535BF3A-4BDE-4B29-B465-FD233ADA2A9E}"/>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Current self-evaluation · 87,622 indexed estimated tokens · Context-pack reduction is not total Codex session-token savings</a:t>
            </a:r>
          </a:p>
        </p:txBody>
      </p:sp>
      <p:sp>
        <p:nvSpPr>
          <p:cNvPr id="15" name="footer-number-5">
            <a:extLst xmlns:a="http://schemas.openxmlformats.org/drawingml/2006/main">
              <a:ext uri="{FF2B5EF4-FFF2-40B4-BE49-F238E27FC236}">
                <a16:creationId xmlns:a16="http://schemas.microsoft.com/office/drawing/2014/main" id="{58166096-9D5D-4CC5-AC8A-3B2A5DA10F2E}"/>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5</a:t>
            </a:r>
          </a:p>
        </p:txBody>
      </p:sp>
      <p:graphicFrame>
        <p:nvGraphicFramePr>
          <p:cNvPr id="32" name="Chart"/>
          <p:cNvGraphicFramePr/>
          <p:nvPr/>
        </p:nvGraphicFramePr>
        <p:xfrm>
          <a:off xmlns:a="http://schemas.openxmlformats.org/drawingml/2006/main" x="1714500" y="1771650"/>
          <a:ext xmlns:a="http://schemas.openxmlformats.org/drawingml/2006/main" cx="5410200" cy="3924300"/>
        </p:xfrm>
        <a:graphic xmlns:a="http://schemas.openxmlformats.org/drawingml/2006/main">
          <a:graphicData uri="http://schemas.openxmlformats.org/drawingml/2006/chart">
            <c:chart xmlns:r="http://schemas.openxmlformats.org/officeDocument/2006/relationships" xmlns:c="http://schemas.openxmlformats.org/drawingml/2006/chart" r:id="R9776da1c92664094"/>
          </a:graphicData>
        </a:graphic>
      </p:graphicFrame>
    </p:spTree>
    <p:extLst>
      <p:ext uri="{BB962C8B-B14F-4D97-AF65-F5344CB8AC3E}">
        <p14:creationId xmlns:p14="http://schemas.microsoft.com/office/powerpoint/2010/main" val="15550592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s6-title-new">
            <a:extLst xmlns:a="http://schemas.openxmlformats.org/drawingml/2006/main">
              <a:ext uri="{FF2B5EF4-FFF2-40B4-BE49-F238E27FC236}">
                <a16:creationId xmlns:a16="http://schemas.microsoft.com/office/drawing/2014/main" id="{0B9BBC54-A7AB-4B90-A4D8-6234D4802806}"/>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One task, four repository-context strategies.</a:t>
            </a:r>
          </a:p>
        </p:txBody>
      </p:sp>
      <p:sp>
        <p:nvSpPr>
          <p:cNvPr id="2" name="s6-subtitle-new">
            <a:extLst xmlns:a="http://schemas.openxmlformats.org/drawingml/2006/main">
              <a:ext uri="{FF2B5EF4-FFF2-40B4-BE49-F238E27FC236}">
                <a16:creationId xmlns:a16="http://schemas.microsoft.com/office/drawing/2014/main" id="{70D56032-7548-4B98-B0FA-67D3FFD8C400}"/>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fixture, model, prompt, tests, and hidden oracle stayed fixed; only context delivery changed.</a:t>
            </a:r>
          </a:p>
        </p:txBody>
      </p:sp>
      <p:sp>
        <p:nvSpPr>
          <p:cNvPr id="3" name="s6-task-new">
            <a:extLst xmlns:a="http://schemas.openxmlformats.org/drawingml/2006/main">
              <a:ext uri="{FF2B5EF4-FFF2-40B4-BE49-F238E27FC236}">
                <a16:creationId xmlns:a16="http://schemas.microsoft.com/office/drawing/2014/main" id="{8441CCA0-6B81-45EE-BB83-6D4181FC3202}"/>
              </a:ext>
            </a:extLst>
          </p:cNvPr>
          <p:cNvSpPr>
            <a:spLocks xmlns:a="http://schemas.openxmlformats.org/drawingml/2006/main" noGrp="1"/>
          </p:cNvSpPr>
          <p:nvPr/>
        </p:nvSpPr>
        <p:spPr>
          <a:xfrm xmlns:a="http://schemas.openxmlformats.org/drawingml/2006/main">
            <a:off x="4762500" y="1562100"/>
            <a:ext cx="2667000" cy="838200"/>
          </a:xfrm>
          <a:prstGeom xmlns:a="http://schemas.openxmlformats.org/drawingml/2006/main" prst="roundRect">
            <a:avLst>
              <a:gd name="adj" fmla="val 9091"/>
            </a:avLst>
          </a:prstGeom>
          <a:solidFill xmlns:a="http://schemas.openxmlformats.org/drawingml/2006/main">
            <a:srgbClr val="061B3D"/>
          </a:solidFill>
          <a:ln xmlns:a="http://schemas.openxmlformats.org/drawingml/2006/main" w="0">
            <a:solidFill>
              <a:srgbClr val="061B3D"/>
            </a:solidFill>
            <a:prstDash val="solid"/>
          </a:ln>
        </p:spPr>
      </p:sp>
      <p:sp>
        <p:nvSpPr>
          <p:cNvPr id="4" name="s6-task-k-new">
            <a:extLst xmlns:a="http://schemas.openxmlformats.org/drawingml/2006/main">
              <a:ext uri="{FF2B5EF4-FFF2-40B4-BE49-F238E27FC236}">
                <a16:creationId xmlns:a16="http://schemas.microsoft.com/office/drawing/2014/main" id="{3FE37912-8D90-4D2E-9271-BF6BFF432EF9}"/>
              </a:ext>
            </a:extLst>
          </p:cNvPr>
          <p:cNvSpPr>
            <a:spLocks xmlns:a="http://schemas.openxmlformats.org/drawingml/2006/main" noGrp="1"/>
          </p:cNvSpPr>
          <p:nvPr/>
        </p:nvSpPr>
        <p:spPr>
          <a:xfrm xmlns:a="http://schemas.openxmlformats.org/drawingml/2006/main">
            <a:off x="4953000" y="1724025"/>
            <a:ext cx="2286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1">
                <a:solidFill>
                  <a:srgbClr val="13B7D5"/>
                </a:solidFill>
                <a:latin typeface="Arial"/>
                <a:ea typeface="Arial"/>
                <a:cs typeface="Arial"/>
              </a:defRPr>
            </a:pPr>
            <a:r>
              <a:t>SAME TASK</a:t>
            </a:r>
          </a:p>
        </p:txBody>
      </p:sp>
      <p:sp>
        <p:nvSpPr>
          <p:cNvPr id="5" name="s6-task-v-new">
            <a:extLst xmlns:a="http://schemas.openxmlformats.org/drawingml/2006/main">
              <a:ext uri="{FF2B5EF4-FFF2-40B4-BE49-F238E27FC236}">
                <a16:creationId xmlns:a16="http://schemas.microsoft.com/office/drawing/2014/main" id="{7EFE2C06-CE23-4F5D-8448-4C0D3185605B}"/>
              </a:ext>
            </a:extLst>
          </p:cNvPr>
          <p:cNvSpPr>
            <a:spLocks xmlns:a="http://schemas.openxmlformats.org/drawingml/2006/main" noGrp="1"/>
          </p:cNvSpPr>
          <p:nvPr/>
        </p:nvSpPr>
        <p:spPr>
          <a:xfrm xmlns:a="http://schemas.openxmlformats.org/drawingml/2006/main">
            <a:off x="4953000" y="2009775"/>
            <a:ext cx="2286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FFFFFF"/>
                </a:solidFill>
                <a:latin typeface="Arial"/>
                <a:ea typeface="Arial"/>
                <a:cs typeface="Arial"/>
              </a:defRPr>
            </a:pPr>
            <a:r>
              <a:t>Fix the target issue</a:t>
            </a:r>
          </a:p>
        </p:txBody>
      </p:sp>
      <p:cxnSp>
        <p:nvCxnSpPr>
          <p:cNvPr id="45" name="s6-stem-new"/>
          <p:cNvCxnSpPr/>
          <p:nvPr/>
        </p:nvCxnSpPr>
        <p:spPr>
          <a:xfrm xmlns:a="http://schemas.openxmlformats.org/drawingml/2006/main">
            <a:off x="6096000" y="2400300"/>
            <a:ext cx="953" cy="457200"/>
          </a:xfrm>
          <a:prstGeom xmlns:a="http://schemas.openxmlformats.org/drawingml/2006/main" prst="straightConnector1">
            <a:avLst/>
          </a:prstGeom>
          <a:ln xmlns:a="http://schemas.openxmlformats.org/drawingml/2006/main" w="19050">
            <a:solidFill>
              <a:srgbClr val="B8BCC4"/>
            </a:solidFill>
            <a:prstDash val="solid"/>
          </a:ln>
        </p:spPr>
      </p:cxnSp>
      <p:cxnSp>
        <p:nvCxnSpPr>
          <p:cNvPr id="46" name="s6-branch-new"/>
          <p:cNvCxnSpPr/>
          <p:nvPr/>
        </p:nvCxnSpPr>
        <p:spPr>
          <a:xfrm xmlns:a="http://schemas.openxmlformats.org/drawingml/2006/main">
            <a:off x="1809750" y="2857500"/>
            <a:ext cx="857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47" name="s6-control-link-new"/>
          <p:cNvCxnSpPr/>
          <p:nvPr/>
        </p:nvCxnSpPr>
        <p:spPr>
          <a:xfrm xmlns:a="http://schemas.openxmlformats.org/drawingml/2006/main">
            <a:off x="1809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8" name="s6-route-link-new"/>
          <p:cNvCxnSpPr/>
          <p:nvPr/>
        </p:nvCxnSpPr>
        <p:spPr>
          <a:xfrm xmlns:a="http://schemas.openxmlformats.org/drawingml/2006/main">
            <a:off x="4667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9" name="s6-full-link-new"/>
          <p:cNvCxnSpPr/>
          <p:nvPr/>
        </p:nvCxnSpPr>
        <p:spPr>
          <a:xfrm xmlns:a="http://schemas.openxmlformats.org/drawingml/2006/main">
            <a:off x="7524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50" name="s6-adaptive-link-new"/>
          <p:cNvCxnSpPr/>
          <p:nvPr/>
        </p:nvCxnSpPr>
        <p:spPr>
          <a:xfrm xmlns:a="http://schemas.openxmlformats.org/drawingml/2006/main">
            <a:off x="10382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sp>
        <p:nvSpPr>
          <p:cNvPr id="12" name="s6-control-new">
            <a:extLst xmlns:a="http://schemas.openxmlformats.org/drawingml/2006/main">
              <a:ext uri="{FF2B5EF4-FFF2-40B4-BE49-F238E27FC236}">
                <a16:creationId xmlns:a16="http://schemas.microsoft.com/office/drawing/2014/main" id="{894D8701-6AF8-4E7C-8169-D97600CB7C7E}"/>
              </a:ext>
            </a:extLst>
          </p:cNvPr>
          <p:cNvSpPr>
            <a:spLocks xmlns:a="http://schemas.openxmlformats.org/drawingml/2006/main" noGrp="1"/>
          </p:cNvSpPr>
          <p:nvPr/>
        </p:nvSpPr>
        <p:spPr>
          <a:xfrm xmlns:a="http://schemas.openxmlformats.org/drawingml/2006/main">
            <a:off x="571500" y="3219450"/>
            <a:ext cx="2476500" cy="1581150"/>
          </a:xfrm>
          <a:prstGeom xmlns:a="http://schemas.openxmlformats.org/drawingml/2006/main" prst="roundRect">
            <a:avLst>
              <a:gd name="adj" fmla="val 4819"/>
            </a:avLst>
          </a:prstGeom>
          <a:solidFill xmlns:a="http://schemas.openxmlformats.org/drawingml/2006/main">
            <a:srgbClr val="EDEFF3"/>
          </a:solidFill>
          <a:ln xmlns:a="http://schemas.openxmlformats.org/drawingml/2006/main" w="0">
            <a:solidFill>
              <a:srgbClr val="EDEFF3"/>
            </a:solidFill>
            <a:prstDash val="solid"/>
          </a:ln>
        </p:spPr>
      </p:sp>
      <p:sp>
        <p:nvSpPr>
          <p:cNvPr id="13" name="s6-route-new">
            <a:extLst xmlns:a="http://schemas.openxmlformats.org/drawingml/2006/main">
              <a:ext uri="{FF2B5EF4-FFF2-40B4-BE49-F238E27FC236}">
                <a16:creationId xmlns:a16="http://schemas.microsoft.com/office/drawing/2014/main" id="{0277C880-7391-43B7-9908-E53C81436B26}"/>
              </a:ext>
            </a:extLst>
          </p:cNvPr>
          <p:cNvSpPr>
            <a:spLocks xmlns:a="http://schemas.openxmlformats.org/drawingml/2006/main" noGrp="1"/>
          </p:cNvSpPr>
          <p:nvPr/>
        </p:nvSpPr>
        <p:spPr>
          <a:xfrm xmlns:a="http://schemas.openxmlformats.org/drawingml/2006/main">
            <a:off x="3429000" y="3219450"/>
            <a:ext cx="2476500" cy="1581150"/>
          </a:xfrm>
          <a:prstGeom xmlns:a="http://schemas.openxmlformats.org/drawingml/2006/main" prst="roundRect">
            <a:avLst>
              <a:gd name="adj" fmla="val 4819"/>
            </a:avLst>
          </a:prstGeom>
          <a:solidFill xmlns:a="http://schemas.openxmlformats.org/drawingml/2006/main">
            <a:srgbClr val="E8F7FB"/>
          </a:solidFill>
          <a:ln xmlns:a="http://schemas.openxmlformats.org/drawingml/2006/main" w="0">
            <a:solidFill>
              <a:srgbClr val="E8F7FB"/>
            </a:solidFill>
            <a:prstDash val="solid"/>
          </a:ln>
        </p:spPr>
      </p:sp>
      <p:sp>
        <p:nvSpPr>
          <p:cNvPr id="14" name="s6-full-new">
            <a:extLst xmlns:a="http://schemas.openxmlformats.org/drawingml/2006/main">
              <a:ext uri="{FF2B5EF4-FFF2-40B4-BE49-F238E27FC236}">
                <a16:creationId xmlns:a16="http://schemas.microsoft.com/office/drawing/2014/main" id="{4F6E2568-19E8-414D-AAEE-B31C15BA3ECC}"/>
              </a:ext>
            </a:extLst>
          </p:cNvPr>
          <p:cNvSpPr>
            <a:spLocks xmlns:a="http://schemas.openxmlformats.org/drawingml/2006/main" noGrp="1"/>
          </p:cNvSpPr>
          <p:nvPr/>
        </p:nvSpPr>
        <p:spPr>
          <a:xfrm xmlns:a="http://schemas.openxmlformats.org/drawingml/2006/main">
            <a:off x="6286500" y="3219450"/>
            <a:ext cx="2476500" cy="1581150"/>
          </a:xfrm>
          <a:prstGeom xmlns:a="http://schemas.openxmlformats.org/drawingml/2006/main" prst="roundRect">
            <a:avLst>
              <a:gd name="adj" fmla="val 4819"/>
            </a:avLst>
          </a:prstGeom>
          <a:solidFill xmlns:a="http://schemas.openxmlformats.org/drawingml/2006/main">
            <a:srgbClr val="EAF1FF"/>
          </a:solidFill>
          <a:ln xmlns:a="http://schemas.openxmlformats.org/drawingml/2006/main" w="0">
            <a:solidFill>
              <a:srgbClr val="EAF1FF"/>
            </a:solidFill>
            <a:prstDash val="solid"/>
          </a:ln>
        </p:spPr>
      </p:sp>
      <p:sp>
        <p:nvSpPr>
          <p:cNvPr id="15" name="s6-adaptive-new">
            <a:extLst xmlns:a="http://schemas.openxmlformats.org/drawingml/2006/main">
              <a:ext uri="{FF2B5EF4-FFF2-40B4-BE49-F238E27FC236}">
                <a16:creationId xmlns:a16="http://schemas.microsoft.com/office/drawing/2014/main" id="{44DC2282-3244-4427-A43C-C48F89D888FE}"/>
              </a:ext>
            </a:extLst>
          </p:cNvPr>
          <p:cNvSpPr>
            <a:spLocks xmlns:a="http://schemas.openxmlformats.org/drawingml/2006/main" noGrp="1"/>
          </p:cNvSpPr>
          <p:nvPr/>
        </p:nvSpPr>
        <p:spPr>
          <a:xfrm xmlns:a="http://schemas.openxmlformats.org/drawingml/2006/main">
            <a:off x="9144000" y="3219450"/>
            <a:ext cx="2476500" cy="1581150"/>
          </a:xfrm>
          <a:prstGeom xmlns:a="http://schemas.openxmlformats.org/drawingml/2006/main" prst="roundRect">
            <a:avLst>
              <a:gd name="adj" fmla="val 4819"/>
            </a:avLst>
          </a:prstGeom>
          <a:solidFill xmlns:a="http://schemas.openxmlformats.org/drawingml/2006/main">
            <a:srgbClr val="F1EBFF"/>
          </a:solidFill>
          <a:ln xmlns:a="http://schemas.openxmlformats.org/drawingml/2006/main" w="0">
            <a:solidFill>
              <a:srgbClr val="F1EBFF"/>
            </a:solidFill>
            <a:prstDash val="solid"/>
          </a:ln>
        </p:spPr>
      </p:sp>
      <p:sp>
        <p:nvSpPr>
          <p:cNvPr id="16" name="s6-control-k-new">
            <a:extLst xmlns:a="http://schemas.openxmlformats.org/drawingml/2006/main">
              <a:ext uri="{FF2B5EF4-FFF2-40B4-BE49-F238E27FC236}">
                <a16:creationId xmlns:a16="http://schemas.microsoft.com/office/drawing/2014/main" id="{5749294E-9621-40C8-97E2-C4BA940EE341}"/>
              </a:ext>
            </a:extLst>
          </p:cNvPr>
          <p:cNvSpPr>
            <a:spLocks xmlns:a="http://schemas.openxmlformats.org/drawingml/2006/main" noGrp="1"/>
          </p:cNvSpPr>
          <p:nvPr/>
        </p:nvSpPr>
        <p:spPr>
          <a:xfrm xmlns:a="http://schemas.openxmlformats.org/drawingml/2006/main">
            <a:off x="800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CONTROL</a:t>
            </a:r>
          </a:p>
        </p:txBody>
      </p:sp>
      <p:sp>
        <p:nvSpPr>
          <p:cNvPr id="17" name="s6-control-v-new">
            <a:extLst xmlns:a="http://schemas.openxmlformats.org/drawingml/2006/main">
              <a:ext uri="{FF2B5EF4-FFF2-40B4-BE49-F238E27FC236}">
                <a16:creationId xmlns:a16="http://schemas.microsoft.com/office/drawing/2014/main" id="{334ED904-0E3A-4E8E-BE0E-FC7F7E444DA0}"/>
              </a:ext>
            </a:extLst>
          </p:cNvPr>
          <p:cNvSpPr>
            <a:spLocks xmlns:a="http://schemas.openxmlformats.org/drawingml/2006/main" noGrp="1"/>
          </p:cNvSpPr>
          <p:nvPr/>
        </p:nvSpPr>
        <p:spPr>
          <a:xfrm xmlns:a="http://schemas.openxmlformats.org/drawingml/2006/main">
            <a:off x="8001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A1224"/>
                </a:solidFill>
                <a:latin typeface="Arial"/>
                <a:ea typeface="Arial"/>
                <a:cs typeface="Arial"/>
              </a:defRPr>
            </a:pPr>
            <a:r>
              <a:t>No Palace</a:t>
            </a:r>
          </a:p>
        </p:txBody>
      </p:sp>
      <p:sp>
        <p:nvSpPr>
          <p:cNvPr id="18" name="s6-control-d-new">
            <a:extLst xmlns:a="http://schemas.openxmlformats.org/drawingml/2006/main">
              <a:ext uri="{FF2B5EF4-FFF2-40B4-BE49-F238E27FC236}">
                <a16:creationId xmlns:a16="http://schemas.microsoft.com/office/drawing/2014/main" id="{3122B578-937F-455D-9503-52B57124F0A6}"/>
              </a:ext>
            </a:extLst>
          </p:cNvPr>
          <p:cNvSpPr>
            <a:spLocks xmlns:a="http://schemas.openxmlformats.org/drawingml/2006/main" noGrp="1"/>
          </p:cNvSpPr>
          <p:nvPr/>
        </p:nvSpPr>
        <p:spPr>
          <a:xfrm xmlns:a="http://schemas.openxmlformats.org/drawingml/2006/main">
            <a:off x="8001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Direct repository search</a:t>
            </a:r>
          </a:p>
        </p:txBody>
      </p:sp>
      <p:sp>
        <p:nvSpPr>
          <p:cNvPr id="19" name="s6-route-k-new">
            <a:extLst xmlns:a="http://schemas.openxmlformats.org/drawingml/2006/main">
              <a:ext uri="{FF2B5EF4-FFF2-40B4-BE49-F238E27FC236}">
                <a16:creationId xmlns:a16="http://schemas.microsoft.com/office/drawing/2014/main" id="{F7601BAD-5315-4DAE-AFA8-FB6BD18573B2}"/>
              </a:ext>
            </a:extLst>
          </p:cNvPr>
          <p:cNvSpPr>
            <a:spLocks xmlns:a="http://schemas.openxmlformats.org/drawingml/2006/main" noGrp="1"/>
          </p:cNvSpPr>
          <p:nvPr/>
        </p:nvSpPr>
        <p:spPr>
          <a:xfrm xmlns:a="http://schemas.openxmlformats.org/drawingml/2006/main">
            <a:off x="3657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ROUTE-ONLY</a:t>
            </a:r>
          </a:p>
        </p:txBody>
      </p:sp>
      <p:sp>
        <p:nvSpPr>
          <p:cNvPr id="20" name="s6-route-v-new">
            <a:extLst xmlns:a="http://schemas.openxmlformats.org/drawingml/2006/main">
              <a:ext uri="{FF2B5EF4-FFF2-40B4-BE49-F238E27FC236}">
                <a16:creationId xmlns:a16="http://schemas.microsoft.com/office/drawing/2014/main" id="{20BAE44E-9119-4980-9B5F-1E5E9571F841}"/>
              </a:ext>
            </a:extLst>
          </p:cNvPr>
          <p:cNvSpPr>
            <a:spLocks xmlns:a="http://schemas.openxmlformats.org/drawingml/2006/main" noGrp="1"/>
          </p:cNvSpPr>
          <p:nvPr/>
        </p:nvSpPr>
        <p:spPr>
          <a:xfrm xmlns:a="http://schemas.openxmlformats.org/drawingml/2006/main">
            <a:off x="3657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Route metadata</a:t>
            </a:r>
          </a:p>
        </p:txBody>
      </p:sp>
      <p:sp>
        <p:nvSpPr>
          <p:cNvPr id="21" name="s6-route-d-new">
            <a:extLst xmlns:a="http://schemas.openxmlformats.org/drawingml/2006/main">
              <a:ext uri="{FF2B5EF4-FFF2-40B4-BE49-F238E27FC236}">
                <a16:creationId xmlns:a16="http://schemas.microsoft.com/office/drawing/2014/main" id="{7152C733-766A-41CE-AFF6-DB743BBC0C26}"/>
              </a:ext>
            </a:extLst>
          </p:cNvPr>
          <p:cNvSpPr>
            <a:spLocks xmlns:a="http://schemas.openxmlformats.org/drawingml/2006/main" noGrp="1"/>
          </p:cNvSpPr>
          <p:nvPr/>
        </p:nvSpPr>
        <p:spPr>
          <a:xfrm xmlns:a="http://schemas.openxmlformats.org/drawingml/2006/main">
            <a:off x="3657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No packed source</a:t>
            </a:r>
          </a:p>
        </p:txBody>
      </p:sp>
      <p:sp>
        <p:nvSpPr>
          <p:cNvPr id="22" name="s6-full-k-new">
            <a:extLst xmlns:a="http://schemas.openxmlformats.org/drawingml/2006/main">
              <a:ext uri="{FF2B5EF4-FFF2-40B4-BE49-F238E27FC236}">
                <a16:creationId xmlns:a16="http://schemas.microsoft.com/office/drawing/2014/main" id="{09055A7B-3E1B-4AEE-BF7B-3E3E90467E37}"/>
              </a:ext>
            </a:extLst>
          </p:cNvPr>
          <p:cNvSpPr>
            <a:spLocks xmlns:a="http://schemas.openxmlformats.org/drawingml/2006/main" noGrp="1"/>
          </p:cNvSpPr>
          <p:nvPr/>
        </p:nvSpPr>
        <p:spPr>
          <a:xfrm xmlns:a="http://schemas.openxmlformats.org/drawingml/2006/main">
            <a:off x="6515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FULL PALACE</a:t>
            </a:r>
          </a:p>
        </p:txBody>
      </p:sp>
      <p:sp>
        <p:nvSpPr>
          <p:cNvPr id="23" name="s6-full-v-new">
            <a:extLst xmlns:a="http://schemas.openxmlformats.org/drawingml/2006/main">
              <a:ext uri="{FF2B5EF4-FFF2-40B4-BE49-F238E27FC236}">
                <a16:creationId xmlns:a16="http://schemas.microsoft.com/office/drawing/2014/main" id="{CC9E5698-0BC1-4F14-B691-9209696D0C61}"/>
              </a:ext>
            </a:extLst>
          </p:cNvPr>
          <p:cNvSpPr>
            <a:spLocks xmlns:a="http://schemas.openxmlformats.org/drawingml/2006/main" noGrp="1"/>
          </p:cNvSpPr>
          <p:nvPr/>
        </p:nvSpPr>
        <p:spPr>
          <a:xfrm xmlns:a="http://schemas.openxmlformats.org/drawingml/2006/main">
            <a:off x="6515100" y="3752850"/>
            <a:ext cx="20193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Always-on full pack</a:t>
            </a:r>
          </a:p>
        </p:txBody>
      </p:sp>
      <p:sp>
        <p:nvSpPr>
          <p:cNvPr id="24" name="s6-full-d-new">
            <a:extLst xmlns:a="http://schemas.openxmlformats.org/drawingml/2006/main">
              <a:ext uri="{FF2B5EF4-FFF2-40B4-BE49-F238E27FC236}">
                <a16:creationId xmlns:a16="http://schemas.microsoft.com/office/drawing/2014/main" id="{48626841-C427-4953-A03A-6AA7924D1B49}"/>
              </a:ext>
            </a:extLst>
          </p:cNvPr>
          <p:cNvSpPr>
            <a:spLocks xmlns:a="http://schemas.openxmlformats.org/drawingml/2006/main" noGrp="1"/>
          </p:cNvSpPr>
          <p:nvPr/>
        </p:nvSpPr>
        <p:spPr>
          <a:xfrm xmlns:a="http://schemas.openxmlformats.org/drawingml/2006/main">
            <a:off x="6515100" y="43243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Source + memory</a:t>
            </a:r>
          </a:p>
        </p:txBody>
      </p:sp>
      <p:sp>
        <p:nvSpPr>
          <p:cNvPr id="25" name="s6-adaptive-k-new">
            <a:extLst xmlns:a="http://schemas.openxmlformats.org/drawingml/2006/main">
              <a:ext uri="{FF2B5EF4-FFF2-40B4-BE49-F238E27FC236}">
                <a16:creationId xmlns:a16="http://schemas.microsoft.com/office/drawing/2014/main" id="{1AD2B7C2-59B5-4EAD-B962-CDB47D1DF9B1}"/>
              </a:ext>
            </a:extLst>
          </p:cNvPr>
          <p:cNvSpPr>
            <a:spLocks xmlns:a="http://schemas.openxmlformats.org/drawingml/2006/main" noGrp="1"/>
          </p:cNvSpPr>
          <p:nvPr/>
        </p:nvSpPr>
        <p:spPr>
          <a:xfrm xmlns:a="http://schemas.openxmlformats.org/drawingml/2006/main">
            <a:off x="9372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7438F5"/>
                </a:solidFill>
                <a:latin typeface="Arial"/>
                <a:ea typeface="Arial"/>
                <a:cs typeface="Arial"/>
              </a:defRPr>
            </a:pPr>
            <a:r>
              <a:t>ADAPTIVE</a:t>
            </a:r>
          </a:p>
        </p:txBody>
      </p:sp>
      <p:sp>
        <p:nvSpPr>
          <p:cNvPr id="26" name="s6-adaptive-v-new">
            <a:extLst xmlns:a="http://schemas.openxmlformats.org/drawingml/2006/main">
              <a:ext uri="{FF2B5EF4-FFF2-40B4-BE49-F238E27FC236}">
                <a16:creationId xmlns:a16="http://schemas.microsoft.com/office/drawing/2014/main" id="{1AB7BD95-8CCD-4EA3-8E7C-D4527ECFA417}"/>
              </a:ext>
            </a:extLst>
          </p:cNvPr>
          <p:cNvSpPr>
            <a:spLocks xmlns:a="http://schemas.openxmlformats.org/drawingml/2006/main" noGrp="1"/>
          </p:cNvSpPr>
          <p:nvPr/>
        </p:nvSpPr>
        <p:spPr>
          <a:xfrm xmlns:a="http://schemas.openxmlformats.org/drawingml/2006/main">
            <a:off x="9372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Mode per task</a:t>
            </a:r>
          </a:p>
        </p:txBody>
      </p:sp>
      <p:sp>
        <p:nvSpPr>
          <p:cNvPr id="27" name="s6-adaptive-d-new">
            <a:extLst xmlns:a="http://schemas.openxmlformats.org/drawingml/2006/main">
              <a:ext uri="{FF2B5EF4-FFF2-40B4-BE49-F238E27FC236}">
                <a16:creationId xmlns:a16="http://schemas.microsoft.com/office/drawing/2014/main" id="{AC558179-DE3A-45E2-930D-6FA0B104A911}"/>
              </a:ext>
            </a:extLst>
          </p:cNvPr>
          <p:cNvSpPr>
            <a:spLocks xmlns:a="http://schemas.openxmlformats.org/drawingml/2006/main" noGrp="1"/>
          </p:cNvSpPr>
          <p:nvPr/>
        </p:nvSpPr>
        <p:spPr>
          <a:xfrm xmlns:a="http://schemas.openxmlformats.org/drawingml/2006/main">
            <a:off x="9372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Bypass / lite / full</a:t>
            </a:r>
          </a:p>
        </p:txBody>
      </p:sp>
      <p:sp>
        <p:nvSpPr>
          <p:cNvPr id="28" name="s6-summary-new">
            <a:extLst xmlns:a="http://schemas.openxmlformats.org/drawingml/2006/main">
              <a:ext uri="{FF2B5EF4-FFF2-40B4-BE49-F238E27FC236}">
                <a16:creationId xmlns:a16="http://schemas.microsoft.com/office/drawing/2014/main" id="{9B63C733-90F3-4E4F-8177-22F4DA6485D9}"/>
              </a:ext>
            </a:extLst>
          </p:cNvPr>
          <p:cNvSpPr>
            <a:spLocks xmlns:a="http://schemas.openxmlformats.org/drawingml/2006/main" noGrp="1"/>
          </p:cNvSpPr>
          <p:nvPr/>
        </p:nvSpPr>
        <p:spPr>
          <a:xfrm xmlns:a="http://schemas.openxmlformats.org/drawingml/2006/main">
            <a:off x="571500" y="5029200"/>
            <a:ext cx="11049000" cy="857250"/>
          </a:xfrm>
          <a:prstGeom xmlns:a="http://schemas.openxmlformats.org/drawingml/2006/main" prst="roundRect">
            <a:avLst>
              <a:gd name="adj" fmla="val 8889"/>
            </a:avLst>
          </a:prstGeom>
          <a:solidFill xmlns:a="http://schemas.openxmlformats.org/drawingml/2006/main">
            <a:srgbClr val="061B3D"/>
          </a:solidFill>
          <a:ln xmlns:a="http://schemas.openxmlformats.org/drawingml/2006/main" w="0">
            <a:solidFill>
              <a:srgbClr val="061B3D"/>
            </a:solidFill>
            <a:prstDash val="solid"/>
          </a:ln>
        </p:spPr>
      </p:sp>
      <p:sp>
        <p:nvSpPr>
          <p:cNvPr id="29" name="s6-n-trials-new">
            <a:extLst xmlns:a="http://schemas.openxmlformats.org/drawingml/2006/main">
              <a:ext uri="{FF2B5EF4-FFF2-40B4-BE49-F238E27FC236}">
                <a16:creationId xmlns:a16="http://schemas.microsoft.com/office/drawing/2014/main" id="{961D1829-7ACB-44CE-B8F7-395BC4F7C274}"/>
              </a:ext>
            </a:extLst>
          </p:cNvPr>
          <p:cNvSpPr>
            <a:spLocks xmlns:a="http://schemas.openxmlformats.org/drawingml/2006/main" noGrp="1"/>
          </p:cNvSpPr>
          <p:nvPr/>
        </p:nvSpPr>
        <p:spPr>
          <a:xfrm xmlns:a="http://schemas.openxmlformats.org/drawingml/2006/main">
            <a:off x="81915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3B7D5"/>
                </a:solidFill>
                <a:latin typeface="Arial"/>
                <a:ea typeface="Arial"/>
                <a:cs typeface="Arial"/>
              </a:defRPr>
            </a:pPr>
            <a:r>
              <a:t>16</a:t>
            </a:r>
          </a:p>
        </p:txBody>
      </p:sp>
      <p:sp>
        <p:nvSpPr>
          <p:cNvPr id="30" name="s6-l-trials-new">
            <a:extLst xmlns:a="http://schemas.openxmlformats.org/drawingml/2006/main">
              <a:ext uri="{FF2B5EF4-FFF2-40B4-BE49-F238E27FC236}">
                <a16:creationId xmlns:a16="http://schemas.microsoft.com/office/drawing/2014/main" id="{D9F9403A-3AAE-44F1-8D88-4631E3F1A5F8}"/>
              </a:ext>
            </a:extLst>
          </p:cNvPr>
          <p:cNvSpPr>
            <a:spLocks xmlns:a="http://schemas.openxmlformats.org/drawingml/2006/main" noGrp="1"/>
          </p:cNvSpPr>
          <p:nvPr/>
        </p:nvSpPr>
        <p:spPr>
          <a:xfrm xmlns:a="http://schemas.openxmlformats.org/drawingml/2006/main">
            <a:off x="81915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paired trials</a:t>
            </a:r>
          </a:p>
        </p:txBody>
      </p:sp>
      <p:sp>
        <p:nvSpPr>
          <p:cNvPr id="31" name="s6-n-arms-new">
            <a:extLst xmlns:a="http://schemas.openxmlformats.org/drawingml/2006/main">
              <a:ext uri="{FF2B5EF4-FFF2-40B4-BE49-F238E27FC236}">
                <a16:creationId xmlns:a16="http://schemas.microsoft.com/office/drawing/2014/main" id="{9580CB2C-71AD-434F-9A4F-F6FEC8CD4FC8}"/>
              </a:ext>
            </a:extLst>
          </p:cNvPr>
          <p:cNvSpPr>
            <a:spLocks xmlns:a="http://schemas.openxmlformats.org/drawingml/2006/main" noGrp="1"/>
          </p:cNvSpPr>
          <p:nvPr/>
        </p:nvSpPr>
        <p:spPr>
          <a:xfrm xmlns:a="http://schemas.openxmlformats.org/drawingml/2006/main">
            <a:off x="26670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677FF"/>
                </a:solidFill>
                <a:latin typeface="Arial"/>
                <a:ea typeface="Arial"/>
                <a:cs typeface="Arial"/>
              </a:defRPr>
            </a:pPr>
            <a:r>
              <a:t>64</a:t>
            </a:r>
          </a:p>
        </p:txBody>
      </p:sp>
      <p:sp>
        <p:nvSpPr>
          <p:cNvPr id="32" name="s6-l-arms-new">
            <a:extLst xmlns:a="http://schemas.openxmlformats.org/drawingml/2006/main">
              <a:ext uri="{FF2B5EF4-FFF2-40B4-BE49-F238E27FC236}">
                <a16:creationId xmlns:a16="http://schemas.microsoft.com/office/drawing/2014/main" id="{C922E93C-EB09-429F-998D-03E04BE75E6A}"/>
              </a:ext>
            </a:extLst>
          </p:cNvPr>
          <p:cNvSpPr>
            <a:spLocks xmlns:a="http://schemas.openxmlformats.org/drawingml/2006/main" noGrp="1"/>
          </p:cNvSpPr>
          <p:nvPr/>
        </p:nvSpPr>
        <p:spPr>
          <a:xfrm xmlns:a="http://schemas.openxmlformats.org/drawingml/2006/main">
            <a:off x="266700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total arms</a:t>
            </a:r>
          </a:p>
        </p:txBody>
      </p:sp>
      <p:sp>
        <p:nvSpPr>
          <p:cNvPr id="33" name="s6-n-fixed-new">
            <a:extLst xmlns:a="http://schemas.openxmlformats.org/drawingml/2006/main">
              <a:ext uri="{FF2B5EF4-FFF2-40B4-BE49-F238E27FC236}">
                <a16:creationId xmlns:a16="http://schemas.microsoft.com/office/drawing/2014/main" id="{19B1CEA3-0773-4161-B65E-7EDC43569515}"/>
              </a:ext>
            </a:extLst>
          </p:cNvPr>
          <p:cNvSpPr>
            <a:spLocks xmlns:a="http://schemas.openxmlformats.org/drawingml/2006/main" noGrp="1"/>
          </p:cNvSpPr>
          <p:nvPr/>
        </p:nvSpPr>
        <p:spPr>
          <a:xfrm xmlns:a="http://schemas.openxmlformats.org/drawingml/2006/main">
            <a:off x="4762500" y="5229225"/>
            <a:ext cx="11430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Arial"/>
                <a:ea typeface="Arial"/>
                <a:cs typeface="Arial"/>
              </a:defRPr>
            </a:pPr>
            <a:r>
              <a:t>FIXED</a:t>
            </a:r>
          </a:p>
        </p:txBody>
      </p:sp>
      <p:sp>
        <p:nvSpPr>
          <p:cNvPr id="34" name="s6-l-fixed-new">
            <a:extLst xmlns:a="http://schemas.openxmlformats.org/drawingml/2006/main">
              <a:ext uri="{FF2B5EF4-FFF2-40B4-BE49-F238E27FC236}">
                <a16:creationId xmlns:a16="http://schemas.microsoft.com/office/drawing/2014/main" id="{CA181A73-8185-4EF0-AD72-997F785EB5DC}"/>
              </a:ext>
            </a:extLst>
          </p:cNvPr>
          <p:cNvSpPr>
            <a:spLocks xmlns:a="http://schemas.openxmlformats.org/drawingml/2006/main" noGrp="1"/>
          </p:cNvSpPr>
          <p:nvPr/>
        </p:nvSpPr>
        <p:spPr>
          <a:xfrm xmlns:a="http://schemas.openxmlformats.org/drawingml/2006/main">
            <a:off x="47625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Consolas"/>
                <a:ea typeface="Consolas"/>
                <a:cs typeface="Consolas"/>
              </a:defRPr>
            </a:pPr>
            <a:r>
              <a:t>task | fixture | model | tests</a:t>
            </a:r>
          </a:p>
        </p:txBody>
      </p:sp>
      <p:sp>
        <p:nvSpPr>
          <p:cNvPr id="35" name="s6-n-variable-new">
            <a:extLst xmlns:a="http://schemas.openxmlformats.org/drawingml/2006/main">
              <a:ext uri="{FF2B5EF4-FFF2-40B4-BE49-F238E27FC236}">
                <a16:creationId xmlns:a16="http://schemas.microsoft.com/office/drawing/2014/main" id="{765B2D8E-36E8-48FF-B693-273BD5E7256F}"/>
              </a:ext>
            </a:extLst>
          </p:cNvPr>
          <p:cNvSpPr>
            <a:spLocks xmlns:a="http://schemas.openxmlformats.org/drawingml/2006/main" noGrp="1"/>
          </p:cNvSpPr>
          <p:nvPr/>
        </p:nvSpPr>
        <p:spPr>
          <a:xfrm xmlns:a="http://schemas.openxmlformats.org/drawingml/2006/main">
            <a:off x="8382000" y="5229225"/>
            <a:ext cx="2095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7438F5"/>
                </a:solidFill>
                <a:latin typeface="Arial"/>
                <a:ea typeface="Arial"/>
                <a:cs typeface="Arial"/>
              </a:defRPr>
            </a:pPr>
            <a:r>
              <a:t>ONE VARIABLE</a:t>
            </a:r>
          </a:p>
        </p:txBody>
      </p:sp>
      <p:sp>
        <p:nvSpPr>
          <p:cNvPr id="36" name="s6-l-variable-new">
            <a:extLst xmlns:a="http://schemas.openxmlformats.org/drawingml/2006/main">
              <a:ext uri="{FF2B5EF4-FFF2-40B4-BE49-F238E27FC236}">
                <a16:creationId xmlns:a16="http://schemas.microsoft.com/office/drawing/2014/main" id="{7ADB15E6-FDB9-403D-9747-42B5B37CF00E}"/>
              </a:ext>
            </a:extLst>
          </p:cNvPr>
          <p:cNvSpPr>
            <a:spLocks xmlns:a="http://schemas.openxmlformats.org/drawingml/2006/main" noGrp="1"/>
          </p:cNvSpPr>
          <p:nvPr/>
        </p:nvSpPr>
        <p:spPr>
          <a:xfrm xmlns:a="http://schemas.openxmlformats.org/drawingml/2006/main">
            <a:off x="83820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repository-context strategy</a:t>
            </a:r>
          </a:p>
        </p:txBody>
      </p:sp>
      <p:cxnSp>
        <p:nvCxnSpPr>
          <p:cNvPr id="76" name="footer-rule-6"/>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8" name="footer-source-6">
            <a:extLst xmlns:a="http://schemas.openxmlformats.org/drawingml/2006/main">
              <a:ext uri="{FF2B5EF4-FFF2-40B4-BE49-F238E27FC236}">
                <a16:creationId xmlns:a16="http://schemas.microsoft.com/office/drawing/2014/main" id="{CE369D1D-1E0A-4FBC-BD7E-6E930E0DA0F4}"/>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Frozen preregistered exploratory design | 16 trials x 4 arms | github.com/lohchanhin/benchmarks-ab-demo</a:t>
            </a:r>
          </a:p>
        </p:txBody>
      </p:sp>
      <p:sp>
        <p:nvSpPr>
          <p:cNvPr id="39" name="footer-number-6">
            <a:extLst xmlns:a="http://schemas.openxmlformats.org/drawingml/2006/main">
              <a:ext uri="{FF2B5EF4-FFF2-40B4-BE49-F238E27FC236}">
                <a16:creationId xmlns:a16="http://schemas.microsoft.com/office/drawing/2014/main" id="{BE2E0534-2BD3-4CE4-9789-07781AD0D9EC}"/>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6</a:t>
            </a:r>
          </a:p>
        </p:txBody>
      </p:sp>
    </p:spTree>
    <p:extLst>
      <p:ext uri="{BB962C8B-B14F-4D97-AF65-F5344CB8AC3E}">
        <p14:creationId xmlns:p14="http://schemas.microsoft.com/office/powerpoint/2010/main" val="10671601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s7-title-new">
            <a:extLst xmlns:a="http://schemas.openxmlformats.org/drawingml/2006/main">
              <a:ext uri="{FF2B5EF4-FFF2-40B4-BE49-F238E27FC236}">
                <a16:creationId xmlns:a16="http://schemas.microsoft.com/office/drawing/2014/main" id="{21508189-EE61-4059-B792-EA2D7757F45B}"/>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benchmark rejected an always-on Palace.</a:t>
            </a:r>
          </a:p>
        </p:txBody>
      </p:sp>
      <p:sp>
        <p:nvSpPr>
          <p:cNvPr id="2" name="s7-subtitle-new">
            <a:extLst xmlns:a="http://schemas.openxmlformats.org/drawingml/2006/main">
              <a:ext uri="{FF2B5EF4-FFF2-40B4-BE49-F238E27FC236}">
                <a16:creationId xmlns:a16="http://schemas.microsoft.com/office/drawing/2014/main" id="{7E4D47A7-8282-4BD0-BCE1-1A969B5FF591}"/>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On deterministic synthetic tasks, routing added calls; v0.2.3 responds with selective context modes.</a:t>
            </a:r>
          </a:p>
        </p:txBody>
      </p:sp>
      <p:sp>
        <p:nvSpPr>
          <p:cNvPr id="3" name="s7-result-panel">
            <a:extLst xmlns:a="http://schemas.openxmlformats.org/drawingml/2006/main">
              <a:ext uri="{FF2B5EF4-FFF2-40B4-BE49-F238E27FC236}">
                <a16:creationId xmlns:a16="http://schemas.microsoft.com/office/drawing/2014/main" id="{413F853A-C01F-4D48-A703-A1B8B495CD55}"/>
              </a:ext>
            </a:extLst>
          </p:cNvPr>
          <p:cNvSpPr>
            <a:spLocks xmlns:a="http://schemas.openxmlformats.org/drawingml/2006/main" noGrp="1"/>
          </p:cNvSpPr>
          <p:nvPr/>
        </p:nvSpPr>
        <p:spPr>
          <a:xfrm xmlns:a="http://schemas.openxmlformats.org/drawingml/2006/main">
            <a:off x="552450" y="1752600"/>
            <a:ext cx="4248150" cy="3562350"/>
          </a:xfrm>
          <a:prstGeom xmlns:a="http://schemas.openxmlformats.org/drawingml/2006/main" prst="roundRect">
            <a:avLst>
              <a:gd name="adj" fmla="val 2139"/>
            </a:avLst>
          </a:prstGeom>
          <a:solidFill xmlns:a="http://schemas.openxmlformats.org/drawingml/2006/main">
            <a:srgbClr val="FFF1F3"/>
          </a:solidFill>
          <a:ln xmlns:a="http://schemas.openxmlformats.org/drawingml/2006/main" w="0">
            <a:solidFill>
              <a:srgbClr val="FFF1F3"/>
            </a:solidFill>
            <a:prstDash val="solid"/>
          </a:ln>
        </p:spPr>
      </p:sp>
      <p:sp>
        <p:nvSpPr>
          <p:cNvPr id="4" name="s7-result-k">
            <a:extLst xmlns:a="http://schemas.openxmlformats.org/drawingml/2006/main">
              <a:ext uri="{FF2B5EF4-FFF2-40B4-BE49-F238E27FC236}">
                <a16:creationId xmlns:a16="http://schemas.microsoft.com/office/drawing/2014/main" id="{3BD0AD4F-06A9-42A3-9982-AB9684E5F117}"/>
              </a:ext>
            </a:extLst>
          </p:cNvPr>
          <p:cNvSpPr>
            <a:spLocks xmlns:a="http://schemas.openxmlformats.org/drawingml/2006/main" noGrp="1"/>
          </p:cNvSpPr>
          <p:nvPr/>
        </p:nvSpPr>
        <p:spPr>
          <a:xfrm xmlns:a="http://schemas.openxmlformats.org/drawingml/2006/main">
            <a:off x="819150" y="20193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D4515D"/>
                </a:solidFill>
                <a:latin typeface="Arial"/>
                <a:ea typeface="Arial"/>
                <a:cs typeface="Arial"/>
              </a:defRPr>
            </a:pPr>
            <a:r>
              <a:t>FROZEN v0.2.1 RESULT</a:t>
            </a:r>
          </a:p>
        </p:txBody>
      </p:sp>
      <p:sp>
        <p:nvSpPr>
          <p:cNvPr id="5" name="s7-tools-stat">
            <a:extLst xmlns:a="http://schemas.openxmlformats.org/drawingml/2006/main">
              <a:ext uri="{FF2B5EF4-FFF2-40B4-BE49-F238E27FC236}">
                <a16:creationId xmlns:a16="http://schemas.microsoft.com/office/drawing/2014/main" id="{BFD0AB1F-B840-4D99-A184-28804F0F6152}"/>
              </a:ext>
            </a:extLst>
          </p:cNvPr>
          <p:cNvSpPr>
            <a:spLocks xmlns:a="http://schemas.openxmlformats.org/drawingml/2006/main" noGrp="1"/>
          </p:cNvSpPr>
          <p:nvPr/>
        </p:nvSpPr>
        <p:spPr>
          <a:xfrm xmlns:a="http://schemas.openxmlformats.org/drawingml/2006/main">
            <a:off x="819150" y="2400300"/>
            <a:ext cx="1619250" cy="609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D4515D"/>
                </a:solidFill>
                <a:latin typeface="Arial"/>
                <a:ea typeface="Arial"/>
                <a:cs typeface="Arial"/>
              </a:defRPr>
            </a:pPr>
            <a:r>
              <a:t>+4.5</a:t>
            </a:r>
          </a:p>
        </p:txBody>
      </p:sp>
      <p:sp>
        <p:nvSpPr>
          <p:cNvPr id="6" name="s7-tools-label">
            <a:extLst xmlns:a="http://schemas.openxmlformats.org/drawingml/2006/main">
              <a:ext uri="{FF2B5EF4-FFF2-40B4-BE49-F238E27FC236}">
                <a16:creationId xmlns:a16="http://schemas.microsoft.com/office/drawing/2014/main" id="{4BA4E474-98A7-4AD2-9799-16DD3CDAF312}"/>
              </a:ext>
            </a:extLst>
          </p:cNvPr>
          <p:cNvSpPr>
            <a:spLocks xmlns:a="http://schemas.openxmlformats.org/drawingml/2006/main" noGrp="1"/>
          </p:cNvSpPr>
          <p:nvPr/>
        </p:nvSpPr>
        <p:spPr>
          <a:xfrm xmlns:a="http://schemas.openxmlformats.org/drawingml/2006/main">
            <a:off x="2095500" y="2600325"/>
            <a:ext cx="17145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tool calls</a:t>
            </a:r>
          </a:p>
        </p:txBody>
      </p:sp>
      <p:sp>
        <p:nvSpPr>
          <p:cNvPr id="7" name="s7-tools-ci">
            <a:extLst xmlns:a="http://schemas.openxmlformats.org/drawingml/2006/main">
              <a:ext uri="{FF2B5EF4-FFF2-40B4-BE49-F238E27FC236}">
                <a16:creationId xmlns:a16="http://schemas.microsoft.com/office/drawing/2014/main" id="{54F65D05-45F0-42E9-97FF-D23260D7397E}"/>
              </a:ext>
            </a:extLst>
          </p:cNvPr>
          <p:cNvSpPr>
            <a:spLocks xmlns:a="http://schemas.openxmlformats.org/drawingml/2006/main" noGrp="1"/>
          </p:cNvSpPr>
          <p:nvPr/>
        </p:nvSpPr>
        <p:spPr>
          <a:xfrm xmlns:a="http://schemas.openxmlformats.org/drawingml/2006/main">
            <a:off x="819150" y="3028950"/>
            <a:ext cx="3143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+2.5 to +6.5</a:t>
            </a:r>
          </a:p>
        </p:txBody>
      </p:sp>
      <p:cxnSp>
        <p:nvCxnSpPr>
          <p:cNvPr id="44" name="s7-result-rule"/>
          <p:cNvCxnSpPr/>
          <p:nvPr/>
        </p:nvCxnSpPr>
        <p:spPr>
          <a:xfrm xmlns:a="http://schemas.openxmlformats.org/drawingml/2006/main">
            <a:off x="819150" y="3409950"/>
            <a:ext cx="3524250" cy="953"/>
          </a:xfrm>
          <a:prstGeom xmlns:a="http://schemas.openxmlformats.org/drawingml/2006/main" prst="straightConnector1">
            <a:avLst/>
          </a:prstGeom>
          <a:ln xmlns:a="http://schemas.openxmlformats.org/drawingml/2006/main" w="9525">
            <a:solidFill>
              <a:srgbClr val="E8BCC2"/>
            </a:solidFill>
            <a:prstDash val="solid"/>
          </a:ln>
        </p:spPr>
      </p:cxnSp>
      <p:sp>
        <p:nvSpPr>
          <p:cNvPr id="9" name="s7-token-stat">
            <a:extLst xmlns:a="http://schemas.openxmlformats.org/drawingml/2006/main">
              <a:ext uri="{FF2B5EF4-FFF2-40B4-BE49-F238E27FC236}">
                <a16:creationId xmlns:a16="http://schemas.microsoft.com/office/drawing/2014/main" id="{686062B4-E426-41D6-8944-87A0CEC64E3F}"/>
              </a:ext>
            </a:extLst>
          </p:cNvPr>
          <p:cNvSpPr>
            <a:spLocks xmlns:a="http://schemas.openxmlformats.org/drawingml/2006/main" noGrp="1"/>
          </p:cNvSpPr>
          <p:nvPr/>
        </p:nvSpPr>
        <p:spPr>
          <a:xfrm xmlns:a="http://schemas.openxmlformats.org/drawingml/2006/main">
            <a:off x="819150" y="3638550"/>
            <a:ext cx="16192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B87712"/>
                </a:solidFill>
                <a:latin typeface="Arial"/>
                <a:ea typeface="Arial"/>
                <a:cs typeface="Arial"/>
              </a:defRPr>
            </a:pPr>
            <a:r>
              <a:t>+30,147</a:t>
            </a:r>
          </a:p>
        </p:txBody>
      </p:sp>
      <p:sp>
        <p:nvSpPr>
          <p:cNvPr id="10" name="s7-token-label">
            <a:extLst xmlns:a="http://schemas.openxmlformats.org/drawingml/2006/main">
              <a:ext uri="{FF2B5EF4-FFF2-40B4-BE49-F238E27FC236}">
                <a16:creationId xmlns:a16="http://schemas.microsoft.com/office/drawing/2014/main" id="{306FEAE0-3CD3-4C10-8F5F-2F4AB37A87D2}"/>
              </a:ext>
            </a:extLst>
          </p:cNvPr>
          <p:cNvSpPr>
            <a:spLocks xmlns:a="http://schemas.openxmlformats.org/drawingml/2006/main" noGrp="1"/>
          </p:cNvSpPr>
          <p:nvPr/>
        </p:nvSpPr>
        <p:spPr>
          <a:xfrm xmlns:a="http://schemas.openxmlformats.org/drawingml/2006/main">
            <a:off x="2381250" y="367665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reported tokens</a:t>
            </a:r>
          </a:p>
        </p:txBody>
      </p:sp>
      <p:sp>
        <p:nvSpPr>
          <p:cNvPr id="11" name="s7-token-note">
            <a:extLst xmlns:a="http://schemas.openxmlformats.org/drawingml/2006/main">
              <a:ext uri="{FF2B5EF4-FFF2-40B4-BE49-F238E27FC236}">
                <a16:creationId xmlns:a16="http://schemas.microsoft.com/office/drawing/2014/main" id="{B42B31DC-9F78-41B0-A639-D3EFCAB76CC3}"/>
              </a:ext>
            </a:extLst>
          </p:cNvPr>
          <p:cNvSpPr>
            <a:spLocks xmlns:a="http://schemas.openxmlformats.org/drawingml/2006/main" noGrp="1"/>
          </p:cNvSpPr>
          <p:nvPr/>
        </p:nvSpPr>
        <p:spPr>
          <a:xfrm xmlns:a="http://schemas.openxmlformats.org/drawingml/2006/main">
            <a:off x="2381250" y="3943350"/>
            <a:ext cx="171450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B87712"/>
                </a:solidFill>
                <a:latin typeface="Arial"/>
                <a:ea typeface="Arial"/>
                <a:cs typeface="Arial"/>
              </a:defRPr>
            </a:pPr>
            <a:r>
              <a:t>interval crosses zero</a:t>
            </a:r>
          </a:p>
        </p:txBody>
      </p:sp>
      <p:sp>
        <p:nvSpPr>
          <p:cNvPr id="12" name="s7-time-stat">
            <a:extLst xmlns:a="http://schemas.openxmlformats.org/drawingml/2006/main">
              <a:ext uri="{FF2B5EF4-FFF2-40B4-BE49-F238E27FC236}">
                <a16:creationId xmlns:a16="http://schemas.microsoft.com/office/drawing/2014/main" id="{5AECB523-CA05-47D3-B1DE-73ECBFB661FB}"/>
              </a:ext>
            </a:extLst>
          </p:cNvPr>
          <p:cNvSpPr>
            <a:spLocks xmlns:a="http://schemas.openxmlformats.org/drawingml/2006/main" noGrp="1"/>
          </p:cNvSpPr>
          <p:nvPr/>
        </p:nvSpPr>
        <p:spPr>
          <a:xfrm xmlns:a="http://schemas.openxmlformats.org/drawingml/2006/main">
            <a:off x="819150" y="4305300"/>
            <a:ext cx="16192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B87712"/>
                </a:solidFill>
                <a:latin typeface="Arial"/>
                <a:ea typeface="Arial"/>
                <a:cs typeface="Arial"/>
              </a:defRPr>
            </a:pPr>
            <a:r>
              <a:t>+10.919s</a:t>
            </a:r>
          </a:p>
        </p:txBody>
      </p:sp>
      <p:sp>
        <p:nvSpPr>
          <p:cNvPr id="13" name="s7-time-label">
            <a:extLst xmlns:a="http://schemas.openxmlformats.org/drawingml/2006/main">
              <a:ext uri="{FF2B5EF4-FFF2-40B4-BE49-F238E27FC236}">
                <a16:creationId xmlns:a16="http://schemas.microsoft.com/office/drawing/2014/main" id="{1D5F6219-EF82-40BC-92D6-B05A5450E38A}"/>
              </a:ext>
            </a:extLst>
          </p:cNvPr>
          <p:cNvSpPr>
            <a:spLocks xmlns:a="http://schemas.openxmlformats.org/drawingml/2006/main" noGrp="1"/>
          </p:cNvSpPr>
          <p:nvPr/>
        </p:nvSpPr>
        <p:spPr>
          <a:xfrm xmlns:a="http://schemas.openxmlformats.org/drawingml/2006/main">
            <a:off x="2381250" y="43434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wall time</a:t>
            </a:r>
          </a:p>
        </p:txBody>
      </p:sp>
      <p:sp>
        <p:nvSpPr>
          <p:cNvPr id="14" name="s7-time-note">
            <a:extLst xmlns:a="http://schemas.openxmlformats.org/drawingml/2006/main">
              <a:ext uri="{FF2B5EF4-FFF2-40B4-BE49-F238E27FC236}">
                <a16:creationId xmlns:a16="http://schemas.microsoft.com/office/drawing/2014/main" id="{73C389EF-0204-4E36-8FC4-575E2EC9993E}"/>
              </a:ext>
            </a:extLst>
          </p:cNvPr>
          <p:cNvSpPr>
            <a:spLocks xmlns:a="http://schemas.openxmlformats.org/drawingml/2006/main" noGrp="1"/>
          </p:cNvSpPr>
          <p:nvPr/>
        </p:nvSpPr>
        <p:spPr>
          <a:xfrm xmlns:a="http://schemas.openxmlformats.org/drawingml/2006/main">
            <a:off x="2381250" y="4610100"/>
            <a:ext cx="171450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B87712"/>
                </a:solidFill>
                <a:latin typeface="Arial"/>
                <a:ea typeface="Arial"/>
                <a:cs typeface="Arial"/>
              </a:defRPr>
            </a:pPr>
            <a:r>
              <a:t>interval crosses zero</a:t>
            </a:r>
          </a:p>
        </p:txBody>
      </p:sp>
      <p:sp>
        <p:nvSpPr>
          <p:cNvPr id="15" name="s7-correct">
            <a:extLst xmlns:a="http://schemas.openxmlformats.org/drawingml/2006/main">
              <a:ext uri="{FF2B5EF4-FFF2-40B4-BE49-F238E27FC236}">
                <a16:creationId xmlns:a16="http://schemas.microsoft.com/office/drawing/2014/main" id="{EEDE1458-9D13-4DEA-A3C5-DFF0B6B74E06}"/>
              </a:ext>
            </a:extLst>
          </p:cNvPr>
          <p:cNvSpPr>
            <a:spLocks xmlns:a="http://schemas.openxmlformats.org/drawingml/2006/main" noGrp="1"/>
          </p:cNvSpPr>
          <p:nvPr/>
        </p:nvSpPr>
        <p:spPr>
          <a:xfrm xmlns:a="http://schemas.openxmlformats.org/drawingml/2006/main">
            <a:off x="819150" y="49911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64/64 correct | no correctness winner</a:t>
            </a:r>
          </a:p>
        </p:txBody>
      </p:sp>
      <p:sp>
        <p:nvSpPr>
          <p:cNvPr id="16" name="s7-policy-panel">
            <a:extLst xmlns:a="http://schemas.openxmlformats.org/drawingml/2006/main">
              <a:ext uri="{FF2B5EF4-FFF2-40B4-BE49-F238E27FC236}">
                <a16:creationId xmlns:a16="http://schemas.microsoft.com/office/drawing/2014/main" id="{EECDA71F-36E6-43EF-A43D-6A0957BB0A0A}"/>
              </a:ext>
            </a:extLst>
          </p:cNvPr>
          <p:cNvSpPr>
            <a:spLocks xmlns:a="http://schemas.openxmlformats.org/drawingml/2006/main" noGrp="1"/>
          </p:cNvSpPr>
          <p:nvPr/>
        </p:nvSpPr>
        <p:spPr>
          <a:xfrm xmlns:a="http://schemas.openxmlformats.org/drawingml/2006/main">
            <a:off x="5143500" y="1752600"/>
            <a:ext cx="6496050" cy="3562350"/>
          </a:xfrm>
          <a:prstGeom xmlns:a="http://schemas.openxmlformats.org/drawingml/2006/main" prst="roundRect">
            <a:avLst>
              <a:gd name="adj" fmla="val 2139"/>
            </a:avLst>
          </a:prstGeom>
          <a:solidFill xmlns:a="http://schemas.openxmlformats.org/drawingml/2006/main">
            <a:srgbClr val="F7F9FC"/>
          </a:solidFill>
          <a:ln xmlns:a="http://schemas.openxmlformats.org/drawingml/2006/main" w="9525">
            <a:solidFill>
              <a:srgbClr val="B8BCC4"/>
            </a:solidFill>
            <a:prstDash val="solid"/>
          </a:ln>
        </p:spPr>
      </p:sp>
      <p:sp>
        <p:nvSpPr>
          <p:cNvPr id="17" name="s7-policy-k">
            <a:extLst xmlns:a="http://schemas.openxmlformats.org/drawingml/2006/main">
              <a:ext uri="{FF2B5EF4-FFF2-40B4-BE49-F238E27FC236}">
                <a16:creationId xmlns:a16="http://schemas.microsoft.com/office/drawing/2014/main" id="{9926438A-FA07-4755-A7DC-771024483001}"/>
              </a:ext>
            </a:extLst>
          </p:cNvPr>
          <p:cNvSpPr>
            <a:spLocks xmlns:a="http://schemas.openxmlformats.org/drawingml/2006/main" noGrp="1"/>
          </p:cNvSpPr>
          <p:nvPr/>
        </p:nvSpPr>
        <p:spPr>
          <a:xfrm xmlns:a="http://schemas.openxmlformats.org/drawingml/2006/main">
            <a:off x="5429250" y="2019300"/>
            <a:ext cx="57150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CURRENT v0.2.3 MODE POLICY</a:t>
            </a:r>
          </a:p>
        </p:txBody>
      </p:sp>
      <p:sp>
        <p:nvSpPr>
          <p:cNvPr id="18" name="s7-policy-v">
            <a:extLst xmlns:a="http://schemas.openxmlformats.org/drawingml/2006/main">
              <a:ext uri="{FF2B5EF4-FFF2-40B4-BE49-F238E27FC236}">
                <a16:creationId xmlns:a16="http://schemas.microsoft.com/office/drawing/2014/main" id="{A70A6B99-F2C2-42A6-96D6-BB30AD398042}"/>
              </a:ext>
            </a:extLst>
          </p:cNvPr>
          <p:cNvSpPr>
            <a:spLocks xmlns:a="http://schemas.openxmlformats.org/drawingml/2006/main" noGrp="1"/>
          </p:cNvSpPr>
          <p:nvPr/>
        </p:nvSpPr>
        <p:spPr>
          <a:xfrm xmlns:a="http://schemas.openxmlformats.org/drawingml/2006/main">
            <a:off x="5429250" y="2324100"/>
            <a:ext cx="5715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Use less Palace unless risk justifies more.</a:t>
            </a:r>
          </a:p>
        </p:txBody>
      </p:sp>
      <p:sp>
        <p:nvSpPr>
          <p:cNvPr id="19" name="s7-bypass">
            <a:extLst xmlns:a="http://schemas.openxmlformats.org/drawingml/2006/main">
              <a:ext uri="{FF2B5EF4-FFF2-40B4-BE49-F238E27FC236}">
                <a16:creationId xmlns:a16="http://schemas.microsoft.com/office/drawing/2014/main" id="{377D3285-C9E2-49CD-8C50-518BEA500CB2}"/>
              </a:ext>
            </a:extLst>
          </p:cNvPr>
          <p:cNvSpPr>
            <a:spLocks xmlns:a="http://schemas.openxmlformats.org/drawingml/2006/main" noGrp="1"/>
          </p:cNvSpPr>
          <p:nvPr/>
        </p:nvSpPr>
        <p:spPr>
          <a:xfrm xmlns:a="http://schemas.openxmlformats.org/drawingml/2006/main">
            <a:off x="5429250" y="2743200"/>
            <a:ext cx="5924550" cy="666750"/>
          </a:xfrm>
          <a:prstGeom xmlns:a="http://schemas.openxmlformats.org/drawingml/2006/main" prst="roundRect">
            <a:avLst>
              <a:gd name="adj" fmla="val 11429"/>
            </a:avLst>
          </a:prstGeom>
          <a:solidFill xmlns:a="http://schemas.openxmlformats.org/drawingml/2006/main">
            <a:srgbClr val="EDEFF3"/>
          </a:solidFill>
          <a:ln xmlns:a="http://schemas.openxmlformats.org/drawingml/2006/main" w="0">
            <a:solidFill>
              <a:srgbClr val="EDEFF3"/>
            </a:solidFill>
            <a:prstDash val="solid"/>
          </a:ln>
        </p:spPr>
      </p:sp>
      <p:sp>
        <p:nvSpPr>
          <p:cNvPr id="20" name="s7-bypass-k">
            <a:extLst xmlns:a="http://schemas.openxmlformats.org/drawingml/2006/main">
              <a:ext uri="{FF2B5EF4-FFF2-40B4-BE49-F238E27FC236}">
                <a16:creationId xmlns:a16="http://schemas.microsoft.com/office/drawing/2014/main" id="{1AB891D2-BF18-4B6C-8B67-940EDD451A88}"/>
              </a:ext>
            </a:extLst>
          </p:cNvPr>
          <p:cNvSpPr>
            <a:spLocks xmlns:a="http://schemas.openxmlformats.org/drawingml/2006/main" noGrp="1"/>
          </p:cNvSpPr>
          <p:nvPr/>
        </p:nvSpPr>
        <p:spPr>
          <a:xfrm xmlns:a="http://schemas.openxmlformats.org/drawingml/2006/main">
            <a:off x="5619750" y="2895600"/>
            <a:ext cx="11620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BYPASS</a:t>
            </a:r>
          </a:p>
        </p:txBody>
      </p:sp>
      <p:sp>
        <p:nvSpPr>
          <p:cNvPr id="21" name="s7-bypass-v">
            <a:extLst xmlns:a="http://schemas.openxmlformats.org/drawingml/2006/main">
              <a:ext uri="{FF2B5EF4-FFF2-40B4-BE49-F238E27FC236}">
                <a16:creationId xmlns:a16="http://schemas.microsoft.com/office/drawing/2014/main" id="{7BACDBA1-F4BD-4D6E-8753-D50772CC550D}"/>
              </a:ext>
            </a:extLst>
          </p:cNvPr>
          <p:cNvSpPr>
            <a:spLocks xmlns:a="http://schemas.openxmlformats.org/drawingml/2006/main" noGrp="1"/>
          </p:cNvSpPr>
          <p:nvPr/>
        </p:nvSpPr>
        <p:spPr>
          <a:xfrm xmlns:a="http://schemas.openxmlformats.org/drawingml/2006/main">
            <a:off x="6858000" y="2857500"/>
            <a:ext cx="4171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one explicit file in a small repo</a:t>
            </a:r>
          </a:p>
        </p:txBody>
      </p:sp>
      <p:sp>
        <p:nvSpPr>
          <p:cNvPr id="22" name="s7-bypass-d">
            <a:extLst xmlns:a="http://schemas.openxmlformats.org/drawingml/2006/main">
              <a:ext uri="{FF2B5EF4-FFF2-40B4-BE49-F238E27FC236}">
                <a16:creationId xmlns:a16="http://schemas.microsoft.com/office/drawing/2014/main" id="{3E694FC0-CD0B-4941-8E6A-84603A512E74}"/>
              </a:ext>
            </a:extLst>
          </p:cNvPr>
          <p:cNvSpPr>
            <a:spLocks xmlns:a="http://schemas.openxmlformats.org/drawingml/2006/main" noGrp="1"/>
          </p:cNvSpPr>
          <p:nvPr/>
        </p:nvSpPr>
        <p:spPr>
          <a:xfrm xmlns:a="http://schemas.openxmlformats.org/drawingml/2006/main">
            <a:off x="6858000" y="3133725"/>
            <a:ext cx="417195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26071"/>
                </a:solidFill>
                <a:latin typeface="Arial"/>
                <a:ea typeface="Arial"/>
                <a:cs typeface="Arial"/>
              </a:defRPr>
            </a:pPr>
            <a:r>
              <a:t>no packed source; one decision call remains</a:t>
            </a:r>
          </a:p>
        </p:txBody>
      </p:sp>
      <p:sp>
        <p:nvSpPr>
          <p:cNvPr id="23" name="s7-lite">
            <a:extLst xmlns:a="http://schemas.openxmlformats.org/drawingml/2006/main">
              <a:ext uri="{FF2B5EF4-FFF2-40B4-BE49-F238E27FC236}">
                <a16:creationId xmlns:a16="http://schemas.microsoft.com/office/drawing/2014/main" id="{D0B31634-BA94-4520-A610-8E81B222A18B}"/>
              </a:ext>
            </a:extLst>
          </p:cNvPr>
          <p:cNvSpPr>
            <a:spLocks xmlns:a="http://schemas.openxmlformats.org/drawingml/2006/main" noGrp="1"/>
          </p:cNvSpPr>
          <p:nvPr/>
        </p:nvSpPr>
        <p:spPr>
          <a:xfrm xmlns:a="http://schemas.openxmlformats.org/drawingml/2006/main">
            <a:off x="5429250" y="3505200"/>
            <a:ext cx="5924550" cy="666750"/>
          </a:xfrm>
          <a:prstGeom xmlns:a="http://schemas.openxmlformats.org/drawingml/2006/main" prst="roundRect">
            <a:avLst>
              <a:gd name="adj" fmla="val 11429"/>
            </a:avLst>
          </a:prstGeom>
          <a:solidFill xmlns:a="http://schemas.openxmlformats.org/drawingml/2006/main">
            <a:srgbClr val="E8F7FB"/>
          </a:solidFill>
          <a:ln xmlns:a="http://schemas.openxmlformats.org/drawingml/2006/main" w="0">
            <a:solidFill>
              <a:srgbClr val="E8F7FB"/>
            </a:solidFill>
            <a:prstDash val="solid"/>
          </a:ln>
        </p:spPr>
      </p:sp>
      <p:sp>
        <p:nvSpPr>
          <p:cNvPr id="24" name="s7-lite-k">
            <a:extLst xmlns:a="http://schemas.openxmlformats.org/drawingml/2006/main">
              <a:ext uri="{FF2B5EF4-FFF2-40B4-BE49-F238E27FC236}">
                <a16:creationId xmlns:a16="http://schemas.microsoft.com/office/drawing/2014/main" id="{25DC19EC-01D6-4BC5-8C16-4746138D7DF5}"/>
              </a:ext>
            </a:extLst>
          </p:cNvPr>
          <p:cNvSpPr>
            <a:spLocks xmlns:a="http://schemas.openxmlformats.org/drawingml/2006/main" noGrp="1"/>
          </p:cNvSpPr>
          <p:nvPr/>
        </p:nvSpPr>
        <p:spPr>
          <a:xfrm xmlns:a="http://schemas.openxmlformats.org/drawingml/2006/main">
            <a:off x="5619750" y="3657600"/>
            <a:ext cx="11620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ROUTE-LITE</a:t>
            </a:r>
          </a:p>
        </p:txBody>
      </p:sp>
      <p:sp>
        <p:nvSpPr>
          <p:cNvPr id="25" name="s7-lite-v">
            <a:extLst xmlns:a="http://schemas.openxmlformats.org/drawingml/2006/main">
              <a:ext uri="{FF2B5EF4-FFF2-40B4-BE49-F238E27FC236}">
                <a16:creationId xmlns:a16="http://schemas.microsoft.com/office/drawing/2014/main" id="{034531F7-1AA4-48B3-BD6D-5CC0C4D13DB9}"/>
              </a:ext>
            </a:extLst>
          </p:cNvPr>
          <p:cNvSpPr>
            <a:spLocks xmlns:a="http://schemas.openxmlformats.org/drawingml/2006/main" noGrp="1"/>
          </p:cNvSpPr>
          <p:nvPr/>
        </p:nvSpPr>
        <p:spPr>
          <a:xfrm xmlns:a="http://schemas.openxmlformats.org/drawingml/2006/main">
            <a:off x="6858000" y="3619500"/>
            <a:ext cx="4171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bounded task + focused route</a:t>
            </a:r>
          </a:p>
        </p:txBody>
      </p:sp>
      <p:sp>
        <p:nvSpPr>
          <p:cNvPr id="26" name="s7-lite-d">
            <a:extLst xmlns:a="http://schemas.openxmlformats.org/drawingml/2006/main">
              <a:ext uri="{FF2B5EF4-FFF2-40B4-BE49-F238E27FC236}">
                <a16:creationId xmlns:a16="http://schemas.microsoft.com/office/drawing/2014/main" id="{94A9DA78-6F8B-46E8-9B80-F1913FCAC36F}"/>
              </a:ext>
            </a:extLst>
          </p:cNvPr>
          <p:cNvSpPr>
            <a:spLocks xmlns:a="http://schemas.openxmlformats.org/drawingml/2006/main" noGrp="1"/>
          </p:cNvSpPr>
          <p:nvPr/>
        </p:nvSpPr>
        <p:spPr>
          <a:xfrm xmlns:a="http://schemas.openxmlformats.org/drawingml/2006/main">
            <a:off x="6858000" y="3895725"/>
            <a:ext cx="417195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26071"/>
                </a:solidFill>
                <a:latin typeface="Arial"/>
                <a:ea typeface="Arial"/>
                <a:cs typeface="Arial"/>
              </a:defRPr>
            </a:pPr>
            <a:r>
              <a:t>primary route only</a:t>
            </a:r>
          </a:p>
        </p:txBody>
      </p:sp>
      <p:sp>
        <p:nvSpPr>
          <p:cNvPr id="27" name="s7-full">
            <a:extLst xmlns:a="http://schemas.openxmlformats.org/drawingml/2006/main">
              <a:ext uri="{FF2B5EF4-FFF2-40B4-BE49-F238E27FC236}">
                <a16:creationId xmlns:a16="http://schemas.microsoft.com/office/drawing/2014/main" id="{7E9F3C5B-D207-488E-B4F6-D228CC207DB7}"/>
              </a:ext>
            </a:extLst>
          </p:cNvPr>
          <p:cNvSpPr>
            <a:spLocks xmlns:a="http://schemas.openxmlformats.org/drawingml/2006/main" noGrp="1"/>
          </p:cNvSpPr>
          <p:nvPr/>
        </p:nvSpPr>
        <p:spPr>
          <a:xfrm xmlns:a="http://schemas.openxmlformats.org/drawingml/2006/main">
            <a:off x="5429250" y="4267200"/>
            <a:ext cx="5924550" cy="838200"/>
          </a:xfrm>
          <a:prstGeom xmlns:a="http://schemas.openxmlformats.org/drawingml/2006/main" prst="roundRect">
            <a:avLst>
              <a:gd name="adj" fmla="val 9091"/>
            </a:avLst>
          </a:prstGeom>
          <a:solidFill xmlns:a="http://schemas.openxmlformats.org/drawingml/2006/main">
            <a:srgbClr val="E9F7F2"/>
          </a:solidFill>
          <a:ln xmlns:a="http://schemas.openxmlformats.org/drawingml/2006/main" w="0">
            <a:solidFill>
              <a:srgbClr val="E9F7F2"/>
            </a:solidFill>
            <a:prstDash val="solid"/>
          </a:ln>
        </p:spPr>
      </p:sp>
      <p:sp>
        <p:nvSpPr>
          <p:cNvPr id="28" name="s7-full-k">
            <a:extLst xmlns:a="http://schemas.openxmlformats.org/drawingml/2006/main">
              <a:ext uri="{FF2B5EF4-FFF2-40B4-BE49-F238E27FC236}">
                <a16:creationId xmlns:a16="http://schemas.microsoft.com/office/drawing/2014/main" id="{BED98981-BFBA-40AA-AD3C-898B704BE16F}"/>
              </a:ext>
            </a:extLst>
          </p:cNvPr>
          <p:cNvSpPr>
            <a:spLocks xmlns:a="http://schemas.openxmlformats.org/drawingml/2006/main" noGrp="1"/>
          </p:cNvSpPr>
          <p:nvPr/>
        </p:nvSpPr>
        <p:spPr>
          <a:xfrm xmlns:a="http://schemas.openxmlformats.org/drawingml/2006/main">
            <a:off x="5619750" y="443865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FULL / GUARDED</a:t>
            </a:r>
          </a:p>
        </p:txBody>
      </p:sp>
      <p:sp>
        <p:nvSpPr>
          <p:cNvPr id="29" name="s7-full-v">
            <a:extLst xmlns:a="http://schemas.openxmlformats.org/drawingml/2006/main">
              <a:ext uri="{FF2B5EF4-FFF2-40B4-BE49-F238E27FC236}">
                <a16:creationId xmlns:a16="http://schemas.microsoft.com/office/drawing/2014/main" id="{BE5C2050-9879-45A7-8871-445AF12E4D03}"/>
              </a:ext>
            </a:extLst>
          </p:cNvPr>
          <p:cNvSpPr>
            <a:spLocks xmlns:a="http://schemas.openxmlformats.org/drawingml/2006/main" noGrp="1"/>
          </p:cNvSpPr>
          <p:nvPr/>
        </p:nvSpPr>
        <p:spPr>
          <a:xfrm xmlns:a="http://schemas.openxmlformats.org/drawingml/2006/main">
            <a:off x="7048500" y="44005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cross-stack, contract, or memory risk</a:t>
            </a:r>
          </a:p>
        </p:txBody>
      </p:sp>
      <p:sp>
        <p:nvSpPr>
          <p:cNvPr id="30" name="s7-full-d">
            <a:extLst xmlns:a="http://schemas.openxmlformats.org/drawingml/2006/main">
              <a:ext uri="{FF2B5EF4-FFF2-40B4-BE49-F238E27FC236}">
                <a16:creationId xmlns:a16="http://schemas.microsoft.com/office/drawing/2014/main" id="{D7635D5A-5271-41CB-9BC7-9BBC5976C72F}"/>
              </a:ext>
            </a:extLst>
          </p:cNvPr>
          <p:cNvSpPr>
            <a:spLocks xmlns:a="http://schemas.openxmlformats.org/drawingml/2006/main" noGrp="1"/>
          </p:cNvSpPr>
          <p:nvPr/>
        </p:nvSpPr>
        <p:spPr>
          <a:xfrm xmlns:a="http://schemas.openxmlformats.org/drawingml/2006/main">
            <a:off x="7048500" y="4695825"/>
            <a:ext cx="39814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26071"/>
                </a:solidFill>
                <a:latin typeface="Arial"/>
                <a:ea typeface="Arial"/>
                <a:cs typeface="Arial"/>
              </a:defRPr>
            </a:pPr>
            <a:r>
              <a:t>source + scoped memory + guardrails</a:t>
            </a:r>
          </a:p>
        </p:txBody>
      </p:sp>
      <p:sp>
        <p:nvSpPr>
          <p:cNvPr id="31" name="s7-next">
            <a:extLst xmlns:a="http://schemas.openxmlformats.org/drawingml/2006/main">
              <a:ext uri="{FF2B5EF4-FFF2-40B4-BE49-F238E27FC236}">
                <a16:creationId xmlns:a16="http://schemas.microsoft.com/office/drawing/2014/main" id="{51A3D722-6235-4A8C-8FC7-6DF7B2643FF6}"/>
              </a:ext>
            </a:extLst>
          </p:cNvPr>
          <p:cNvSpPr>
            <a:spLocks xmlns:a="http://schemas.openxmlformats.org/drawingml/2006/main" noGrp="1"/>
          </p:cNvSpPr>
          <p:nvPr/>
        </p:nvSpPr>
        <p:spPr>
          <a:xfrm xmlns:a="http://schemas.openxmlformats.org/drawingml/2006/main">
            <a:off x="552450" y="5524500"/>
            <a:ext cx="11087100" cy="533400"/>
          </a:xfrm>
          <a:prstGeom xmlns:a="http://schemas.openxmlformats.org/drawingml/2006/main" prst="roundRect">
            <a:avLst>
              <a:gd name="adj" fmla="val 14286"/>
            </a:avLst>
          </a:prstGeom>
          <a:solidFill xmlns:a="http://schemas.openxmlformats.org/drawingml/2006/main">
            <a:srgbClr val="061B3D"/>
          </a:solidFill>
          <a:ln xmlns:a="http://schemas.openxmlformats.org/drawingml/2006/main" w="0">
            <a:solidFill>
              <a:srgbClr val="061B3D"/>
            </a:solidFill>
            <a:prstDash val="solid"/>
          </a:ln>
        </p:spPr>
      </p:sp>
      <p:sp>
        <p:nvSpPr>
          <p:cNvPr id="32" name="s7-next-k">
            <a:extLst xmlns:a="http://schemas.openxmlformats.org/drawingml/2006/main">
              <a:ext uri="{FF2B5EF4-FFF2-40B4-BE49-F238E27FC236}">
                <a16:creationId xmlns:a16="http://schemas.microsoft.com/office/drawing/2014/main" id="{27774AB2-3B90-48A1-8061-3C3632A8A3CE}"/>
              </a:ext>
            </a:extLst>
          </p:cNvPr>
          <p:cNvSpPr>
            <a:spLocks xmlns:a="http://schemas.openxmlformats.org/drawingml/2006/main" noGrp="1"/>
          </p:cNvSpPr>
          <p:nvPr/>
        </p:nvSpPr>
        <p:spPr>
          <a:xfrm xmlns:a="http://schemas.openxmlformats.org/drawingml/2006/main">
            <a:off x="781050" y="567690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3B7D5"/>
                </a:solidFill>
                <a:latin typeface="Arial"/>
                <a:ea typeface="Arial"/>
                <a:cs typeface="Arial"/>
              </a:defRPr>
            </a:pPr>
            <a:r>
              <a:t>NEXT v0.2.3 TEST</a:t>
            </a:r>
          </a:p>
        </p:txBody>
      </p:sp>
      <p:sp>
        <p:nvSpPr>
          <p:cNvPr id="33" name="s7-next-v">
            <a:extLst xmlns:a="http://schemas.openxmlformats.org/drawingml/2006/main">
              <a:ext uri="{FF2B5EF4-FFF2-40B4-BE49-F238E27FC236}">
                <a16:creationId xmlns:a16="http://schemas.microsoft.com/office/drawing/2014/main" id="{F096F8B7-8A40-4CAC-9CE2-8349396438D1}"/>
              </a:ext>
            </a:extLst>
          </p:cNvPr>
          <p:cNvSpPr>
            <a:spLocks xmlns:a="http://schemas.openxmlformats.org/drawingml/2006/main" noGrp="1"/>
          </p:cNvSpPr>
          <p:nvPr/>
        </p:nvSpPr>
        <p:spPr>
          <a:xfrm xmlns:a="http://schemas.openxmlformats.org/drawingml/2006/main">
            <a:off x="2857500" y="5657850"/>
            <a:ext cx="8477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FFFFFF"/>
                </a:solidFill>
                <a:latin typeface="Arial"/>
                <a:ea typeface="Arial"/>
                <a:cs typeface="Arial"/>
              </a:defRPr>
            </a:pPr>
            <a:r>
              <a:t>larger real repos | hidden memory-dependent traps | repeated models, machines, and long-lived sessions</a:t>
            </a:r>
          </a:p>
        </p:txBody>
      </p:sp>
      <p:cxnSp>
        <p:nvCxnSpPr>
          <p:cNvPr id="70" name="footer-rule-7"/>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5" name="footer-source-7">
            <a:extLst xmlns:a="http://schemas.openxmlformats.org/drawingml/2006/main">
              <a:ext uri="{FF2B5EF4-FFF2-40B4-BE49-F238E27FC236}">
                <a16:creationId xmlns:a16="http://schemas.microsoft.com/office/drawing/2014/main" id="{869D515A-5D1D-454F-9335-8DD8DFFCC068}"/>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Control result: supported tool-call overhead; Token and time intervals crossed zero | benchmark used synthetic repositories</a:t>
            </a:r>
          </a:p>
        </p:txBody>
      </p:sp>
      <p:sp>
        <p:nvSpPr>
          <p:cNvPr id="36" name="footer-number-7">
            <a:extLst xmlns:a="http://schemas.openxmlformats.org/drawingml/2006/main">
              <a:ext uri="{FF2B5EF4-FFF2-40B4-BE49-F238E27FC236}">
                <a16:creationId xmlns:a16="http://schemas.microsoft.com/office/drawing/2014/main" id="{FCEC97E2-7B7B-40B5-B344-FDACF536EA16}"/>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7</a:t>
            </a:r>
          </a:p>
        </p:txBody>
      </p:sp>
    </p:spTree>
    <p:extLst>
      <p:ext uri="{BB962C8B-B14F-4D97-AF65-F5344CB8AC3E}">
        <p14:creationId xmlns:p14="http://schemas.microsoft.com/office/powerpoint/2010/main" val="16430057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s8-title-new">
            <a:extLst xmlns:a="http://schemas.openxmlformats.org/drawingml/2006/main">
              <a:ext uri="{FF2B5EF4-FFF2-40B4-BE49-F238E27FC236}">
                <a16:creationId xmlns:a16="http://schemas.microsoft.com/office/drawing/2014/main" id="{3802844C-F306-4B2E-8477-1515D8611E7A}"/>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Adaptive vs Full: Palace payload became smaller.</a:t>
            </a:r>
          </a:p>
        </p:txBody>
      </p:sp>
      <p:sp>
        <p:nvSpPr>
          <p:cNvPr id="2" name="s8-subtitle-new">
            <a:extLst xmlns:a="http://schemas.openxmlformats.org/drawingml/2006/main">
              <a:ext uri="{FF2B5EF4-FFF2-40B4-BE49-F238E27FC236}">
                <a16:creationId xmlns:a16="http://schemas.microsoft.com/office/drawing/2014/main" id="{44B5B586-AEA3-43E3-B3C9-24A7BD1B1C3E}"/>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Negative differences favor Adaptive. Only Palace-owned bytes stayed fully below zero.</a:t>
            </a:r>
          </a:p>
        </p:txBody>
      </p:sp>
      <p:sp>
        <p:nvSpPr>
          <p:cNvPr id="3" name="s8-negative-new">
            <a:extLst xmlns:a="http://schemas.openxmlformats.org/drawingml/2006/main">
              <a:ext uri="{FF2B5EF4-FFF2-40B4-BE49-F238E27FC236}">
                <a16:creationId xmlns:a16="http://schemas.microsoft.com/office/drawing/2014/main" id="{3E5F40D5-9B41-4A69-B990-C13BA643696B}"/>
              </a:ext>
            </a:extLst>
          </p:cNvPr>
          <p:cNvSpPr>
            <a:spLocks xmlns:a="http://schemas.openxmlformats.org/drawingml/2006/main" noGrp="1"/>
          </p:cNvSpPr>
          <p:nvPr/>
        </p:nvSpPr>
        <p:spPr>
          <a:xfrm xmlns:a="http://schemas.openxmlformats.org/drawingml/2006/main">
            <a:off x="495300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071"/>
                </a:solidFill>
                <a:latin typeface="Arial"/>
                <a:ea typeface="Arial"/>
                <a:cs typeface="Arial"/>
              </a:defRPr>
            </a:pPr>
            <a:r>
              <a:t>NEGATIVE</a:t>
            </a:r>
          </a:p>
        </p:txBody>
      </p:sp>
      <p:sp>
        <p:nvSpPr>
          <p:cNvPr id="4" name="s8-zero-new">
            <a:extLst xmlns:a="http://schemas.openxmlformats.org/drawingml/2006/main">
              <a:ext uri="{FF2B5EF4-FFF2-40B4-BE49-F238E27FC236}">
                <a16:creationId xmlns:a16="http://schemas.microsoft.com/office/drawing/2014/main" id="{E0CF7841-6F7A-493E-8EF0-14CCA6651759}"/>
              </a:ext>
            </a:extLst>
          </p:cNvPr>
          <p:cNvSpPr>
            <a:spLocks xmlns:a="http://schemas.openxmlformats.org/drawingml/2006/main" noGrp="1"/>
          </p:cNvSpPr>
          <p:nvPr/>
        </p:nvSpPr>
        <p:spPr>
          <a:xfrm xmlns:a="http://schemas.openxmlformats.org/drawingml/2006/main">
            <a:off x="6934200" y="1600200"/>
            <a:ext cx="6096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0A1224"/>
                </a:solidFill>
                <a:latin typeface="Arial"/>
                <a:ea typeface="Arial"/>
                <a:cs typeface="Arial"/>
              </a:defRPr>
            </a:pPr>
            <a:r>
              <a:t>ZERO</a:t>
            </a:r>
          </a:p>
        </p:txBody>
      </p:sp>
      <p:sp>
        <p:nvSpPr>
          <p:cNvPr id="5" name="s8-positive-new">
            <a:extLst xmlns:a="http://schemas.openxmlformats.org/drawingml/2006/main">
              <a:ext uri="{FF2B5EF4-FFF2-40B4-BE49-F238E27FC236}">
                <a16:creationId xmlns:a16="http://schemas.microsoft.com/office/drawing/2014/main" id="{06F1D704-DD20-483B-B7B5-468A1620942B}"/>
              </a:ext>
            </a:extLst>
          </p:cNvPr>
          <p:cNvSpPr>
            <a:spLocks xmlns:a="http://schemas.openxmlformats.org/drawingml/2006/main" noGrp="1"/>
          </p:cNvSpPr>
          <p:nvPr/>
        </p:nvSpPr>
        <p:spPr>
          <a:xfrm xmlns:a="http://schemas.openxmlformats.org/drawingml/2006/main">
            <a:off x="847725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071"/>
                </a:solidFill>
                <a:latin typeface="Arial"/>
                <a:ea typeface="Arial"/>
                <a:cs typeface="Arial"/>
              </a:defRPr>
            </a:pPr>
            <a:r>
              <a:t>POSITIVE</a:t>
            </a:r>
          </a:p>
        </p:txBody>
      </p:sp>
      <p:sp>
        <p:nvSpPr>
          <p:cNvPr id="6" name="s8-bytes-new-panel">
            <a:extLst xmlns:a="http://schemas.openxmlformats.org/drawingml/2006/main">
              <a:ext uri="{FF2B5EF4-FFF2-40B4-BE49-F238E27FC236}">
                <a16:creationId xmlns:a16="http://schemas.microsoft.com/office/drawing/2014/main" id="{DFE4ED78-7995-4E1A-9488-E8CD3E4A0585}"/>
              </a:ext>
            </a:extLst>
          </p:cNvPr>
          <p:cNvSpPr>
            <a:spLocks xmlns:a="http://schemas.openxmlformats.org/drawingml/2006/main" noGrp="1"/>
          </p:cNvSpPr>
          <p:nvPr/>
        </p:nvSpPr>
        <p:spPr>
          <a:xfrm xmlns:a="http://schemas.openxmlformats.org/drawingml/2006/main">
            <a:off x="552450" y="19240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7" name="s8-bytes-new-label">
            <a:extLst xmlns:a="http://schemas.openxmlformats.org/drawingml/2006/main">
              <a:ext uri="{FF2B5EF4-FFF2-40B4-BE49-F238E27FC236}">
                <a16:creationId xmlns:a16="http://schemas.microsoft.com/office/drawing/2014/main" id="{8A76280D-E9A1-4188-9C47-36D7A6D790BD}"/>
              </a:ext>
            </a:extLst>
          </p:cNvPr>
          <p:cNvSpPr>
            <a:spLocks xmlns:a="http://schemas.openxmlformats.org/drawingml/2006/main" noGrp="1"/>
          </p:cNvSpPr>
          <p:nvPr/>
        </p:nvSpPr>
        <p:spPr>
          <a:xfrm xmlns:a="http://schemas.openxmlformats.org/drawingml/2006/main">
            <a:off x="781050" y="20764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PALACE OUTPUT</a:t>
            </a:r>
          </a:p>
        </p:txBody>
      </p:sp>
      <p:sp>
        <p:nvSpPr>
          <p:cNvPr id="8" name="s8-bytes-new-value">
            <a:extLst xmlns:a="http://schemas.openxmlformats.org/drawingml/2006/main">
              <a:ext uri="{FF2B5EF4-FFF2-40B4-BE49-F238E27FC236}">
                <a16:creationId xmlns:a16="http://schemas.microsoft.com/office/drawing/2014/main" id="{2A185273-38D1-4A25-AE14-73F7FF8866E2}"/>
              </a:ext>
            </a:extLst>
          </p:cNvPr>
          <p:cNvSpPr>
            <a:spLocks xmlns:a="http://schemas.openxmlformats.org/drawingml/2006/main" noGrp="1"/>
          </p:cNvSpPr>
          <p:nvPr/>
        </p:nvSpPr>
        <p:spPr>
          <a:xfrm xmlns:a="http://schemas.openxmlformats.org/drawingml/2006/main">
            <a:off x="781050" y="23431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5A777"/>
                </a:solidFill>
                <a:latin typeface="Arial"/>
                <a:ea typeface="Arial"/>
                <a:cs typeface="Arial"/>
              </a:defRPr>
            </a:pPr>
            <a:r>
              <a:t>-898.5 bytes</a:t>
            </a:r>
          </a:p>
        </p:txBody>
      </p:sp>
      <p:sp>
        <p:nvSpPr>
          <p:cNvPr id="9" name="s8-bytes-new-ci">
            <a:extLst xmlns:a="http://schemas.openxmlformats.org/drawingml/2006/main">
              <a:ext uri="{FF2B5EF4-FFF2-40B4-BE49-F238E27FC236}">
                <a16:creationId xmlns:a16="http://schemas.microsoft.com/office/drawing/2014/main" id="{D3E6BD3C-AB0F-4E0F-B805-DEDE3FD6B379}"/>
              </a:ext>
            </a:extLst>
          </p:cNvPr>
          <p:cNvSpPr>
            <a:spLocks xmlns:a="http://schemas.openxmlformats.org/drawingml/2006/main" noGrp="1"/>
          </p:cNvSpPr>
          <p:nvPr/>
        </p:nvSpPr>
        <p:spPr>
          <a:xfrm xmlns:a="http://schemas.openxmlformats.org/drawingml/2006/main">
            <a:off x="2857500" y="24098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-1,972 to -550.5</a:t>
            </a:r>
          </a:p>
        </p:txBody>
      </p:sp>
      <p:cxnSp>
        <p:nvCxnSpPr>
          <p:cNvPr id="57" name="s8-bytes-new-axis"/>
          <p:cNvCxnSpPr/>
          <p:nvPr/>
        </p:nvCxnSpPr>
        <p:spPr>
          <a:xfrm xmlns:a="http://schemas.openxmlformats.org/drawingml/2006/main">
            <a:off x="4953000" y="25717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58" name="s8-bytes-new-zero"/>
          <p:cNvCxnSpPr/>
          <p:nvPr/>
        </p:nvCxnSpPr>
        <p:spPr>
          <a:xfrm xmlns:a="http://schemas.openxmlformats.org/drawingml/2006/main">
            <a:off x="7334250" y="23431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12" name="s8-bytes-new-zero-label">
            <a:extLst xmlns:a="http://schemas.openxmlformats.org/drawingml/2006/main">
              <a:ext uri="{FF2B5EF4-FFF2-40B4-BE49-F238E27FC236}">
                <a16:creationId xmlns:a16="http://schemas.microsoft.com/office/drawing/2014/main" id="{E0876B21-A2B7-41B3-992E-59634FAE1AB9}"/>
              </a:ext>
            </a:extLst>
          </p:cNvPr>
          <p:cNvSpPr>
            <a:spLocks xmlns:a="http://schemas.openxmlformats.org/drawingml/2006/main" noGrp="1"/>
          </p:cNvSpPr>
          <p:nvPr/>
        </p:nvSpPr>
        <p:spPr>
          <a:xfrm xmlns:a="http://schemas.openxmlformats.org/drawingml/2006/main">
            <a:off x="7239000" y="27051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60" name="s8-bytes-new-interval"/>
          <p:cNvCxnSpPr/>
          <p:nvPr/>
        </p:nvCxnSpPr>
        <p:spPr>
          <a:xfrm xmlns:a="http://schemas.openxmlformats.org/drawingml/2006/main">
            <a:off x="5199784" y="2571750"/>
            <a:ext cx="1538612" cy="953"/>
          </a:xfrm>
          <a:prstGeom xmlns:a="http://schemas.openxmlformats.org/drawingml/2006/main" prst="straightConnector1">
            <a:avLst/>
          </a:prstGeom>
          <a:ln xmlns:a="http://schemas.openxmlformats.org/drawingml/2006/main" w="57150">
            <a:solidFill>
              <a:srgbClr val="15A777"/>
            </a:solidFill>
            <a:prstDash val="solid"/>
          </a:ln>
        </p:spPr>
      </p:cxnSp>
      <p:cxnSp>
        <p:nvCxnSpPr>
          <p:cNvPr id="61" name="s8-bytes-new-low-cap"/>
          <p:cNvCxnSpPr/>
          <p:nvPr/>
        </p:nvCxnSpPr>
        <p:spPr>
          <a:xfrm xmlns:a="http://schemas.openxmlformats.org/drawingml/2006/main">
            <a:off x="5199784" y="2486025"/>
            <a:ext cx="953" cy="171450"/>
          </a:xfrm>
          <a:prstGeom xmlns:a="http://schemas.openxmlformats.org/drawingml/2006/main" prst="straightConnector1">
            <a:avLst/>
          </a:prstGeom>
          <a:ln xmlns:a="http://schemas.openxmlformats.org/drawingml/2006/main" w="28575">
            <a:solidFill>
              <a:srgbClr val="15A777"/>
            </a:solidFill>
            <a:prstDash val="solid"/>
          </a:ln>
        </p:spPr>
      </p:cxnSp>
      <p:cxnSp>
        <p:nvCxnSpPr>
          <p:cNvPr id="62" name="s8-bytes-new-high-cap"/>
          <p:cNvCxnSpPr/>
          <p:nvPr/>
        </p:nvCxnSpPr>
        <p:spPr>
          <a:xfrm xmlns:a="http://schemas.openxmlformats.org/drawingml/2006/main">
            <a:off x="6738396" y="2486025"/>
            <a:ext cx="953" cy="171450"/>
          </a:xfrm>
          <a:prstGeom xmlns:a="http://schemas.openxmlformats.org/drawingml/2006/main" prst="straightConnector1">
            <a:avLst/>
          </a:prstGeom>
          <a:ln xmlns:a="http://schemas.openxmlformats.org/drawingml/2006/main" w="28575">
            <a:solidFill>
              <a:srgbClr val="15A777"/>
            </a:solidFill>
            <a:prstDash val="solid"/>
          </a:ln>
        </p:spPr>
      </p:cxnSp>
      <p:sp>
        <p:nvSpPr>
          <p:cNvPr id="16" name="s8-bytes-new-median">
            <a:extLst xmlns:a="http://schemas.openxmlformats.org/drawingml/2006/main">
              <a:ext uri="{FF2B5EF4-FFF2-40B4-BE49-F238E27FC236}">
                <a16:creationId xmlns:a16="http://schemas.microsoft.com/office/drawing/2014/main" id="{96683643-F349-4AEC-9772-119C685E4EBD}"/>
              </a:ext>
            </a:extLst>
          </p:cNvPr>
          <p:cNvSpPr>
            <a:spLocks xmlns:a="http://schemas.openxmlformats.org/drawingml/2006/main" noGrp="1"/>
          </p:cNvSpPr>
          <p:nvPr/>
        </p:nvSpPr>
        <p:spPr>
          <a:xfrm xmlns:a="http://schemas.openxmlformats.org/drawingml/2006/main">
            <a:off x="6295051" y="2505075"/>
            <a:ext cx="133350" cy="1333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7" name="s8-bytes-new-status">
            <a:extLst xmlns:a="http://schemas.openxmlformats.org/drawingml/2006/main">
              <a:ext uri="{FF2B5EF4-FFF2-40B4-BE49-F238E27FC236}">
                <a16:creationId xmlns:a16="http://schemas.microsoft.com/office/drawing/2014/main" id="{84ED7540-95AA-4774-8356-34851149F8B6}"/>
              </a:ext>
            </a:extLst>
          </p:cNvPr>
          <p:cNvSpPr>
            <a:spLocks xmlns:a="http://schemas.openxmlformats.org/drawingml/2006/main" noGrp="1"/>
          </p:cNvSpPr>
          <p:nvPr/>
        </p:nvSpPr>
        <p:spPr>
          <a:xfrm xmlns:a="http://schemas.openxmlformats.org/drawingml/2006/main">
            <a:off x="9906000" y="21050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15A777"/>
                </a:solidFill>
                <a:latin typeface="Arial"/>
                <a:ea typeface="Arial"/>
                <a:cs typeface="Arial"/>
              </a:defRPr>
            </a:pPr>
            <a:r>
              <a:t>SUPPORTED</a:t>
            </a:r>
          </a:p>
        </p:txBody>
      </p:sp>
      <p:sp>
        <p:nvSpPr>
          <p:cNvPr id="18" name="s8-bytes-new-interpretation">
            <a:extLst xmlns:a="http://schemas.openxmlformats.org/drawingml/2006/main">
              <a:ext uri="{FF2B5EF4-FFF2-40B4-BE49-F238E27FC236}">
                <a16:creationId xmlns:a16="http://schemas.microsoft.com/office/drawing/2014/main" id="{BA44842E-ACE6-4482-9CE8-3F6385FA013A}"/>
              </a:ext>
            </a:extLst>
          </p:cNvPr>
          <p:cNvSpPr>
            <a:spLocks xmlns:a="http://schemas.openxmlformats.org/drawingml/2006/main" noGrp="1"/>
          </p:cNvSpPr>
          <p:nvPr/>
        </p:nvSpPr>
        <p:spPr>
          <a:xfrm xmlns:a="http://schemas.openxmlformats.org/drawingml/2006/main">
            <a:off x="9906000" y="23717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smaller payload</a:t>
            </a:r>
          </a:p>
        </p:txBody>
      </p:sp>
      <p:sp>
        <p:nvSpPr>
          <p:cNvPr id="19" name="s8-tokens-new-panel">
            <a:extLst xmlns:a="http://schemas.openxmlformats.org/drawingml/2006/main">
              <a:ext uri="{FF2B5EF4-FFF2-40B4-BE49-F238E27FC236}">
                <a16:creationId xmlns:a16="http://schemas.microsoft.com/office/drawing/2014/main" id="{D996115E-A2E9-4C8E-A0BD-5AE4362EA43B}"/>
              </a:ext>
            </a:extLst>
          </p:cNvPr>
          <p:cNvSpPr>
            <a:spLocks xmlns:a="http://schemas.openxmlformats.org/drawingml/2006/main" noGrp="1"/>
          </p:cNvSpPr>
          <p:nvPr/>
        </p:nvSpPr>
        <p:spPr>
          <a:xfrm xmlns:a="http://schemas.openxmlformats.org/drawingml/2006/main">
            <a:off x="552450" y="31432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20" name="s8-tokens-new-label">
            <a:extLst xmlns:a="http://schemas.openxmlformats.org/drawingml/2006/main">
              <a:ext uri="{FF2B5EF4-FFF2-40B4-BE49-F238E27FC236}">
                <a16:creationId xmlns:a16="http://schemas.microsoft.com/office/drawing/2014/main" id="{0EFF5D4E-E430-4AAA-9A7C-069D2A29BAC8}"/>
              </a:ext>
            </a:extLst>
          </p:cNvPr>
          <p:cNvSpPr>
            <a:spLocks xmlns:a="http://schemas.openxmlformats.org/drawingml/2006/main" noGrp="1"/>
          </p:cNvSpPr>
          <p:nvPr/>
        </p:nvSpPr>
        <p:spPr>
          <a:xfrm xmlns:a="http://schemas.openxmlformats.org/drawingml/2006/main">
            <a:off x="781050" y="32956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REPORTED TOKENS</a:t>
            </a:r>
          </a:p>
        </p:txBody>
      </p:sp>
      <p:sp>
        <p:nvSpPr>
          <p:cNvPr id="21" name="s8-tokens-new-value">
            <a:extLst xmlns:a="http://schemas.openxmlformats.org/drawingml/2006/main">
              <a:ext uri="{FF2B5EF4-FFF2-40B4-BE49-F238E27FC236}">
                <a16:creationId xmlns:a16="http://schemas.microsoft.com/office/drawing/2014/main" id="{B4CF726D-C82C-4E01-9179-5D6E0285C6D8}"/>
              </a:ext>
            </a:extLst>
          </p:cNvPr>
          <p:cNvSpPr>
            <a:spLocks xmlns:a="http://schemas.openxmlformats.org/drawingml/2006/main" noGrp="1"/>
          </p:cNvSpPr>
          <p:nvPr/>
        </p:nvSpPr>
        <p:spPr>
          <a:xfrm xmlns:a="http://schemas.openxmlformats.org/drawingml/2006/main">
            <a:off x="781050" y="35623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-16,522.5</a:t>
            </a:r>
          </a:p>
        </p:txBody>
      </p:sp>
      <p:sp>
        <p:nvSpPr>
          <p:cNvPr id="22" name="s8-tokens-new-ci">
            <a:extLst xmlns:a="http://schemas.openxmlformats.org/drawingml/2006/main">
              <a:ext uri="{FF2B5EF4-FFF2-40B4-BE49-F238E27FC236}">
                <a16:creationId xmlns:a16="http://schemas.microsoft.com/office/drawing/2014/main" id="{5CE62B2A-6285-4AE8-AF9E-0EA15A836888}"/>
              </a:ext>
            </a:extLst>
          </p:cNvPr>
          <p:cNvSpPr>
            <a:spLocks xmlns:a="http://schemas.openxmlformats.org/drawingml/2006/main" noGrp="1"/>
          </p:cNvSpPr>
          <p:nvPr/>
        </p:nvSpPr>
        <p:spPr>
          <a:xfrm xmlns:a="http://schemas.openxmlformats.org/drawingml/2006/main">
            <a:off x="2857500" y="36290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-38,931 to +24,588</a:t>
            </a:r>
          </a:p>
        </p:txBody>
      </p:sp>
      <p:cxnSp>
        <p:nvCxnSpPr>
          <p:cNvPr id="70" name="s8-tokens-new-axis"/>
          <p:cNvCxnSpPr/>
          <p:nvPr/>
        </p:nvCxnSpPr>
        <p:spPr>
          <a:xfrm xmlns:a="http://schemas.openxmlformats.org/drawingml/2006/main">
            <a:off x="4953000" y="37909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71" name="s8-tokens-new-zero"/>
          <p:cNvCxnSpPr/>
          <p:nvPr/>
        </p:nvCxnSpPr>
        <p:spPr>
          <a:xfrm xmlns:a="http://schemas.openxmlformats.org/drawingml/2006/main">
            <a:off x="7334250" y="35623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25" name="s8-tokens-new-zero-label">
            <a:extLst xmlns:a="http://schemas.openxmlformats.org/drawingml/2006/main">
              <a:ext uri="{FF2B5EF4-FFF2-40B4-BE49-F238E27FC236}">
                <a16:creationId xmlns:a16="http://schemas.microsoft.com/office/drawing/2014/main" id="{E0279A17-5B32-496E-B6BB-44BAA3BDFEC1}"/>
              </a:ext>
            </a:extLst>
          </p:cNvPr>
          <p:cNvSpPr>
            <a:spLocks xmlns:a="http://schemas.openxmlformats.org/drawingml/2006/main" noGrp="1"/>
          </p:cNvSpPr>
          <p:nvPr/>
        </p:nvSpPr>
        <p:spPr>
          <a:xfrm xmlns:a="http://schemas.openxmlformats.org/drawingml/2006/main">
            <a:off x="7239000" y="39243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73" name="s8-tokens-new-interval"/>
          <p:cNvCxnSpPr/>
          <p:nvPr/>
        </p:nvCxnSpPr>
        <p:spPr>
          <a:xfrm xmlns:a="http://schemas.openxmlformats.org/drawingml/2006/main">
            <a:off x="5274151" y="3790950"/>
            <a:ext cx="3361214"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74" name="s8-tokens-new-low-cap"/>
          <p:cNvCxnSpPr/>
          <p:nvPr/>
        </p:nvCxnSpPr>
        <p:spPr>
          <a:xfrm xmlns:a="http://schemas.openxmlformats.org/drawingml/2006/main">
            <a:off x="5274151" y="37052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75" name="s8-tokens-new-high-cap"/>
          <p:cNvCxnSpPr/>
          <p:nvPr/>
        </p:nvCxnSpPr>
        <p:spPr>
          <a:xfrm xmlns:a="http://schemas.openxmlformats.org/drawingml/2006/main">
            <a:off x="8635365" y="37052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29" name="s8-tokens-new-median">
            <a:extLst xmlns:a="http://schemas.openxmlformats.org/drawingml/2006/main">
              <a:ext uri="{FF2B5EF4-FFF2-40B4-BE49-F238E27FC236}">
                <a16:creationId xmlns:a16="http://schemas.microsoft.com/office/drawing/2014/main" id="{3E0785BF-BBE3-4770-8912-526D0C92D35E}"/>
              </a:ext>
            </a:extLst>
          </p:cNvPr>
          <p:cNvSpPr>
            <a:spLocks xmlns:a="http://schemas.openxmlformats.org/drawingml/2006/main" noGrp="1"/>
          </p:cNvSpPr>
          <p:nvPr/>
        </p:nvSpPr>
        <p:spPr>
          <a:xfrm xmlns:a="http://schemas.openxmlformats.org/drawingml/2006/main">
            <a:off x="6393259" y="37242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30" name="s8-tokens-new-status">
            <a:extLst xmlns:a="http://schemas.openxmlformats.org/drawingml/2006/main">
              <a:ext uri="{FF2B5EF4-FFF2-40B4-BE49-F238E27FC236}">
                <a16:creationId xmlns:a16="http://schemas.microsoft.com/office/drawing/2014/main" id="{2E152CCD-71EF-4639-9DED-39E519847F95}"/>
              </a:ext>
            </a:extLst>
          </p:cNvPr>
          <p:cNvSpPr>
            <a:spLocks xmlns:a="http://schemas.openxmlformats.org/drawingml/2006/main" noGrp="1"/>
          </p:cNvSpPr>
          <p:nvPr/>
        </p:nvSpPr>
        <p:spPr>
          <a:xfrm xmlns:a="http://schemas.openxmlformats.org/drawingml/2006/main">
            <a:off x="9906000" y="33242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31" name="s8-tokens-new-interpretation">
            <a:extLst xmlns:a="http://schemas.openxmlformats.org/drawingml/2006/main">
              <a:ext uri="{FF2B5EF4-FFF2-40B4-BE49-F238E27FC236}">
                <a16:creationId xmlns:a16="http://schemas.microsoft.com/office/drawing/2014/main" id="{8C7860D7-F64B-4D54-A0F4-66376472B222}"/>
              </a:ext>
            </a:extLst>
          </p:cNvPr>
          <p:cNvSpPr>
            <a:spLocks xmlns:a="http://schemas.openxmlformats.org/drawingml/2006/main" noGrp="1"/>
          </p:cNvSpPr>
          <p:nvPr/>
        </p:nvSpPr>
        <p:spPr>
          <a:xfrm xmlns:a="http://schemas.openxmlformats.org/drawingml/2006/main">
            <a:off x="9906000" y="35909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sp>
        <p:nvSpPr>
          <p:cNvPr id="32" name="s8-time-new-panel">
            <a:extLst xmlns:a="http://schemas.openxmlformats.org/drawingml/2006/main">
              <a:ext uri="{FF2B5EF4-FFF2-40B4-BE49-F238E27FC236}">
                <a16:creationId xmlns:a16="http://schemas.microsoft.com/office/drawing/2014/main" id="{AC08FD9B-1DFC-433C-B804-BA1411893A89}"/>
              </a:ext>
            </a:extLst>
          </p:cNvPr>
          <p:cNvSpPr>
            <a:spLocks xmlns:a="http://schemas.openxmlformats.org/drawingml/2006/main" noGrp="1"/>
          </p:cNvSpPr>
          <p:nvPr/>
        </p:nvSpPr>
        <p:spPr>
          <a:xfrm xmlns:a="http://schemas.openxmlformats.org/drawingml/2006/main">
            <a:off x="552450" y="43624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33" name="s8-time-new-label">
            <a:extLst xmlns:a="http://schemas.openxmlformats.org/drawingml/2006/main">
              <a:ext uri="{FF2B5EF4-FFF2-40B4-BE49-F238E27FC236}">
                <a16:creationId xmlns:a16="http://schemas.microsoft.com/office/drawing/2014/main" id="{E37D0F54-0F7A-459D-9896-86A4F92D6A76}"/>
              </a:ext>
            </a:extLst>
          </p:cNvPr>
          <p:cNvSpPr>
            <a:spLocks xmlns:a="http://schemas.openxmlformats.org/drawingml/2006/main" noGrp="1"/>
          </p:cNvSpPr>
          <p:nvPr/>
        </p:nvSpPr>
        <p:spPr>
          <a:xfrm xmlns:a="http://schemas.openxmlformats.org/drawingml/2006/main">
            <a:off x="781050" y="45148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WALL TIME</a:t>
            </a:r>
          </a:p>
        </p:txBody>
      </p:sp>
      <p:sp>
        <p:nvSpPr>
          <p:cNvPr id="34" name="s8-time-new-value">
            <a:extLst xmlns:a="http://schemas.openxmlformats.org/drawingml/2006/main">
              <a:ext uri="{FF2B5EF4-FFF2-40B4-BE49-F238E27FC236}">
                <a16:creationId xmlns:a16="http://schemas.microsoft.com/office/drawing/2014/main" id="{5C14187E-0B92-4A01-B033-62FAE4DD9CBF}"/>
              </a:ext>
            </a:extLst>
          </p:cNvPr>
          <p:cNvSpPr>
            <a:spLocks xmlns:a="http://schemas.openxmlformats.org/drawingml/2006/main" noGrp="1"/>
          </p:cNvSpPr>
          <p:nvPr/>
        </p:nvSpPr>
        <p:spPr>
          <a:xfrm xmlns:a="http://schemas.openxmlformats.org/drawingml/2006/main">
            <a:off x="781050" y="47815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-6.553s</a:t>
            </a:r>
          </a:p>
        </p:txBody>
      </p:sp>
      <p:sp>
        <p:nvSpPr>
          <p:cNvPr id="35" name="s8-time-new-ci">
            <a:extLst xmlns:a="http://schemas.openxmlformats.org/drawingml/2006/main">
              <a:ext uri="{FF2B5EF4-FFF2-40B4-BE49-F238E27FC236}">
                <a16:creationId xmlns:a16="http://schemas.microsoft.com/office/drawing/2014/main" id="{BD97211B-3DC8-4AD0-A551-6B490A017680}"/>
              </a:ext>
            </a:extLst>
          </p:cNvPr>
          <p:cNvSpPr>
            <a:spLocks xmlns:a="http://schemas.openxmlformats.org/drawingml/2006/main" noGrp="1"/>
          </p:cNvSpPr>
          <p:nvPr/>
        </p:nvSpPr>
        <p:spPr>
          <a:xfrm xmlns:a="http://schemas.openxmlformats.org/drawingml/2006/main">
            <a:off x="2857500" y="48482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-13.525s to +0.336s</a:t>
            </a:r>
          </a:p>
        </p:txBody>
      </p:sp>
      <p:cxnSp>
        <p:nvCxnSpPr>
          <p:cNvPr id="83" name="s8-time-new-axis"/>
          <p:cNvCxnSpPr/>
          <p:nvPr/>
        </p:nvCxnSpPr>
        <p:spPr>
          <a:xfrm xmlns:a="http://schemas.openxmlformats.org/drawingml/2006/main">
            <a:off x="4953000" y="50101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84" name="s8-time-new-zero"/>
          <p:cNvCxnSpPr/>
          <p:nvPr/>
        </p:nvCxnSpPr>
        <p:spPr>
          <a:xfrm xmlns:a="http://schemas.openxmlformats.org/drawingml/2006/main">
            <a:off x="7334250" y="47815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38" name="s8-time-new-zero-label">
            <a:extLst xmlns:a="http://schemas.openxmlformats.org/drawingml/2006/main">
              <a:ext uri="{FF2B5EF4-FFF2-40B4-BE49-F238E27FC236}">
                <a16:creationId xmlns:a16="http://schemas.microsoft.com/office/drawing/2014/main" id="{1C4DF709-0475-47C7-BCA3-C4D1D995B25B}"/>
              </a:ext>
            </a:extLst>
          </p:cNvPr>
          <p:cNvSpPr>
            <a:spLocks xmlns:a="http://schemas.openxmlformats.org/drawingml/2006/main" noGrp="1"/>
          </p:cNvSpPr>
          <p:nvPr/>
        </p:nvSpPr>
        <p:spPr>
          <a:xfrm xmlns:a="http://schemas.openxmlformats.org/drawingml/2006/main">
            <a:off x="7239000" y="51435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86" name="s8-time-new-interval"/>
          <p:cNvCxnSpPr/>
          <p:nvPr/>
        </p:nvCxnSpPr>
        <p:spPr>
          <a:xfrm xmlns:a="http://schemas.openxmlformats.org/drawingml/2006/main">
            <a:off x="5187156" y="5010150"/>
            <a:ext cx="2200434"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87" name="s8-time-new-low-cap"/>
          <p:cNvCxnSpPr/>
          <p:nvPr/>
        </p:nvCxnSpPr>
        <p:spPr>
          <a:xfrm xmlns:a="http://schemas.openxmlformats.org/drawingml/2006/main">
            <a:off x="5187156" y="49244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88" name="s8-time-new-high-cap"/>
          <p:cNvCxnSpPr/>
          <p:nvPr/>
        </p:nvCxnSpPr>
        <p:spPr>
          <a:xfrm xmlns:a="http://schemas.openxmlformats.org/drawingml/2006/main">
            <a:off x="7387590" y="49244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42" name="s8-time-new-median">
            <a:extLst xmlns:a="http://schemas.openxmlformats.org/drawingml/2006/main">
              <a:ext uri="{FF2B5EF4-FFF2-40B4-BE49-F238E27FC236}">
                <a16:creationId xmlns:a16="http://schemas.microsoft.com/office/drawing/2014/main" id="{BC239EC9-9BD1-4756-A083-C8823CCEBE4D}"/>
              </a:ext>
            </a:extLst>
          </p:cNvPr>
          <p:cNvSpPr>
            <a:spLocks xmlns:a="http://schemas.openxmlformats.org/drawingml/2006/main" noGrp="1"/>
          </p:cNvSpPr>
          <p:nvPr/>
        </p:nvSpPr>
        <p:spPr>
          <a:xfrm xmlns:a="http://schemas.openxmlformats.org/drawingml/2006/main">
            <a:off x="6227286" y="49434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43" name="s8-time-new-status">
            <a:extLst xmlns:a="http://schemas.openxmlformats.org/drawingml/2006/main">
              <a:ext uri="{FF2B5EF4-FFF2-40B4-BE49-F238E27FC236}">
                <a16:creationId xmlns:a16="http://schemas.microsoft.com/office/drawing/2014/main" id="{44467451-1748-45E2-A5C9-E0DACD96D83D}"/>
              </a:ext>
            </a:extLst>
          </p:cNvPr>
          <p:cNvSpPr>
            <a:spLocks xmlns:a="http://schemas.openxmlformats.org/drawingml/2006/main" noGrp="1"/>
          </p:cNvSpPr>
          <p:nvPr/>
        </p:nvSpPr>
        <p:spPr>
          <a:xfrm xmlns:a="http://schemas.openxmlformats.org/drawingml/2006/main">
            <a:off x="9906000" y="45434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44" name="s8-time-new-interpretation">
            <a:extLst xmlns:a="http://schemas.openxmlformats.org/drawingml/2006/main">
              <a:ext uri="{FF2B5EF4-FFF2-40B4-BE49-F238E27FC236}">
                <a16:creationId xmlns:a16="http://schemas.microsoft.com/office/drawing/2014/main" id="{12F0BFE2-F003-4533-9B36-F3D7EC4AF8B8}"/>
              </a:ext>
            </a:extLst>
          </p:cNvPr>
          <p:cNvSpPr>
            <a:spLocks xmlns:a="http://schemas.openxmlformats.org/drawingml/2006/main" noGrp="1"/>
          </p:cNvSpPr>
          <p:nvPr/>
        </p:nvSpPr>
        <p:spPr>
          <a:xfrm xmlns:a="http://schemas.openxmlformats.org/drawingml/2006/main">
            <a:off x="9906000" y="48101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92" name="footer-rule-8"/>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46" name="footer-source-8">
            <a:extLst xmlns:a="http://schemas.openxmlformats.org/drawingml/2006/main">
              <a:ext uri="{FF2B5EF4-FFF2-40B4-BE49-F238E27FC236}">
                <a16:creationId xmlns:a16="http://schemas.microsoft.com/office/drawing/2014/main" id="{285FFE47-0766-4299-9254-B39F6541F250}"/>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 - Full paired medians and paired 95% bootstrap intervals | Palace 0.2.1 benchmark</a:t>
            </a:r>
          </a:p>
        </p:txBody>
      </p:sp>
      <p:sp>
        <p:nvSpPr>
          <p:cNvPr id="47" name="footer-number-8">
            <a:extLst xmlns:a="http://schemas.openxmlformats.org/drawingml/2006/main">
              <a:ext uri="{FF2B5EF4-FFF2-40B4-BE49-F238E27FC236}">
                <a16:creationId xmlns:a16="http://schemas.microsoft.com/office/drawing/2014/main" id="{5C550171-F99C-4908-887B-A35E541AD5AE}"/>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8</a:t>
            </a:r>
          </a:p>
        </p:txBody>
      </p:sp>
    </p:spTree>
    <p:extLst>
      <p:ext uri="{BB962C8B-B14F-4D97-AF65-F5344CB8AC3E}">
        <p14:creationId xmlns:p14="http://schemas.microsoft.com/office/powerpoint/2010/main" val="11192156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9-title">
            <a:extLst xmlns:a="http://schemas.openxmlformats.org/drawingml/2006/main">
              <a:ext uri="{FF2B5EF4-FFF2-40B4-BE49-F238E27FC236}">
                <a16:creationId xmlns:a16="http://schemas.microsoft.com/office/drawing/2014/main" id="{8507B362-E400-4F53-BDFD-96469BC15E1D}"/>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Correctness was held constant before efficiency.</a:t>
            </a:r>
          </a:p>
        </p:txBody>
      </p:sp>
      <p:sp>
        <p:nvSpPr>
          <p:cNvPr id="2" name="s9-subtitle">
            <a:extLst xmlns:a="http://schemas.openxmlformats.org/drawingml/2006/main">
              <a:ext uri="{FF2B5EF4-FFF2-40B4-BE49-F238E27FC236}">
                <a16:creationId xmlns:a16="http://schemas.microsoft.com/office/drawing/2014/main" id="{DC68917B-BCA6-4BF1-A0A0-994AFDC340DA}"/>
              </a:ext>
            </a:extLst>
          </p:cNvPr>
          <p:cNvSpPr>
            <a:spLocks xmlns:a="http://schemas.openxmlformats.org/drawingml/2006/main" noGrp="1"/>
          </p:cNvSpPr>
          <p:nvPr/>
        </p:nvSpPr>
        <p:spPr>
          <a:xfrm xmlns:a="http://schemas.openxmlformats.org/drawingml/2006/main">
            <a:off x="400050" y="1066800"/>
            <a:ext cx="10668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Every arm had to clear the same validity, oracle, and scope gates.</a:t>
            </a:r>
          </a:p>
        </p:txBody>
      </p:sp>
      <p:sp>
        <p:nvSpPr>
          <p:cNvPr id="3" name="s9-gate-h">
            <a:extLst xmlns:a="http://schemas.openxmlformats.org/drawingml/2006/main">
              <a:ext uri="{FF2B5EF4-FFF2-40B4-BE49-F238E27FC236}">
                <a16:creationId xmlns:a16="http://schemas.microsoft.com/office/drawing/2014/main" id="{87EB7870-1C1E-4226-99D8-B949524662AF}"/>
              </a:ext>
            </a:extLst>
          </p:cNvPr>
          <p:cNvSpPr>
            <a:spLocks xmlns:a="http://schemas.openxmlformats.org/drawingml/2006/main" noGrp="1"/>
          </p:cNvSpPr>
          <p:nvPr/>
        </p:nvSpPr>
        <p:spPr>
          <a:xfrm xmlns:a="http://schemas.openxmlformats.org/drawingml/2006/main">
            <a:off x="685800" y="1714500"/>
            <a:ext cx="3429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526071"/>
                </a:solidFill>
                <a:latin typeface="Arial"/>
                <a:ea typeface="Arial"/>
                <a:cs typeface="Arial"/>
              </a:defRPr>
            </a:pPr>
            <a:r>
              <a:t>GATE</a:t>
            </a:r>
          </a:p>
        </p:txBody>
      </p:sp>
      <p:sp>
        <p:nvSpPr>
          <p:cNvPr id="4" name="s9-result-h">
            <a:extLst xmlns:a="http://schemas.openxmlformats.org/drawingml/2006/main">
              <a:ext uri="{FF2B5EF4-FFF2-40B4-BE49-F238E27FC236}">
                <a16:creationId xmlns:a16="http://schemas.microsoft.com/office/drawing/2014/main" id="{E7F0CC50-27A8-45C7-9FF2-C0243D0C757A}"/>
              </a:ext>
            </a:extLst>
          </p:cNvPr>
          <p:cNvSpPr>
            <a:spLocks xmlns:a="http://schemas.openxmlformats.org/drawingml/2006/main" noGrp="1"/>
          </p:cNvSpPr>
          <p:nvPr/>
        </p:nvSpPr>
        <p:spPr>
          <a:xfrm xmlns:a="http://schemas.openxmlformats.org/drawingml/2006/main">
            <a:off x="5619750" y="17145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526071"/>
                </a:solidFill>
                <a:latin typeface="Arial"/>
                <a:ea typeface="Arial"/>
                <a:cs typeface="Arial"/>
              </a:defRPr>
            </a:pPr>
            <a:r>
              <a:t>RESULT</a:t>
            </a:r>
          </a:p>
        </p:txBody>
      </p:sp>
      <p:sp>
        <p:nvSpPr>
          <p:cNvPr id="5" name="s9-row1">
            <a:extLst xmlns:a="http://schemas.openxmlformats.org/drawingml/2006/main">
              <a:ext uri="{FF2B5EF4-FFF2-40B4-BE49-F238E27FC236}">
                <a16:creationId xmlns:a16="http://schemas.microsoft.com/office/drawing/2014/main" id="{BB7CA60E-7A7D-48DA-875C-A6D3040EE74A}"/>
              </a:ext>
            </a:extLst>
          </p:cNvPr>
          <p:cNvSpPr>
            <a:spLocks xmlns:a="http://schemas.openxmlformats.org/drawingml/2006/main" noGrp="1"/>
          </p:cNvSpPr>
          <p:nvPr/>
        </p:nvSpPr>
        <p:spPr>
          <a:xfrm xmlns:a="http://schemas.openxmlformats.org/drawingml/2006/main">
            <a:off x="552450" y="20002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6" name="s9-row2">
            <a:extLst xmlns:a="http://schemas.openxmlformats.org/drawingml/2006/main">
              <a:ext uri="{FF2B5EF4-FFF2-40B4-BE49-F238E27FC236}">
                <a16:creationId xmlns:a16="http://schemas.microsoft.com/office/drawing/2014/main" id="{1A3C9F18-DFCB-44B9-B4BE-5933DC3EDB53}"/>
              </a:ext>
            </a:extLst>
          </p:cNvPr>
          <p:cNvSpPr>
            <a:spLocks xmlns:a="http://schemas.openxmlformats.org/drawingml/2006/main" noGrp="1"/>
          </p:cNvSpPr>
          <p:nvPr/>
        </p:nvSpPr>
        <p:spPr>
          <a:xfrm xmlns:a="http://schemas.openxmlformats.org/drawingml/2006/main">
            <a:off x="552450" y="2647950"/>
            <a:ext cx="666750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B8BCC4"/>
            </a:solidFill>
            <a:prstDash val="solid"/>
          </a:ln>
        </p:spPr>
      </p:sp>
      <p:sp>
        <p:nvSpPr>
          <p:cNvPr id="7" name="s9-row3">
            <a:extLst xmlns:a="http://schemas.openxmlformats.org/drawingml/2006/main">
              <a:ext uri="{FF2B5EF4-FFF2-40B4-BE49-F238E27FC236}">
                <a16:creationId xmlns:a16="http://schemas.microsoft.com/office/drawing/2014/main" id="{4D4A9B8B-87AC-41FE-94A7-3CE97C277B02}"/>
              </a:ext>
            </a:extLst>
          </p:cNvPr>
          <p:cNvSpPr>
            <a:spLocks xmlns:a="http://schemas.openxmlformats.org/drawingml/2006/main" noGrp="1"/>
          </p:cNvSpPr>
          <p:nvPr/>
        </p:nvSpPr>
        <p:spPr>
          <a:xfrm xmlns:a="http://schemas.openxmlformats.org/drawingml/2006/main">
            <a:off x="552450" y="32956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8" name="s9-row4">
            <a:extLst xmlns:a="http://schemas.openxmlformats.org/drawingml/2006/main">
              <a:ext uri="{FF2B5EF4-FFF2-40B4-BE49-F238E27FC236}">
                <a16:creationId xmlns:a16="http://schemas.microsoft.com/office/drawing/2014/main" id="{A8A5F3D7-9BC5-4866-8118-7E5DA63BF74B}"/>
              </a:ext>
            </a:extLst>
          </p:cNvPr>
          <p:cNvSpPr>
            <a:spLocks xmlns:a="http://schemas.openxmlformats.org/drawingml/2006/main" noGrp="1"/>
          </p:cNvSpPr>
          <p:nvPr/>
        </p:nvSpPr>
        <p:spPr>
          <a:xfrm xmlns:a="http://schemas.openxmlformats.org/drawingml/2006/main">
            <a:off x="552450" y="3943350"/>
            <a:ext cx="666750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B8BCC4"/>
            </a:solidFill>
            <a:prstDash val="solid"/>
          </a:ln>
        </p:spPr>
      </p:sp>
      <p:sp>
        <p:nvSpPr>
          <p:cNvPr id="9" name="s9-row5">
            <a:extLst xmlns:a="http://schemas.openxmlformats.org/drawingml/2006/main">
              <a:ext uri="{FF2B5EF4-FFF2-40B4-BE49-F238E27FC236}">
                <a16:creationId xmlns:a16="http://schemas.microsoft.com/office/drawing/2014/main" id="{4C4A5A5D-3B52-4BB9-AE11-73AF8F319857}"/>
              </a:ext>
            </a:extLst>
          </p:cNvPr>
          <p:cNvSpPr>
            <a:spLocks xmlns:a="http://schemas.openxmlformats.org/drawingml/2006/main" noGrp="1"/>
          </p:cNvSpPr>
          <p:nvPr/>
        </p:nvSpPr>
        <p:spPr>
          <a:xfrm xmlns:a="http://schemas.openxmlformats.org/drawingml/2006/main">
            <a:off x="552450" y="45910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10" name="s9-row1-k">
            <a:extLst xmlns:a="http://schemas.openxmlformats.org/drawingml/2006/main">
              <a:ext uri="{FF2B5EF4-FFF2-40B4-BE49-F238E27FC236}">
                <a16:creationId xmlns:a16="http://schemas.microsoft.com/office/drawing/2014/main" id="{6CC3C8CD-A1F6-4FA6-8B80-48FD6B24FF19}"/>
              </a:ext>
            </a:extLst>
          </p:cNvPr>
          <p:cNvSpPr>
            <a:spLocks xmlns:a="http://schemas.openxmlformats.org/drawingml/2006/main" noGrp="1"/>
          </p:cNvSpPr>
          <p:nvPr/>
        </p:nvSpPr>
        <p:spPr>
          <a:xfrm xmlns:a="http://schemas.openxmlformats.org/drawingml/2006/main">
            <a:off x="781050" y="21717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Valid and successful arms</a:t>
            </a:r>
          </a:p>
        </p:txBody>
      </p:sp>
      <p:sp>
        <p:nvSpPr>
          <p:cNvPr id="11" name="s9-row1-v">
            <a:extLst xmlns:a="http://schemas.openxmlformats.org/drawingml/2006/main">
              <a:ext uri="{FF2B5EF4-FFF2-40B4-BE49-F238E27FC236}">
                <a16:creationId xmlns:a16="http://schemas.microsoft.com/office/drawing/2014/main" id="{6780D2EA-25AB-4691-A31A-6B7611818B11}"/>
              </a:ext>
            </a:extLst>
          </p:cNvPr>
          <p:cNvSpPr>
            <a:spLocks xmlns:a="http://schemas.openxmlformats.org/drawingml/2006/main" noGrp="1"/>
          </p:cNvSpPr>
          <p:nvPr/>
        </p:nvSpPr>
        <p:spPr>
          <a:xfrm xmlns:a="http://schemas.openxmlformats.org/drawingml/2006/main">
            <a:off x="5619750" y="21145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2" name="s9-row2-k">
            <a:extLst xmlns:a="http://schemas.openxmlformats.org/drawingml/2006/main">
              <a:ext uri="{FF2B5EF4-FFF2-40B4-BE49-F238E27FC236}">
                <a16:creationId xmlns:a16="http://schemas.microsoft.com/office/drawing/2014/main" id="{04900EFB-217D-43EA-9EDC-932B20DFFB3F}"/>
              </a:ext>
            </a:extLst>
          </p:cNvPr>
          <p:cNvSpPr>
            <a:spLocks xmlns:a="http://schemas.openxmlformats.org/drawingml/2006/main" noGrp="1"/>
          </p:cNvSpPr>
          <p:nvPr/>
        </p:nvSpPr>
        <p:spPr>
          <a:xfrm xmlns:a="http://schemas.openxmlformats.org/drawingml/2006/main">
            <a:off x="781050" y="28194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Public tests</a:t>
            </a:r>
          </a:p>
        </p:txBody>
      </p:sp>
      <p:sp>
        <p:nvSpPr>
          <p:cNvPr id="13" name="s9-row2-v">
            <a:extLst xmlns:a="http://schemas.openxmlformats.org/drawingml/2006/main">
              <a:ext uri="{FF2B5EF4-FFF2-40B4-BE49-F238E27FC236}">
                <a16:creationId xmlns:a16="http://schemas.microsoft.com/office/drawing/2014/main" id="{63A4F8A9-E596-4D61-815F-E3DF62964E92}"/>
              </a:ext>
            </a:extLst>
          </p:cNvPr>
          <p:cNvSpPr>
            <a:spLocks xmlns:a="http://schemas.openxmlformats.org/drawingml/2006/main" noGrp="1"/>
          </p:cNvSpPr>
          <p:nvPr/>
        </p:nvSpPr>
        <p:spPr>
          <a:xfrm xmlns:a="http://schemas.openxmlformats.org/drawingml/2006/main">
            <a:off x="5619750" y="27622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4" name="s9-row3-k">
            <a:extLst xmlns:a="http://schemas.openxmlformats.org/drawingml/2006/main">
              <a:ext uri="{FF2B5EF4-FFF2-40B4-BE49-F238E27FC236}">
                <a16:creationId xmlns:a16="http://schemas.microsoft.com/office/drawing/2014/main" id="{2398B0AF-BC1F-4DD9-B6F0-1C9116524A59}"/>
              </a:ext>
            </a:extLst>
          </p:cNvPr>
          <p:cNvSpPr>
            <a:spLocks xmlns:a="http://schemas.openxmlformats.org/drawingml/2006/main" noGrp="1"/>
          </p:cNvSpPr>
          <p:nvPr/>
        </p:nvSpPr>
        <p:spPr>
          <a:xfrm xmlns:a="http://schemas.openxmlformats.org/drawingml/2006/main">
            <a:off x="781050" y="34671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Hidden oracle</a:t>
            </a:r>
          </a:p>
        </p:txBody>
      </p:sp>
      <p:sp>
        <p:nvSpPr>
          <p:cNvPr id="15" name="s9-row3-v">
            <a:extLst xmlns:a="http://schemas.openxmlformats.org/drawingml/2006/main">
              <a:ext uri="{FF2B5EF4-FFF2-40B4-BE49-F238E27FC236}">
                <a16:creationId xmlns:a16="http://schemas.microsoft.com/office/drawing/2014/main" id="{C77CA989-CEDC-4BC0-B054-0381DA8FE446}"/>
              </a:ext>
            </a:extLst>
          </p:cNvPr>
          <p:cNvSpPr>
            <a:spLocks xmlns:a="http://schemas.openxmlformats.org/drawingml/2006/main" noGrp="1"/>
          </p:cNvSpPr>
          <p:nvPr/>
        </p:nvSpPr>
        <p:spPr>
          <a:xfrm xmlns:a="http://schemas.openxmlformats.org/drawingml/2006/main">
            <a:off x="5619750" y="34099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6" name="s9-row4-k">
            <a:extLst xmlns:a="http://schemas.openxmlformats.org/drawingml/2006/main">
              <a:ext uri="{FF2B5EF4-FFF2-40B4-BE49-F238E27FC236}">
                <a16:creationId xmlns:a16="http://schemas.microsoft.com/office/drawing/2014/main" id="{B59ADD52-2BD4-48CB-98FC-CC9663C79FBE}"/>
              </a:ext>
            </a:extLst>
          </p:cNvPr>
          <p:cNvSpPr>
            <a:spLocks xmlns:a="http://schemas.openxmlformats.org/drawingml/2006/main" noGrp="1"/>
          </p:cNvSpPr>
          <p:nvPr/>
        </p:nvSpPr>
        <p:spPr>
          <a:xfrm xmlns:a="http://schemas.openxmlformats.org/drawingml/2006/main">
            <a:off x="781050" y="41148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Declared scope score</a:t>
            </a:r>
          </a:p>
        </p:txBody>
      </p:sp>
      <p:sp>
        <p:nvSpPr>
          <p:cNvPr id="17" name="s9-row4-v">
            <a:extLst xmlns:a="http://schemas.openxmlformats.org/drawingml/2006/main">
              <a:ext uri="{FF2B5EF4-FFF2-40B4-BE49-F238E27FC236}">
                <a16:creationId xmlns:a16="http://schemas.microsoft.com/office/drawing/2014/main" id="{70C2E06F-3F88-4156-837F-623A0987E780}"/>
              </a:ext>
            </a:extLst>
          </p:cNvPr>
          <p:cNvSpPr>
            <a:spLocks xmlns:a="http://schemas.openxmlformats.org/drawingml/2006/main" noGrp="1"/>
          </p:cNvSpPr>
          <p:nvPr/>
        </p:nvSpPr>
        <p:spPr>
          <a:xfrm xmlns:a="http://schemas.openxmlformats.org/drawingml/2006/main">
            <a:off x="5334000" y="4057650"/>
            <a:ext cx="15240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100/100</a:t>
            </a:r>
          </a:p>
        </p:txBody>
      </p:sp>
      <p:sp>
        <p:nvSpPr>
          <p:cNvPr id="18" name="s9-row5-k">
            <a:extLst xmlns:a="http://schemas.openxmlformats.org/drawingml/2006/main">
              <a:ext uri="{FF2B5EF4-FFF2-40B4-BE49-F238E27FC236}">
                <a16:creationId xmlns:a16="http://schemas.microsoft.com/office/drawing/2014/main" id="{D9C8C48B-6DEA-4B89-A45C-C2BCCA9A6F41}"/>
              </a:ext>
            </a:extLst>
          </p:cNvPr>
          <p:cNvSpPr>
            <a:spLocks xmlns:a="http://schemas.openxmlformats.org/drawingml/2006/main" noGrp="1"/>
          </p:cNvSpPr>
          <p:nvPr/>
        </p:nvSpPr>
        <p:spPr>
          <a:xfrm xmlns:a="http://schemas.openxmlformats.org/drawingml/2006/main">
            <a:off x="781050" y="47625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Forbidden-file violations</a:t>
            </a:r>
          </a:p>
        </p:txBody>
      </p:sp>
      <p:sp>
        <p:nvSpPr>
          <p:cNvPr id="19" name="s9-row5-v">
            <a:extLst xmlns:a="http://schemas.openxmlformats.org/drawingml/2006/main">
              <a:ext uri="{FF2B5EF4-FFF2-40B4-BE49-F238E27FC236}">
                <a16:creationId xmlns:a16="http://schemas.microsoft.com/office/drawing/2014/main" id="{B3381B8B-A695-487C-9C73-9BCF183D7629}"/>
              </a:ext>
            </a:extLst>
          </p:cNvPr>
          <p:cNvSpPr>
            <a:spLocks xmlns:a="http://schemas.openxmlformats.org/drawingml/2006/main" noGrp="1"/>
          </p:cNvSpPr>
          <p:nvPr/>
        </p:nvSpPr>
        <p:spPr>
          <a:xfrm xmlns:a="http://schemas.openxmlformats.org/drawingml/2006/main">
            <a:off x="5619750" y="47053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0</a:t>
            </a:r>
          </a:p>
        </p:txBody>
      </p:sp>
      <p:sp>
        <p:nvSpPr>
          <p:cNvPr id="20" name="s9-boundary">
            <a:extLst xmlns:a="http://schemas.openxmlformats.org/drawingml/2006/main">
              <a:ext uri="{FF2B5EF4-FFF2-40B4-BE49-F238E27FC236}">
                <a16:creationId xmlns:a16="http://schemas.microsoft.com/office/drawing/2014/main" id="{7B11D2F0-2395-48D9-8761-BE95232265BF}"/>
              </a:ext>
            </a:extLst>
          </p:cNvPr>
          <p:cNvSpPr>
            <a:spLocks xmlns:a="http://schemas.openxmlformats.org/drawingml/2006/main" noGrp="1"/>
          </p:cNvSpPr>
          <p:nvPr/>
        </p:nvSpPr>
        <p:spPr>
          <a:xfrm xmlns:a="http://schemas.openxmlformats.org/drawingml/2006/main">
            <a:off x="7677150" y="1695450"/>
            <a:ext cx="3962400" cy="3467100"/>
          </a:xfrm>
          <a:prstGeom xmlns:a="http://schemas.openxmlformats.org/drawingml/2006/main" prst="roundRect">
            <a:avLst>
              <a:gd name="adj" fmla="val 2198"/>
            </a:avLst>
          </a:prstGeom>
          <a:solidFill xmlns:a="http://schemas.openxmlformats.org/drawingml/2006/main">
            <a:srgbClr val="061B3D"/>
          </a:solidFill>
          <a:ln xmlns:a="http://schemas.openxmlformats.org/drawingml/2006/main" w="0">
            <a:solidFill>
              <a:srgbClr val="061B3D"/>
            </a:solidFill>
            <a:prstDash val="solid"/>
          </a:ln>
        </p:spPr>
      </p:sp>
      <p:sp>
        <p:nvSpPr>
          <p:cNvPr id="21" name="s9-boundary-k">
            <a:extLst xmlns:a="http://schemas.openxmlformats.org/drawingml/2006/main">
              <a:ext uri="{FF2B5EF4-FFF2-40B4-BE49-F238E27FC236}">
                <a16:creationId xmlns:a16="http://schemas.microsoft.com/office/drawing/2014/main" id="{E8C62ADF-5456-42DB-88E8-530CAF50136F}"/>
              </a:ext>
            </a:extLst>
          </p:cNvPr>
          <p:cNvSpPr>
            <a:spLocks xmlns:a="http://schemas.openxmlformats.org/drawingml/2006/main" noGrp="1"/>
          </p:cNvSpPr>
          <p:nvPr/>
        </p:nvSpPr>
        <p:spPr>
          <a:xfrm xmlns:a="http://schemas.openxmlformats.org/drawingml/2006/main">
            <a:off x="7981950" y="2000250"/>
            <a:ext cx="33528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NO CORRECTNESS WINNER</a:t>
            </a:r>
          </a:p>
        </p:txBody>
      </p:sp>
      <p:sp>
        <p:nvSpPr>
          <p:cNvPr id="22" name="s9-boundary-stat">
            <a:extLst xmlns:a="http://schemas.openxmlformats.org/drawingml/2006/main">
              <a:ext uri="{FF2B5EF4-FFF2-40B4-BE49-F238E27FC236}">
                <a16:creationId xmlns:a16="http://schemas.microsoft.com/office/drawing/2014/main" id="{44E4B0CC-CCEF-4B97-A3AB-6E4C30E376C6}"/>
              </a:ext>
            </a:extLst>
          </p:cNvPr>
          <p:cNvSpPr>
            <a:spLocks xmlns:a="http://schemas.openxmlformats.org/drawingml/2006/main" noGrp="1"/>
          </p:cNvSpPr>
          <p:nvPr/>
        </p:nvSpPr>
        <p:spPr>
          <a:xfrm xmlns:a="http://schemas.openxmlformats.org/drawingml/2006/main">
            <a:off x="7981950" y="24003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FFFFFF"/>
                </a:solidFill>
                <a:latin typeface="Arial"/>
                <a:ea typeface="Arial"/>
                <a:cs typeface="Arial"/>
              </a:defRPr>
            </a:pPr>
            <a:r>
              <a:t>4/4</a:t>
            </a:r>
          </a:p>
        </p:txBody>
      </p:sp>
      <p:sp>
        <p:nvSpPr>
          <p:cNvPr id="23" name="s9-boundary-label">
            <a:extLst xmlns:a="http://schemas.openxmlformats.org/drawingml/2006/main">
              <a:ext uri="{FF2B5EF4-FFF2-40B4-BE49-F238E27FC236}">
                <a16:creationId xmlns:a16="http://schemas.microsoft.com/office/drawing/2014/main" id="{67EC59DF-C884-41AC-BD45-6A51CA96ACAA}"/>
              </a:ext>
            </a:extLst>
          </p:cNvPr>
          <p:cNvSpPr>
            <a:spLocks xmlns:a="http://schemas.openxmlformats.org/drawingml/2006/main" noGrp="1"/>
          </p:cNvSpPr>
          <p:nvPr/>
        </p:nvSpPr>
        <p:spPr>
          <a:xfrm xmlns:a="http://schemas.openxmlformats.org/drawingml/2006/main">
            <a:off x="7981950" y="3009900"/>
            <a:ext cx="29527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FFFFFF"/>
                </a:solidFill>
                <a:latin typeface="Arial"/>
                <a:ea typeface="Arial"/>
                <a:cs typeface="Arial"/>
              </a:defRPr>
            </a:pPr>
            <a:r>
              <a:t>treatments correct</a:t>
            </a:r>
          </a:p>
        </p:txBody>
      </p:sp>
      <p:cxnSp>
        <p:nvCxnSpPr>
          <p:cNvPr id="56" name="s9-boundary-rule"/>
          <p:cNvCxnSpPr/>
          <p:nvPr/>
        </p:nvCxnSpPr>
        <p:spPr>
          <a:xfrm xmlns:a="http://schemas.openxmlformats.org/drawingml/2006/main">
            <a:off x="7981950" y="3486150"/>
            <a:ext cx="3352800" cy="953"/>
          </a:xfrm>
          <a:prstGeom xmlns:a="http://schemas.openxmlformats.org/drawingml/2006/main" prst="straightConnector1">
            <a:avLst/>
          </a:prstGeom>
          <a:ln xmlns:a="http://schemas.openxmlformats.org/drawingml/2006/main" w="19050">
            <a:solidFill>
              <a:srgbClr val="0B2B56"/>
            </a:solidFill>
            <a:prstDash val="solid"/>
          </a:ln>
        </p:spPr>
      </p:cxnSp>
      <p:sp>
        <p:nvSpPr>
          <p:cNvPr id="25" name="s9-supported-k">
            <a:extLst xmlns:a="http://schemas.openxmlformats.org/drawingml/2006/main">
              <a:ext uri="{FF2B5EF4-FFF2-40B4-BE49-F238E27FC236}">
                <a16:creationId xmlns:a16="http://schemas.microsoft.com/office/drawing/2014/main" id="{AD62BDE3-91D4-4EBB-B124-581F5AA8DDFA}"/>
              </a:ext>
            </a:extLst>
          </p:cNvPr>
          <p:cNvSpPr>
            <a:spLocks xmlns:a="http://schemas.openxmlformats.org/drawingml/2006/main" noGrp="1"/>
          </p:cNvSpPr>
          <p:nvPr/>
        </p:nvSpPr>
        <p:spPr>
          <a:xfrm xmlns:a="http://schemas.openxmlformats.org/drawingml/2006/main">
            <a:off x="7981950" y="371475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SUPPORTED</a:t>
            </a:r>
          </a:p>
        </p:txBody>
      </p:sp>
      <p:sp>
        <p:nvSpPr>
          <p:cNvPr id="26" name="s9-supported-v">
            <a:extLst xmlns:a="http://schemas.openxmlformats.org/drawingml/2006/main">
              <a:ext uri="{FF2B5EF4-FFF2-40B4-BE49-F238E27FC236}">
                <a16:creationId xmlns:a16="http://schemas.microsoft.com/office/drawing/2014/main" id="{C98DC62F-32D3-4A88-9834-AC1A3A7314C2}"/>
              </a:ext>
            </a:extLst>
          </p:cNvPr>
          <p:cNvSpPr>
            <a:spLocks xmlns:a="http://schemas.openxmlformats.org/drawingml/2006/main" noGrp="1"/>
          </p:cNvSpPr>
          <p:nvPr/>
        </p:nvSpPr>
        <p:spPr>
          <a:xfrm xmlns:a="http://schemas.openxmlformats.org/drawingml/2006/main">
            <a:off x="7981950" y="3981450"/>
            <a:ext cx="3352800" cy="4953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Arial"/>
                <a:ea typeface="Arial"/>
                <a:cs typeface="Arial"/>
              </a:defRPr>
            </a:pPr>
            <a:r>
              <a:t>Adaptive reduces Palace-owned payload versus Full.</a:t>
            </a:r>
          </a:p>
        </p:txBody>
      </p:sp>
      <p:sp>
        <p:nvSpPr>
          <p:cNvPr id="27" name="s9-limit-k">
            <a:extLst xmlns:a="http://schemas.openxmlformats.org/drawingml/2006/main">
              <a:ext uri="{FF2B5EF4-FFF2-40B4-BE49-F238E27FC236}">
                <a16:creationId xmlns:a16="http://schemas.microsoft.com/office/drawing/2014/main" id="{4B12E671-17F5-40E6-8C38-52C22D68B9D2}"/>
              </a:ext>
            </a:extLst>
          </p:cNvPr>
          <p:cNvSpPr>
            <a:spLocks xmlns:a="http://schemas.openxmlformats.org/drawingml/2006/main" noGrp="1"/>
          </p:cNvSpPr>
          <p:nvPr/>
        </p:nvSpPr>
        <p:spPr>
          <a:xfrm xmlns:a="http://schemas.openxmlformats.org/drawingml/2006/main">
            <a:off x="7981950" y="461010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NOT PROVEN</a:t>
            </a:r>
          </a:p>
        </p:txBody>
      </p:sp>
      <p:sp>
        <p:nvSpPr>
          <p:cNvPr id="28" name="s9-limit-v">
            <a:extLst xmlns:a="http://schemas.openxmlformats.org/drawingml/2006/main">
              <a:ext uri="{FF2B5EF4-FFF2-40B4-BE49-F238E27FC236}">
                <a16:creationId xmlns:a16="http://schemas.microsoft.com/office/drawing/2014/main" id="{4D336384-66DF-48FA-91AE-9C0574501B11}"/>
              </a:ext>
            </a:extLst>
          </p:cNvPr>
          <p:cNvSpPr>
            <a:spLocks xmlns:a="http://schemas.openxmlformats.org/drawingml/2006/main" noGrp="1"/>
          </p:cNvSpPr>
          <p:nvPr/>
        </p:nvSpPr>
        <p:spPr>
          <a:xfrm xmlns:a="http://schemas.openxmlformats.org/drawingml/2006/main">
            <a:off x="7981950" y="4857750"/>
            <a:ext cx="3352800" cy="476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Arial"/>
                <a:ea typeface="Arial"/>
                <a:cs typeface="Arial"/>
              </a:defRPr>
            </a:pPr>
            <a:r>
              <a:t>Universal token, time, or correctness gains.</a:t>
            </a:r>
          </a:p>
        </p:txBody>
      </p:sp>
      <p:sp>
        <p:nvSpPr>
          <p:cNvPr id="29" name="s9-study-note">
            <a:extLst xmlns:a="http://schemas.openxmlformats.org/drawingml/2006/main">
              <a:ext uri="{FF2B5EF4-FFF2-40B4-BE49-F238E27FC236}">
                <a16:creationId xmlns:a16="http://schemas.microsoft.com/office/drawing/2014/main" id="{786E952B-BD57-4773-A00C-659E0D494221}"/>
              </a:ext>
            </a:extLst>
          </p:cNvPr>
          <p:cNvSpPr>
            <a:spLocks xmlns:a="http://schemas.openxmlformats.org/drawingml/2006/main" noGrp="1"/>
          </p:cNvSpPr>
          <p:nvPr/>
        </p:nvSpPr>
        <p:spPr>
          <a:xfrm xmlns:a="http://schemas.openxmlformats.org/drawingml/2006/main">
            <a:off x="552450" y="5448300"/>
            <a:ext cx="66675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Consolas"/>
                <a:ea typeface="Consolas"/>
                <a:cs typeface="Consolas"/>
              </a:defRPr>
            </a:pPr>
            <a:r>
              <a:t>Frozen exploratory study | Vertex Palace 0.2.1</a:t>
            </a:r>
          </a:p>
        </p:txBody>
      </p:sp>
      <p:cxnSp>
        <p:nvCxnSpPr>
          <p:cNvPr id="62" name="footer-rule-9"/>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9">
            <a:extLst xmlns:a="http://schemas.openxmlformats.org/drawingml/2006/main">
              <a:ext uri="{FF2B5EF4-FFF2-40B4-BE49-F238E27FC236}">
                <a16:creationId xmlns:a16="http://schemas.microsoft.com/office/drawing/2014/main" id="{66E9ACD7-278A-4D97-9420-FFF767743D50}"/>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Public benchmark final report: docs/research/ADAPTIVE_V2_2_FINAL.md in benchmarks-ab-demo</a:t>
            </a:r>
          </a:p>
        </p:txBody>
      </p:sp>
      <p:sp>
        <p:nvSpPr>
          <p:cNvPr id="32" name="footer-number-9">
            <a:extLst xmlns:a="http://schemas.openxmlformats.org/drawingml/2006/main">
              <a:ext uri="{FF2B5EF4-FFF2-40B4-BE49-F238E27FC236}">
                <a16:creationId xmlns:a16="http://schemas.microsoft.com/office/drawing/2014/main" id="{4E0DC274-D9C9-412D-BDFB-8D9B2F1F3FF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9</a:t>
            </a:r>
          </a:p>
        </p:txBody>
      </p:sp>
    </p:spTree>
    <p:extLst>
      <p:ext uri="{BB962C8B-B14F-4D97-AF65-F5344CB8AC3E}">
        <p14:creationId xmlns:p14="http://schemas.microsoft.com/office/powerpoint/2010/main" val="2311143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s10-title">
            <a:extLst xmlns:a="http://schemas.openxmlformats.org/drawingml/2006/main">
              <a:ext uri="{FF2B5EF4-FFF2-40B4-BE49-F238E27FC236}">
                <a16:creationId xmlns:a16="http://schemas.microsoft.com/office/drawing/2014/main" id="{F27BC063-6326-45FC-8EAC-A4A8127E509F}"/>
              </a:ext>
            </a:extLst>
          </p:cNvPr>
          <p:cNvSpPr>
            <a:spLocks xmlns:a="http://schemas.openxmlformats.org/drawingml/2006/main" noGrp="1"/>
          </p:cNvSpPr>
          <p:nvPr/>
        </p:nvSpPr>
        <p:spPr>
          <a:xfrm xmlns:a="http://schemas.openxmlformats.org/drawingml/2006/main">
            <a:off x="495300" y="323850"/>
            <a:ext cx="1095375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0A1224"/>
                </a:solidFill>
                <a:latin typeface="Arial"/>
                <a:ea typeface="Arial"/>
                <a:cs typeface="Arial"/>
              </a:defRPr>
            </a:pPr>
            <a:r>
              <a:t>Independent gates verify the product.</a:t>
            </a:r>
          </a:p>
        </p:txBody>
      </p:sp>
      <p:sp>
        <p:nvSpPr>
          <p:cNvPr id="2" name="s10-subtitle">
            <a:extLst xmlns:a="http://schemas.openxmlformats.org/drawingml/2006/main">
              <a:ext uri="{FF2B5EF4-FFF2-40B4-BE49-F238E27FC236}">
                <a16:creationId xmlns:a16="http://schemas.microsoft.com/office/drawing/2014/main" id="{261E399F-678D-49F0-BD84-ABD438374628}"/>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Repository tests, cross-platform CI, and public-distribution checks verify different failure modes.</a:t>
            </a:r>
          </a:p>
        </p:txBody>
      </p:sp>
      <p:sp>
        <p:nvSpPr>
          <p:cNvPr id="3" name="s10-tests">
            <a:extLst xmlns:a="http://schemas.openxmlformats.org/drawingml/2006/main">
              <a:ext uri="{FF2B5EF4-FFF2-40B4-BE49-F238E27FC236}">
                <a16:creationId xmlns:a16="http://schemas.microsoft.com/office/drawing/2014/main" id="{3D87FFCD-113C-48BA-9D84-BC8A1202D7F4}"/>
              </a:ext>
            </a:extLst>
          </p:cNvPr>
          <p:cNvSpPr>
            <a:spLocks xmlns:a="http://schemas.openxmlformats.org/drawingml/2006/main" noGrp="1"/>
          </p:cNvSpPr>
          <p:nvPr/>
        </p:nvSpPr>
        <p:spPr>
          <a:xfrm xmlns:a="http://schemas.openxmlformats.org/drawingml/2006/main">
            <a:off x="552450" y="1695450"/>
            <a:ext cx="3295650" cy="3771900"/>
          </a:xfrm>
          <a:prstGeom xmlns:a="http://schemas.openxmlformats.org/drawingml/2006/main" prst="roundRect">
            <a:avLst>
              <a:gd name="adj" fmla="val 2312"/>
            </a:avLst>
          </a:prstGeom>
          <a:solidFill xmlns:a="http://schemas.openxmlformats.org/drawingml/2006/main">
            <a:srgbClr val="EAF1FF"/>
          </a:solidFill>
          <a:ln xmlns:a="http://schemas.openxmlformats.org/drawingml/2006/main" w="0">
            <a:solidFill>
              <a:srgbClr val="EAF1FF"/>
            </a:solidFill>
            <a:prstDash val="solid"/>
          </a:ln>
        </p:spPr>
      </p:sp>
      <p:sp>
        <p:nvSpPr>
          <p:cNvPr id="4" name="s10-tests-k">
            <a:extLst xmlns:a="http://schemas.openxmlformats.org/drawingml/2006/main">
              <a:ext uri="{FF2B5EF4-FFF2-40B4-BE49-F238E27FC236}">
                <a16:creationId xmlns:a16="http://schemas.microsoft.com/office/drawing/2014/main" id="{0F410417-F4FA-45EB-BCBA-3C31897B56B3}"/>
              </a:ext>
            </a:extLst>
          </p:cNvPr>
          <p:cNvSpPr>
            <a:spLocks xmlns:a="http://schemas.openxmlformats.org/drawingml/2006/main" noGrp="1"/>
          </p:cNvSpPr>
          <p:nvPr/>
        </p:nvSpPr>
        <p:spPr>
          <a:xfrm xmlns:a="http://schemas.openxmlformats.org/drawingml/2006/main">
            <a:off x="819150" y="19812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PRODUCT TESTS</a:t>
            </a:r>
          </a:p>
        </p:txBody>
      </p:sp>
      <p:sp>
        <p:nvSpPr>
          <p:cNvPr id="5" name="s10-tests-stat">
            <a:extLst xmlns:a="http://schemas.openxmlformats.org/drawingml/2006/main">
              <a:ext uri="{FF2B5EF4-FFF2-40B4-BE49-F238E27FC236}">
                <a16:creationId xmlns:a16="http://schemas.microsoft.com/office/drawing/2014/main" id="{4613D372-ABD3-4D0E-906B-D5937B93F5DA}"/>
              </a:ext>
            </a:extLst>
          </p:cNvPr>
          <p:cNvSpPr>
            <a:spLocks xmlns:a="http://schemas.openxmlformats.org/drawingml/2006/main" noGrp="1"/>
          </p:cNvSpPr>
          <p:nvPr/>
        </p:nvSpPr>
        <p:spPr>
          <a:xfrm xmlns:a="http://schemas.openxmlformats.org/drawingml/2006/main">
            <a:off x="81915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677FF"/>
                </a:solidFill>
                <a:latin typeface="Arial"/>
                <a:ea typeface="Arial"/>
                <a:cs typeface="Arial"/>
              </a:defRPr>
            </a:pPr>
            <a:r>
              <a:t>55</a:t>
            </a:r>
          </a:p>
        </p:txBody>
      </p:sp>
      <p:sp>
        <p:nvSpPr>
          <p:cNvPr id="6" name="s10-tests-label">
            <a:extLst xmlns:a="http://schemas.openxmlformats.org/drawingml/2006/main">
              <a:ext uri="{FF2B5EF4-FFF2-40B4-BE49-F238E27FC236}">
                <a16:creationId xmlns:a16="http://schemas.microsoft.com/office/drawing/2014/main" id="{CE65B99E-2D66-4A16-A5A3-B55E1863E4A0}"/>
              </a:ext>
            </a:extLst>
          </p:cNvPr>
          <p:cNvSpPr>
            <a:spLocks xmlns:a="http://schemas.openxmlformats.org/drawingml/2006/main" noGrp="1"/>
          </p:cNvSpPr>
          <p:nvPr/>
        </p:nvSpPr>
        <p:spPr>
          <a:xfrm xmlns:a="http://schemas.openxmlformats.org/drawingml/2006/main">
            <a:off x="81915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automated tests</a:t>
            </a:r>
          </a:p>
        </p:txBody>
      </p:sp>
      <p:cxnSp>
        <p:nvCxnSpPr>
          <p:cNvPr id="45" name="s10-tests-rule"/>
          <p:cNvCxnSpPr/>
          <p:nvPr/>
        </p:nvCxnSpPr>
        <p:spPr>
          <a:xfrm xmlns:a="http://schemas.openxmlformats.org/drawingml/2006/main">
            <a:off x="819150" y="3429000"/>
            <a:ext cx="276225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10-tests-body">
            <a:extLst xmlns:a="http://schemas.openxmlformats.org/drawingml/2006/main">
              <a:ext uri="{FF2B5EF4-FFF2-40B4-BE49-F238E27FC236}">
                <a16:creationId xmlns:a16="http://schemas.microsoft.com/office/drawing/2014/main" id="{9FAF8158-1E05-4353-9CEB-7D9C322D4258}"/>
              </a:ext>
            </a:extLst>
          </p:cNvPr>
          <p:cNvSpPr>
            <a:spLocks xmlns:a="http://schemas.openxmlformats.org/drawingml/2006/main" noGrp="1"/>
          </p:cNvSpPr>
          <p:nvPr/>
        </p:nvSpPr>
        <p:spPr>
          <a:xfrm xmlns:a="http://schemas.openxmlformats.org/drawingml/2006/main">
            <a:off x="819150" y="3638550"/>
            <a:ext cx="1200150" cy="990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Consolas"/>
                <a:ea typeface="Consolas"/>
                <a:cs typeface="Consolas"/>
              </a:defRPr>
            </a:pPr>
            <a:r>
              <a:t>51  Core
 2  CLI
 2  MCP</a:t>
            </a:r>
          </a:p>
        </p:txBody>
      </p:sp>
      <p:sp>
        <p:nvSpPr>
          <p:cNvPr id="9" name="s10-test-d1">
            <a:extLst xmlns:a="http://schemas.openxmlformats.org/drawingml/2006/main">
              <a:ext uri="{FF2B5EF4-FFF2-40B4-BE49-F238E27FC236}">
                <a16:creationId xmlns:a16="http://schemas.microsoft.com/office/drawing/2014/main" id="{CE83ECAA-A54B-4E6A-893B-60F056E2BE44}"/>
              </a:ext>
            </a:extLst>
          </p:cNvPr>
          <p:cNvSpPr>
            <a:spLocks xmlns:a="http://schemas.openxmlformats.org/drawingml/2006/main" noGrp="1"/>
          </p:cNvSpPr>
          <p:nvPr/>
        </p:nvSpPr>
        <p:spPr>
          <a:xfrm xmlns:a="http://schemas.openxmlformats.org/drawingml/2006/main">
            <a:off x="2152650" y="37052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0" name="s10-test-d2">
            <a:extLst xmlns:a="http://schemas.openxmlformats.org/drawingml/2006/main">
              <a:ext uri="{FF2B5EF4-FFF2-40B4-BE49-F238E27FC236}">
                <a16:creationId xmlns:a16="http://schemas.microsoft.com/office/drawing/2014/main" id="{510DF344-BD2D-4BAD-91C4-6FC19945F0B5}"/>
              </a:ext>
            </a:extLst>
          </p:cNvPr>
          <p:cNvSpPr>
            <a:spLocks xmlns:a="http://schemas.openxmlformats.org/drawingml/2006/main" noGrp="1"/>
          </p:cNvSpPr>
          <p:nvPr/>
        </p:nvSpPr>
        <p:spPr>
          <a:xfrm xmlns:a="http://schemas.openxmlformats.org/drawingml/2006/main">
            <a:off x="2152650" y="406717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1" name="s10-test-d3">
            <a:extLst xmlns:a="http://schemas.openxmlformats.org/drawingml/2006/main">
              <a:ext uri="{FF2B5EF4-FFF2-40B4-BE49-F238E27FC236}">
                <a16:creationId xmlns:a16="http://schemas.microsoft.com/office/drawing/2014/main" id="{B896DA41-F61A-454E-86A9-9523EFE7205C}"/>
              </a:ext>
            </a:extLst>
          </p:cNvPr>
          <p:cNvSpPr>
            <a:spLocks xmlns:a="http://schemas.openxmlformats.org/drawingml/2006/main" noGrp="1"/>
          </p:cNvSpPr>
          <p:nvPr/>
        </p:nvSpPr>
        <p:spPr>
          <a:xfrm xmlns:a="http://schemas.openxmlformats.org/drawingml/2006/main">
            <a:off x="2152650" y="44291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2" name="s10-test-g1">
            <a:extLst xmlns:a="http://schemas.openxmlformats.org/drawingml/2006/main">
              <a:ext uri="{FF2B5EF4-FFF2-40B4-BE49-F238E27FC236}">
                <a16:creationId xmlns:a16="http://schemas.microsoft.com/office/drawing/2014/main" id="{153024CE-DECD-4ED6-A625-3B34D78E77CB}"/>
              </a:ext>
            </a:extLst>
          </p:cNvPr>
          <p:cNvSpPr>
            <a:spLocks xmlns:a="http://schemas.openxmlformats.org/drawingml/2006/main" noGrp="1"/>
          </p:cNvSpPr>
          <p:nvPr/>
        </p:nvSpPr>
        <p:spPr>
          <a:xfrm xmlns:a="http://schemas.openxmlformats.org/drawingml/2006/main">
            <a:off x="2343150" y="364807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Build</a:t>
            </a:r>
          </a:p>
        </p:txBody>
      </p:sp>
      <p:sp>
        <p:nvSpPr>
          <p:cNvPr id="13" name="s10-test-g2">
            <a:extLst xmlns:a="http://schemas.openxmlformats.org/drawingml/2006/main">
              <a:ext uri="{FF2B5EF4-FFF2-40B4-BE49-F238E27FC236}">
                <a16:creationId xmlns:a16="http://schemas.microsoft.com/office/drawing/2014/main" id="{B30B41DB-C769-41E2-A1D5-B049C3F4FFB0}"/>
              </a:ext>
            </a:extLst>
          </p:cNvPr>
          <p:cNvSpPr>
            <a:spLocks xmlns:a="http://schemas.openxmlformats.org/drawingml/2006/main" noGrp="1"/>
          </p:cNvSpPr>
          <p:nvPr/>
        </p:nvSpPr>
        <p:spPr>
          <a:xfrm xmlns:a="http://schemas.openxmlformats.org/drawingml/2006/main">
            <a:off x="2343150" y="401002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TS lint</a:t>
            </a:r>
          </a:p>
        </p:txBody>
      </p:sp>
      <p:sp>
        <p:nvSpPr>
          <p:cNvPr id="14" name="s10-test-g3">
            <a:extLst xmlns:a="http://schemas.openxmlformats.org/drawingml/2006/main">
              <a:ext uri="{FF2B5EF4-FFF2-40B4-BE49-F238E27FC236}">
                <a16:creationId xmlns:a16="http://schemas.microsoft.com/office/drawing/2014/main" id="{00614CD4-2195-46E2-9306-663231605B7D}"/>
              </a:ext>
            </a:extLst>
          </p:cNvPr>
          <p:cNvSpPr>
            <a:spLocks xmlns:a="http://schemas.openxmlformats.org/drawingml/2006/main" noGrp="1"/>
          </p:cNvSpPr>
          <p:nvPr/>
        </p:nvSpPr>
        <p:spPr>
          <a:xfrm xmlns:a="http://schemas.openxmlformats.org/drawingml/2006/main">
            <a:off x="2343150" y="4371975"/>
            <a:ext cx="14097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Consolas"/>
                <a:ea typeface="Consolas"/>
                <a:cs typeface="Consolas"/>
              </a:defRPr>
            </a:pPr>
            <a:r>
              <a:t>MCP smoke: 10 tools</a:t>
            </a:r>
          </a:p>
        </p:txBody>
      </p:sp>
      <p:sp>
        <p:nvSpPr>
          <p:cNvPr id="15" name="s10-tests-foot">
            <a:extLst xmlns:a="http://schemas.openxmlformats.org/drawingml/2006/main">
              <a:ext uri="{FF2B5EF4-FFF2-40B4-BE49-F238E27FC236}">
                <a16:creationId xmlns:a16="http://schemas.microsoft.com/office/drawing/2014/main" id="{97839723-FD15-43E3-80C1-6BCFB83C93A9}"/>
              </a:ext>
            </a:extLst>
          </p:cNvPr>
          <p:cNvSpPr>
            <a:spLocks xmlns:a="http://schemas.openxmlformats.org/drawingml/2006/main" noGrp="1"/>
          </p:cNvSpPr>
          <p:nvPr/>
        </p:nvSpPr>
        <p:spPr>
          <a:xfrm xmlns:a="http://schemas.openxmlformats.org/drawingml/2006/main">
            <a:off x="819150" y="4914900"/>
            <a:ext cx="2762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Release-routing matrix passed</a:t>
            </a:r>
          </a:p>
        </p:txBody>
      </p:sp>
      <p:sp>
        <p:nvSpPr>
          <p:cNvPr id="16" name="s10-ci">
            <a:extLst xmlns:a="http://schemas.openxmlformats.org/drawingml/2006/main">
              <a:ext uri="{FF2B5EF4-FFF2-40B4-BE49-F238E27FC236}">
                <a16:creationId xmlns:a16="http://schemas.microsoft.com/office/drawing/2014/main" id="{CED290D0-6EA4-4D5B-B8BE-4FBC33965613}"/>
              </a:ext>
            </a:extLst>
          </p:cNvPr>
          <p:cNvSpPr>
            <a:spLocks xmlns:a="http://schemas.openxmlformats.org/drawingml/2006/main" noGrp="1"/>
          </p:cNvSpPr>
          <p:nvPr/>
        </p:nvSpPr>
        <p:spPr>
          <a:xfrm xmlns:a="http://schemas.openxmlformats.org/drawingml/2006/main">
            <a:off x="4114800" y="1695450"/>
            <a:ext cx="3543300" cy="3771900"/>
          </a:xfrm>
          <a:prstGeom xmlns:a="http://schemas.openxmlformats.org/drawingml/2006/main" prst="roundRect">
            <a:avLst>
              <a:gd name="adj" fmla="val 2151"/>
            </a:avLst>
          </a:prstGeom>
          <a:solidFill xmlns:a="http://schemas.openxmlformats.org/drawingml/2006/main">
            <a:srgbClr val="EDEFF3"/>
          </a:solidFill>
          <a:ln xmlns:a="http://schemas.openxmlformats.org/drawingml/2006/main" w="0">
            <a:solidFill>
              <a:srgbClr val="EDEFF3"/>
            </a:solidFill>
            <a:prstDash val="solid"/>
          </a:ln>
        </p:spPr>
      </p:sp>
      <p:sp>
        <p:nvSpPr>
          <p:cNvPr id="17" name="s10-ci-k">
            <a:extLst xmlns:a="http://schemas.openxmlformats.org/drawingml/2006/main">
              <a:ext uri="{FF2B5EF4-FFF2-40B4-BE49-F238E27FC236}">
                <a16:creationId xmlns:a16="http://schemas.microsoft.com/office/drawing/2014/main" id="{EAC8066A-455A-48A2-9F5A-2A46062960FC}"/>
              </a:ext>
            </a:extLst>
          </p:cNvPr>
          <p:cNvSpPr>
            <a:spLocks xmlns:a="http://schemas.openxmlformats.org/drawingml/2006/main" noGrp="1"/>
          </p:cNvSpPr>
          <p:nvPr/>
        </p:nvSpPr>
        <p:spPr>
          <a:xfrm xmlns:a="http://schemas.openxmlformats.org/drawingml/2006/main">
            <a:off x="4381500" y="1981200"/>
            <a:ext cx="30099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GITHUB ACTIONS</a:t>
            </a:r>
          </a:p>
        </p:txBody>
      </p:sp>
      <p:sp>
        <p:nvSpPr>
          <p:cNvPr id="18" name="s10-ci-stat">
            <a:extLst xmlns:a="http://schemas.openxmlformats.org/drawingml/2006/main">
              <a:ext uri="{FF2B5EF4-FFF2-40B4-BE49-F238E27FC236}">
                <a16:creationId xmlns:a16="http://schemas.microsoft.com/office/drawing/2014/main" id="{35B74422-4ACD-4FBB-B8EB-B9FC9097A648}"/>
              </a:ext>
            </a:extLst>
          </p:cNvPr>
          <p:cNvSpPr>
            <a:spLocks xmlns:a="http://schemas.openxmlformats.org/drawingml/2006/main" noGrp="1"/>
          </p:cNvSpPr>
          <p:nvPr/>
        </p:nvSpPr>
        <p:spPr>
          <a:xfrm xmlns:a="http://schemas.openxmlformats.org/drawingml/2006/main">
            <a:off x="438150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5A777"/>
                </a:solidFill>
                <a:latin typeface="Arial"/>
                <a:ea typeface="Arial"/>
                <a:cs typeface="Arial"/>
              </a:defRPr>
            </a:pPr>
            <a:r>
              <a:t>5/5</a:t>
            </a:r>
          </a:p>
        </p:txBody>
      </p:sp>
      <p:sp>
        <p:nvSpPr>
          <p:cNvPr id="19" name="s10-ci-label">
            <a:extLst xmlns:a="http://schemas.openxmlformats.org/drawingml/2006/main">
              <a:ext uri="{FF2B5EF4-FFF2-40B4-BE49-F238E27FC236}">
                <a16:creationId xmlns:a16="http://schemas.microsoft.com/office/drawing/2014/main" id="{19F1228C-8E16-460F-B51E-70D35365E519}"/>
              </a:ext>
            </a:extLst>
          </p:cNvPr>
          <p:cNvSpPr>
            <a:spLocks xmlns:a="http://schemas.openxmlformats.org/drawingml/2006/main" noGrp="1"/>
          </p:cNvSpPr>
          <p:nvPr/>
        </p:nvSpPr>
        <p:spPr>
          <a:xfrm xmlns:a="http://schemas.openxmlformats.org/drawingml/2006/main">
            <a:off x="438150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jobs passed</a:t>
            </a:r>
          </a:p>
        </p:txBody>
      </p:sp>
      <p:cxnSp>
        <p:nvCxnSpPr>
          <p:cNvPr id="58" name="s10-ci-rule"/>
          <p:cNvCxnSpPr/>
          <p:nvPr/>
        </p:nvCxnSpPr>
        <p:spPr>
          <a:xfrm xmlns:a="http://schemas.openxmlformats.org/drawingml/2006/main">
            <a:off x="4381500" y="3429000"/>
            <a:ext cx="3009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s10-ci-d1">
            <a:extLst xmlns:a="http://schemas.openxmlformats.org/drawingml/2006/main">
              <a:ext uri="{FF2B5EF4-FFF2-40B4-BE49-F238E27FC236}">
                <a16:creationId xmlns:a16="http://schemas.microsoft.com/office/drawing/2014/main" id="{191EB898-FCB0-430B-A272-838CC0B43B56}"/>
              </a:ext>
            </a:extLst>
          </p:cNvPr>
          <p:cNvSpPr>
            <a:spLocks xmlns:a="http://schemas.openxmlformats.org/drawingml/2006/main" noGrp="1"/>
          </p:cNvSpPr>
          <p:nvPr/>
        </p:nvSpPr>
        <p:spPr>
          <a:xfrm xmlns:a="http://schemas.openxmlformats.org/drawingml/2006/main">
            <a:off x="4400550" y="3714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2" name="s10-ci-d2">
            <a:extLst xmlns:a="http://schemas.openxmlformats.org/drawingml/2006/main">
              <a:ext uri="{FF2B5EF4-FFF2-40B4-BE49-F238E27FC236}">
                <a16:creationId xmlns:a16="http://schemas.microsoft.com/office/drawing/2014/main" id="{C5A7C34F-A155-4400-B87B-B9DB89012FFC}"/>
              </a:ext>
            </a:extLst>
          </p:cNvPr>
          <p:cNvSpPr>
            <a:spLocks xmlns:a="http://schemas.openxmlformats.org/drawingml/2006/main" noGrp="1"/>
          </p:cNvSpPr>
          <p:nvPr/>
        </p:nvSpPr>
        <p:spPr>
          <a:xfrm xmlns:a="http://schemas.openxmlformats.org/drawingml/2006/main">
            <a:off x="4400550" y="40576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3" name="s10-ci-d3">
            <a:extLst xmlns:a="http://schemas.openxmlformats.org/drawingml/2006/main">
              <a:ext uri="{FF2B5EF4-FFF2-40B4-BE49-F238E27FC236}">
                <a16:creationId xmlns:a16="http://schemas.microsoft.com/office/drawing/2014/main" id="{984C8550-C944-4978-ABAF-FEB461089B71}"/>
              </a:ext>
            </a:extLst>
          </p:cNvPr>
          <p:cNvSpPr>
            <a:spLocks xmlns:a="http://schemas.openxmlformats.org/drawingml/2006/main" noGrp="1"/>
          </p:cNvSpPr>
          <p:nvPr/>
        </p:nvSpPr>
        <p:spPr>
          <a:xfrm xmlns:a="http://schemas.openxmlformats.org/drawingml/2006/main">
            <a:off x="4400550" y="44005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4" name="s10-ci-d4">
            <a:extLst xmlns:a="http://schemas.openxmlformats.org/drawingml/2006/main">
              <a:ext uri="{FF2B5EF4-FFF2-40B4-BE49-F238E27FC236}">
                <a16:creationId xmlns:a16="http://schemas.microsoft.com/office/drawing/2014/main" id="{721DF192-FAB8-4658-8C67-C32437BF43AC}"/>
              </a:ext>
            </a:extLst>
          </p:cNvPr>
          <p:cNvSpPr>
            <a:spLocks xmlns:a="http://schemas.openxmlformats.org/drawingml/2006/main" noGrp="1"/>
          </p:cNvSpPr>
          <p:nvPr/>
        </p:nvSpPr>
        <p:spPr>
          <a:xfrm xmlns:a="http://schemas.openxmlformats.org/drawingml/2006/main">
            <a:off x="4400550" y="47434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5" name="s10-ci-d5">
            <a:extLst xmlns:a="http://schemas.openxmlformats.org/drawingml/2006/main">
              <a:ext uri="{FF2B5EF4-FFF2-40B4-BE49-F238E27FC236}">
                <a16:creationId xmlns:a16="http://schemas.microsoft.com/office/drawing/2014/main" id="{B5707517-A80D-41ED-94E1-D0DFBF2FD7B9}"/>
              </a:ext>
            </a:extLst>
          </p:cNvPr>
          <p:cNvSpPr>
            <a:spLocks xmlns:a="http://schemas.openxmlformats.org/drawingml/2006/main" noGrp="1"/>
          </p:cNvSpPr>
          <p:nvPr/>
        </p:nvSpPr>
        <p:spPr>
          <a:xfrm xmlns:a="http://schemas.openxmlformats.org/drawingml/2006/main">
            <a:off x="4400550" y="50863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6" name="s10-ci-r1">
            <a:extLst xmlns:a="http://schemas.openxmlformats.org/drawingml/2006/main">
              <a:ext uri="{FF2B5EF4-FFF2-40B4-BE49-F238E27FC236}">
                <a16:creationId xmlns:a16="http://schemas.microsoft.com/office/drawing/2014/main" id="{998C2722-49B7-471F-BC2C-BC940225F0D5}"/>
              </a:ext>
            </a:extLst>
          </p:cNvPr>
          <p:cNvSpPr>
            <a:spLocks xmlns:a="http://schemas.openxmlformats.org/drawingml/2006/main" noGrp="1"/>
          </p:cNvSpPr>
          <p:nvPr/>
        </p:nvSpPr>
        <p:spPr>
          <a:xfrm xmlns:a="http://schemas.openxmlformats.org/drawingml/2006/main">
            <a:off x="4629150" y="36480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20</a:t>
            </a:r>
          </a:p>
        </p:txBody>
      </p:sp>
      <p:sp>
        <p:nvSpPr>
          <p:cNvPr id="27" name="s10-ci-r2">
            <a:extLst xmlns:a="http://schemas.openxmlformats.org/drawingml/2006/main">
              <a:ext uri="{FF2B5EF4-FFF2-40B4-BE49-F238E27FC236}">
                <a16:creationId xmlns:a16="http://schemas.microsoft.com/office/drawing/2014/main" id="{9FFA5A5E-2615-4B2F-8E19-2BFDA40822B8}"/>
              </a:ext>
            </a:extLst>
          </p:cNvPr>
          <p:cNvSpPr>
            <a:spLocks xmlns:a="http://schemas.openxmlformats.org/drawingml/2006/main" noGrp="1"/>
          </p:cNvSpPr>
          <p:nvPr/>
        </p:nvSpPr>
        <p:spPr>
          <a:xfrm xmlns:a="http://schemas.openxmlformats.org/drawingml/2006/main">
            <a:off x="4629150" y="39909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Windows / Node 20</a:t>
            </a:r>
          </a:p>
        </p:txBody>
      </p:sp>
      <p:sp>
        <p:nvSpPr>
          <p:cNvPr id="28" name="s10-ci-r3">
            <a:extLst xmlns:a="http://schemas.openxmlformats.org/drawingml/2006/main">
              <a:ext uri="{FF2B5EF4-FFF2-40B4-BE49-F238E27FC236}">
                <a16:creationId xmlns:a16="http://schemas.microsoft.com/office/drawing/2014/main" id="{3A030282-3494-4B98-9E15-C1CB6525A3F4}"/>
              </a:ext>
            </a:extLst>
          </p:cNvPr>
          <p:cNvSpPr>
            <a:spLocks xmlns:a="http://schemas.openxmlformats.org/drawingml/2006/main" noGrp="1"/>
          </p:cNvSpPr>
          <p:nvPr/>
        </p:nvSpPr>
        <p:spPr>
          <a:xfrm xmlns:a="http://schemas.openxmlformats.org/drawingml/2006/main">
            <a:off x="4629150" y="43338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macOS / Node 20</a:t>
            </a:r>
          </a:p>
        </p:txBody>
      </p:sp>
      <p:sp>
        <p:nvSpPr>
          <p:cNvPr id="29" name="s10-ci-r4">
            <a:extLst xmlns:a="http://schemas.openxmlformats.org/drawingml/2006/main">
              <a:ext uri="{FF2B5EF4-FFF2-40B4-BE49-F238E27FC236}">
                <a16:creationId xmlns:a16="http://schemas.microsoft.com/office/drawing/2014/main" id="{35A11E4D-D72B-4195-BF69-316E2881C14C}"/>
              </a:ext>
            </a:extLst>
          </p:cNvPr>
          <p:cNvSpPr>
            <a:spLocks xmlns:a="http://schemas.openxmlformats.org/drawingml/2006/main" noGrp="1"/>
          </p:cNvSpPr>
          <p:nvPr/>
        </p:nvSpPr>
        <p:spPr>
          <a:xfrm xmlns:a="http://schemas.openxmlformats.org/drawingml/2006/main">
            <a:off x="4629150" y="46767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24</a:t>
            </a:r>
          </a:p>
        </p:txBody>
      </p:sp>
      <p:sp>
        <p:nvSpPr>
          <p:cNvPr id="30" name="s10-ci-r5">
            <a:extLst xmlns:a="http://schemas.openxmlformats.org/drawingml/2006/main">
              <a:ext uri="{FF2B5EF4-FFF2-40B4-BE49-F238E27FC236}">
                <a16:creationId xmlns:a16="http://schemas.microsoft.com/office/drawing/2014/main" id="{C5AD33EC-4700-4393-9570-372451C3951F}"/>
              </a:ext>
            </a:extLst>
          </p:cNvPr>
          <p:cNvSpPr>
            <a:spLocks xmlns:a="http://schemas.openxmlformats.org/drawingml/2006/main" noGrp="1"/>
          </p:cNvSpPr>
          <p:nvPr/>
        </p:nvSpPr>
        <p:spPr>
          <a:xfrm xmlns:a="http://schemas.openxmlformats.org/drawingml/2006/main">
            <a:off x="4629150" y="50196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npm package dry run</a:t>
            </a:r>
          </a:p>
        </p:txBody>
      </p:sp>
      <p:sp>
        <p:nvSpPr>
          <p:cNvPr id="31" name="s10-release">
            <a:extLst xmlns:a="http://schemas.openxmlformats.org/drawingml/2006/main">
              <a:ext uri="{FF2B5EF4-FFF2-40B4-BE49-F238E27FC236}">
                <a16:creationId xmlns:a16="http://schemas.microsoft.com/office/drawing/2014/main" id="{60FB1B5A-304F-42B3-A2EE-B16843F7A189}"/>
              </a:ext>
            </a:extLst>
          </p:cNvPr>
          <p:cNvSpPr>
            <a:spLocks xmlns:a="http://schemas.openxmlformats.org/drawingml/2006/main" noGrp="1"/>
          </p:cNvSpPr>
          <p:nvPr/>
        </p:nvSpPr>
        <p:spPr>
          <a:xfrm xmlns:a="http://schemas.openxmlformats.org/drawingml/2006/main">
            <a:off x="7924800" y="1695450"/>
            <a:ext cx="3714750" cy="3771900"/>
          </a:xfrm>
          <a:prstGeom xmlns:a="http://schemas.openxmlformats.org/drawingml/2006/main" prst="roundRect">
            <a:avLst>
              <a:gd name="adj" fmla="val 2051"/>
            </a:avLst>
          </a:prstGeom>
          <a:solidFill xmlns:a="http://schemas.openxmlformats.org/drawingml/2006/main">
            <a:srgbClr val="E9F7F2"/>
          </a:solidFill>
          <a:ln xmlns:a="http://schemas.openxmlformats.org/drawingml/2006/main" w="0">
            <a:solidFill>
              <a:srgbClr val="E9F7F2"/>
            </a:solidFill>
            <a:prstDash val="solid"/>
          </a:ln>
        </p:spPr>
      </p:sp>
      <p:sp>
        <p:nvSpPr>
          <p:cNvPr id="32" name="s10-release-k">
            <a:extLst xmlns:a="http://schemas.openxmlformats.org/drawingml/2006/main">
              <a:ext uri="{FF2B5EF4-FFF2-40B4-BE49-F238E27FC236}">
                <a16:creationId xmlns:a16="http://schemas.microsoft.com/office/drawing/2014/main" id="{74AEE07C-788D-43E7-A8CC-A1C2A73F29A4}"/>
              </a:ext>
            </a:extLst>
          </p:cNvPr>
          <p:cNvSpPr>
            <a:spLocks xmlns:a="http://schemas.openxmlformats.org/drawingml/2006/main" noGrp="1"/>
          </p:cNvSpPr>
          <p:nvPr/>
        </p:nvSpPr>
        <p:spPr>
          <a:xfrm xmlns:a="http://schemas.openxmlformats.org/drawingml/2006/main">
            <a:off x="8191500" y="1981200"/>
            <a:ext cx="3181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PUBLIC DISTRIBUTION</a:t>
            </a:r>
          </a:p>
        </p:txBody>
      </p:sp>
      <p:sp>
        <p:nvSpPr>
          <p:cNvPr id="33" name="s10-release-stat">
            <a:extLst xmlns:a="http://schemas.openxmlformats.org/drawingml/2006/main">
              <a:ext uri="{FF2B5EF4-FFF2-40B4-BE49-F238E27FC236}">
                <a16:creationId xmlns:a16="http://schemas.microsoft.com/office/drawing/2014/main" id="{D0326E64-05E0-4617-B8A6-BA3344F6805C}"/>
              </a:ext>
            </a:extLst>
          </p:cNvPr>
          <p:cNvSpPr>
            <a:spLocks xmlns:a="http://schemas.openxmlformats.org/drawingml/2006/main" noGrp="1"/>
          </p:cNvSpPr>
          <p:nvPr/>
        </p:nvSpPr>
        <p:spPr>
          <a:xfrm xmlns:a="http://schemas.openxmlformats.org/drawingml/2006/main">
            <a:off x="8191500" y="2400300"/>
            <a:ext cx="31813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5A777"/>
                </a:solidFill>
                <a:latin typeface="Arial"/>
                <a:ea typeface="Arial"/>
                <a:cs typeface="Arial"/>
              </a:defRPr>
            </a:pPr>
            <a:r>
              <a:t>VERIFIED</a:t>
            </a:r>
          </a:p>
        </p:txBody>
      </p:sp>
      <p:sp>
        <p:nvSpPr>
          <p:cNvPr id="34" name="s10-release-list">
            <a:extLst xmlns:a="http://schemas.openxmlformats.org/drawingml/2006/main">
              <a:ext uri="{FF2B5EF4-FFF2-40B4-BE49-F238E27FC236}">
                <a16:creationId xmlns:a16="http://schemas.microsoft.com/office/drawing/2014/main" id="{6BBE62F5-0485-4189-8CFD-009908C2EDA4}"/>
              </a:ext>
            </a:extLst>
          </p:cNvPr>
          <p:cNvSpPr>
            <a:spLocks xmlns:a="http://schemas.openxmlformats.org/drawingml/2006/main" noGrp="1"/>
          </p:cNvSpPr>
          <p:nvPr/>
        </p:nvSpPr>
        <p:spPr>
          <a:xfrm xmlns:a="http://schemas.openxmlformats.org/drawingml/2006/main">
            <a:off x="8191500" y="3181350"/>
            <a:ext cx="318135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clean tarball install
public npm install
CLI release route
MCP init + 10 tools
candidate SHA = registry
tag / version / ref / pin</a:t>
            </a:r>
          </a:p>
        </p:txBody>
      </p:sp>
      <p:sp>
        <p:nvSpPr>
          <p:cNvPr id="35" name="s10-release-platforms">
            <a:extLst xmlns:a="http://schemas.openxmlformats.org/drawingml/2006/main">
              <a:ext uri="{FF2B5EF4-FFF2-40B4-BE49-F238E27FC236}">
                <a16:creationId xmlns:a16="http://schemas.microsoft.com/office/drawing/2014/main" id="{C72D513A-07BF-4880-BB2A-6AB81F731928}"/>
              </a:ext>
            </a:extLst>
          </p:cNvPr>
          <p:cNvSpPr>
            <a:spLocks xmlns:a="http://schemas.openxmlformats.org/drawingml/2006/main" noGrp="1"/>
          </p:cNvSpPr>
          <p:nvPr/>
        </p:nvSpPr>
        <p:spPr>
          <a:xfrm xmlns:a="http://schemas.openxmlformats.org/drawingml/2006/main">
            <a:off x="8191500" y="5010150"/>
            <a:ext cx="31813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Windows | macOS | Linux</a:t>
            </a:r>
          </a:p>
        </p:txBody>
      </p:sp>
      <p:cxnSp>
        <p:nvCxnSpPr>
          <p:cNvPr id="74" name="footer-rule-10"/>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7" name="footer-source-10">
            <a:extLst xmlns:a="http://schemas.openxmlformats.org/drawingml/2006/main">
              <a:ext uri="{FF2B5EF4-FFF2-40B4-BE49-F238E27FC236}">
                <a16:creationId xmlns:a16="http://schemas.microsoft.com/office/drawing/2014/main" id="{7E1C986C-192E-4A03-BC4A-AD2F48BB5ECC}"/>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CI run 29687844288 | Vertex Palace 0.2.3 release verification | all listed gates passed</a:t>
            </a:r>
          </a:p>
        </p:txBody>
      </p:sp>
      <p:sp>
        <p:nvSpPr>
          <p:cNvPr id="38" name="footer-number-10">
            <a:extLst xmlns:a="http://schemas.openxmlformats.org/drawingml/2006/main">
              <a:ext uri="{FF2B5EF4-FFF2-40B4-BE49-F238E27FC236}">
                <a16:creationId xmlns:a16="http://schemas.microsoft.com/office/drawing/2014/main" id="{2265554B-04D8-44EE-850E-ADF252825A0E}"/>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10</a:t>
            </a:r>
          </a:p>
        </p:txBody>
      </p:sp>
    </p:spTree>
    <p:extLst>
      <p:ext uri="{BB962C8B-B14F-4D97-AF65-F5344CB8AC3E}">
        <p14:creationId xmlns:p14="http://schemas.microsoft.com/office/powerpoint/2010/main" val="154281066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11-title">
            <a:extLst xmlns:a="http://schemas.openxmlformats.org/drawingml/2006/main">
              <a:ext uri="{FF2B5EF4-FFF2-40B4-BE49-F238E27FC236}">
                <a16:creationId xmlns:a16="http://schemas.microsoft.com/office/drawing/2014/main" id="{B88885FA-C7F9-4D22-AC38-9759BB0CB7DC}"/>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Failures became versioned regression gates.</a:t>
            </a:r>
          </a:p>
        </p:txBody>
      </p:sp>
      <p:sp>
        <p:nvSpPr>
          <p:cNvPr id="2" name="s11-subtitle">
            <a:extLst xmlns:a="http://schemas.openxmlformats.org/drawingml/2006/main">
              <a:ext uri="{FF2B5EF4-FFF2-40B4-BE49-F238E27FC236}">
                <a16:creationId xmlns:a16="http://schemas.microsoft.com/office/drawing/2014/main" id="{56DF3C25-5C1E-40EF-9ABD-0DE0A17C4FAE}"/>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benchmark did not just score Vertex Palace; it changed the implementation and release process.</a:t>
            </a:r>
          </a:p>
        </p:txBody>
      </p:sp>
      <p:cxnSp>
        <p:nvCxnSpPr>
          <p:cNvPr id="29" name="s11-link1"/>
          <p:cNvCxnSpPr/>
          <p:nvPr/>
        </p:nvCxnSpPr>
        <p:spPr>
          <a:xfrm xmlns:a="http://schemas.openxmlformats.org/drawingml/2006/main">
            <a:off x="37147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cxnSp>
        <p:nvCxnSpPr>
          <p:cNvPr id="30" name="s11-link2"/>
          <p:cNvCxnSpPr/>
          <p:nvPr/>
        </p:nvCxnSpPr>
        <p:spPr>
          <a:xfrm xmlns:a="http://schemas.openxmlformats.org/drawingml/2006/main">
            <a:off x="77152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sp>
        <p:nvSpPr>
          <p:cNvPr id="5" name="s11-arrow1">
            <a:extLst xmlns:a="http://schemas.openxmlformats.org/drawingml/2006/main">
              <a:ext uri="{FF2B5EF4-FFF2-40B4-BE49-F238E27FC236}">
                <a16:creationId xmlns:a16="http://schemas.microsoft.com/office/drawing/2014/main" id="{2AFE2DBA-7DCA-49A4-B355-2BCD972A0475}"/>
              </a:ext>
            </a:extLst>
          </p:cNvPr>
          <p:cNvSpPr>
            <a:spLocks xmlns:a="http://schemas.openxmlformats.org/drawingml/2006/main" noGrp="1"/>
          </p:cNvSpPr>
          <p:nvPr/>
        </p:nvSpPr>
        <p:spPr>
          <a:xfrm xmlns:a="http://schemas.openxmlformats.org/drawingml/2006/main">
            <a:off x="40957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6" name="s11-arrow2">
            <a:extLst xmlns:a="http://schemas.openxmlformats.org/drawingml/2006/main">
              <a:ext uri="{FF2B5EF4-FFF2-40B4-BE49-F238E27FC236}">
                <a16:creationId xmlns:a16="http://schemas.microsoft.com/office/drawing/2014/main" id="{FFFE4074-3AEB-4937-8C6F-56E06C6B47E5}"/>
              </a:ext>
            </a:extLst>
          </p:cNvPr>
          <p:cNvSpPr>
            <a:spLocks xmlns:a="http://schemas.openxmlformats.org/drawingml/2006/main" noGrp="1"/>
          </p:cNvSpPr>
          <p:nvPr/>
        </p:nvSpPr>
        <p:spPr>
          <a:xfrm xmlns:a="http://schemas.openxmlformats.org/drawingml/2006/main">
            <a:off x="80962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7" name="s11-v021">
            <a:extLst xmlns:a="http://schemas.openxmlformats.org/drawingml/2006/main">
              <a:ext uri="{FF2B5EF4-FFF2-40B4-BE49-F238E27FC236}">
                <a16:creationId xmlns:a16="http://schemas.microsoft.com/office/drawing/2014/main" id="{D7339D09-7816-4C05-BF73-C8A28B56E259}"/>
              </a:ext>
            </a:extLst>
          </p:cNvPr>
          <p:cNvSpPr>
            <a:spLocks xmlns:a="http://schemas.openxmlformats.org/drawingml/2006/main" noGrp="1"/>
          </p:cNvSpPr>
          <p:nvPr/>
        </p:nvSpPr>
        <p:spPr>
          <a:xfrm xmlns:a="http://schemas.openxmlformats.org/drawingml/2006/main">
            <a:off x="552450" y="1885950"/>
            <a:ext cx="3162300" cy="3028950"/>
          </a:xfrm>
          <a:prstGeom xmlns:a="http://schemas.openxmlformats.org/drawingml/2006/main" prst="roundRect">
            <a:avLst>
              <a:gd name="adj" fmla="val 2516"/>
            </a:avLst>
          </a:prstGeom>
          <a:solidFill xmlns:a="http://schemas.openxmlformats.org/drawingml/2006/main">
            <a:srgbClr val="FFF1F3"/>
          </a:solidFill>
          <a:ln xmlns:a="http://schemas.openxmlformats.org/drawingml/2006/main" w="0">
            <a:solidFill>
              <a:srgbClr val="FFF1F3"/>
            </a:solidFill>
            <a:prstDash val="solid"/>
          </a:ln>
        </p:spPr>
      </p:sp>
      <p:sp>
        <p:nvSpPr>
          <p:cNvPr id="8" name="s11-v021-version">
            <a:extLst xmlns:a="http://schemas.openxmlformats.org/drawingml/2006/main">
              <a:ext uri="{FF2B5EF4-FFF2-40B4-BE49-F238E27FC236}">
                <a16:creationId xmlns:a16="http://schemas.microsoft.com/office/drawing/2014/main" id="{C0645A0E-766F-4F7B-9C7B-B76F55B72F86}"/>
              </a:ext>
            </a:extLst>
          </p:cNvPr>
          <p:cNvSpPr>
            <a:spLocks xmlns:a="http://schemas.openxmlformats.org/drawingml/2006/main" noGrp="1"/>
          </p:cNvSpPr>
          <p:nvPr/>
        </p:nvSpPr>
        <p:spPr>
          <a:xfrm xmlns:a="http://schemas.openxmlformats.org/drawingml/2006/main">
            <a:off x="8191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D4515D"/>
                </a:solidFill>
                <a:latin typeface="Consolas"/>
                <a:ea typeface="Consolas"/>
                <a:cs typeface="Consolas"/>
              </a:defRPr>
            </a:pPr>
            <a:r>
              <a:t>v0.2.1</a:t>
            </a:r>
          </a:p>
        </p:txBody>
      </p:sp>
      <p:sp>
        <p:nvSpPr>
          <p:cNvPr id="9" name="s11-v021-k">
            <a:extLst xmlns:a="http://schemas.openxmlformats.org/drawingml/2006/main">
              <a:ext uri="{FF2B5EF4-FFF2-40B4-BE49-F238E27FC236}">
                <a16:creationId xmlns:a16="http://schemas.microsoft.com/office/drawing/2014/main" id="{C88E47FD-BEC9-4EC0-A087-0268A53F8E69}"/>
              </a:ext>
            </a:extLst>
          </p:cNvPr>
          <p:cNvSpPr>
            <a:spLocks xmlns:a="http://schemas.openxmlformats.org/drawingml/2006/main" noGrp="1"/>
          </p:cNvSpPr>
          <p:nvPr/>
        </p:nvSpPr>
        <p:spPr>
          <a:xfrm xmlns:a="http://schemas.openxmlformats.org/drawingml/2006/main">
            <a:off x="8191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OBSERVED</a:t>
            </a:r>
          </a:p>
        </p:txBody>
      </p:sp>
      <p:sp>
        <p:nvSpPr>
          <p:cNvPr id="10" name="s11-v021-v">
            <a:extLst xmlns:a="http://schemas.openxmlformats.org/drawingml/2006/main">
              <a:ext uri="{FF2B5EF4-FFF2-40B4-BE49-F238E27FC236}">
                <a16:creationId xmlns:a16="http://schemas.microsoft.com/office/drawing/2014/main" id="{87FBFD28-1BF7-42C5-852D-E305681A9C1F}"/>
              </a:ext>
            </a:extLst>
          </p:cNvPr>
          <p:cNvSpPr>
            <a:spLocks xmlns:a="http://schemas.openxmlformats.org/drawingml/2006/main" noGrp="1"/>
          </p:cNvSpPr>
          <p:nvPr/>
        </p:nvSpPr>
        <p:spPr>
          <a:xfrm xmlns:a="http://schemas.openxmlformats.org/drawingml/2006/main">
            <a:off x="8191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Adaptive selected Full Palace but returned zero memory items in all four useful-memory trials.</a:t>
            </a:r>
          </a:p>
        </p:txBody>
      </p:sp>
      <p:sp>
        <p:nvSpPr>
          <p:cNvPr id="11" name="s11-v021-foot">
            <a:extLst xmlns:a="http://schemas.openxmlformats.org/drawingml/2006/main">
              <a:ext uri="{FF2B5EF4-FFF2-40B4-BE49-F238E27FC236}">
                <a16:creationId xmlns:a16="http://schemas.microsoft.com/office/drawing/2014/main" id="{C3046B0D-96DC-4DB8-8447-33896CFC01B5}"/>
              </a:ext>
            </a:extLst>
          </p:cNvPr>
          <p:cNvSpPr>
            <a:spLocks xmlns:a="http://schemas.openxmlformats.org/drawingml/2006/main" noGrp="1"/>
          </p:cNvSpPr>
          <p:nvPr/>
        </p:nvSpPr>
        <p:spPr>
          <a:xfrm xmlns:a="http://schemas.openxmlformats.org/drawingml/2006/main">
            <a:off x="819150" y="4400550"/>
            <a:ext cx="26289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Deterministic omission</a:t>
            </a:r>
          </a:p>
        </p:txBody>
      </p:sp>
      <p:sp>
        <p:nvSpPr>
          <p:cNvPr id="12" name="s11-v022">
            <a:extLst xmlns:a="http://schemas.openxmlformats.org/drawingml/2006/main">
              <a:ext uri="{FF2B5EF4-FFF2-40B4-BE49-F238E27FC236}">
                <a16:creationId xmlns:a16="http://schemas.microsoft.com/office/drawing/2014/main" id="{224B769D-C6A6-4DFB-ACED-3D9EED9BC135}"/>
              </a:ext>
            </a:extLst>
          </p:cNvPr>
          <p:cNvSpPr>
            <a:spLocks xmlns:a="http://schemas.openxmlformats.org/drawingml/2006/main" noGrp="1"/>
          </p:cNvSpPr>
          <p:nvPr/>
        </p:nvSpPr>
        <p:spPr>
          <a:xfrm xmlns:a="http://schemas.openxmlformats.org/drawingml/2006/main">
            <a:off x="4514850" y="1885950"/>
            <a:ext cx="3162300" cy="3028950"/>
          </a:xfrm>
          <a:prstGeom xmlns:a="http://schemas.openxmlformats.org/drawingml/2006/main" prst="roundRect">
            <a:avLst>
              <a:gd name="adj" fmla="val 2516"/>
            </a:avLst>
          </a:prstGeom>
          <a:solidFill xmlns:a="http://schemas.openxmlformats.org/drawingml/2006/main">
            <a:srgbClr val="EAF1FF"/>
          </a:solidFill>
          <a:ln xmlns:a="http://schemas.openxmlformats.org/drawingml/2006/main" w="0">
            <a:solidFill>
              <a:srgbClr val="EAF1FF"/>
            </a:solidFill>
            <a:prstDash val="solid"/>
          </a:ln>
        </p:spPr>
      </p:sp>
      <p:sp>
        <p:nvSpPr>
          <p:cNvPr id="13" name="s11-v022-version">
            <a:extLst xmlns:a="http://schemas.openxmlformats.org/drawingml/2006/main">
              <a:ext uri="{FF2B5EF4-FFF2-40B4-BE49-F238E27FC236}">
                <a16:creationId xmlns:a16="http://schemas.microsoft.com/office/drawing/2014/main" id="{736EF2A3-093D-46EF-A766-746A30ADE831}"/>
              </a:ext>
            </a:extLst>
          </p:cNvPr>
          <p:cNvSpPr>
            <a:spLocks xmlns:a="http://schemas.openxmlformats.org/drawingml/2006/main" noGrp="1"/>
          </p:cNvSpPr>
          <p:nvPr/>
        </p:nvSpPr>
        <p:spPr>
          <a:xfrm xmlns:a="http://schemas.openxmlformats.org/drawingml/2006/main">
            <a:off x="47815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677FF"/>
                </a:solidFill>
                <a:latin typeface="Consolas"/>
                <a:ea typeface="Consolas"/>
                <a:cs typeface="Consolas"/>
              </a:defRPr>
            </a:pPr>
            <a:r>
              <a:t>v0.2.2</a:t>
            </a:r>
          </a:p>
        </p:txBody>
      </p:sp>
      <p:sp>
        <p:nvSpPr>
          <p:cNvPr id="14" name="s11-v022-k">
            <a:extLst xmlns:a="http://schemas.openxmlformats.org/drawingml/2006/main">
              <a:ext uri="{FF2B5EF4-FFF2-40B4-BE49-F238E27FC236}">
                <a16:creationId xmlns:a16="http://schemas.microsoft.com/office/drawing/2014/main" id="{516D3DEE-650D-4FD5-9D8F-654B8BABE00B}"/>
              </a:ext>
            </a:extLst>
          </p:cNvPr>
          <p:cNvSpPr>
            <a:spLocks xmlns:a="http://schemas.openxmlformats.org/drawingml/2006/main" noGrp="1"/>
          </p:cNvSpPr>
          <p:nvPr/>
        </p:nvSpPr>
        <p:spPr>
          <a:xfrm xmlns:a="http://schemas.openxmlformats.org/drawingml/2006/main">
            <a:off x="47815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677FF"/>
                </a:solidFill>
                <a:latin typeface="Arial"/>
                <a:ea typeface="Arial"/>
                <a:cs typeface="Arial"/>
              </a:defRPr>
            </a:pPr>
            <a:r>
              <a:t>FIXED</a:t>
            </a:r>
          </a:p>
        </p:txBody>
      </p:sp>
      <p:sp>
        <p:nvSpPr>
          <p:cNvPr id="15" name="s11-v022-v">
            <a:extLst xmlns:a="http://schemas.openxmlformats.org/drawingml/2006/main">
              <a:ext uri="{FF2B5EF4-FFF2-40B4-BE49-F238E27FC236}">
                <a16:creationId xmlns:a16="http://schemas.microsoft.com/office/drawing/2014/main" id="{7A83E86C-0BCF-48B8-8639-CC7E3B479C0E}"/>
              </a:ext>
            </a:extLst>
          </p:cNvPr>
          <p:cNvSpPr>
            <a:spLocks xmlns:a="http://schemas.openxmlformats.org/drawingml/2006/main" noGrp="1"/>
          </p:cNvSpPr>
          <p:nvPr/>
        </p:nvSpPr>
        <p:spPr>
          <a:xfrm xmlns:a="http://schemas.openxmlformats.org/drawingml/2006/main">
            <a:off x="47815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Full Palace gained scoped-summary memory, JSON delivery, guardrails, and a regression contract.</a:t>
            </a:r>
          </a:p>
        </p:txBody>
      </p:sp>
      <p:sp>
        <p:nvSpPr>
          <p:cNvPr id="16" name="s11-v022-foot">
            <a:extLst xmlns:a="http://schemas.openxmlformats.org/drawingml/2006/main">
              <a:ext uri="{FF2B5EF4-FFF2-40B4-BE49-F238E27FC236}">
                <a16:creationId xmlns:a16="http://schemas.microsoft.com/office/drawing/2014/main" id="{EBA0B7DA-BFB7-4A7C-892E-F12005CF07CD}"/>
              </a:ext>
            </a:extLst>
          </p:cNvPr>
          <p:cNvSpPr>
            <a:spLocks xmlns:a="http://schemas.openxmlformats.org/drawingml/2006/main" noGrp="1"/>
          </p:cNvSpPr>
          <p:nvPr/>
        </p:nvSpPr>
        <p:spPr>
          <a:xfrm xmlns:a="http://schemas.openxmlformats.org/drawingml/2006/main">
            <a:off x="47815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Clean + registry fixtures passed</a:t>
            </a:r>
          </a:p>
        </p:txBody>
      </p:sp>
      <p:sp>
        <p:nvSpPr>
          <p:cNvPr id="17" name="s11-v023">
            <a:extLst xmlns:a="http://schemas.openxmlformats.org/drawingml/2006/main">
              <a:ext uri="{FF2B5EF4-FFF2-40B4-BE49-F238E27FC236}">
                <a16:creationId xmlns:a16="http://schemas.microsoft.com/office/drawing/2014/main" id="{93676E56-517B-4813-A342-1D44DB1D4A64}"/>
              </a:ext>
            </a:extLst>
          </p:cNvPr>
          <p:cNvSpPr>
            <a:spLocks xmlns:a="http://schemas.openxmlformats.org/drawingml/2006/main" noGrp="1"/>
          </p:cNvSpPr>
          <p:nvPr/>
        </p:nvSpPr>
        <p:spPr>
          <a:xfrm xmlns:a="http://schemas.openxmlformats.org/drawingml/2006/main">
            <a:off x="8477250" y="1885950"/>
            <a:ext cx="3162300" cy="3028950"/>
          </a:xfrm>
          <a:prstGeom xmlns:a="http://schemas.openxmlformats.org/drawingml/2006/main" prst="roundRect">
            <a:avLst>
              <a:gd name="adj" fmla="val 2516"/>
            </a:avLst>
          </a:prstGeom>
          <a:solidFill xmlns:a="http://schemas.openxmlformats.org/drawingml/2006/main">
            <a:srgbClr val="E9F7F2"/>
          </a:solidFill>
          <a:ln xmlns:a="http://schemas.openxmlformats.org/drawingml/2006/main" w="0">
            <a:solidFill>
              <a:srgbClr val="E9F7F2"/>
            </a:solidFill>
            <a:prstDash val="solid"/>
          </a:ln>
        </p:spPr>
      </p:sp>
      <p:sp>
        <p:nvSpPr>
          <p:cNvPr id="18" name="s11-v023-version">
            <a:extLst xmlns:a="http://schemas.openxmlformats.org/drawingml/2006/main">
              <a:ext uri="{FF2B5EF4-FFF2-40B4-BE49-F238E27FC236}">
                <a16:creationId xmlns:a16="http://schemas.microsoft.com/office/drawing/2014/main" id="{7EFCAD78-A838-4E79-9088-839052DB4ABD}"/>
              </a:ext>
            </a:extLst>
          </p:cNvPr>
          <p:cNvSpPr>
            <a:spLocks xmlns:a="http://schemas.openxmlformats.org/drawingml/2006/main" noGrp="1"/>
          </p:cNvSpPr>
          <p:nvPr/>
        </p:nvSpPr>
        <p:spPr>
          <a:xfrm xmlns:a="http://schemas.openxmlformats.org/drawingml/2006/main">
            <a:off x="87439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Consolas"/>
                <a:ea typeface="Consolas"/>
                <a:cs typeface="Consolas"/>
              </a:defRPr>
            </a:pPr>
            <a:r>
              <a:t>v0.2.3</a:t>
            </a:r>
          </a:p>
        </p:txBody>
      </p:sp>
      <p:sp>
        <p:nvSpPr>
          <p:cNvPr id="19" name="s11-v023-k">
            <a:extLst xmlns:a="http://schemas.openxmlformats.org/drawingml/2006/main">
              <a:ext uri="{FF2B5EF4-FFF2-40B4-BE49-F238E27FC236}">
                <a16:creationId xmlns:a16="http://schemas.microsoft.com/office/drawing/2014/main" id="{417C79D9-8885-4864-A7B3-D50F7E0D53E2}"/>
              </a:ext>
            </a:extLst>
          </p:cNvPr>
          <p:cNvSpPr>
            <a:spLocks xmlns:a="http://schemas.openxmlformats.org/drawingml/2006/main" noGrp="1"/>
          </p:cNvSpPr>
          <p:nvPr/>
        </p:nvSpPr>
        <p:spPr>
          <a:xfrm xmlns:a="http://schemas.openxmlformats.org/drawingml/2006/main">
            <a:off x="87439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GENERALIZED</a:t>
            </a:r>
          </a:p>
        </p:txBody>
      </p:sp>
      <p:sp>
        <p:nvSpPr>
          <p:cNvPr id="20" name="s11-v023-v">
            <a:extLst xmlns:a="http://schemas.openxmlformats.org/drawingml/2006/main">
              <a:ext uri="{FF2B5EF4-FFF2-40B4-BE49-F238E27FC236}">
                <a16:creationId xmlns:a16="http://schemas.microsoft.com/office/drawing/2014/main" id="{F9D95D13-85ED-49FC-9955-5EE9C23D90ED}"/>
              </a:ext>
            </a:extLst>
          </p:cNvPr>
          <p:cNvSpPr>
            <a:spLocks xmlns:a="http://schemas.openxmlformats.org/drawingml/2006/main" noGrp="1"/>
          </p:cNvSpPr>
          <p:nvPr/>
        </p:nvSpPr>
        <p:spPr>
          <a:xfrm xmlns:a="http://schemas.openxmlformats.org/drawingml/2006/main">
            <a:off x="87439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Release routing now covers npm, Codex plugins, PyPI, Chinese intent, negative controls, and CI.</a:t>
            </a:r>
          </a:p>
        </p:txBody>
      </p:sp>
      <p:sp>
        <p:nvSpPr>
          <p:cNvPr id="21" name="s11-v023-foot">
            <a:extLst xmlns:a="http://schemas.openxmlformats.org/drawingml/2006/main">
              <a:ext uri="{FF2B5EF4-FFF2-40B4-BE49-F238E27FC236}">
                <a16:creationId xmlns:a16="http://schemas.microsoft.com/office/drawing/2014/main" id="{07E36275-9B69-413F-93AF-7F0266699BA4}"/>
              </a:ext>
            </a:extLst>
          </p:cNvPr>
          <p:cNvSpPr>
            <a:spLocks xmlns:a="http://schemas.openxmlformats.org/drawingml/2006/main" noGrp="1"/>
          </p:cNvSpPr>
          <p:nvPr/>
        </p:nvSpPr>
        <p:spPr>
          <a:xfrm xmlns:a="http://schemas.openxmlformats.org/drawingml/2006/main">
            <a:off x="87439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Matrix + distribution gates</a:t>
            </a:r>
          </a:p>
        </p:txBody>
      </p:sp>
      <p:sp>
        <p:nvSpPr>
          <p:cNvPr id="22" name="s11-takeaway">
            <a:extLst xmlns:a="http://schemas.openxmlformats.org/drawingml/2006/main">
              <a:ext uri="{FF2B5EF4-FFF2-40B4-BE49-F238E27FC236}">
                <a16:creationId xmlns:a16="http://schemas.microsoft.com/office/drawing/2014/main" id="{77D522C4-7CA9-41A9-B18C-9C9E98523823}"/>
              </a:ext>
            </a:extLst>
          </p:cNvPr>
          <p:cNvSpPr>
            <a:spLocks xmlns:a="http://schemas.openxmlformats.org/drawingml/2006/main" noGrp="1"/>
          </p:cNvSpPr>
          <p:nvPr/>
        </p:nvSpPr>
        <p:spPr>
          <a:xfrm xmlns:a="http://schemas.openxmlformats.org/drawingml/2006/main">
            <a:off x="552450" y="5181600"/>
            <a:ext cx="11087100" cy="704850"/>
          </a:xfrm>
          <a:prstGeom xmlns:a="http://schemas.openxmlformats.org/drawingml/2006/main" prst="roundRect">
            <a:avLst>
              <a:gd name="adj" fmla="val 10811"/>
            </a:avLst>
          </a:prstGeom>
          <a:solidFill xmlns:a="http://schemas.openxmlformats.org/drawingml/2006/main">
            <a:srgbClr val="061B3D"/>
          </a:solidFill>
          <a:ln xmlns:a="http://schemas.openxmlformats.org/drawingml/2006/main" w="0">
            <a:solidFill>
              <a:srgbClr val="061B3D"/>
            </a:solidFill>
            <a:prstDash val="solid"/>
          </a:ln>
        </p:spPr>
      </p:sp>
      <p:sp>
        <p:nvSpPr>
          <p:cNvPr id="23" name="s11-takeaway-v">
            <a:extLst xmlns:a="http://schemas.openxmlformats.org/drawingml/2006/main">
              <a:ext uri="{FF2B5EF4-FFF2-40B4-BE49-F238E27FC236}">
                <a16:creationId xmlns:a16="http://schemas.microsoft.com/office/drawing/2014/main" id="{0800FE5A-59EF-4389-896D-70A56166D526}"/>
              </a:ext>
            </a:extLst>
          </p:cNvPr>
          <p:cNvSpPr>
            <a:spLocks xmlns:a="http://schemas.openxmlformats.org/drawingml/2006/main" noGrp="1"/>
          </p:cNvSpPr>
          <p:nvPr/>
        </p:nvSpPr>
        <p:spPr>
          <a:xfrm xmlns:a="http://schemas.openxmlformats.org/drawingml/2006/main">
            <a:off x="819150" y="5372100"/>
            <a:ext cx="105537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FFFFFF"/>
                </a:solidFill>
                <a:latin typeface="Consolas"/>
                <a:ea typeface="Consolas"/>
                <a:cs typeface="Consolas"/>
              </a:defRPr>
            </a:pPr>
            <a:r>
              <a:t>OBSERVE  -&gt;  FIX  -&gt;  REGRESSION TEST  -&gt;  RELEASE GATE</a:t>
            </a:r>
          </a:p>
        </p:txBody>
      </p:sp>
      <p:cxnSp>
        <p:nvCxnSpPr>
          <p:cNvPr id="50" name="footer-rule-11"/>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5" name="footer-source-11">
            <a:extLst xmlns:a="http://schemas.openxmlformats.org/drawingml/2006/main">
              <a:ext uri="{FF2B5EF4-FFF2-40B4-BE49-F238E27FC236}">
                <a16:creationId xmlns:a16="http://schemas.microsoft.com/office/drawing/2014/main" id="{72E33532-B7A3-4670-8627-62D9BCC99CDF}"/>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ADAPTIVE_MEMORY_FIX_0_2_2.md | RELEASE_ROUTING_MATRIX_RESULT_0_2_3.md</a:t>
            </a:r>
          </a:p>
        </p:txBody>
      </p:sp>
      <p:sp>
        <p:nvSpPr>
          <p:cNvPr id="26" name="footer-number-11">
            <a:extLst xmlns:a="http://schemas.openxmlformats.org/drawingml/2006/main">
              <a:ext uri="{FF2B5EF4-FFF2-40B4-BE49-F238E27FC236}">
                <a16:creationId xmlns:a16="http://schemas.microsoft.com/office/drawing/2014/main" id="{4FB2D785-5BDA-4FE7-BF3E-8A206A21E83D}"/>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11</a:t>
            </a:r>
          </a:p>
        </p:txBody>
      </p:sp>
    </p:spTree>
    <p:extLst>
      <p:ext uri="{BB962C8B-B14F-4D97-AF65-F5344CB8AC3E}">
        <p14:creationId xmlns:p14="http://schemas.microsoft.com/office/powerpoint/2010/main" val="150767593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12-eyebrow">
            <a:extLst xmlns:a="http://schemas.openxmlformats.org/drawingml/2006/main">
              <a:ext uri="{FF2B5EF4-FFF2-40B4-BE49-F238E27FC236}">
                <a16:creationId xmlns:a16="http://schemas.microsoft.com/office/drawing/2014/main" id="{B26EE5D9-331C-46B9-8A17-70B8B29581BE}"/>
              </a:ext>
            </a:extLst>
          </p:cNvPr>
          <p:cNvSpPr>
            <a:spLocks xmlns:a="http://schemas.openxmlformats.org/drawingml/2006/main" noGrp="1"/>
          </p:cNvSpPr>
          <p:nvPr/>
        </p:nvSpPr>
        <p:spPr>
          <a:xfrm xmlns:a="http://schemas.openxmlformats.org/drawingml/2006/main">
            <a:off x="457200" y="41910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READY TO TEST</a:t>
            </a:r>
          </a:p>
        </p:txBody>
      </p:sp>
      <p:sp>
        <p:nvSpPr>
          <p:cNvPr id="2" name="s12-title">
            <a:extLst xmlns:a="http://schemas.openxmlformats.org/drawingml/2006/main">
              <a:ext uri="{FF2B5EF4-FFF2-40B4-BE49-F238E27FC236}">
                <a16:creationId xmlns:a16="http://schemas.microsoft.com/office/drawing/2014/main" id="{FC0598FE-5934-4156-9111-EADA524C3B38}"/>
              </a:ext>
            </a:extLst>
          </p:cNvPr>
          <p:cNvSpPr>
            <a:spLocks xmlns:a="http://schemas.openxmlformats.org/drawingml/2006/main" noGrp="1"/>
          </p:cNvSpPr>
          <p:nvPr/>
        </p:nvSpPr>
        <p:spPr>
          <a:xfrm xmlns:a="http://schemas.openxmlformats.org/drawingml/2006/main">
            <a:off x="457200" y="1257300"/>
            <a:ext cx="5143500" cy="2857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0A1224"/>
                </a:solidFill>
                <a:latin typeface="Arial"/>
                <a:ea typeface="Arial"/>
                <a:cs typeface="Arial"/>
              </a:defRPr>
            </a:pPr>
            <a:r>
              <a:t>Install.
Route.
Verify.</a:t>
            </a:r>
          </a:p>
        </p:txBody>
      </p:sp>
      <p:cxnSp>
        <p:nvCxnSpPr>
          <p:cNvPr id="21" name="s12-accent"/>
          <p:cNvCxnSpPr/>
          <p:nvPr/>
        </p:nvCxnSpPr>
        <p:spPr>
          <a:xfrm xmlns:a="http://schemas.openxmlformats.org/drawingml/2006/main">
            <a:off x="495300" y="4438650"/>
            <a:ext cx="12382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2-close">
            <a:extLst xmlns:a="http://schemas.openxmlformats.org/drawingml/2006/main">
              <a:ext uri="{FF2B5EF4-FFF2-40B4-BE49-F238E27FC236}">
                <a16:creationId xmlns:a16="http://schemas.microsoft.com/office/drawing/2014/main" id="{4C4DCF78-D1CB-4A22-825F-9FCBA090C768}"/>
              </a:ext>
            </a:extLst>
          </p:cNvPr>
          <p:cNvSpPr>
            <a:spLocks xmlns:a="http://schemas.openxmlformats.org/drawingml/2006/main" noGrp="1"/>
          </p:cNvSpPr>
          <p:nvPr/>
        </p:nvSpPr>
        <p:spPr>
          <a:xfrm xmlns:a="http://schemas.openxmlformats.org/drawingml/2006/main">
            <a:off x="457200" y="4819650"/>
            <a:ext cx="5238750" cy="857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071"/>
                </a:solidFill>
                <a:latin typeface="Arial"/>
                <a:ea typeface="Arial"/>
                <a:cs typeface="Arial"/>
              </a:defRPr>
            </a:pPr>
            <a:r>
              <a:t>A map, a route, a memory, and evidence that the selected context was useful.</a:t>
            </a:r>
          </a:p>
        </p:txBody>
      </p:sp>
      <p:sp>
        <p:nvSpPr>
          <p:cNvPr id="5" name="s12-command-box">
            <a:extLst xmlns:a="http://schemas.openxmlformats.org/drawingml/2006/main">
              <a:ext uri="{FF2B5EF4-FFF2-40B4-BE49-F238E27FC236}">
                <a16:creationId xmlns:a16="http://schemas.microsoft.com/office/drawing/2014/main" id="{D4B06752-48F6-476C-8EC7-DF4AEDDC0EBE}"/>
              </a:ext>
            </a:extLst>
          </p:cNvPr>
          <p:cNvSpPr>
            <a:spLocks xmlns:a="http://schemas.openxmlformats.org/drawingml/2006/main" noGrp="1"/>
          </p:cNvSpPr>
          <p:nvPr/>
        </p:nvSpPr>
        <p:spPr>
          <a:xfrm xmlns:a="http://schemas.openxmlformats.org/drawingml/2006/main">
            <a:off x="6477000" y="1352550"/>
            <a:ext cx="4857750" cy="1485900"/>
          </a:xfrm>
          <a:prstGeom xmlns:a="http://schemas.openxmlformats.org/drawingml/2006/main" prst="roundRect">
            <a:avLst>
              <a:gd name="adj" fmla="val 5128"/>
            </a:avLst>
          </a:prstGeom>
          <a:solidFill xmlns:a="http://schemas.openxmlformats.org/drawingml/2006/main">
            <a:srgbClr val="061B3D"/>
          </a:solidFill>
          <a:ln xmlns:a="http://schemas.openxmlformats.org/drawingml/2006/main" w="0">
            <a:solidFill>
              <a:srgbClr val="061B3D"/>
            </a:solidFill>
            <a:prstDash val="solid"/>
          </a:ln>
        </p:spPr>
      </p:sp>
      <p:sp>
        <p:nvSpPr>
          <p:cNvPr id="6" name="s12-command">
            <a:extLst xmlns:a="http://schemas.openxmlformats.org/drawingml/2006/main">
              <a:ext uri="{FF2B5EF4-FFF2-40B4-BE49-F238E27FC236}">
                <a16:creationId xmlns:a16="http://schemas.microsoft.com/office/drawing/2014/main" id="{069802BD-E1D7-4C26-9DAF-BC9F3769CE17}"/>
              </a:ext>
            </a:extLst>
          </p:cNvPr>
          <p:cNvSpPr>
            <a:spLocks xmlns:a="http://schemas.openxmlformats.org/drawingml/2006/main" noGrp="1"/>
          </p:cNvSpPr>
          <p:nvPr/>
        </p:nvSpPr>
        <p:spPr>
          <a:xfrm xmlns:a="http://schemas.openxmlformats.org/drawingml/2006/main">
            <a:off x="6819900" y="1714500"/>
            <a:ext cx="41719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npm install -g
vertex-palace@0.2.3</a:t>
            </a:r>
          </a:p>
        </p:txBody>
      </p:sp>
      <p:sp>
        <p:nvSpPr>
          <p:cNvPr id="7" name="s12-github">
            <a:extLst xmlns:a="http://schemas.openxmlformats.org/drawingml/2006/main">
              <a:ext uri="{FF2B5EF4-FFF2-40B4-BE49-F238E27FC236}">
                <a16:creationId xmlns:a16="http://schemas.microsoft.com/office/drawing/2014/main" id="{B216AC18-2B33-46B2-9B5A-657C425E7978}"/>
              </a:ext>
            </a:extLst>
          </p:cNvPr>
          <p:cNvSpPr>
            <a:spLocks xmlns:a="http://schemas.openxmlformats.org/drawingml/2006/main" noGrp="1"/>
          </p:cNvSpPr>
          <p:nvPr/>
        </p:nvSpPr>
        <p:spPr>
          <a:xfrm xmlns:a="http://schemas.openxmlformats.org/drawingml/2006/main">
            <a:off x="6477000" y="33528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github.com/lohchanhin/vertex-palace</a:t>
            </a:r>
          </a:p>
        </p:txBody>
      </p:sp>
      <p:sp>
        <p:nvSpPr>
          <p:cNvPr id="8" name="s12-npm">
            <a:extLst xmlns:a="http://schemas.openxmlformats.org/drawingml/2006/main">
              <a:ext uri="{FF2B5EF4-FFF2-40B4-BE49-F238E27FC236}">
                <a16:creationId xmlns:a16="http://schemas.microsoft.com/office/drawing/2014/main" id="{4BBF6B50-3F2B-49CE-AFEA-1D85265BD334}"/>
              </a:ext>
            </a:extLst>
          </p:cNvPr>
          <p:cNvSpPr>
            <a:spLocks xmlns:a="http://schemas.openxmlformats.org/drawingml/2006/main" noGrp="1"/>
          </p:cNvSpPr>
          <p:nvPr/>
        </p:nvSpPr>
        <p:spPr>
          <a:xfrm xmlns:a="http://schemas.openxmlformats.org/drawingml/2006/main">
            <a:off x="6477000" y="38481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Consolas"/>
                <a:ea typeface="Consolas"/>
                <a:cs typeface="Consolas"/>
              </a:defRPr>
            </a:pPr>
            <a:r>
              <a:t>npmjs.com/package/vertex-palace</a:t>
            </a:r>
          </a:p>
        </p:txBody>
      </p:sp>
      <p:sp>
        <p:nvSpPr>
          <p:cNvPr id="9" name="s12-d1">
            <a:extLst xmlns:a="http://schemas.openxmlformats.org/drawingml/2006/main">
              <a:ext uri="{FF2B5EF4-FFF2-40B4-BE49-F238E27FC236}">
                <a16:creationId xmlns:a16="http://schemas.microsoft.com/office/drawing/2014/main" id="{B3B25E61-6DDF-4879-8965-97C53775D3A9}"/>
              </a:ext>
            </a:extLst>
          </p:cNvPr>
          <p:cNvSpPr>
            <a:spLocks xmlns:a="http://schemas.openxmlformats.org/drawingml/2006/main" noGrp="1"/>
          </p:cNvSpPr>
          <p:nvPr/>
        </p:nvSpPr>
        <p:spPr>
          <a:xfrm xmlns:a="http://schemas.openxmlformats.org/drawingml/2006/main">
            <a:off x="6515100" y="4838700"/>
            <a:ext cx="114300" cy="1143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10" name="s12-l1">
            <a:extLst xmlns:a="http://schemas.openxmlformats.org/drawingml/2006/main">
              <a:ext uri="{FF2B5EF4-FFF2-40B4-BE49-F238E27FC236}">
                <a16:creationId xmlns:a16="http://schemas.microsoft.com/office/drawing/2014/main" id="{B656556F-3903-4E84-B2EE-CA7166FCCF6D}"/>
              </a:ext>
            </a:extLst>
          </p:cNvPr>
          <p:cNvSpPr>
            <a:spLocks xmlns:a="http://schemas.openxmlformats.org/drawingml/2006/main" noGrp="1"/>
          </p:cNvSpPr>
          <p:nvPr/>
        </p:nvSpPr>
        <p:spPr>
          <a:xfrm xmlns:a="http://schemas.openxmlformats.org/drawingml/2006/main">
            <a:off x="6743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CLI</a:t>
            </a:r>
          </a:p>
        </p:txBody>
      </p:sp>
      <p:sp>
        <p:nvSpPr>
          <p:cNvPr id="11" name="s12-d2">
            <a:extLst xmlns:a="http://schemas.openxmlformats.org/drawingml/2006/main">
              <a:ext uri="{FF2B5EF4-FFF2-40B4-BE49-F238E27FC236}">
                <a16:creationId xmlns:a16="http://schemas.microsoft.com/office/drawing/2014/main" id="{1AF05E55-D24C-4CFC-9139-2F6C7B99A11F}"/>
              </a:ext>
            </a:extLst>
          </p:cNvPr>
          <p:cNvSpPr>
            <a:spLocks xmlns:a="http://schemas.openxmlformats.org/drawingml/2006/main" noGrp="1"/>
          </p:cNvSpPr>
          <p:nvPr/>
        </p:nvSpPr>
        <p:spPr>
          <a:xfrm xmlns:a="http://schemas.openxmlformats.org/drawingml/2006/main">
            <a:off x="7658100" y="4838700"/>
            <a:ext cx="114300" cy="1143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2" name="s12-l2">
            <a:extLst xmlns:a="http://schemas.openxmlformats.org/drawingml/2006/main">
              <a:ext uri="{FF2B5EF4-FFF2-40B4-BE49-F238E27FC236}">
                <a16:creationId xmlns:a16="http://schemas.microsoft.com/office/drawing/2014/main" id="{0B033A61-2C37-41E1-8953-89C2700EAB04}"/>
              </a:ext>
            </a:extLst>
          </p:cNvPr>
          <p:cNvSpPr>
            <a:spLocks xmlns:a="http://schemas.openxmlformats.org/drawingml/2006/main" noGrp="1"/>
          </p:cNvSpPr>
          <p:nvPr/>
        </p:nvSpPr>
        <p:spPr>
          <a:xfrm xmlns:a="http://schemas.openxmlformats.org/drawingml/2006/main">
            <a:off x="7886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MCP</a:t>
            </a:r>
          </a:p>
        </p:txBody>
      </p:sp>
      <p:sp>
        <p:nvSpPr>
          <p:cNvPr id="13" name="s12-d3">
            <a:extLst xmlns:a="http://schemas.openxmlformats.org/drawingml/2006/main">
              <a:ext uri="{FF2B5EF4-FFF2-40B4-BE49-F238E27FC236}">
                <a16:creationId xmlns:a16="http://schemas.microsoft.com/office/drawing/2014/main" id="{9CDC4976-A93B-47F9-930C-AF0C4432AE6E}"/>
              </a:ext>
            </a:extLst>
          </p:cNvPr>
          <p:cNvSpPr>
            <a:spLocks xmlns:a="http://schemas.openxmlformats.org/drawingml/2006/main" noGrp="1"/>
          </p:cNvSpPr>
          <p:nvPr/>
        </p:nvSpPr>
        <p:spPr>
          <a:xfrm xmlns:a="http://schemas.openxmlformats.org/drawingml/2006/main">
            <a:off x="8858250" y="4838700"/>
            <a:ext cx="114300" cy="1143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4" name="s12-l3">
            <a:extLst xmlns:a="http://schemas.openxmlformats.org/drawingml/2006/main">
              <a:ext uri="{FF2B5EF4-FFF2-40B4-BE49-F238E27FC236}">
                <a16:creationId xmlns:a16="http://schemas.microsoft.com/office/drawing/2014/main" id="{8D41EC01-ABF0-4549-8D41-703F592AB321}"/>
              </a:ext>
            </a:extLst>
          </p:cNvPr>
          <p:cNvSpPr>
            <a:spLocks xmlns:a="http://schemas.openxmlformats.org/drawingml/2006/main" noGrp="1"/>
          </p:cNvSpPr>
          <p:nvPr/>
        </p:nvSpPr>
        <p:spPr>
          <a:xfrm xmlns:a="http://schemas.openxmlformats.org/drawingml/2006/main">
            <a:off x="9086850" y="4762500"/>
            <a:ext cx="152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Codex plugin</a:t>
            </a:r>
          </a:p>
        </p:txBody>
      </p:sp>
      <p:sp>
        <p:nvSpPr>
          <p:cNvPr id="15" name="s12-platforms">
            <a:extLst xmlns:a="http://schemas.openxmlformats.org/drawingml/2006/main">
              <a:ext uri="{FF2B5EF4-FFF2-40B4-BE49-F238E27FC236}">
                <a16:creationId xmlns:a16="http://schemas.microsoft.com/office/drawing/2014/main" id="{FFE4BC4A-4106-45CF-83F2-3E422BC8DC2A}"/>
              </a:ext>
            </a:extLst>
          </p:cNvPr>
          <p:cNvSpPr>
            <a:spLocks xmlns:a="http://schemas.openxmlformats.org/drawingml/2006/main" noGrp="1"/>
          </p:cNvSpPr>
          <p:nvPr/>
        </p:nvSpPr>
        <p:spPr>
          <a:xfrm xmlns:a="http://schemas.openxmlformats.org/drawingml/2006/main">
            <a:off x="6477000" y="5334000"/>
            <a:ext cx="4857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MIT licensed | Windows, macOS, and Linux</a:t>
            </a:r>
          </a:p>
        </p:txBody>
      </p:sp>
      <p:cxnSp>
        <p:nvCxnSpPr>
          <p:cNvPr id="34" name="footer-rule-1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7" name="footer-source-12">
            <a:extLst xmlns:a="http://schemas.openxmlformats.org/drawingml/2006/main">
              <a:ext uri="{FF2B5EF4-FFF2-40B4-BE49-F238E27FC236}">
                <a16:creationId xmlns:a16="http://schemas.microsoft.com/office/drawing/2014/main" id="{C069F0C0-645C-4BF6-B273-34B4A2F3AD9A}"/>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18" name="footer-number-12">
            <a:extLst xmlns:a="http://schemas.openxmlformats.org/drawingml/2006/main">
              <a:ext uri="{FF2B5EF4-FFF2-40B4-BE49-F238E27FC236}">
                <a16:creationId xmlns:a16="http://schemas.microsoft.com/office/drawing/2014/main" id="{5DD12322-F830-4A90-9054-AB33254C8704}"/>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12</a:t>
            </a:r>
          </a:p>
        </p:txBody>
      </p:sp>
    </p:spTree>
    <p:extLst>
      <p:ext uri="{BB962C8B-B14F-4D97-AF65-F5344CB8AC3E}">
        <p14:creationId xmlns:p14="http://schemas.microsoft.com/office/powerpoint/2010/main" val="9169401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2026-07-19T13:58:23.0480000Z</dcterms:created>
  <dcterms:modified xsi:type="dcterms:W3CDTF">2026-07-19T13:58:23.0480000Z</dcterms:modified>
</coreProperties>
</file>