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677cee617c435c" /><Relationship Type="http://schemas.openxmlformats.org/officeDocument/2006/relationships/extended-properties" Target="/docProps/app.xml" Id="R98dcd457b00d4d5f" /><Relationship Type="http://schemas.openxmlformats.org/officeDocument/2006/relationships/officeDocument" Target="/ppt/presentation.xml" Id="R146b707d62e04a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463e87c024421e"/>
  </p:sldMasterIdLst>
  <p:notesMasterIdLst>
    <p:notesMasterId xmlns:r="http://schemas.openxmlformats.org/officeDocument/2006/relationships" r:id="R4de69a31150e49a2"/>
  </p:notesMasterIdLst>
  <p:sldIdLst>
    <p:sldId xmlns:r="http://schemas.openxmlformats.org/officeDocument/2006/relationships" id="256" r:id="R7f3627edb4d242b2"/>
    <p:sldId xmlns:r="http://schemas.openxmlformats.org/officeDocument/2006/relationships" id="257" r:id="R5f826e2058554739"/>
    <p:sldId xmlns:r="http://schemas.openxmlformats.org/officeDocument/2006/relationships" id="258" r:id="R2e5e818dfe134e6c"/>
    <p:sldId xmlns:r="http://schemas.openxmlformats.org/officeDocument/2006/relationships" id="259" r:id="R0a6761302045405c"/>
    <p:sldId xmlns:r="http://schemas.openxmlformats.org/officeDocument/2006/relationships" id="260" r:id="Rbe7db10c67f042cf"/>
    <p:sldId xmlns:r="http://schemas.openxmlformats.org/officeDocument/2006/relationships" id="261" r:id="R52708aea921d4872"/>
    <p:sldId xmlns:r="http://schemas.openxmlformats.org/officeDocument/2006/relationships" id="262" r:id="Refedc8ec5cb14507"/>
    <p:sldId xmlns:r="http://schemas.openxmlformats.org/officeDocument/2006/relationships" id="263" r:id="Raec27861df8a4f9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17dbde14524e47" /><Relationship Type="http://schemas.openxmlformats.org/officeDocument/2006/relationships/slideMaster" Target="/ppt/slideMasters/slideMaster1.xml" Id="R3f463e87c024421e" /><Relationship Type="http://schemas.openxmlformats.org/officeDocument/2006/relationships/notesMaster" Target="/ppt/notesMasters/notesMaster1.xml" Id="R4de69a31150e49a2" /><Relationship Type="http://schemas.openxmlformats.org/officeDocument/2006/relationships/presProps" Target="/ppt/presProps.xml" Id="R99c0046ea6234fd6" /><Relationship Type="http://schemas.openxmlformats.org/officeDocument/2006/relationships/tableStyles" Target="/ppt/tableStyles.xml" Id="R1430b9ac7399411b" /><Relationship Type="http://schemas.openxmlformats.org/officeDocument/2006/relationships/slide" Target="/ppt/slides/slide1.xml" Id="R7f3627edb4d242b2" /><Relationship Type="http://schemas.openxmlformats.org/officeDocument/2006/relationships/slide" Target="/ppt/slides/slide2.xml" Id="R5f826e2058554739" /><Relationship Type="http://schemas.openxmlformats.org/officeDocument/2006/relationships/slide" Target="/ppt/slides/slide3.xml" Id="R2e5e818dfe134e6c" /><Relationship Type="http://schemas.openxmlformats.org/officeDocument/2006/relationships/slide" Target="/ppt/slides/slide4.xml" Id="R0a6761302045405c" /><Relationship Type="http://schemas.openxmlformats.org/officeDocument/2006/relationships/slide" Target="/ppt/slides/slide5.xml" Id="Rbe7db10c67f042cf" /><Relationship Type="http://schemas.openxmlformats.org/officeDocument/2006/relationships/slide" Target="/ppt/slides/slide6.xml" Id="R52708aea921d4872" /><Relationship Type="http://schemas.openxmlformats.org/officeDocument/2006/relationships/slide" Target="/ppt/slides/slide7.xml" Id="Refedc8ec5cb14507" /><Relationship Type="http://schemas.openxmlformats.org/officeDocument/2006/relationships/slide" Target="/ppt/slides/slide8.xml" Id="Raec27861df8a4f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b71cfbbd5e44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a26080264f43bf" /><Relationship Type="http://schemas.openxmlformats.org/officeDocument/2006/relationships/notesMaster" Target="/ppt/notesMasters/notesMaster1.xml" Id="R46239692f33447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c93141af66470b" /><Relationship Type="http://schemas.openxmlformats.org/officeDocument/2006/relationships/notesMaster" Target="/ppt/notesMasters/notesMaster1.xml" Id="Radde6fd61d10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bd81ef9161458f" /><Relationship Type="http://schemas.openxmlformats.org/officeDocument/2006/relationships/notesMaster" Target="/ppt/notesMasters/notesMaster1.xml" Id="R2e175989a9404f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027df79db247a7" /><Relationship Type="http://schemas.openxmlformats.org/officeDocument/2006/relationships/notesMaster" Target="/ppt/notesMasters/notesMaster1.xml" Id="R73cb69060f1b43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cfc01bb6684a78" /><Relationship Type="http://schemas.openxmlformats.org/officeDocument/2006/relationships/notesMaster" Target="/ppt/notesMasters/notesMaster1.xml" Id="R1c23994a2bd049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188ac64bbd4c07" /><Relationship Type="http://schemas.openxmlformats.org/officeDocument/2006/relationships/notesMaster" Target="/ppt/notesMasters/notesMaster1.xml" Id="R37dfa2bc89f446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4fedbf3c8d4c08" /><Relationship Type="http://schemas.openxmlformats.org/officeDocument/2006/relationships/notesMaster" Target="/ppt/notesMasters/notesMaster1.xml" Id="Rdb76c5000d0446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a3474be4854f86" /><Relationship Type="http://schemas.openxmlformats.org/officeDocument/2006/relationships/notesMaster" Target="/ppt/notesMasters/notesMaster1.xml" Id="R85d789e17a4047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name and one sentence: Vertex Palace gives Codex a structured way to enter a large repository, retrieve focused context, remember relevant pitfalls, and measure whether the route actually helped.</a:t>
            </a:r>
          </a:p>
          <a:p xmlns:a="http://schemas.openxmlformats.org/drawingml/2006/main">
            <a:r>
              <a:t>Keep the opening brief. The next slide introduces the concrete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 in the first person. Vertex Palace began with a recurring problem in my own large projects: a single issue could take more than an hour, while token usage climbed as the agent rediscovered files, relationships, and earlier decisions.</a:t>
            </a:r>
          </a:p>
          <a:p xmlns:a="http://schemas.openxmlformats.org/drawingml/2006/main">
            <a:r>
              <a:t>This was the point where I stopped treating the context cost as an inconvenience and decided to build a task-specific entry path. Do not present this personal experience as a universal benchmark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2D-to-3D idea only becomes useful when each axis has a stable meaning. X is the horizontal functional area or module, such as auth, checkout, or blog.</a:t>
            </a:r>
          </a:p>
          <a:p xmlns:a="http://schemas.openxmlformats.org/drawingml/2006/main">
            <a:r>
              <a:t>Y is the vertical architectural floor, such as interface, implementation, data, verification, or runtime. Z is inspection depth: room overview, file cabinet, symbol drawer, then the smallest useful snippet.</a:t>
            </a:r>
          </a:p>
          <a:p xmlns:a="http://schemas.openxmlformats.org/drawingml/2006/main">
            <a:r>
              <a:t>For example, checkout / implementation / shippingQuote() is one address. A task route is a path between addresses; memory, evidence, confidence, and the Pitfall Board attach to places instead of becoming extra axes.</a:t>
            </a:r>
          </a:p>
          <a:p xmlns:a="http://schemas.openxmlformats.org/drawingml/2006/main">
            <a:r>
              <a:t>This keeps the building stable as the repository changes. Current code and tests still outrank remembered guidance.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Recording cue: hold this slide for about two seconds, then cut to a 35 to 45 second screen recording that runs the exact palace context command. Return to the slide before advancing.</a:t>
            </a:r>
          </a:p>
          <a:p xmlns:a="http://schemas.openxmlformats.org/drawingml/2006/main">
            <a:r>
              <a:t>Point out the selected guarded-memory mode, the two primary implementation files, the bounded payload, and the current-code-first guardrail.</a:t>
            </a:r>
          </a:p>
          <a:p xmlns:a="http://schemas.openxmlformats.org/drawingml/2006/main">
            <a:r>
              <a:t>This visible output is from a real local run on Vertex Palace 0.2.3.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Vertex Palace evaluates its own retrieval. The current task reduced an 87,622-token indexed repository estimate to an 8,900-token context pack and still covered all three declared changed files.</a:t>
            </a:r>
          </a:p>
          <a:p xmlns:a="http://schemas.openxmlformats.org/drawingml/2006/main">
            <a:r>
              <a:t>Say the caveat aloud: this is context-pack reduction, not proof of lower end-to-end Codex usage.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benchmark honestly. Adaptive beat always-on Full Palace at the median for reported tokens and time, but it did not beat no-Palace Control overall.</a:t>
            </a:r>
          </a:p>
          <a:p xmlns:a="http://schemas.openxmlformats.org/drawingml/2006/main">
            <a:r>
              <a:t>The end-to-end intervals crossed zero. The defensible value is auditable routing and guarded project history, not a universal efficiency promise.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Build Week contribution as a learning loop. The pre-event baseline was v0.1.4. During the event, Codex and GPT-5.6 helped turn benchmark failures and release-routing mistakes into tested product changes.</a:t>
            </a:r>
          </a:p>
          <a:p xmlns:a="http://schemas.openxmlformats.org/drawingml/2006/main">
            <a:r>
              <a:t>Name the human decisions: keep the evaluator local and deterministic, scope memory, and let current code and tests outrank history.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judge path: install the public package, run palace context with auto mode, then evaluate the route after the task.</a:t>
            </a:r>
          </a:p>
          <a:p xmlns:a="http://schemas.openxmlformats.org/drawingml/2006/main">
            <a:r>
              <a:t>End on the product promise: Vertex Palace gives coding agents a map, a route, a memory, and measurable evidence about the context they selected.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bb05c6f5a041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c72867fc924843" /><Relationship Type="http://schemas.openxmlformats.org/officeDocument/2006/relationships/slideLayout" Target="/ppt/slideLayouts/slideLayout1.xml" Id="R4cfe5f496f634ff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fe5f496f634f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48485a4ca4d91" /><Relationship Type="http://schemas.openxmlformats.org/officeDocument/2006/relationships/image" Target="/ppt/media/image.png" Id="R79c1d2b0254f4d99" /><Relationship Type="http://schemas.openxmlformats.org/officeDocument/2006/relationships/notesSlide" Target="/ppt/notesSlides/notesSlide1.xml" Id="Rdefde504a1b746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c5844f309495d" /><Relationship Type="http://schemas.openxmlformats.org/officeDocument/2006/relationships/notesSlide" Target="/ppt/notesSlides/notesSlide2.xml" Id="R0e00765be69c49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d8a417b8d4a46" /><Relationship Type="http://schemas.openxmlformats.org/officeDocument/2006/relationships/notesSlide" Target="/ppt/notesSlides/notesSlide3.xml" Id="R82217edfb77c44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94cedef4049bd" /><Relationship Type="http://schemas.openxmlformats.org/officeDocument/2006/relationships/notesSlide" Target="/ppt/notesSlides/notesSlide4.xml" Id="R971c1659e8cd48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d866d412d346a6" /><Relationship Type="http://schemas.openxmlformats.org/officeDocument/2006/relationships/chart" Target="/ppt/slides/charts/chart1.xml" Id="R7723a296227f4ecc" /><Relationship Type="http://schemas.openxmlformats.org/officeDocument/2006/relationships/notesSlide" Target="/ppt/notesSlides/notesSlide5.xml" Id="R0fcb78e681d34e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fe910aecd42e7" /><Relationship Type="http://schemas.openxmlformats.org/officeDocument/2006/relationships/chart" Target="/ppt/slides/charts/chart2.xml" Id="R441623c8d6f14263" /><Relationship Type="http://schemas.openxmlformats.org/officeDocument/2006/relationships/notesSlide" Target="/ppt/notesSlides/notesSlide6.xml" Id="R006ec070c45d4d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9497698f04ff7" /><Relationship Type="http://schemas.openxmlformats.org/officeDocument/2006/relationships/notesSlide" Target="/ppt/notesSlides/notesSlide7.xml" Id="R6c12b99dee8341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0612561ce4323" /><Relationship Type="http://schemas.openxmlformats.org/officeDocument/2006/relationships/notesSlide" Target="/ppt/notesSlides/notesSlide8.xml" Id="Rf90103d597584c0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Estimated tokens</c:v>
          </c:tx>
          <c:spPr>
            <a:solidFill xmlns:a="http://schemas.openxmlformats.org/drawingml/2006/main">
              <a:srgbClr val="1677FF"/>
            </a:solidFill>
          </c:spPr>
          <c:cat>
            <c:strLit>
              <c:ptCount val="2"/>
              <c:pt idx="0">
                <c:v>​</c:v>
              </c:pt>
              <c:pt idx="1">
                <c:v>‌</c:v>
              </c:pt>
            </c:strLit>
          </c:cat>
          <c:val>
            <c:numLit>
              <c:formatCode>General</c:formatCode>
              <c:ptCount val="2"/>
              <c:pt idx="0">
                <c:v>87622</c:v>
              </c:pt>
              <c:pt idx="1">
                <c:v>8900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F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Reported token difference</c:v>
          </c:tx>
          <c:spPr>
            <a:solidFill xmlns:a="http://schemas.openxmlformats.org/drawingml/2006/main">
              <a:srgbClr val="1677FF"/>
            </a:solidFill>
          </c:spPr>
          <c:invertIfNegative val="0"/>
          <c:cat>
            <c:strLit>
              <c:ptCount val="2"/>
              <c:pt idx="0">
                <c:v>​</c:v>
              </c:pt>
              <c:pt idx="1">
                <c:v>‌</c:v>
              </c:pt>
            </c:strLit>
          </c:cat>
          <c:val>
            <c:numLit>
              <c:formatCode>General</c:formatCode>
              <c:ptCount val="2"/>
              <c:pt idx="0">
                <c:v>-16522.5</c:v>
              </c:pt>
              <c:pt idx="1">
                <c:v>30147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F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14288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1-eyebrow">
            <a:extLst xmlns:a="http://schemas.openxmlformats.org/drawingml/2006/main">
              <a:ext uri="{FF2B5EF4-FFF2-40B4-BE49-F238E27FC236}">
                <a16:creationId xmlns:a16="http://schemas.microsoft.com/office/drawing/2014/main" id="{BA4A2A4C-2C67-46E2-9EBA-7D4F37C0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OPENAI BUILD WEEK 2026  /  DEVELOPER TOOLS</a:t>
            </a:r>
          </a:p>
        </p:txBody>
      </p:sp>
      <p:sp>
        <p:nvSpPr>
          <p:cNvPr id="2" name="s1-title">
            <a:extLst xmlns:a="http://schemas.openxmlformats.org/drawingml/2006/main">
              <a:ext uri="{FF2B5EF4-FFF2-40B4-BE49-F238E27FC236}">
                <a16:creationId xmlns:a16="http://schemas.microsoft.com/office/drawing/2014/main" id="{FDE79580-A097-46F0-9627-A59A4B31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59055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Vertex
Palace</a:t>
            </a:r>
          </a:p>
        </p:txBody>
      </p:sp>
      <p:cxnSp>
        <p:nvCxnSpPr>
          <p:cNvPr id="9" name="s1-accent"/>
          <p:cNvCxnSpPr/>
          <p:nvPr/>
        </p:nvCxnSpPr>
        <p:spPr>
          <a:xfrm xmlns:a="http://schemas.openxmlformats.org/drawingml/2006/main">
            <a:off x="514350" y="3895725"/>
            <a:ext cx="12001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13B7D5"/>
            </a:solidFill>
            <a:prstDash val="solid"/>
          </a:ln>
        </p:spPr>
      </p:cxnSp>
      <p:sp>
        <p:nvSpPr>
          <p:cNvPr id="4" name="s1-subtitle">
            <a:extLst xmlns:a="http://schemas.openxmlformats.org/drawingml/2006/main">
              <a:ext uri="{FF2B5EF4-FFF2-40B4-BE49-F238E27FC236}">
                <a16:creationId xmlns:a16="http://schemas.microsoft.com/office/drawing/2014/main" id="{614FD7A3-576F-4740-A719-5CC5B0AD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10050"/>
            <a:ext cx="58102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local map, route, memory, and evidence layer for Codex.</a:t>
            </a:r>
          </a:p>
        </p:txBody>
      </p:sp>
      <p:sp>
        <p:nvSpPr>
          <p:cNvPr id="5" name="s1-version">
            <a:extLst xmlns:a="http://schemas.openxmlformats.org/drawingml/2006/main">
              <a:ext uri="{FF2B5EF4-FFF2-40B4-BE49-F238E27FC236}">
                <a16:creationId xmlns:a16="http://schemas.microsoft.com/office/drawing/2014/main" id="{3525B2D3-BA2F-4189-9DEA-8150F4D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007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vertex-palace@0.2.3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c1d2b0254f4d99"/>
          <a:stretch xmlns:a="http://schemas.openxmlformats.org/drawingml/2006/main"/>
        </p:blipFill>
        <p:spPr>
          <a:xfrm xmlns:a="http://schemas.openxmlformats.org/drawingml/2006/main">
            <a:off x="6858000" y="1565275"/>
            <a:ext cx="4476750" cy="2984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9544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s2-title">
            <a:extLst xmlns:a="http://schemas.openxmlformats.org/drawingml/2006/main">
              <a:ext uri="{FF2B5EF4-FFF2-40B4-BE49-F238E27FC236}">
                <a16:creationId xmlns:a16="http://schemas.microsoft.com/office/drawing/2014/main" id="{CE01E587-EA77-4DCF-BC45-15C0EDA2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As my projects grew, one issue could take over an hour.</a:t>
            </a:r>
          </a:p>
        </p:txBody>
      </p:sp>
      <p:sp>
        <p:nvSpPr>
          <p:cNvPr id="2" name="s2-subtitle">
            <a:extLst xmlns:a="http://schemas.openxmlformats.org/drawingml/2006/main">
              <a:ext uri="{FF2B5EF4-FFF2-40B4-BE49-F238E27FC236}">
                <a16:creationId xmlns:a16="http://schemas.microsoft.com/office/drawing/2014/main" id="{37763A1F-21DD-4ED8-95FE-6CC55959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391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Token use became just as unreasonable as the agent repeatedly rediscovered the same repository.</a:t>
            </a:r>
          </a:p>
        </p:txBody>
      </p:sp>
      <p:cxnSp>
        <p:nvCxnSpPr>
          <p:cNvPr id="35" name="s2-link-a"/>
          <p:cNvCxnSpPr/>
          <p:nvPr/>
        </p:nvCxnSpPr>
        <p:spPr>
          <a:xfrm xmlns:a="http://schemas.openxmlformats.org/drawingml/2006/main">
            <a:off x="1400175" y="1981200"/>
            <a:ext cx="1257300" cy="1495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6" name="s2-link-b"/>
          <p:cNvCxnSpPr/>
          <p:nvPr/>
        </p:nvCxnSpPr>
        <p:spPr>
          <a:xfrm xmlns:a="http://schemas.openxmlformats.org/drawingml/2006/main">
            <a:off x="2657475" y="1685925"/>
            <a:ext cx="1562100" cy="1790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7" name="s2-link-c"/>
          <p:cNvCxnSpPr/>
          <p:nvPr/>
        </p:nvCxnSpPr>
        <p:spPr>
          <a:xfrm xmlns:a="http://schemas.openxmlformats.org/drawingml/2006/main">
            <a:off x="2657475" y="3181350"/>
            <a:ext cx="2400300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8" name="s2-link-d"/>
          <p:cNvCxnSpPr/>
          <p:nvPr/>
        </p:nvCxnSpPr>
        <p:spPr>
          <a:xfrm xmlns:a="http://schemas.openxmlformats.org/drawingml/2006/main">
            <a:off x="1533525" y="3476625"/>
            <a:ext cx="1123950" cy="1476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9" name="s2-link-e"/>
          <p:cNvCxnSpPr/>
          <p:nvPr/>
        </p:nvCxnSpPr>
        <p:spPr>
          <a:xfrm xmlns:a="http://schemas.openxmlformats.org/drawingml/2006/main">
            <a:off x="2657475" y="3476625"/>
            <a:ext cx="1771650" cy="1552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8" name="s2-agent">
            <a:extLst xmlns:a="http://schemas.openxmlformats.org/drawingml/2006/main">
              <a:ext uri="{FF2B5EF4-FFF2-40B4-BE49-F238E27FC236}">
                <a16:creationId xmlns:a16="http://schemas.microsoft.com/office/drawing/2014/main" id="{B54C204E-3868-469B-A58F-530A8303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146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9" name="s2-agent-label">
            <a:extLst xmlns:a="http://schemas.openxmlformats.org/drawingml/2006/main">
              <a:ext uri="{FF2B5EF4-FFF2-40B4-BE49-F238E27FC236}">
                <a16:creationId xmlns:a16="http://schemas.microsoft.com/office/drawing/2014/main" id="{E5F4D873-882C-4DE3-9A01-D8A63F21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86125"/>
            <a:ext cx="83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AGENT</a:t>
            </a:r>
          </a:p>
        </p:txBody>
      </p:sp>
      <p:sp>
        <p:nvSpPr>
          <p:cNvPr id="10" name="s2-file-a">
            <a:extLst xmlns:a="http://schemas.openxmlformats.org/drawingml/2006/main">
              <a:ext uri="{FF2B5EF4-FFF2-40B4-BE49-F238E27FC236}">
                <a16:creationId xmlns:a16="http://schemas.microsoft.com/office/drawing/2014/main" id="{EDFB5032-CC38-4425-BC7B-0A93AF32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1" name="s2-file-b">
            <a:extLst xmlns:a="http://schemas.openxmlformats.org/drawingml/2006/main">
              <a:ext uri="{FF2B5EF4-FFF2-40B4-BE49-F238E27FC236}">
                <a16:creationId xmlns:a16="http://schemas.microsoft.com/office/drawing/2014/main" id="{5D8AA49E-5348-43A7-99D4-0F6E7DDB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343025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2" name="s2-file-c">
            <a:extLst xmlns:a="http://schemas.openxmlformats.org/drawingml/2006/main">
              <a:ext uri="{FF2B5EF4-FFF2-40B4-BE49-F238E27FC236}">
                <a16:creationId xmlns:a16="http://schemas.microsoft.com/office/drawing/2014/main" id="{955CDD8F-920A-4F86-BBDF-8CB217B1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15049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3" name="s2-file-d">
            <a:extLst xmlns:a="http://schemas.openxmlformats.org/drawingml/2006/main">
              <a:ext uri="{FF2B5EF4-FFF2-40B4-BE49-F238E27FC236}">
                <a16:creationId xmlns:a16="http://schemas.microsoft.com/office/drawing/2014/main" id="{E4712813-2BEF-4B2B-BC37-68C0A698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4" name="s2-file-e">
            <a:extLst xmlns:a="http://schemas.openxmlformats.org/drawingml/2006/main">
              <a:ext uri="{FF2B5EF4-FFF2-40B4-BE49-F238E27FC236}">
                <a16:creationId xmlns:a16="http://schemas.microsoft.com/office/drawing/2014/main" id="{BFEB7E66-1CF9-4FDB-9968-95CC28102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863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5" name="s2-file-a-label">
            <a:extLst xmlns:a="http://schemas.openxmlformats.org/drawingml/2006/main">
              <a:ext uri="{FF2B5EF4-FFF2-40B4-BE49-F238E27FC236}">
                <a16:creationId xmlns:a16="http://schemas.microsoft.com/office/drawing/2014/main" id="{752A3A93-5DB7-4D8A-85EB-2F85B4A3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57375"/>
            <a:ext cx="1200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README.md</a:t>
            </a:r>
          </a:p>
        </p:txBody>
      </p:sp>
      <p:sp>
        <p:nvSpPr>
          <p:cNvPr id="16" name="s2-file-b-label">
            <a:extLst xmlns:a="http://schemas.openxmlformats.org/drawingml/2006/main">
              <a:ext uri="{FF2B5EF4-FFF2-40B4-BE49-F238E27FC236}">
                <a16:creationId xmlns:a16="http://schemas.microsoft.com/office/drawing/2014/main" id="{83476026-6F86-4310-81AD-0EB70161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562100"/>
            <a:ext cx="1295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checkout.ts</a:t>
            </a:r>
          </a:p>
        </p:txBody>
      </p:sp>
      <p:sp>
        <p:nvSpPr>
          <p:cNvPr id="17" name="s2-file-c-label">
            <a:extLst xmlns:a="http://schemas.openxmlformats.org/drawingml/2006/main">
              <a:ext uri="{FF2B5EF4-FFF2-40B4-BE49-F238E27FC236}">
                <a16:creationId xmlns:a16="http://schemas.microsoft.com/office/drawing/2014/main" id="{2D5D81C8-3062-4C2F-8F52-07141AFB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57525"/>
            <a:ext cx="1276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policy.json</a:t>
            </a:r>
          </a:p>
        </p:txBody>
      </p:sp>
      <p:sp>
        <p:nvSpPr>
          <p:cNvPr id="18" name="s2-file-d-label">
            <a:extLst xmlns:a="http://schemas.openxmlformats.org/drawingml/2006/main">
              <a:ext uri="{FF2B5EF4-FFF2-40B4-BE49-F238E27FC236}">
                <a16:creationId xmlns:a16="http://schemas.microsoft.com/office/drawing/2014/main" id="{688B4AE7-6A7D-433F-8FBC-CCC60779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29175"/>
            <a:ext cx="135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footer.tsx</a:t>
            </a:r>
          </a:p>
        </p:txBody>
      </p:sp>
      <p:sp>
        <p:nvSpPr>
          <p:cNvPr id="19" name="s2-file-e-label">
            <a:extLst xmlns:a="http://schemas.openxmlformats.org/drawingml/2006/main">
              <a:ext uri="{FF2B5EF4-FFF2-40B4-BE49-F238E27FC236}">
                <a16:creationId xmlns:a16="http://schemas.microsoft.com/office/drawing/2014/main" id="{B8123406-4926-4A2B-8900-6518003D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905375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tests/...</a:t>
            </a:r>
          </a:p>
        </p:txBody>
      </p:sp>
      <p:sp>
        <p:nvSpPr>
          <p:cNvPr id="20" name="s2-n1">
            <a:extLst xmlns:a="http://schemas.openxmlformats.org/drawingml/2006/main">
              <a:ext uri="{FF2B5EF4-FFF2-40B4-BE49-F238E27FC236}">
                <a16:creationId xmlns:a16="http://schemas.microsoft.com/office/drawing/2014/main" id="{CF21291D-1275-49CA-B125-C708D0B0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62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21" name="s2-n1-label">
            <a:extLst xmlns:a="http://schemas.openxmlformats.org/drawingml/2006/main">
              <a:ext uri="{FF2B5EF4-FFF2-40B4-BE49-F238E27FC236}">
                <a16:creationId xmlns:a16="http://schemas.microsoft.com/office/drawing/2014/main" id="{50212A83-479A-4F6A-902A-5B2215B7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097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22" name="s2-p1">
            <a:extLst xmlns:a="http://schemas.openxmlformats.org/drawingml/2006/main">
              <a:ext uri="{FF2B5EF4-FFF2-40B4-BE49-F238E27FC236}">
                <a16:creationId xmlns:a16="http://schemas.microsoft.com/office/drawing/2014/main" id="{8947F4D5-7B54-4AFB-B6A8-CD20E237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390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Broad search</a:t>
            </a:r>
          </a:p>
        </p:txBody>
      </p:sp>
      <p:sp>
        <p:nvSpPr>
          <p:cNvPr id="23" name="s2-n2">
            <a:extLst xmlns:a="http://schemas.openxmlformats.org/drawingml/2006/main">
              <a:ext uri="{FF2B5EF4-FFF2-40B4-BE49-F238E27FC236}">
                <a16:creationId xmlns:a16="http://schemas.microsoft.com/office/drawing/2014/main" id="{1D5C127C-79CE-408F-B566-7FF99AC9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24" name="s2-n2-label">
            <a:extLst xmlns:a="http://schemas.openxmlformats.org/drawingml/2006/main">
              <a:ext uri="{FF2B5EF4-FFF2-40B4-BE49-F238E27FC236}">
                <a16:creationId xmlns:a16="http://schemas.microsoft.com/office/drawing/2014/main" id="{8EF3DFF5-43D6-4951-A2FB-FB5480C7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908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25" name="s2-p2">
            <a:extLst xmlns:a="http://schemas.openxmlformats.org/drawingml/2006/main">
              <a:ext uri="{FF2B5EF4-FFF2-40B4-BE49-F238E27FC236}">
                <a16:creationId xmlns:a16="http://schemas.microsoft.com/office/drawing/2014/main" id="{B0EEB293-3063-4266-9D21-B260197D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28950"/>
            <a:ext cx="390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Repeated reading</a:t>
            </a:r>
          </a:p>
        </p:txBody>
      </p:sp>
      <p:sp>
        <p:nvSpPr>
          <p:cNvPr id="26" name="s2-n3">
            <a:extLst xmlns:a="http://schemas.openxmlformats.org/drawingml/2006/main">
              <a:ext uri="{FF2B5EF4-FFF2-40B4-BE49-F238E27FC236}">
                <a16:creationId xmlns:a16="http://schemas.microsoft.com/office/drawing/2014/main" id="{8807360B-1D31-4C4D-9D60-50F6555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24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27" name="s2-n3-label">
            <a:extLst xmlns:a="http://schemas.openxmlformats.org/drawingml/2006/main">
              <a:ext uri="{FF2B5EF4-FFF2-40B4-BE49-F238E27FC236}">
                <a16:creationId xmlns:a16="http://schemas.microsoft.com/office/drawing/2014/main" id="{ECF7D8E2-753B-4544-8C14-A25F659C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719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28" name="s2-p3">
            <a:extLst xmlns:a="http://schemas.openxmlformats.org/drawingml/2006/main">
              <a:ext uri="{FF2B5EF4-FFF2-40B4-BE49-F238E27FC236}">
                <a16:creationId xmlns:a16="http://schemas.microsoft.com/office/drawing/2014/main" id="{F53A45E9-915F-4D65-9CE0-DA52330C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10050"/>
            <a:ext cx="4095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Forgotten decisions</a:t>
            </a:r>
          </a:p>
        </p:txBody>
      </p:sp>
      <p:sp>
        <p:nvSpPr>
          <p:cNvPr id="29" name="s2-takeaway">
            <a:extLst xmlns:a="http://schemas.openxmlformats.org/drawingml/2006/main">
              <a:ext uri="{FF2B5EF4-FFF2-40B4-BE49-F238E27FC236}">
                <a16:creationId xmlns:a16="http://schemas.microsoft.com/office/drawing/2014/main" id="{68D5A9DF-DEAC-4378-A635-97BF67A0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62550"/>
            <a:ext cx="46291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That frustration became the reason I built Vertex Palace.</a:t>
            </a:r>
          </a:p>
        </p:txBody>
      </p:sp>
      <p:cxnSp>
        <p:nvCxnSpPr>
          <p:cNvPr id="62" name="footer-rule-2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1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B57DC3D6-4F55-4D36-B1EE-B3FD2A69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2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16D6A9C6-293C-4E0A-B71D-1A73C2AB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086507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3-title">
            <a:extLst xmlns:a="http://schemas.openxmlformats.org/drawingml/2006/main">
              <a:ext uri="{FF2B5EF4-FFF2-40B4-BE49-F238E27FC236}">
                <a16:creationId xmlns:a16="http://schemas.microsoft.com/office/drawing/2014/main" id="{D1D4BB7D-6882-4D9D-8940-3BC3CE75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3D building gives every context item an address.</a:t>
            </a:r>
          </a:p>
        </p:txBody>
      </p:sp>
      <p:sp>
        <p:nvSpPr>
          <p:cNvPr id="2" name="s3-subtitle">
            <a:extLst xmlns:a="http://schemas.openxmlformats.org/drawingml/2006/main">
              <a:ext uri="{FF2B5EF4-FFF2-40B4-BE49-F238E27FC236}">
                <a16:creationId xmlns:a16="http://schemas.microsoft.com/office/drawing/2014/main" id="{7BF1BF28-A736-4B07-9CE0-DA6C052B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391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X locates the domain. Y selects the architectural floor. Z controls inspection depth.</a:t>
            </a:r>
          </a:p>
        </p:txBody>
      </p:sp>
      <p:cxnSp>
        <p:nvCxnSpPr>
          <p:cNvPr id="40" name="s3-rule-x"/>
          <p:cNvCxnSpPr/>
          <p:nvPr/>
        </p:nvCxnSpPr>
        <p:spPr>
          <a:xfrm xmlns:a="http://schemas.openxmlformats.org/drawingml/2006/main">
            <a:off x="1428750" y="2886075"/>
            <a:ext cx="4762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cxnSp>
        <p:nvCxnSpPr>
          <p:cNvPr id="41" name="s3-rule-y"/>
          <p:cNvCxnSpPr/>
          <p:nvPr/>
        </p:nvCxnSpPr>
        <p:spPr>
          <a:xfrm xmlns:a="http://schemas.openxmlformats.org/drawingml/2006/main">
            <a:off x="1428750" y="4076700"/>
            <a:ext cx="4762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5" name="s3-address-panel">
            <a:extLst xmlns:a="http://schemas.openxmlformats.org/drawingml/2006/main">
              <a:ext uri="{FF2B5EF4-FFF2-40B4-BE49-F238E27FC236}">
                <a16:creationId xmlns:a16="http://schemas.microsoft.com/office/drawing/2014/main" id="{05A16BC2-9449-4688-BBB9-EA4E3E28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09750"/>
            <a:ext cx="476250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9525">
            <a:solidFill>
              <a:srgbClr val="0B2B56"/>
            </a:solidFill>
            <a:prstDash val="solid"/>
          </a:ln>
        </p:spPr>
      </p:sp>
      <p:cxnSp>
        <p:nvCxnSpPr>
          <p:cNvPr id="43" name="s3-address-rule-1"/>
          <p:cNvCxnSpPr/>
          <p:nvPr/>
        </p:nvCxnSpPr>
        <p:spPr>
          <a:xfrm xmlns:a="http://schemas.openxmlformats.org/drawingml/2006/main">
            <a:off x="7219950" y="2476500"/>
            <a:ext cx="40386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4466F"/>
            </a:solidFill>
            <a:prstDash val="solid"/>
          </a:ln>
        </p:spPr>
      </p:cxnSp>
      <p:cxnSp>
        <p:nvCxnSpPr>
          <p:cNvPr id="44" name="s3-address-rule-2"/>
          <p:cNvCxnSpPr/>
          <p:nvPr/>
        </p:nvCxnSpPr>
        <p:spPr>
          <a:xfrm xmlns:a="http://schemas.openxmlformats.org/drawingml/2006/main">
            <a:off x="7219950" y="4267200"/>
            <a:ext cx="40386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4466F"/>
            </a:solidFill>
            <a:prstDash val="solid"/>
          </a:ln>
        </p:spPr>
      </p:cxnSp>
      <p:sp>
        <p:nvSpPr>
          <p:cNvPr id="8" name="s3-x">
            <a:extLst xmlns:a="http://schemas.openxmlformats.org/drawingml/2006/main">
              <a:ext uri="{FF2B5EF4-FFF2-40B4-BE49-F238E27FC236}">
                <a16:creationId xmlns:a16="http://schemas.microsoft.com/office/drawing/2014/main" id="{CDB9D831-FEBE-4300-A416-5EE874F0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9" name="s3-x-letter">
            <a:extLst xmlns:a="http://schemas.openxmlformats.org/drawingml/2006/main">
              <a:ext uri="{FF2B5EF4-FFF2-40B4-BE49-F238E27FC236}">
                <a16:creationId xmlns:a16="http://schemas.microsoft.com/office/drawing/2014/main" id="{FA717173-24A2-4E68-97D0-609C2349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533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X</a:t>
            </a:r>
          </a:p>
        </p:txBody>
      </p:sp>
      <p:sp>
        <p:nvSpPr>
          <p:cNvPr id="10" name="s3-x-label">
            <a:extLst xmlns:a="http://schemas.openxmlformats.org/drawingml/2006/main">
              <a:ext uri="{FF2B5EF4-FFF2-40B4-BE49-F238E27FC236}">
                <a16:creationId xmlns:a16="http://schemas.microsoft.com/office/drawing/2014/main" id="{E9B76430-4E2E-473E-AE4B-EB7DBF0B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33575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X / DOMAIN OR MODULE</a:t>
            </a:r>
          </a:p>
        </p:txBody>
      </p:sp>
      <p:sp>
        <p:nvSpPr>
          <p:cNvPr id="11" name="s3-x-main">
            <a:extLst xmlns:a="http://schemas.openxmlformats.org/drawingml/2006/main">
              <a:ext uri="{FF2B5EF4-FFF2-40B4-BE49-F238E27FC236}">
                <a16:creationId xmlns:a16="http://schemas.microsoft.com/office/drawing/2014/main" id="{5DA85545-8411-46C7-8B84-19E54247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38375"/>
            <a:ext cx="476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auth  /  checkout  /  blog</a:t>
            </a:r>
          </a:p>
        </p:txBody>
      </p:sp>
      <p:sp>
        <p:nvSpPr>
          <p:cNvPr id="12" name="s3-x-question">
            <a:extLst xmlns:a="http://schemas.openxmlformats.org/drawingml/2006/main">
              <a:ext uri="{FF2B5EF4-FFF2-40B4-BE49-F238E27FC236}">
                <a16:creationId xmlns:a16="http://schemas.microsoft.com/office/drawing/2014/main" id="{7F610FBC-1AA5-4D68-B967-97F44472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Which product area?</a:t>
            </a:r>
          </a:p>
        </p:txBody>
      </p:sp>
      <p:sp>
        <p:nvSpPr>
          <p:cNvPr id="13" name="s3-y">
            <a:extLst xmlns:a="http://schemas.openxmlformats.org/drawingml/2006/main">
              <a:ext uri="{FF2B5EF4-FFF2-40B4-BE49-F238E27FC236}">
                <a16:creationId xmlns:a16="http://schemas.microsoft.com/office/drawing/2014/main" id="{E26DE3E6-E5F1-45F3-A426-636174F8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908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4" name="s3-y-letter">
            <a:extLst xmlns:a="http://schemas.openxmlformats.org/drawingml/2006/main">
              <a:ext uri="{FF2B5EF4-FFF2-40B4-BE49-F238E27FC236}">
                <a16:creationId xmlns:a16="http://schemas.microsoft.com/office/drawing/2014/main" id="{C70A5603-7E90-49F2-BAB3-AF67E761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533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Y</a:t>
            </a:r>
          </a:p>
        </p:txBody>
      </p:sp>
      <p:sp>
        <p:nvSpPr>
          <p:cNvPr id="15" name="s3-y-label">
            <a:extLst xmlns:a="http://schemas.openxmlformats.org/drawingml/2006/main">
              <a:ext uri="{FF2B5EF4-FFF2-40B4-BE49-F238E27FC236}">
                <a16:creationId xmlns:a16="http://schemas.microsoft.com/office/drawing/2014/main" id="{00C3F9E7-92D9-42F7-BA11-E8DE8283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2420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Y / ARCHITECTURE FLOOR</a:t>
            </a:r>
          </a:p>
        </p:txBody>
      </p:sp>
      <p:sp>
        <p:nvSpPr>
          <p:cNvPr id="16" name="s3-y-main">
            <a:extLst xmlns:a="http://schemas.openxmlformats.org/drawingml/2006/main">
              <a:ext uri="{FF2B5EF4-FFF2-40B4-BE49-F238E27FC236}">
                <a16:creationId xmlns:a16="http://schemas.microsoft.com/office/drawing/2014/main" id="{59B3D219-1F76-45B8-94EB-83CB2DDE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476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interface  /  implementation  /  data</a:t>
            </a:r>
          </a:p>
        </p:txBody>
      </p:sp>
      <p:sp>
        <p:nvSpPr>
          <p:cNvPr id="17" name="s3-y-question">
            <a:extLst xmlns:a="http://schemas.openxmlformats.org/drawingml/2006/main">
              <a:ext uri="{FF2B5EF4-FFF2-40B4-BE49-F238E27FC236}">
                <a16:creationId xmlns:a16="http://schemas.microsoft.com/office/drawing/2014/main" id="{206957FA-86D2-491C-B7E3-0B8C1630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00475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Which responsibility layer?</a:t>
            </a:r>
          </a:p>
        </p:txBody>
      </p:sp>
      <p:sp>
        <p:nvSpPr>
          <p:cNvPr id="18" name="s3-z">
            <a:extLst xmlns:a="http://schemas.openxmlformats.org/drawingml/2006/main">
              <a:ext uri="{FF2B5EF4-FFF2-40B4-BE49-F238E27FC236}">
                <a16:creationId xmlns:a16="http://schemas.microsoft.com/office/drawing/2014/main" id="{9AAF1B90-6BE1-4582-8168-A31444E5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19" name="s3-z-letter">
            <a:extLst xmlns:a="http://schemas.openxmlformats.org/drawingml/2006/main">
              <a:ext uri="{FF2B5EF4-FFF2-40B4-BE49-F238E27FC236}">
                <a16:creationId xmlns:a16="http://schemas.microsoft.com/office/drawing/2014/main" id="{C9AF575A-471D-4091-8622-1767B8A1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533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Z</a:t>
            </a:r>
          </a:p>
        </p:txBody>
      </p:sp>
      <p:sp>
        <p:nvSpPr>
          <p:cNvPr id="20" name="s3-z-label">
            <a:extLst xmlns:a="http://schemas.openxmlformats.org/drawingml/2006/main">
              <a:ext uri="{FF2B5EF4-FFF2-40B4-BE49-F238E27FC236}">
                <a16:creationId xmlns:a16="http://schemas.microsoft.com/office/drawing/2014/main" id="{37C1AF48-C7AA-4752-AE7D-66D80FA4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14825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Z / INSPECTION DEPTH</a:t>
            </a:r>
          </a:p>
        </p:txBody>
      </p:sp>
      <p:sp>
        <p:nvSpPr>
          <p:cNvPr id="21" name="s3-z-main">
            <a:extLst xmlns:a="http://schemas.openxmlformats.org/drawingml/2006/main">
              <a:ext uri="{FF2B5EF4-FFF2-40B4-BE49-F238E27FC236}">
                <a16:creationId xmlns:a16="http://schemas.microsoft.com/office/drawing/2014/main" id="{50EDBA67-BA95-4261-B2F8-BB667D4C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19625"/>
            <a:ext cx="476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room  -&gt;  file  -&gt;  symbol  -&gt;  snippet</a:t>
            </a:r>
          </a:p>
        </p:txBody>
      </p:sp>
      <p:sp>
        <p:nvSpPr>
          <p:cNvPr id="22" name="s3-z-question">
            <a:extLst xmlns:a="http://schemas.openxmlformats.org/drawingml/2006/main">
              <a:ext uri="{FF2B5EF4-FFF2-40B4-BE49-F238E27FC236}">
                <a16:creationId xmlns:a16="http://schemas.microsoft.com/office/drawing/2014/main" id="{68AF6718-973A-49F5-8400-6B306BE5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91100"/>
            <a:ext cx="4762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How much context is needed?</a:t>
            </a:r>
          </a:p>
        </p:txBody>
      </p:sp>
      <p:sp>
        <p:nvSpPr>
          <p:cNvPr id="23" name="s3-address-label">
            <a:extLst xmlns:a="http://schemas.openxmlformats.org/drawingml/2006/main">
              <a:ext uri="{FF2B5EF4-FFF2-40B4-BE49-F238E27FC236}">
                <a16:creationId xmlns:a16="http://schemas.microsoft.com/office/drawing/2014/main" id="{56C49C60-F960-4024-B649-BBECCB4D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95500"/>
            <a:ext cx="4038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ONE ADDRESS</a:t>
            </a:r>
          </a:p>
        </p:txBody>
      </p:sp>
      <p:sp>
        <p:nvSpPr>
          <p:cNvPr id="24" name="s3-address-x">
            <a:extLst xmlns:a="http://schemas.openxmlformats.org/drawingml/2006/main">
              <a:ext uri="{FF2B5EF4-FFF2-40B4-BE49-F238E27FC236}">
                <a16:creationId xmlns:a16="http://schemas.microsoft.com/office/drawing/2014/main" id="{5D4E6A4E-4672-48D8-A777-D4732DE0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24150"/>
            <a:ext cx="323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X</a:t>
            </a:r>
          </a:p>
        </p:txBody>
      </p:sp>
      <p:sp>
        <p:nvSpPr>
          <p:cNvPr id="25" name="s3-address-x-value">
            <a:extLst xmlns:a="http://schemas.openxmlformats.org/drawingml/2006/main">
              <a:ext uri="{FF2B5EF4-FFF2-40B4-BE49-F238E27FC236}">
                <a16:creationId xmlns:a16="http://schemas.microsoft.com/office/drawing/2014/main" id="{FA1A2287-AF2D-4062-B309-4E7B6A0C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05100"/>
            <a:ext cx="3333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checkout</a:t>
            </a:r>
          </a:p>
        </p:txBody>
      </p:sp>
      <p:sp>
        <p:nvSpPr>
          <p:cNvPr id="26" name="s3-address-y">
            <a:extLst xmlns:a="http://schemas.openxmlformats.org/drawingml/2006/main">
              <a:ext uri="{FF2B5EF4-FFF2-40B4-BE49-F238E27FC236}">
                <a16:creationId xmlns:a16="http://schemas.microsoft.com/office/drawing/2014/main" id="{1C64F50B-ABC3-4A7D-916E-65514572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57550"/>
            <a:ext cx="323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Y</a:t>
            </a:r>
          </a:p>
        </p:txBody>
      </p:sp>
      <p:sp>
        <p:nvSpPr>
          <p:cNvPr id="27" name="s3-address-y-value">
            <a:extLst xmlns:a="http://schemas.openxmlformats.org/drawingml/2006/main">
              <a:ext uri="{FF2B5EF4-FFF2-40B4-BE49-F238E27FC236}">
                <a16:creationId xmlns:a16="http://schemas.microsoft.com/office/drawing/2014/main" id="{00430B53-3183-484D-A26F-8D1D7909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38500"/>
            <a:ext cx="3333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implementation</a:t>
            </a:r>
          </a:p>
        </p:txBody>
      </p:sp>
      <p:sp>
        <p:nvSpPr>
          <p:cNvPr id="28" name="s3-address-z">
            <a:extLst xmlns:a="http://schemas.openxmlformats.org/drawingml/2006/main">
              <a:ext uri="{FF2B5EF4-FFF2-40B4-BE49-F238E27FC236}">
                <a16:creationId xmlns:a16="http://schemas.microsoft.com/office/drawing/2014/main" id="{B9B4EA29-BD3A-4D45-ACA1-90CB0078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90950"/>
            <a:ext cx="323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Z</a:t>
            </a:r>
          </a:p>
        </p:txBody>
      </p:sp>
      <p:sp>
        <p:nvSpPr>
          <p:cNvPr id="29" name="s3-address-z-value">
            <a:extLst xmlns:a="http://schemas.openxmlformats.org/drawingml/2006/main">
              <a:ext uri="{FF2B5EF4-FFF2-40B4-BE49-F238E27FC236}">
                <a16:creationId xmlns:a16="http://schemas.microsoft.com/office/drawing/2014/main" id="{7D5C5B7B-DC57-4802-97DE-FD5C0729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3333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shippingQuote()</a:t>
            </a:r>
          </a:p>
        </p:txBody>
      </p:sp>
      <p:sp>
        <p:nvSpPr>
          <p:cNvPr id="30" name="s3-address-note">
            <a:extLst xmlns:a="http://schemas.openxmlformats.org/drawingml/2006/main">
              <a:ext uri="{FF2B5EF4-FFF2-40B4-BE49-F238E27FC236}">
                <a16:creationId xmlns:a16="http://schemas.microsoft.com/office/drawing/2014/main" id="{421D33AB-5D71-4F46-A6AC-7F25D992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76750"/>
            <a:ext cx="4038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One bounded entry point.</a:t>
            </a:r>
          </a:p>
        </p:txBody>
      </p:sp>
      <p:sp>
        <p:nvSpPr>
          <p:cNvPr id="31" name="s3-route-label">
            <a:extLst xmlns:a="http://schemas.openxmlformats.org/drawingml/2006/main">
              <a:ext uri="{FF2B5EF4-FFF2-40B4-BE49-F238E27FC236}">
                <a16:creationId xmlns:a16="http://schemas.microsoft.com/office/drawing/2014/main" id="{EF313E81-650E-4030-BF44-92E9BB01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76850"/>
            <a:ext cx="742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ROUTE</a:t>
            </a:r>
          </a:p>
        </p:txBody>
      </p:sp>
      <p:sp>
        <p:nvSpPr>
          <p:cNvPr id="32" name="s3-route-main">
            <a:extLst xmlns:a="http://schemas.openxmlformats.org/drawingml/2006/main">
              <a:ext uri="{FF2B5EF4-FFF2-40B4-BE49-F238E27FC236}">
                <a16:creationId xmlns:a16="http://schemas.microsoft.com/office/drawing/2014/main" id="{2C909F8F-4FE0-471F-850E-769B320F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276850"/>
            <a:ext cx="3981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task-specific path between addresses</a:t>
            </a:r>
          </a:p>
        </p:txBody>
      </p:sp>
      <p:sp>
        <p:nvSpPr>
          <p:cNvPr id="33" name="s3-memory-label">
            <a:extLst xmlns:a="http://schemas.openxmlformats.org/drawingml/2006/main">
              <a:ext uri="{FF2B5EF4-FFF2-40B4-BE49-F238E27FC236}">
                <a16:creationId xmlns:a16="http://schemas.microsoft.com/office/drawing/2014/main" id="{C0174A6C-1C5E-42CF-8B90-7FCD8A11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81650"/>
            <a:ext cx="800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MEMORY</a:t>
            </a:r>
          </a:p>
        </p:txBody>
      </p:sp>
      <p:sp>
        <p:nvSpPr>
          <p:cNvPr id="34" name="s3-memory-main">
            <a:extLst xmlns:a="http://schemas.openxmlformats.org/drawingml/2006/main">
              <a:ext uri="{FF2B5EF4-FFF2-40B4-BE49-F238E27FC236}">
                <a16:creationId xmlns:a16="http://schemas.microsoft.com/office/drawing/2014/main" id="{56AEA01B-111F-4829-832D-40F634B4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581650"/>
            <a:ext cx="39243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evidence + pitfalls attached to places, not another axis</a:t>
            </a:r>
          </a:p>
        </p:txBody>
      </p:sp>
      <p:cxnSp>
        <p:nvCxnSpPr>
          <p:cNvPr id="72" name="footer-rule-3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6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D10B03C9-48D9-4057-9B40-17585A3E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7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31774030-2F81-49CB-97FA-5B99F41C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90791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4-title">
            <a:extLst xmlns:a="http://schemas.openxmlformats.org/drawingml/2006/main">
              <a:ext uri="{FF2B5EF4-FFF2-40B4-BE49-F238E27FC236}">
                <a16:creationId xmlns:a16="http://schemas.microsoft.com/office/drawing/2014/main" id="{00A86969-2DF3-4078-B402-F7AAD855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useful route in one command.</a:t>
            </a:r>
          </a:p>
        </p:txBody>
      </p:sp>
      <p:sp>
        <p:nvSpPr>
          <p:cNvPr id="2" name="s4-subtitle">
            <a:extLst xmlns:a="http://schemas.openxmlformats.org/drawingml/2006/main">
              <a:ext uri="{FF2B5EF4-FFF2-40B4-BE49-F238E27FC236}">
                <a16:creationId xmlns:a16="http://schemas.microsoft.com/office/drawing/2014/main" id="{8DE6C813-311D-4525-8230-6719017C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The same call initializes, refreshes, routes, selects a mode, and packs context.</a:t>
            </a:r>
          </a:p>
        </p:txBody>
      </p:sp>
      <p:sp>
        <p:nvSpPr>
          <p:cNvPr id="3" name="s4-terminal">
            <a:extLst xmlns:a="http://schemas.openxmlformats.org/drawingml/2006/main">
              <a:ext uri="{FF2B5EF4-FFF2-40B4-BE49-F238E27FC236}">
                <a16:creationId xmlns:a16="http://schemas.microsoft.com/office/drawing/2014/main" id="{623D79A5-0CD7-49F1-89AB-E3610095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10871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9525">
            <a:solidFill>
              <a:srgbClr val="0B2B56"/>
            </a:solidFill>
            <a:prstDash val="solid"/>
          </a:ln>
        </p:spPr>
      </p:sp>
      <p:cxnSp>
        <p:nvCxnSpPr>
          <p:cNvPr id="29" name="s4-terminal-divider"/>
          <p:cNvCxnSpPr/>
          <p:nvPr/>
        </p:nvCxnSpPr>
        <p:spPr>
          <a:xfrm xmlns:a="http://schemas.openxmlformats.org/drawingml/2006/main">
            <a:off x="6334125" y="2038350"/>
            <a:ext cx="953" cy="33528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4466F"/>
            </a:solidFill>
            <a:prstDash val="solid"/>
          </a:ln>
        </p:spPr>
      </p:cxnSp>
      <p:sp>
        <p:nvSpPr>
          <p:cNvPr id="5" name="s4-dot1">
            <a:extLst xmlns:a="http://schemas.openxmlformats.org/drawingml/2006/main">
              <a:ext uri="{FF2B5EF4-FFF2-40B4-BE49-F238E27FC236}">
                <a16:creationId xmlns:a16="http://schemas.microsoft.com/office/drawing/2014/main" id="{144B4091-2CE7-486A-AB5D-1FC014E0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515D"/>
          </a:solidFill>
          <a:ln xmlns:a="http://schemas.openxmlformats.org/drawingml/2006/main" w="0">
            <a:solidFill>
              <a:srgbClr val="D4515D"/>
            </a:solidFill>
            <a:prstDash val="solid"/>
          </a:ln>
        </p:spPr>
      </p:sp>
      <p:sp>
        <p:nvSpPr>
          <p:cNvPr id="6" name="s4-dot2">
            <a:extLst xmlns:a="http://schemas.openxmlformats.org/drawingml/2006/main">
              <a:ext uri="{FF2B5EF4-FFF2-40B4-BE49-F238E27FC236}">
                <a16:creationId xmlns:a16="http://schemas.microsoft.com/office/drawing/2014/main" id="{4EA41AA9-1B9E-4B89-814C-476276CB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712"/>
          </a:solidFill>
          <a:ln xmlns:a="http://schemas.openxmlformats.org/drawingml/2006/main" w="0">
            <a:solidFill>
              <a:srgbClr val="B87712"/>
            </a:solidFill>
            <a:prstDash val="solid"/>
          </a:ln>
        </p:spPr>
      </p:sp>
      <p:sp>
        <p:nvSpPr>
          <p:cNvPr id="7" name="s4-dot3">
            <a:extLst xmlns:a="http://schemas.openxmlformats.org/drawingml/2006/main">
              <a:ext uri="{FF2B5EF4-FFF2-40B4-BE49-F238E27FC236}">
                <a16:creationId xmlns:a16="http://schemas.microsoft.com/office/drawing/2014/main" id="{D6447499-3E02-4ADC-8BA9-C1C4ED38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777"/>
          </a:solidFill>
          <a:ln xmlns:a="http://schemas.openxmlformats.org/drawingml/2006/main" w="0">
            <a:solidFill>
              <a:srgbClr val="15A777"/>
            </a:solidFill>
            <a:prstDash val="solid"/>
          </a:ln>
        </p:spPr>
      </p:sp>
      <p:sp>
        <p:nvSpPr>
          <p:cNvPr id="8" name="s4-command-label">
            <a:extLst xmlns:a="http://schemas.openxmlformats.org/drawingml/2006/main">
              <a:ext uri="{FF2B5EF4-FFF2-40B4-BE49-F238E27FC236}">
                <a16:creationId xmlns:a16="http://schemas.microsoft.com/office/drawing/2014/main" id="{9820C9DA-EB71-4E0B-97A0-4A86B0E2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COMMAND</a:t>
            </a:r>
          </a:p>
        </p:txBody>
      </p:sp>
      <p:sp>
        <p:nvSpPr>
          <p:cNvPr id="9" name="s4-command">
            <a:extLst xmlns:a="http://schemas.openxmlformats.org/drawingml/2006/main">
              <a:ext uri="{FF2B5EF4-FFF2-40B4-BE49-F238E27FC236}">
                <a16:creationId xmlns:a16="http://schemas.microsoft.com/office/drawing/2014/main" id="{FDE44250-1019-4CB1-B959-5D7046F3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5000625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$ palace context
  "Fix adaptive full-palace mode
   so relevant memory is included
   with current-code-first guardrails"
  --auto</a:t>
            </a:r>
          </a:p>
        </p:txBody>
      </p:sp>
      <p:sp>
        <p:nvSpPr>
          <p:cNvPr id="10" name="s4-command-note">
            <a:extLst xmlns:a="http://schemas.openxmlformats.org/drawingml/2006/main">
              <a:ext uri="{FF2B5EF4-FFF2-40B4-BE49-F238E27FC236}">
                <a16:creationId xmlns:a16="http://schemas.microsoft.com/office/drawing/2014/main" id="{1A5E0206-8638-49B0-81E7-631C01FD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476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One request. No full-repo paste.</a:t>
            </a:r>
          </a:p>
        </p:txBody>
      </p:sp>
      <p:sp>
        <p:nvSpPr>
          <p:cNvPr id="11" name="s4-output-label">
            <a:extLst xmlns:a="http://schemas.openxmlformats.org/drawingml/2006/main">
              <a:ext uri="{FF2B5EF4-FFF2-40B4-BE49-F238E27FC236}">
                <a16:creationId xmlns:a16="http://schemas.microsoft.com/office/drawing/2014/main" id="{929FF591-E607-4BCA-B7A0-76583FDA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717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LIVE OUTPUT</a:t>
            </a:r>
          </a:p>
        </p:txBody>
      </p:sp>
      <p:sp>
        <p:nvSpPr>
          <p:cNvPr id="12" name="s4-o1a">
            <a:extLst xmlns:a="http://schemas.openxmlformats.org/drawingml/2006/main">
              <a:ext uri="{FF2B5EF4-FFF2-40B4-BE49-F238E27FC236}">
                <a16:creationId xmlns:a16="http://schemas.microsoft.com/office/drawing/2014/main" id="{70073B08-FD54-47C7-842B-F62389DA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2890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Mode</a:t>
            </a:r>
          </a:p>
        </p:txBody>
      </p:sp>
      <p:sp>
        <p:nvSpPr>
          <p:cNvPr id="13" name="s4-o1b">
            <a:extLst xmlns:a="http://schemas.openxmlformats.org/drawingml/2006/main">
              <a:ext uri="{FF2B5EF4-FFF2-40B4-BE49-F238E27FC236}">
                <a16:creationId xmlns:a16="http://schemas.microsoft.com/office/drawing/2014/main" id="{18522825-0F41-47AF-AB09-B27C39F2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2890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guarded-memory-palace</a:t>
            </a:r>
          </a:p>
        </p:txBody>
      </p:sp>
      <p:sp>
        <p:nvSpPr>
          <p:cNvPr id="14" name="s4-o2a">
            <a:extLst xmlns:a="http://schemas.openxmlformats.org/drawingml/2006/main">
              <a:ext uri="{FF2B5EF4-FFF2-40B4-BE49-F238E27FC236}">
                <a16:creationId xmlns:a16="http://schemas.microsoft.com/office/drawing/2014/main" id="{B0C5889C-FCCD-4937-B9E2-87397E2B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5752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Route confidence</a:t>
            </a:r>
          </a:p>
        </p:txBody>
      </p:sp>
      <p:sp>
        <p:nvSpPr>
          <p:cNvPr id="15" name="s4-o2b">
            <a:extLst xmlns:a="http://schemas.openxmlformats.org/drawingml/2006/main">
              <a:ext uri="{FF2B5EF4-FFF2-40B4-BE49-F238E27FC236}">
                <a16:creationId xmlns:a16="http://schemas.microsoft.com/office/drawing/2014/main" id="{F0A70C6D-30A9-474C-A86D-A1D89806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57525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B7D5"/>
                </a:solidFill>
                <a:latin typeface="Consolas"/>
                <a:ea typeface="Consolas"/>
                <a:cs typeface="Consolas"/>
              </a:defRPr>
            </a:pPr>
            <a:r>
              <a:t>0.81</a:t>
            </a:r>
          </a:p>
        </p:txBody>
      </p:sp>
      <p:sp>
        <p:nvSpPr>
          <p:cNvPr id="16" name="s4-o3a">
            <a:extLst xmlns:a="http://schemas.openxmlformats.org/drawingml/2006/main">
              <a:ext uri="{FF2B5EF4-FFF2-40B4-BE49-F238E27FC236}">
                <a16:creationId xmlns:a16="http://schemas.microsoft.com/office/drawing/2014/main" id="{2799C415-561B-4770-B41F-D8C1ED38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861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Payload</a:t>
            </a:r>
          </a:p>
        </p:txBody>
      </p:sp>
      <p:sp>
        <p:nvSpPr>
          <p:cNvPr id="17" name="s4-o3b">
            <a:extLst xmlns:a="http://schemas.openxmlformats.org/drawingml/2006/main">
              <a:ext uri="{FF2B5EF4-FFF2-40B4-BE49-F238E27FC236}">
                <a16:creationId xmlns:a16="http://schemas.microsoft.com/office/drawing/2014/main" id="{DCBAA2D0-7B07-42B2-A370-0FD5DFDA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1,165 est. tokens</a:t>
            </a:r>
          </a:p>
        </p:txBody>
      </p:sp>
      <p:sp>
        <p:nvSpPr>
          <p:cNvPr id="18" name="s4-o4a">
            <a:extLst xmlns:a="http://schemas.openxmlformats.org/drawingml/2006/main">
              <a:ext uri="{FF2B5EF4-FFF2-40B4-BE49-F238E27FC236}">
                <a16:creationId xmlns:a16="http://schemas.microsoft.com/office/drawing/2014/main" id="{81C07A28-0C4D-4193-A5DE-0813EC60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Primary</a:t>
            </a:r>
          </a:p>
        </p:txBody>
      </p:sp>
      <p:sp>
        <p:nvSpPr>
          <p:cNvPr id="19" name="s4-o4b">
            <a:extLst xmlns:a="http://schemas.openxmlformats.org/drawingml/2006/main">
              <a:ext uri="{FF2B5EF4-FFF2-40B4-BE49-F238E27FC236}">
                <a16:creationId xmlns:a16="http://schemas.microsoft.com/office/drawing/2014/main" id="{9B4755B3-D1BA-43BE-AAF7-3D4D7798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14775"/>
            <a:ext cx="2762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context-packer.ts
mode-selector.ts</a:t>
            </a:r>
          </a:p>
        </p:txBody>
      </p:sp>
      <p:sp>
        <p:nvSpPr>
          <p:cNvPr id="20" name="s4-o5a">
            <a:extLst xmlns:a="http://schemas.openxmlformats.org/drawingml/2006/main">
              <a:ext uri="{FF2B5EF4-FFF2-40B4-BE49-F238E27FC236}">
                <a16:creationId xmlns:a16="http://schemas.microsoft.com/office/drawing/2014/main" id="{F407A083-D9A9-4F0D-B199-030688D7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291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Memory</a:t>
            </a:r>
          </a:p>
        </p:txBody>
      </p:sp>
      <p:sp>
        <p:nvSpPr>
          <p:cNvPr id="21" name="s4-o5b">
            <a:extLst xmlns:a="http://schemas.openxmlformats.org/drawingml/2006/main">
              <a:ext uri="{FF2B5EF4-FFF2-40B4-BE49-F238E27FC236}">
                <a16:creationId xmlns:a16="http://schemas.microsoft.com/office/drawing/2014/main" id="{4267C68A-E521-4B98-A5F6-9FFAF762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A777"/>
                </a:solidFill>
                <a:latin typeface="Consolas"/>
                <a:ea typeface="Consolas"/>
                <a:cs typeface="Consolas"/>
              </a:defRPr>
            </a:pPr>
            <a:r>
              <a:t>3 items + 1 guardrail</a:t>
            </a:r>
          </a:p>
        </p:txBody>
      </p:sp>
      <p:sp>
        <p:nvSpPr>
          <p:cNvPr id="22" name="s4-output-note">
            <a:extLst xmlns:a="http://schemas.openxmlformats.org/drawingml/2006/main">
              <a:ext uri="{FF2B5EF4-FFF2-40B4-BE49-F238E27FC236}">
                <a16:creationId xmlns:a16="http://schemas.microsoft.com/office/drawing/2014/main" id="{45EF5AAE-14D3-4D6F-B6FF-90DB08F6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438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Primary files first. Supporting context stays bounded.</a:t>
            </a:r>
          </a:p>
        </p:txBody>
      </p:sp>
      <p:cxnSp>
        <p:nvCxnSpPr>
          <p:cNvPr id="48" name="footer-rule-4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7C0053B7-2ADC-41E7-8F74-7B958F8D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Live local CLI output captured 2026-07-19 · vertex-palace@0.2.3</a:t>
            </a:r>
          </a:p>
        </p:txBody>
      </p:sp>
      <p:sp>
        <p:nvSpPr>
          <p:cNvPr id="2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C85A1841-8AD6-4E68-AAC5-7148F54E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426262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5-title">
            <a:extLst xmlns:a="http://schemas.openxmlformats.org/drawingml/2006/main">
              <a:ext uri="{FF2B5EF4-FFF2-40B4-BE49-F238E27FC236}">
                <a16:creationId xmlns:a16="http://schemas.microsoft.com/office/drawing/2014/main" id="{CE056469-356C-4CF7-A68E-9B8DE354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route is measured after the task, not trusted blindly.</a:t>
            </a:r>
          </a:p>
        </p:txBody>
      </p:sp>
      <p:sp>
        <p:nvSpPr>
          <p:cNvPr id="2" name="s5-subtitle">
            <a:extLst xmlns:a="http://schemas.openxmlformats.org/drawingml/2006/main">
              <a:ext uri="{FF2B5EF4-FFF2-40B4-BE49-F238E27FC236}">
                <a16:creationId xmlns:a16="http://schemas.microsoft.com/office/drawing/2014/main" id="{2E97FCA5-3759-4473-98B7-445B6E39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palace evaluate compares the selected context with the files that actually changed.</a:t>
            </a:r>
          </a:p>
        </p:txBody>
      </p:sp>
      <p:sp>
        <p:nvSpPr>
          <p:cNvPr id="3" name="s5-chart-label-pack">
            <a:extLst xmlns:a="http://schemas.openxmlformats.org/drawingml/2006/main">
              <a:ext uri="{FF2B5EF4-FFF2-40B4-BE49-F238E27FC236}">
                <a16:creationId xmlns:a16="http://schemas.microsoft.com/office/drawing/2014/main" id="{5EF5C323-7392-476F-9E31-37AB59A1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02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Context pack</a:t>
            </a:r>
          </a:p>
        </p:txBody>
      </p:sp>
      <p:sp>
        <p:nvSpPr>
          <p:cNvPr id="4" name="s5-chart-label-repo">
            <a:extLst xmlns:a="http://schemas.openxmlformats.org/drawingml/2006/main">
              <a:ext uri="{FF2B5EF4-FFF2-40B4-BE49-F238E27FC236}">
                <a16:creationId xmlns:a16="http://schemas.microsoft.com/office/drawing/2014/main" id="{9C50DF07-D51A-4C44-A58D-40CBC834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102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Indexed repo</a:t>
            </a:r>
          </a:p>
        </p:txBody>
      </p:sp>
      <p:sp>
        <p:nvSpPr>
          <p:cNvPr id="5" name="s5-stat1">
            <a:extLst xmlns:a="http://schemas.openxmlformats.org/drawingml/2006/main">
              <a:ext uri="{FF2B5EF4-FFF2-40B4-BE49-F238E27FC236}">
                <a16:creationId xmlns:a16="http://schemas.microsoft.com/office/drawing/2014/main" id="{3F311FF6-116B-450D-AE8B-1442FD7F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43100"/>
            <a:ext cx="3333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100%</a:t>
            </a:r>
          </a:p>
        </p:txBody>
      </p:sp>
      <p:sp>
        <p:nvSpPr>
          <p:cNvPr id="6" name="s5-stat1-label">
            <a:extLst xmlns:a="http://schemas.openxmlformats.org/drawingml/2006/main">
              <a:ext uri="{FF2B5EF4-FFF2-40B4-BE49-F238E27FC236}">
                <a16:creationId xmlns:a16="http://schemas.microsoft.com/office/drawing/2014/main" id="{BBF1766A-A563-4805-BB9A-0BDA99E7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3333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changed-file coverage</a:t>
            </a:r>
          </a:p>
        </p:txBody>
      </p:sp>
      <p:cxnSp>
        <p:nvCxnSpPr>
          <p:cNvPr id="23" name="s5-r1"/>
          <p:cNvCxnSpPr/>
          <p:nvPr/>
        </p:nvCxnSpPr>
        <p:spPr>
          <a:xfrm xmlns:a="http://schemas.openxmlformats.org/drawingml/2006/main">
            <a:off x="7867650" y="3371850"/>
            <a:ext cx="33147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s5-stat2">
            <a:extLst xmlns:a="http://schemas.openxmlformats.org/drawingml/2006/main">
              <a:ext uri="{FF2B5EF4-FFF2-40B4-BE49-F238E27FC236}">
                <a16:creationId xmlns:a16="http://schemas.microsoft.com/office/drawing/2014/main" id="{41059287-E99F-4EB1-9E71-CE397677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38550"/>
            <a:ext cx="1524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30%</a:t>
            </a:r>
          </a:p>
        </p:txBody>
      </p:sp>
      <p:sp>
        <p:nvSpPr>
          <p:cNvPr id="9" name="s5-stat2-label">
            <a:extLst xmlns:a="http://schemas.openxmlformats.org/drawingml/2006/main">
              <a:ext uri="{FF2B5EF4-FFF2-40B4-BE49-F238E27FC236}">
                <a16:creationId xmlns:a16="http://schemas.microsoft.com/office/drawing/2014/main" id="{8508F888-BDF8-44F2-B2A8-BCCD387A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957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route focus</a:t>
            </a:r>
          </a:p>
        </p:txBody>
      </p:sp>
      <p:sp>
        <p:nvSpPr>
          <p:cNvPr id="10" name="s5-stat3">
            <a:extLst xmlns:a="http://schemas.openxmlformats.org/drawingml/2006/main">
              <a:ext uri="{FF2B5EF4-FFF2-40B4-BE49-F238E27FC236}">
                <a16:creationId xmlns:a16="http://schemas.microsoft.com/office/drawing/2014/main" id="{2B9CF1C5-0C4F-4E16-9A19-201C16D2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38550"/>
            <a:ext cx="1524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0.81</a:t>
            </a:r>
          </a:p>
        </p:txBody>
      </p:sp>
      <p:sp>
        <p:nvSpPr>
          <p:cNvPr id="11" name="s5-stat3-label">
            <a:extLst xmlns:a="http://schemas.openxmlformats.org/drawingml/2006/main">
              <a:ext uri="{FF2B5EF4-FFF2-40B4-BE49-F238E27FC236}">
                <a16:creationId xmlns:a16="http://schemas.microsoft.com/office/drawing/2014/main" id="{904FD2F1-0013-4F73-853F-6681E0BC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957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confidence</a:t>
            </a:r>
          </a:p>
        </p:txBody>
      </p:sp>
      <p:sp>
        <p:nvSpPr>
          <p:cNvPr id="12" name="s5-explain">
            <a:extLst xmlns:a="http://schemas.openxmlformats.org/drawingml/2006/main">
              <a:ext uri="{FF2B5EF4-FFF2-40B4-BE49-F238E27FC236}">
                <a16:creationId xmlns:a16="http://schemas.microsoft.com/office/drawing/2014/main" id="{E6DEEA2D-50F5-46F8-B0A7-81431B4F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38700"/>
            <a:ext cx="3333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Observed coverage was stronger than predicted, so the route was labeled underconfident.</a:t>
            </a:r>
          </a:p>
        </p:txBody>
      </p:sp>
      <p:cxnSp>
        <p:nvCxnSpPr>
          <p:cNvPr id="29" name="footer-rule-5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BC448489-CCC7-4B83-8CFD-FB9F1653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Current self-evaluation · 87,622 indexed estimated tokens · Context-pack reduction is not total Codex session-token savings</a:t>
            </a:r>
          </a:p>
        </p:txBody>
      </p:sp>
      <p:sp>
        <p:nvSpPr>
          <p:cNvPr id="1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D7409FD4-D66E-4D45-A857-E92D5538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1714500" y="1771650"/>
          <a:ext xmlns:a="http://schemas.openxmlformats.org/drawingml/2006/main" cx="5410200" cy="3924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23a296227f4ecc"/>
          </a:graphicData>
        </a:graphic>
      </p:graphicFrame>
    </p:spTree>
    <p:extLst>
      <p:ext uri="{BB962C8B-B14F-4D97-AF65-F5344CB8AC3E}">
        <p14:creationId xmlns:p14="http://schemas.microsoft.com/office/powerpoint/2010/main" val="19090600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6-title">
            <a:extLst xmlns:a="http://schemas.openxmlformats.org/drawingml/2006/main">
              <a:ext uri="{FF2B5EF4-FFF2-40B4-BE49-F238E27FC236}">
                <a16:creationId xmlns:a16="http://schemas.microsoft.com/office/drawing/2014/main" id="{487359B8-978F-4A12-9574-E8F4BADF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research result is useful, not magical.</a:t>
            </a:r>
          </a:p>
        </p:txBody>
      </p:sp>
      <p:sp>
        <p:nvSpPr>
          <p:cNvPr id="2" name="s6-subtitle">
            <a:extLst xmlns:a="http://schemas.openxmlformats.org/drawingml/2006/main">
              <a:ext uri="{FF2B5EF4-FFF2-40B4-BE49-F238E27FC236}">
                <a16:creationId xmlns:a16="http://schemas.microsoft.com/office/drawing/2014/main" id="{2318C7CF-539D-4275-BE7D-CF5E8AC9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preregistered exploratory study compared Control, Route-only, Full Palace, and Adaptive Palace.</a:t>
            </a:r>
          </a:p>
        </p:txBody>
      </p:sp>
      <p:sp>
        <p:nvSpPr>
          <p:cNvPr id="3" name="s6-chart-label-control">
            <a:extLst xmlns:a="http://schemas.openxmlformats.org/drawingml/2006/main">
              <a:ext uri="{FF2B5EF4-FFF2-40B4-BE49-F238E27FC236}">
                <a16:creationId xmlns:a16="http://schemas.microsoft.com/office/drawing/2014/main" id="{50356403-4DA9-4582-B4CF-22F5D3B5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562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vs Control</a:t>
            </a:r>
          </a:p>
        </p:txBody>
      </p:sp>
      <p:sp>
        <p:nvSpPr>
          <p:cNvPr id="4" name="s6-chart-label-full">
            <a:extLst xmlns:a="http://schemas.openxmlformats.org/drawingml/2006/main">
              <a:ext uri="{FF2B5EF4-FFF2-40B4-BE49-F238E27FC236}">
                <a16:creationId xmlns:a16="http://schemas.microsoft.com/office/drawing/2014/main" id="{EFA8917E-B0A2-436D-B3F8-30221B03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76750"/>
            <a:ext cx="1562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vs Full</a:t>
            </a:r>
          </a:p>
        </p:txBody>
      </p:sp>
      <p:sp>
        <p:nvSpPr>
          <p:cNvPr id="5" name="s6-stat">
            <a:extLst xmlns:a="http://schemas.openxmlformats.org/drawingml/2006/main">
              <a:ext uri="{FF2B5EF4-FFF2-40B4-BE49-F238E27FC236}">
                <a16:creationId xmlns:a16="http://schemas.microsoft.com/office/drawing/2014/main" id="{4C0C8A57-3B85-4380-88E5-5E7927A7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64/64</a:t>
            </a:r>
          </a:p>
        </p:txBody>
      </p:sp>
      <p:sp>
        <p:nvSpPr>
          <p:cNvPr id="6" name="s6-stat-label">
            <a:extLst xmlns:a="http://schemas.openxmlformats.org/drawingml/2006/main">
              <a:ext uri="{FF2B5EF4-FFF2-40B4-BE49-F238E27FC236}">
                <a16:creationId xmlns:a16="http://schemas.microsoft.com/office/drawing/2014/main" id="{DF62B7DA-CD60-48C6-8047-C2C9DD5A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86050"/>
            <a:ext cx="3048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arms valid, successful,
and correctly scoped</a:t>
            </a:r>
          </a:p>
        </p:txBody>
      </p:sp>
      <p:cxnSp>
        <p:nvCxnSpPr>
          <p:cNvPr id="22" name="s6-r1"/>
          <p:cNvCxnSpPr/>
          <p:nvPr/>
        </p:nvCxnSpPr>
        <p:spPr>
          <a:xfrm xmlns:a="http://schemas.openxmlformats.org/drawingml/2006/main">
            <a:off x="8039100" y="3638550"/>
            <a:ext cx="31623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s6-supported">
            <a:extLst xmlns:a="http://schemas.openxmlformats.org/drawingml/2006/main">
              <a:ext uri="{FF2B5EF4-FFF2-40B4-BE49-F238E27FC236}">
                <a16:creationId xmlns:a16="http://schemas.microsoft.com/office/drawing/2014/main" id="{E803D258-5E49-40A9-B842-D07D91C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862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Supported</a:t>
            </a:r>
          </a:p>
        </p:txBody>
      </p:sp>
      <p:sp>
        <p:nvSpPr>
          <p:cNvPr id="9" name="s6-supported-body">
            <a:extLst xmlns:a="http://schemas.openxmlformats.org/drawingml/2006/main">
              <a:ext uri="{FF2B5EF4-FFF2-40B4-BE49-F238E27FC236}">
                <a16:creationId xmlns:a16="http://schemas.microsoft.com/office/drawing/2014/main" id="{022D91F2-7BEA-4D51-847D-F56BDD78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291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produced a smaller Palace-owned payload than always-on Full Palace.</a:t>
            </a:r>
          </a:p>
        </p:txBody>
      </p:sp>
      <p:sp>
        <p:nvSpPr>
          <p:cNvPr id="10" name="s6-unsupported">
            <a:extLst xmlns:a="http://schemas.openxmlformats.org/drawingml/2006/main">
              <a:ext uri="{FF2B5EF4-FFF2-40B4-BE49-F238E27FC236}">
                <a16:creationId xmlns:a16="http://schemas.microsoft.com/office/drawing/2014/main" id="{BA3B2723-CB93-48CD-B8E5-DA584A12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515D"/>
                </a:solidFill>
                <a:latin typeface="Arial"/>
                <a:ea typeface="Arial"/>
                <a:cs typeface="Arial"/>
              </a:defRPr>
            </a:pPr>
            <a:r>
              <a:t>Not supported</a:t>
            </a:r>
          </a:p>
        </p:txBody>
      </p:sp>
      <p:sp>
        <p:nvSpPr>
          <p:cNvPr id="11" name="s6-unsupported-body">
            <a:extLst xmlns:a="http://schemas.openxmlformats.org/drawingml/2006/main">
              <a:ext uri="{FF2B5EF4-FFF2-40B4-BE49-F238E27FC236}">
                <a16:creationId xmlns:a16="http://schemas.microsoft.com/office/drawing/2014/main" id="{9AB02B32-5353-4EAC-8FFD-1A004B20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467350"/>
            <a:ext cx="3143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universal claim of lower end-to-end tokens or faster execution.</a:t>
            </a:r>
          </a:p>
        </p:txBody>
      </p:sp>
      <p:cxnSp>
        <p:nvCxnSpPr>
          <p:cNvPr id="27" name="footer-rule-6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F7978778-3991-4DE3-A088-A93CE651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Exploratory v2.2 · 16 trials / 64 arms · Vertex Palace 0.2.1 · github.com/lohchanhin/benchmarks-ab-demo</a:t>
            </a:r>
          </a:p>
        </p:txBody>
      </p:sp>
      <p:sp>
        <p:nvSpPr>
          <p:cNvPr id="14" name="footer-number-6">
            <a:extLst xmlns:a="http://schemas.openxmlformats.org/drawingml/2006/main">
              <a:ext uri="{FF2B5EF4-FFF2-40B4-BE49-F238E27FC236}">
                <a16:creationId xmlns:a16="http://schemas.microsoft.com/office/drawing/2014/main" id="{15881A3C-A8DD-4EEA-BD29-DB167674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2476500" y="1809750"/>
          <a:ext xmlns:a="http://schemas.openxmlformats.org/drawingml/2006/main" cx="48958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1623c8d6f14263"/>
          </a:graphicData>
        </a:graphic>
      </p:graphicFrame>
    </p:spTree>
    <p:extLst>
      <p:ext uri="{BB962C8B-B14F-4D97-AF65-F5344CB8AC3E}">
        <p14:creationId xmlns:p14="http://schemas.microsoft.com/office/powerpoint/2010/main" val="6819276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7-title">
            <a:extLst xmlns:a="http://schemas.openxmlformats.org/drawingml/2006/main">
              <a:ext uri="{FF2B5EF4-FFF2-40B4-BE49-F238E27FC236}">
                <a16:creationId xmlns:a16="http://schemas.microsoft.com/office/drawing/2014/main" id="{929197BB-C9E3-41FC-BD9B-343A5925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Build Week turned failed evidence into product changes.</a:t>
            </a:r>
          </a:p>
        </p:txBody>
      </p:sp>
      <p:sp>
        <p:nvSpPr>
          <p:cNvPr id="2" name="s7-subtitle">
            <a:extLst xmlns:a="http://schemas.openxmlformats.org/drawingml/2006/main">
              <a:ext uri="{FF2B5EF4-FFF2-40B4-BE49-F238E27FC236}">
                <a16:creationId xmlns:a16="http://schemas.microsoft.com/office/drawing/2014/main" id="{95FD0001-4D7E-48CE-965C-6145AAEC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Codex with GPT-5.6 helped trace failures across routing, memory, CLI, MCP, packaging, and tests.</a:t>
            </a:r>
          </a:p>
        </p:txBody>
      </p:sp>
      <p:cxnSp>
        <p:nvCxnSpPr>
          <p:cNvPr id="28" name="s7-timeline"/>
          <p:cNvCxnSpPr/>
          <p:nvPr/>
        </p:nvCxnSpPr>
        <p:spPr>
          <a:xfrm xmlns:a="http://schemas.openxmlformats.org/drawingml/2006/main">
            <a:off x="1847850" y="4457700"/>
            <a:ext cx="8458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29" name="s7-c1"/>
          <p:cNvCxnSpPr/>
          <p:nvPr/>
        </p:nvCxnSpPr>
        <p:spPr>
          <a:xfrm xmlns:a="http://schemas.openxmlformats.org/drawingml/2006/main">
            <a:off x="23431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0" name="s7-c2"/>
          <p:cNvCxnSpPr/>
          <p:nvPr/>
        </p:nvCxnSpPr>
        <p:spPr>
          <a:xfrm xmlns:a="http://schemas.openxmlformats.org/drawingml/2006/main">
            <a:off x="60769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1" name="s7-c3"/>
          <p:cNvCxnSpPr/>
          <p:nvPr/>
        </p:nvCxnSpPr>
        <p:spPr>
          <a:xfrm xmlns:a="http://schemas.openxmlformats.org/drawingml/2006/main">
            <a:off x="98107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s7-card1">
            <a:extLst xmlns:a="http://schemas.openxmlformats.org/drawingml/2006/main">
              <a:ext uri="{FF2B5EF4-FFF2-40B4-BE49-F238E27FC236}">
                <a16:creationId xmlns:a16="http://schemas.microsoft.com/office/drawing/2014/main" id="{747762F8-4186-4728-9DA0-B979B206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8" name="s7-card2">
            <a:extLst xmlns:a="http://schemas.openxmlformats.org/drawingml/2006/main">
              <a:ext uri="{FF2B5EF4-FFF2-40B4-BE49-F238E27FC236}">
                <a16:creationId xmlns:a16="http://schemas.microsoft.com/office/drawing/2014/main" id="{76164CE1-4552-4E6C-B2A2-9DDEFAF9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solidFill>
              <a:srgbClr val="EAF1FF"/>
            </a:solidFill>
            <a:prstDash val="solid"/>
          </a:ln>
        </p:spPr>
      </p:sp>
      <p:sp>
        <p:nvSpPr>
          <p:cNvPr id="9" name="s7-card3">
            <a:extLst xmlns:a="http://schemas.openxmlformats.org/drawingml/2006/main">
              <a:ext uri="{FF2B5EF4-FFF2-40B4-BE49-F238E27FC236}">
                <a16:creationId xmlns:a16="http://schemas.microsoft.com/office/drawing/2014/main" id="{2AED20BD-33BE-4EED-8286-5A0E7370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F7F2"/>
          </a:solidFill>
          <a:ln xmlns:a="http://schemas.openxmlformats.org/drawingml/2006/main" w="0">
            <a:solidFill>
              <a:srgbClr val="E9F7F2"/>
            </a:solidFill>
            <a:prstDash val="solid"/>
          </a:ln>
        </p:spPr>
      </p:sp>
      <p:sp>
        <p:nvSpPr>
          <p:cNvPr id="10" name="s7-dot1">
            <a:extLst xmlns:a="http://schemas.openxmlformats.org/drawingml/2006/main">
              <a:ext uri="{FF2B5EF4-FFF2-40B4-BE49-F238E27FC236}">
                <a16:creationId xmlns:a16="http://schemas.microsoft.com/office/drawing/2014/main" id="{25E8F013-CFC7-449B-AE69-37621750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1224"/>
          </a:solidFill>
          <a:ln xmlns:a="http://schemas.openxmlformats.org/drawingml/2006/main" w="0">
            <a:solidFill>
              <a:srgbClr val="0A1224"/>
            </a:solidFill>
            <a:prstDash val="solid"/>
          </a:ln>
        </p:spPr>
      </p:sp>
      <p:sp>
        <p:nvSpPr>
          <p:cNvPr id="11" name="s7-dot2">
            <a:extLst xmlns:a="http://schemas.openxmlformats.org/drawingml/2006/main">
              <a:ext uri="{FF2B5EF4-FFF2-40B4-BE49-F238E27FC236}">
                <a16:creationId xmlns:a16="http://schemas.microsoft.com/office/drawing/2014/main" id="{526E9602-9EF4-45AA-8CCD-520BA5E0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2" name="s7-dot3">
            <a:extLst xmlns:a="http://schemas.openxmlformats.org/drawingml/2006/main">
              <a:ext uri="{FF2B5EF4-FFF2-40B4-BE49-F238E27FC236}">
                <a16:creationId xmlns:a16="http://schemas.microsoft.com/office/drawing/2014/main" id="{4C148250-AA68-49CC-BD40-03473359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777"/>
          </a:solidFill>
          <a:ln xmlns:a="http://schemas.openxmlformats.org/drawingml/2006/main" w="0">
            <a:solidFill>
              <a:srgbClr val="15A777"/>
            </a:solidFill>
            <a:prstDash val="solid"/>
          </a:ln>
        </p:spPr>
      </p:sp>
      <p:sp>
        <p:nvSpPr>
          <p:cNvPr id="13" name="s7-k1">
            <a:extLst xmlns:a="http://schemas.openxmlformats.org/drawingml/2006/main">
              <a:ext uri="{FF2B5EF4-FFF2-40B4-BE49-F238E27FC236}">
                <a16:creationId xmlns:a16="http://schemas.microsoft.com/office/drawing/2014/main" id="{0734BDBD-EA2E-4C0C-8978-61BDC9AC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14" name="s7-b1">
            <a:extLst xmlns:a="http://schemas.openxmlformats.org/drawingml/2006/main">
              <a:ext uri="{FF2B5EF4-FFF2-40B4-BE49-F238E27FC236}">
                <a16:creationId xmlns:a16="http://schemas.microsoft.com/office/drawing/2014/main" id="{DA24AC9C-38E1-4BA4-AF5A-0784E112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64-run study exposed a Full-Palace memory omission.</a:t>
            </a:r>
          </a:p>
        </p:txBody>
      </p:sp>
      <p:sp>
        <p:nvSpPr>
          <p:cNvPr id="15" name="s7-v1">
            <a:extLst xmlns:a="http://schemas.openxmlformats.org/drawingml/2006/main">
              <a:ext uri="{FF2B5EF4-FFF2-40B4-BE49-F238E27FC236}">
                <a16:creationId xmlns:a16="http://schemas.microsoft.com/office/drawing/2014/main" id="{F95EDEE1-DF4F-4239-A1E9-03AC6DE3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071"/>
                </a:solidFill>
                <a:latin typeface="Consolas"/>
                <a:ea typeface="Consolas"/>
                <a:cs typeface="Consolas"/>
              </a:defRPr>
            </a:pPr>
            <a:r>
              <a:t>v0.2.1</a:t>
            </a:r>
          </a:p>
        </p:txBody>
      </p:sp>
      <p:sp>
        <p:nvSpPr>
          <p:cNvPr id="16" name="s7-k2">
            <a:extLst xmlns:a="http://schemas.openxmlformats.org/drawingml/2006/main">
              <a:ext uri="{FF2B5EF4-FFF2-40B4-BE49-F238E27FC236}">
                <a16:creationId xmlns:a16="http://schemas.microsoft.com/office/drawing/2014/main" id="{804655D3-B186-40D9-9F32-67596F04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FIX</a:t>
            </a:r>
          </a:p>
        </p:txBody>
      </p:sp>
      <p:sp>
        <p:nvSpPr>
          <p:cNvPr id="17" name="s7-b2">
            <a:extLst xmlns:a="http://schemas.openxmlformats.org/drawingml/2006/main">
              <a:ext uri="{FF2B5EF4-FFF2-40B4-BE49-F238E27FC236}">
                <a16:creationId xmlns:a16="http://schemas.microsoft.com/office/drawing/2014/main" id="{C0874439-16BF-4EAC-96A6-C54EC030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Codex + GPT-5.6 traced the root cause and added memory-fidelity regression tests.</a:t>
            </a:r>
          </a:p>
        </p:txBody>
      </p:sp>
      <p:sp>
        <p:nvSpPr>
          <p:cNvPr id="18" name="s7-v2">
            <a:extLst xmlns:a="http://schemas.openxmlformats.org/drawingml/2006/main">
              <a:ext uri="{FF2B5EF4-FFF2-40B4-BE49-F238E27FC236}">
                <a16:creationId xmlns:a16="http://schemas.microsoft.com/office/drawing/2014/main" id="{937D3E81-0C02-4F1E-B186-D85220CC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677FF"/>
                </a:solidFill>
                <a:latin typeface="Consolas"/>
                <a:ea typeface="Consolas"/>
                <a:cs typeface="Consolas"/>
              </a:defRPr>
            </a:pPr>
            <a:r>
              <a:t>v0.2.2</a:t>
            </a:r>
          </a:p>
        </p:txBody>
      </p:sp>
      <p:sp>
        <p:nvSpPr>
          <p:cNvPr id="19" name="s7-k3">
            <a:extLst xmlns:a="http://schemas.openxmlformats.org/drawingml/2006/main">
              <a:ext uri="{FF2B5EF4-FFF2-40B4-BE49-F238E27FC236}">
                <a16:creationId xmlns:a16="http://schemas.microsoft.com/office/drawing/2014/main" id="{0741E171-8028-433E-9C96-DEBBBECD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EXTEND</a:t>
            </a:r>
          </a:p>
        </p:txBody>
      </p:sp>
      <p:sp>
        <p:nvSpPr>
          <p:cNvPr id="20" name="s7-b3">
            <a:extLst xmlns:a="http://schemas.openxmlformats.org/drawingml/2006/main">
              <a:ext uri="{FF2B5EF4-FFF2-40B4-BE49-F238E27FC236}">
                <a16:creationId xmlns:a16="http://schemas.microsoft.com/office/drawing/2014/main" id="{DA0FF87D-9C3B-475C-A287-A5C637B1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Release routing expanded across npm, MCP, plugin metadata, docs, and CI.</a:t>
            </a:r>
          </a:p>
        </p:txBody>
      </p:sp>
      <p:sp>
        <p:nvSpPr>
          <p:cNvPr id="21" name="s7-v3">
            <a:extLst xmlns:a="http://schemas.openxmlformats.org/drawingml/2006/main">
              <a:ext uri="{FF2B5EF4-FFF2-40B4-BE49-F238E27FC236}">
                <a16:creationId xmlns:a16="http://schemas.microsoft.com/office/drawing/2014/main" id="{2FE82206-12A8-4445-9107-63AE87F9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A777"/>
                </a:solidFill>
                <a:latin typeface="Consolas"/>
                <a:ea typeface="Consolas"/>
                <a:cs typeface="Consolas"/>
              </a:defRPr>
            </a:pPr>
            <a:r>
              <a:t>v0.2.3</a:t>
            </a:r>
          </a:p>
        </p:txBody>
      </p:sp>
      <p:sp>
        <p:nvSpPr>
          <p:cNvPr id="22" name="s7-human">
            <a:extLst xmlns:a="http://schemas.openxmlformats.org/drawingml/2006/main">
              <a:ext uri="{FF2B5EF4-FFF2-40B4-BE49-F238E27FC236}">
                <a16:creationId xmlns:a16="http://schemas.microsoft.com/office/drawing/2014/main" id="{A2445D32-5A4A-455B-B496-BE0978E9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33950"/>
            <a:ext cx="9448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Human decisions stayed explicit: deterministic local evaluation, scoped memory, and current code + tests before remembered advice.</a:t>
            </a:r>
          </a:p>
        </p:txBody>
      </p:sp>
      <p:cxnSp>
        <p:nvCxnSpPr>
          <p:cNvPr id="48" name="footer-rule-7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58F0A127-F807-46BA-A562-C15960D1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Build Week record: BUILD_WEEK.md · dated Git history · /feedback Session 019f4280-40ee-7172-b94d-f5aa7aa46814</a:t>
            </a:r>
          </a:p>
        </p:txBody>
      </p:sp>
      <p:sp>
        <p:nvSpPr>
          <p:cNvPr id="2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CFCE8DB4-3B60-44BA-822B-0AC6063C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786833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8-eyebrow">
            <a:extLst xmlns:a="http://schemas.openxmlformats.org/drawingml/2006/main">
              <a:ext uri="{FF2B5EF4-FFF2-40B4-BE49-F238E27FC236}">
                <a16:creationId xmlns:a16="http://schemas.microsoft.com/office/drawing/2014/main" id="{350716B8-D243-4CC7-8A2E-CCD72D7D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READY TO TEST</a:t>
            </a:r>
          </a:p>
        </p:txBody>
      </p:sp>
      <p:sp>
        <p:nvSpPr>
          <p:cNvPr id="2" name="s8-title">
            <a:extLst xmlns:a="http://schemas.openxmlformats.org/drawingml/2006/main">
              <a:ext uri="{FF2B5EF4-FFF2-40B4-BE49-F238E27FC236}">
                <a16:creationId xmlns:a16="http://schemas.microsoft.com/office/drawing/2014/main" id="{F8808116-DD7E-4AE9-9EB6-B4A12D86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5143500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Install.
Route.
Verify.</a:t>
            </a:r>
          </a:p>
        </p:txBody>
      </p:sp>
      <p:cxnSp>
        <p:nvCxnSpPr>
          <p:cNvPr id="21" name="s8-accent"/>
          <p:cNvCxnSpPr/>
          <p:nvPr/>
        </p:nvCxnSpPr>
        <p:spPr>
          <a:xfrm xmlns:a="http://schemas.openxmlformats.org/drawingml/2006/main">
            <a:off x="495300" y="4438650"/>
            <a:ext cx="12382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13B7D5"/>
            </a:solidFill>
            <a:prstDash val="solid"/>
          </a:ln>
        </p:spPr>
      </p:cxnSp>
      <p:sp>
        <p:nvSpPr>
          <p:cNvPr id="4" name="s8-close">
            <a:extLst xmlns:a="http://schemas.openxmlformats.org/drawingml/2006/main">
              <a:ext uri="{FF2B5EF4-FFF2-40B4-BE49-F238E27FC236}">
                <a16:creationId xmlns:a16="http://schemas.microsoft.com/office/drawing/2014/main" id="{21E7F17E-D3DA-4C1B-8129-C08F1C11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9650"/>
            <a:ext cx="5238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map, a route, a memory, and evidence that the selected context was useful.</a:t>
            </a:r>
          </a:p>
        </p:txBody>
      </p:sp>
      <p:sp>
        <p:nvSpPr>
          <p:cNvPr id="5" name="s8-command-box">
            <a:extLst xmlns:a="http://schemas.openxmlformats.org/drawingml/2006/main">
              <a:ext uri="{FF2B5EF4-FFF2-40B4-BE49-F238E27FC236}">
                <a16:creationId xmlns:a16="http://schemas.microsoft.com/office/drawing/2014/main" id="{10C70A31-BAAC-41A0-93C7-BC206762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5255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6" name="s8-command">
            <a:extLst xmlns:a="http://schemas.openxmlformats.org/drawingml/2006/main">
              <a:ext uri="{FF2B5EF4-FFF2-40B4-BE49-F238E27FC236}">
                <a16:creationId xmlns:a16="http://schemas.microsoft.com/office/drawing/2014/main" id="{91CC4267-8446-4469-A4C9-6F3FF7A1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14500"/>
            <a:ext cx="41719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npm install -g
vertex-palace@0.2.3</a:t>
            </a:r>
          </a:p>
        </p:txBody>
      </p:sp>
      <p:sp>
        <p:nvSpPr>
          <p:cNvPr id="7" name="s8-github">
            <a:extLst xmlns:a="http://schemas.openxmlformats.org/drawingml/2006/main">
              <a:ext uri="{FF2B5EF4-FFF2-40B4-BE49-F238E27FC236}">
                <a16:creationId xmlns:a16="http://schemas.microsoft.com/office/drawing/2014/main" id="{AF8896AC-44C9-4763-A6B1-A5C90CA1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5280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github.com/lohchanhin/vertex-palace</a:t>
            </a:r>
          </a:p>
        </p:txBody>
      </p:sp>
      <p:sp>
        <p:nvSpPr>
          <p:cNvPr id="8" name="s8-npm">
            <a:extLst xmlns:a="http://schemas.openxmlformats.org/drawingml/2006/main">
              <a:ext uri="{FF2B5EF4-FFF2-40B4-BE49-F238E27FC236}">
                <a16:creationId xmlns:a16="http://schemas.microsoft.com/office/drawing/2014/main" id="{09E5B382-4510-455B-BFF9-5F0EB8EB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Consolas"/>
                <a:ea typeface="Consolas"/>
                <a:cs typeface="Consolas"/>
              </a:defRPr>
            </a:pPr>
            <a:r>
              <a:t>npmjs.com/package/vertex-palace</a:t>
            </a:r>
          </a:p>
        </p:txBody>
      </p:sp>
      <p:sp>
        <p:nvSpPr>
          <p:cNvPr id="9" name="s8-d1">
            <a:extLst xmlns:a="http://schemas.openxmlformats.org/drawingml/2006/main">
              <a:ext uri="{FF2B5EF4-FFF2-40B4-BE49-F238E27FC236}">
                <a16:creationId xmlns:a16="http://schemas.microsoft.com/office/drawing/2014/main" id="{169F9059-2B1A-4A97-83D1-39D9E1EE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10" name="s8-l1">
            <a:extLst xmlns:a="http://schemas.openxmlformats.org/drawingml/2006/main">
              <a:ext uri="{FF2B5EF4-FFF2-40B4-BE49-F238E27FC236}">
                <a16:creationId xmlns:a16="http://schemas.microsoft.com/office/drawing/2014/main" id="{0E80CB7C-4061-48DD-B7F1-F534F5E9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62500"/>
            <a:ext cx="76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CLI</a:t>
            </a:r>
          </a:p>
        </p:txBody>
      </p:sp>
      <p:sp>
        <p:nvSpPr>
          <p:cNvPr id="11" name="s8-d2">
            <a:extLst xmlns:a="http://schemas.openxmlformats.org/drawingml/2006/main">
              <a:ext uri="{FF2B5EF4-FFF2-40B4-BE49-F238E27FC236}">
                <a16:creationId xmlns:a16="http://schemas.microsoft.com/office/drawing/2014/main" id="{2F1535AE-FC9B-4E9E-8E45-EC5E4A97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2" name="s8-l2">
            <a:extLst xmlns:a="http://schemas.openxmlformats.org/drawingml/2006/main">
              <a:ext uri="{FF2B5EF4-FFF2-40B4-BE49-F238E27FC236}">
                <a16:creationId xmlns:a16="http://schemas.microsoft.com/office/drawing/2014/main" id="{7B7A5867-8B20-46E2-95CF-05E12176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62500"/>
            <a:ext cx="76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MCP</a:t>
            </a:r>
          </a:p>
        </p:txBody>
      </p:sp>
      <p:sp>
        <p:nvSpPr>
          <p:cNvPr id="13" name="s8-d3">
            <a:extLst xmlns:a="http://schemas.openxmlformats.org/drawingml/2006/main">
              <a:ext uri="{FF2B5EF4-FFF2-40B4-BE49-F238E27FC236}">
                <a16:creationId xmlns:a16="http://schemas.microsoft.com/office/drawing/2014/main" id="{4DCD492D-97B7-4F51-91CC-6F534E64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14" name="s8-l3">
            <a:extLst xmlns:a="http://schemas.openxmlformats.org/drawingml/2006/main">
              <a:ext uri="{FF2B5EF4-FFF2-40B4-BE49-F238E27FC236}">
                <a16:creationId xmlns:a16="http://schemas.microsoft.com/office/drawing/2014/main" id="{6F88E6FF-50BD-4DC3-AD40-8982CFF6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625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Codex plugin</a:t>
            </a:r>
          </a:p>
        </p:txBody>
      </p:sp>
      <p:sp>
        <p:nvSpPr>
          <p:cNvPr id="15" name="s8-platforms">
            <a:extLst xmlns:a="http://schemas.openxmlformats.org/drawingml/2006/main">
              <a:ext uri="{FF2B5EF4-FFF2-40B4-BE49-F238E27FC236}">
                <a16:creationId xmlns:a16="http://schemas.microsoft.com/office/drawing/2014/main" id="{E0C0EB5A-1288-488C-8ED3-B7491E97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34000"/>
            <a:ext cx="4857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MIT licensed · Windows, macOS, and Linux</a:t>
            </a:r>
          </a:p>
        </p:txBody>
      </p:sp>
      <p:cxnSp>
        <p:nvCxnSpPr>
          <p:cNvPr id="34" name="footer-rule-8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A2830800-C494-4C98-B0BC-4B419D50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18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3692B7C0-C78E-46EC-8470-7D7A4D12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711773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2026-07-19T12:50:00.3790000Z</dcterms:created>
  <dcterms:modified xsi:type="dcterms:W3CDTF">2026-07-19T12:50:00.3790000Z</dcterms:modified>
</coreProperties>
</file>