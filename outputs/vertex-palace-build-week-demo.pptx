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slides/charts/chart7.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3183b8380ff4d14" /><Relationship Type="http://schemas.openxmlformats.org/officeDocument/2006/relationships/extended-properties" Target="/docProps/app.xml" Id="Rccbd87d2320841ed" /><Relationship Type="http://schemas.openxmlformats.org/officeDocument/2006/relationships/officeDocument" Target="/ppt/presentation.xml" Id="Rad3a74759fe24204" /></Relationships>
</file>

<file path=ppt/presentation.xml><?xml version="1.0" encoding="utf-8"?>
<p:presentation xmlns:p="http://schemas.openxmlformats.org/presentationml/2006/main">
  <p:sldMasterIdLst>
    <p:sldMasterId xmlns:r="http://schemas.openxmlformats.org/officeDocument/2006/relationships" id="2147483648" r:id="R3276dc3952224c44"/>
  </p:sldMasterIdLst>
  <p:notesMasterIdLst>
    <p:notesMasterId xmlns:r="http://schemas.openxmlformats.org/officeDocument/2006/relationships" r:id="R514e048feb0d403d"/>
  </p:notesMasterIdLst>
  <p:sldIdLst>
    <p:sldId xmlns:r="http://schemas.openxmlformats.org/officeDocument/2006/relationships" id="256" r:id="Rb156a454a3cf4c16"/>
    <p:sldId xmlns:r="http://schemas.openxmlformats.org/officeDocument/2006/relationships" id="257" r:id="R4180c7c0614a4add"/>
    <p:sldId xmlns:r="http://schemas.openxmlformats.org/officeDocument/2006/relationships" id="258" r:id="R7c54a7722ae04e99"/>
    <p:sldId xmlns:r="http://schemas.openxmlformats.org/officeDocument/2006/relationships" id="259" r:id="Re34e52b3551a464b"/>
    <p:sldId xmlns:r="http://schemas.openxmlformats.org/officeDocument/2006/relationships" id="260" r:id="Rcf0b7f2fe4114eb6"/>
    <p:sldId xmlns:r="http://schemas.openxmlformats.org/officeDocument/2006/relationships" id="261" r:id="Re0b4ffb2ab8a49c8"/>
    <p:sldId xmlns:r="http://schemas.openxmlformats.org/officeDocument/2006/relationships" id="262" r:id="Re65fb073686a4a82"/>
    <p:sldId xmlns:r="http://schemas.openxmlformats.org/officeDocument/2006/relationships" id="263" r:id="R9fb911426773419d"/>
    <p:sldId xmlns:r="http://schemas.openxmlformats.org/officeDocument/2006/relationships" id="264" r:id="Rf8826a79ac624218"/>
    <p:sldId xmlns:r="http://schemas.openxmlformats.org/officeDocument/2006/relationships" id="265" r:id="Rd2dbde658912452b"/>
    <p:sldId xmlns:r="http://schemas.openxmlformats.org/officeDocument/2006/relationships" id="266" r:id="Rc9bb21020c5243d9"/>
    <p:sldId xmlns:r="http://schemas.openxmlformats.org/officeDocument/2006/relationships" id="267" r:id="R0d2fe97ce24b48d4"/>
    <p:sldId xmlns:r="http://schemas.openxmlformats.org/officeDocument/2006/relationships" id="268" r:id="Ra5f53650a61947f5"/>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fa7337f1e7a4310" /><Relationship Type="http://schemas.openxmlformats.org/officeDocument/2006/relationships/slideMaster" Target="/ppt/slideMasters/slideMaster1.xml" Id="R3276dc3952224c44" /><Relationship Type="http://schemas.openxmlformats.org/officeDocument/2006/relationships/notesMaster" Target="/ppt/notesMasters/notesMaster1.xml" Id="R514e048feb0d403d" /><Relationship Type="http://schemas.openxmlformats.org/officeDocument/2006/relationships/presProps" Target="/ppt/presProps.xml" Id="R2097b7e95f334485" /><Relationship Type="http://schemas.openxmlformats.org/officeDocument/2006/relationships/tableStyles" Target="/ppt/tableStyles.xml" Id="R166d01fe031c472c" /><Relationship Type="http://schemas.openxmlformats.org/officeDocument/2006/relationships/slide" Target="/ppt/slides/slide1.xml" Id="Rb156a454a3cf4c16" /><Relationship Type="http://schemas.openxmlformats.org/officeDocument/2006/relationships/slide" Target="/ppt/slides/slide2.xml" Id="R4180c7c0614a4add" /><Relationship Type="http://schemas.openxmlformats.org/officeDocument/2006/relationships/slide" Target="/ppt/slides/slide3.xml" Id="R7c54a7722ae04e99" /><Relationship Type="http://schemas.openxmlformats.org/officeDocument/2006/relationships/slide" Target="/ppt/slides/slide4.xml" Id="Re34e52b3551a464b" /><Relationship Type="http://schemas.openxmlformats.org/officeDocument/2006/relationships/slide" Target="/ppt/slides/slide5.xml" Id="Rcf0b7f2fe4114eb6" /><Relationship Type="http://schemas.openxmlformats.org/officeDocument/2006/relationships/slide" Target="/ppt/slides/slide6.xml" Id="Re0b4ffb2ab8a49c8" /><Relationship Type="http://schemas.openxmlformats.org/officeDocument/2006/relationships/slide" Target="/ppt/slides/slide7.xml" Id="Re65fb073686a4a82" /><Relationship Type="http://schemas.openxmlformats.org/officeDocument/2006/relationships/slide" Target="/ppt/slides/slide8.xml" Id="R9fb911426773419d" /><Relationship Type="http://schemas.openxmlformats.org/officeDocument/2006/relationships/slide" Target="/ppt/slides/slide9.xml" Id="Rf8826a79ac624218" /><Relationship Type="http://schemas.openxmlformats.org/officeDocument/2006/relationships/slide" Target="/ppt/slides/slide10.xml" Id="Rd2dbde658912452b" /><Relationship Type="http://schemas.openxmlformats.org/officeDocument/2006/relationships/slide" Target="/ppt/slides/slide11.xml" Id="Rc9bb21020c5243d9" /><Relationship Type="http://schemas.openxmlformats.org/officeDocument/2006/relationships/slide" Target="/ppt/slides/slide12.xml" Id="R0d2fe97ce24b48d4" /><Relationship Type="http://schemas.openxmlformats.org/officeDocument/2006/relationships/slide" Target="/ppt/slides/slide13.xml" Id="Ra5f53650a61947f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f322f8d71964fe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88499fd565d4ec3" /><Relationship Type="http://schemas.openxmlformats.org/officeDocument/2006/relationships/notesMaster" Target="/ppt/notesMasters/notesMaster1.xml" Id="R759d65008a844b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eaec5271b76040d6" /><Relationship Type="http://schemas.openxmlformats.org/officeDocument/2006/relationships/notesMaster" Target="/ppt/notesMasters/notesMaster1.xml" Id="R07e36803769444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685881cd680e4838" /><Relationship Type="http://schemas.openxmlformats.org/officeDocument/2006/relationships/notesMaster" Target="/ppt/notesMasters/notesMaster1.xml" Id="R178350d0fb51485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fc37e991454cb4" /><Relationship Type="http://schemas.openxmlformats.org/officeDocument/2006/relationships/notesMaster" Target="/ppt/notesMasters/notesMaster1.xml" Id="Re3f4b47bffe54cec" /></Relationships>
</file>

<file path=ppt/notesSlides/_rels/notesSlide5.xml.rels>&#65279;<?xml version="1.0" encoding="utf-8"?><Relationships xmlns="http://schemas.openxmlformats.org/package/2006/relationships"><Relationship Type="http://schemas.openxmlformats.org/officeDocument/2006/relationships/slide" Target="/ppt/slides/slide5.xml" Id="R8777e3605e2249ae" /><Relationship Type="http://schemas.openxmlformats.org/officeDocument/2006/relationships/notesMaster" Target="/ppt/notesMasters/notesMaster1.xml" Id="R408b8ce37d904af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99ae6b8af8c428f" /><Relationship Type="http://schemas.openxmlformats.org/officeDocument/2006/relationships/notesMaster" Target="/ppt/notesMasters/notesMaster1.xml" Id="R8bc789675e9b44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b4b82490b95a46be" /><Relationship Type="http://schemas.openxmlformats.org/officeDocument/2006/relationships/notesMaster" Target="/ppt/notesMasters/notesMaster1.xml" Id="R30bf07fcb357475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850ca4184843cb" /><Relationship Type="http://schemas.openxmlformats.org/officeDocument/2006/relationships/notesMaster" Target="/ppt/notesMasters/notesMaster1.xml" Id="Rb0c68aad293d47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99d73fed794b5b" /><Relationship Type="http://schemas.openxmlformats.org/officeDocument/2006/relationships/notesMaster" Target="/ppt/notesMasters/notesMaster1.xml" Id="R427f6662a638452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9519603a114c1c" /><Relationship Type="http://schemas.openxmlformats.org/officeDocument/2006/relationships/notesMaster" Target="/ppt/notesMasters/notesMaster1.xml" Id="R47a6992021e2411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8470065c7424f5d" /><Relationship Type="http://schemas.openxmlformats.org/officeDocument/2006/relationships/notesMaster" Target="/ppt/notesMasters/notesMaster1.xml" Id="Rfc10b5c763ba473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ca2adec8a0e4643" /><Relationship Type="http://schemas.openxmlformats.org/officeDocument/2006/relationships/notesMaster" Target="/ppt/notesMasters/notesMaster1.xml" Id="R5fa668ba957d416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6810419d3d44a36" /><Relationship Type="http://schemas.openxmlformats.org/officeDocument/2006/relationships/notesMaster" Target="/ppt/notesMasters/notesMaster1.xml" Id="R150ebc9bfe3a405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product name and one sentence: Vertex Palace gives Codex a structured way to enter a large repository, retrieve focused context, remember relevant pitfalls, and measure whether the route actually helped.</a:t>
            </a:r>
          </a:p>
          <a:p xmlns:a="http://schemas.openxmlformats.org/drawingml/2006/main">
            <a:r>
              <a:t>Keep the opening brief. The next slide introduces the concrete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 in the first person. Vertex Palace began with a recurring problem in my own large projects: a single issue could take more than an hour, while token usage climbed as the agent rediscovered files, relationships, and earlier decisions.</a:t>
            </a:r>
          </a:p>
          <a:p xmlns:a="http://schemas.openxmlformats.org/drawingml/2006/main">
            <a:r>
              <a:t>This was the point where I stopped treating the context cost as an inconvenience and decided to build a task-specific entry path. Do not present this personal experience as a universal benchmark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2D-to-3D idea only becomes useful when each axis has a stable meaning. X is the horizontal functional area or module, such as auth, checkout, or blog.</a:t>
            </a:r>
          </a:p>
          <a:p xmlns:a="http://schemas.openxmlformats.org/drawingml/2006/main">
            <a:r>
              <a:t>Y is the vertical architectural floor, such as interface, implementation, data, verification, or runtime. Z is inspection depth: room overview, file cabinet, symbol drawer, then the smallest useful snippet.</a:t>
            </a:r>
          </a:p>
          <a:p xmlns:a="http://schemas.openxmlformats.org/drawingml/2006/main">
            <a:r>
              <a:t>For example, checkout / implementation / shippingQuote() is one address. A task route is a path between addresses; memory, evidence, confidence, and the Pitfall Board attach to places instead of becoming extra axes.</a:t>
            </a:r>
          </a:p>
          <a:p xmlns:a="http://schemas.openxmlformats.org/drawingml/2006/main">
            <a:r>
              <a:t>This keeps the building stable as the repository changes. Current code and tests still outrank remembered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cue: hold this slide for about two seconds, then cut to a 35 to 45 second screen recording that runs the exact palace context command. Return to the slide before advancing.</a:t>
            </a:r>
          </a:p>
          <a:p xmlns:a="http://schemas.openxmlformats.org/drawingml/2006/main">
            <a:r>
              <a:t>Point out the selected guarded-memory mode, the two primary implementation files, the bounded payload, and the current-code-first guardrail.</a:t>
            </a:r>
          </a:p>
          <a:p xmlns:a="http://schemas.openxmlformats.org/drawingml/2006/main">
            <a:r>
              <a:t>This visible output is from a real local run on Vertex Palace 0.2.3.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is itself a live case study. Before editing, Vertex Palace selected guarded-memory mode and surfaced a prior warning not to show the Adaptive-versus-Codex overhead chart alone.</a:t>
            </a:r>
          </a:p>
          <a:p xmlns:a="http://schemas.openxmlformats.org/drawingml/2006/main">
            <a:r>
              <a:t>That warning changed the starting decisions for this revision: lead with routing, memory, pitfall prevention, and auditability; then retain the benchmark as an honest boundary.</a:t>
            </a:r>
          </a:p>
          <a:p xmlns:a="http://schemas.openxmlformats.org/drawingml/2006/main">
            <a:r>
              <a:t>Do not claim a time or Token saving here. The observed value is decision continuity: a lesson from a prior task changed how the next agent began.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after-task evaluation for the deck revision shown on the prior slide. The pack reduced a 91,102-token repository estimate to 4,787 context tokens, but matched only one of the three changed files.</a:t>
            </a:r>
          </a:p>
          <a:p xmlns:a="http://schemas.openxmlformats.org/drawingml/2006/main">
            <a:r>
              <a:t>It found the presentation document and missed the newly created research note and the binary PPTX. Changed-file coverage was 33 percent, route focus was 10 percent, and confidence 0.78 was labeled overconfident.</a:t>
            </a:r>
          </a:p>
          <a:p xmlns:a="http://schemas.openxmlformats.org/drawingml/2006/main">
            <a:r>
              <a:t>This is the point of a task receipt: it makes route failure visible instead of turning a small context pack into a false success claim. The reduction remains a context-pack metric, not proof of lower end-to-end Codex usage.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by defining the baseline. Codex alone is the no-Palace Control: the same Codex searches the repository directly. Sixteen tasks were each run four ways: Codex alone, route metadata only, always-on Full Palace, and Adaptive mode selection.</a:t>
            </a:r>
          </a:p>
          <a:p xmlns:a="http://schemas.openxmlformats.org/drawingml/2006/main">
            <a:r>
              <a:t>The task, generated fixture, model, prompt, public tests, and hidden oracle stayed fixed. Four scenarios ran four repetitions across four context arms, producing 64 valid and correct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benchmark data, not a product illustration. Across all sixteen paired trials, Codex alone had the lowest median reported-token count, wall time, and tool-call count. Adaptive was lower than always-on Full Palace on wall time and calls at the raw median, but not lower than Codex alone.</a:t>
            </a:r>
          </a:p>
          <a:p xmlns:a="http://schemas.openxmlformats.org/drawingml/2006/main">
            <a:r>
              <a:t>These are descriptive medians across heterogeneous scenarios, so do not infer significance from bar length. The next slide shows the paired Adaptive-versus-Codex intervals.</a:t>
            </a:r>
          </a:p>
          <a:p xmlns:a="http://schemas.openxmlformats.org/drawingml/2006/main">
            <a:r>
              <a:t>Correctness was held constant: every one of the 64 arms was valid and successful, passed public tests and the hidden oracle, achieved full declared scope, and avoided forbidden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compare Adaptive directly with ordinary Codex. The paired estimate was 4.5 additional tool calls and its 95 percent interval stayed entirely above zero. This is the only Adaptive-versus-Codex efficiency difference supported by the pooled intervals, and it is an overhead result.</a:t>
            </a:r>
          </a:p>
          <a:p xmlns:a="http://schemas.openxmlformats.org/drawingml/2006/main">
            <a:r>
              <a:t>Reported tokens were 30,147 higher at the paired median and wall time was 10.919 seconds higher, but both intervals crossed zero. The honest conclusion is that this study did not establish universal Token or time savings.</a:t>
            </a:r>
          </a:p>
          <a:p xmlns:a="http://schemas.openxmlformats.org/drawingml/2006/main">
            <a:r>
              <a:t>All 64 arms remained correct. Separately, Adaptive generated 898.5 fewer Palace-owned bytes than always-on Full Palace and that interval stayed below zero. That is a Palace payload result, not an end-to-end Codex saving.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scenarios are different complexity and risk profiles, not a validated difficulty ladder. Small local is a one-file task, cross-stack crosses frontend and backend, useful memory tests relevant project history, and stale memory tests adversarial history with current-code-first guardrails.</a:t>
            </a:r>
          </a:p>
          <a:p xmlns:a="http://schemas.openxmlformats.org/drawingml/2006/main">
            <a:r>
              <a:t>Against Codex alone, every scenario had a positive central estimate for reported tokens, wall time, and tool calls. In the small-local profile, the reported-token interval stayed above zero. In cross-stack, both wall time and tool-call intervals stayed above zero.</a:t>
            </a:r>
          </a:p>
          <a:p xmlns:a="http://schemas.openxmlformats.org/drawingml/2006/main">
            <a:r>
              <a:t>The useful-memory and stale-memory intervals were wide and crossed zero. The useful-memory result also carries a version 0.2.1 fidelity defect: Adaptive selected Full Palace but omitted the seeded memory. Do not read these four profiles as proof that more difficult tasks benefit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product engineering from the exploratory benchmark. The current repository passes 55 automated tests: 51 Core, two CLI, and two MCP, plus build, TypeScript lint, and a ten-tool MCP smoke test.</a:t>
            </a:r>
          </a:p>
          <a:p xmlns:a="http://schemas.openxmlformats.org/drawingml/2006/main">
            <a:r>
              <a:t>The verified GitHub Actions run passed five jobs across Ubuntu, Windows, macOS, Node 20, Node 24, and the package dry run.</a:t>
            </a:r>
          </a:p>
          <a:p xmlns:a="http://schemas.openxmlformats.org/drawingml/2006/main">
            <a:r>
              <a:t>Release verification also covered clean tarball and public npm installs, the CLI release route, MCP initialization, registry hash equality, and tag, plugin, marketplace, and MCP version pins.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benchmark exposed a deterministic memory omission in version 0.2.1: Adaptive selected Full Palace but delivered zero memory in every useful-memory trial.</a:t>
            </a:r>
          </a:p>
          <a:p xmlns:a="http://schemas.openxmlformats.org/drawingml/2006/main">
            <a:r>
              <a:t>Version 0.2.2 fixed the memory level, added JSON delivery and guardrails, and turned the bug into a regression contract verified on clean and registry fixtures.</a:t>
            </a:r>
          </a:p>
          <a:p xmlns:a="http://schemas.openxmlformats.org/drawingml/2006/main">
            <a:r>
              <a:t>Version 0.2.3 generalized the lesson with a release-routing matrix across npm, Codex plugins, PyPI, Chinese intent, negative controls, CI, and public distribution. The research became a product feedback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judge path: install the public package, run palace context with auto mode, then evaluate the route after the task.</a:t>
            </a:r>
          </a:p>
          <a:p xmlns:a="http://schemas.openxmlformats.org/drawingml/2006/main">
            <a:r>
              <a:t>End on the product promise: Vertex Palace gives coding agents a map, a route, a memory, and measurable evidence about the context they selected.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87d491c5c1c431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a3bd6a6bf8149f2" /><Relationship Type="http://schemas.openxmlformats.org/officeDocument/2006/relationships/slideLayout" Target="/ppt/slideLayouts/slideLayout1.xml" Id="R0c753ec907e644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c753ec907e644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5c45a8c4f7d4fd5" /><Relationship Type="http://schemas.openxmlformats.org/officeDocument/2006/relationships/image" Target="/ppt/media/image.png" Id="R85cf4f30b319431c" /><Relationship Type="http://schemas.openxmlformats.org/officeDocument/2006/relationships/notesSlide" Target="/ppt/notesSlides/notesSlide1.xml" Id="R8393cb2389874d9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f6203326ad04c1c" /><Relationship Type="http://schemas.openxmlformats.org/officeDocument/2006/relationships/notesSlide" Target="/ppt/notesSlides/notesSlide2.xml" Id="Rcd4de63527ed48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8ff0cb9d6514a8b" /><Relationship Type="http://schemas.openxmlformats.org/officeDocument/2006/relationships/notesSlide" Target="/ppt/notesSlides/notesSlide3.xml" Id="R308e7ace76554c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0a1538768c3454b" /><Relationship Type="http://schemas.openxmlformats.org/officeDocument/2006/relationships/notesSlide" Target="/ppt/notesSlides/notesSlide4.xml" Id="Rbfa093a69794479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9e1680b40bc4d7e" /><Relationship Type="http://schemas.openxmlformats.org/officeDocument/2006/relationships/notesSlide" Target="/ppt/notesSlides/notesSlide5.xml" Id="R5a9ab951ec1043a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813e8c267204856" /><Relationship Type="http://schemas.openxmlformats.org/officeDocument/2006/relationships/chart" Target="/ppt/slides/charts/chart1.xml" Id="R26cec10a95e24bf3" /><Relationship Type="http://schemas.openxmlformats.org/officeDocument/2006/relationships/notesSlide" Target="/ppt/notesSlides/notesSlide6.xml" Id="R9f640656ec254c3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71c89b77aa64b97" /><Relationship Type="http://schemas.openxmlformats.org/officeDocument/2006/relationships/notesSlide" Target="/ppt/notesSlides/notesSlide7.xml" Id="Rcaf55863ec494cc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560b778f0db4bdb" /><Relationship Type="http://schemas.openxmlformats.org/officeDocument/2006/relationships/chart" Target="/ppt/slides/charts/chart2.xml" Id="R715dd326c85c4330" /><Relationship Type="http://schemas.openxmlformats.org/officeDocument/2006/relationships/chart" Target="/ppt/slides/charts/chart3.xml" Id="R87fc4dbcc3964174" /><Relationship Type="http://schemas.openxmlformats.org/officeDocument/2006/relationships/chart" Target="/ppt/slides/charts/chart4.xml" Id="Rd148523843dd4d4a" /><Relationship Type="http://schemas.openxmlformats.org/officeDocument/2006/relationships/notesSlide" Target="/ppt/notesSlides/notesSlide8.xml" Id="Rdbacdf273e7d488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451201d6d3d4942" /><Relationship Type="http://schemas.openxmlformats.org/officeDocument/2006/relationships/notesSlide" Target="/ppt/notesSlides/notesSlide9.xml" Id="Rd09716c98cb64db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d325670878f4d17" /><Relationship Type="http://schemas.openxmlformats.org/officeDocument/2006/relationships/chart" Target="/ppt/slides/charts/chart5.xml" Id="R77030457b1cf4a4f" /><Relationship Type="http://schemas.openxmlformats.org/officeDocument/2006/relationships/chart" Target="/ppt/slides/charts/chart6.xml" Id="Rad3b65f0ebb84ce3" /><Relationship Type="http://schemas.openxmlformats.org/officeDocument/2006/relationships/chart" Target="/ppt/slides/charts/chart7.xml" Id="Rd51e70c1ee3b482e" /><Relationship Type="http://schemas.openxmlformats.org/officeDocument/2006/relationships/notesSlide" Target="/ppt/notesSlides/notesSlide10.xml" Id="R5d8251779f4944a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8e86e0d52014899" /><Relationship Type="http://schemas.openxmlformats.org/officeDocument/2006/relationships/notesSlide" Target="/ppt/notesSlides/notesSlide11.xml" Id="R7ffac8da2f97463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80b3a4cdd2742dd" /><Relationship Type="http://schemas.openxmlformats.org/officeDocument/2006/relationships/notesSlide" Target="/ppt/notesSlides/notesSlide12.xml" Id="R2a12a9462e1a457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1e51c25312a4572" /><Relationship Type="http://schemas.openxmlformats.org/officeDocument/2006/relationships/notesSlide" Target="/ppt/notesSlides/notesSlide13.xml" Id="R5af5020d3cf24aab" /></Relationships>
</file>

<file path=ppt/slides/charts/chart1.xml><?xml version="1.0" encoding="utf-8"?>
<c:chartSpace xmlns:c="http://schemas.openxmlformats.org/drawingml/2006/chart">
  <c:lang val="en-US"/>
  <c:chart>
    <c:plotArea>
      <c:barChart>
        <c:barDir val="bar"/>
        <c:grouping val="clustered"/>
        <c:varyColors val="0"/>
        <c:ser>
          <c:idx val="0"/>
          <c:order val="0"/>
          <c:tx>
            <c:v>Estimated tokens</c:v>
          </c:tx>
          <c:spPr>
            <a:solidFill xmlns:a="http://schemas.openxmlformats.org/drawingml/2006/main">
              <a:srgbClr val="1677FF"/>
            </a:solidFill>
          </c:spPr>
          <c:cat>
            <c:strLit>
              <c:ptCount val="2"/>
              <c:pt idx="0">
                <c:v>​</c:v>
              </c:pt>
              <c:pt idx="1">
                <c:v>‌</c:v>
              </c:pt>
            </c:strLit>
          </c:cat>
          <c:val>
            <c:numLit>
              <c:formatCode>General</c:formatCode>
              <c:ptCount val="2"/>
              <c:pt idx="0">
                <c:v>91102</c:v>
              </c:pt>
              <c:pt idx="1">
                <c:v>4787</c:v>
              </c:pt>
            </c:numLit>
          </c:val>
        </c:ser>
        <c:dLbls>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75">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1200">
                <a:solidFill>
                  <a:srgbClr val="FFFFFF"/>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Reported tokens</c:v>
          </c:tx>
          <c:spPr>
            <a:solidFill xmlns:a="http://schemas.openxmlformats.org/drawingml/2006/main">
              <a:srgbClr val="1677FF"/>
            </a:solidFill>
          </c:spPr>
          <c:dPt>
            <c:idx val="0"/>
            <c:spPr>
              <a:solidFill xmlns:a="http://schemas.openxmlformats.org/drawingml/2006/main">
                <a:srgbClr val="7438F5"/>
              </a:solidFill>
            </c:spPr>
          </c:dPt>
          <c:dPt>
            <c:idx val="1"/>
            <c:spPr>
              <a:solidFill xmlns:a="http://schemas.openxmlformats.org/drawingml/2006/main">
                <a:srgbClr val="1677FF"/>
              </a:solidFill>
            </c:spPr>
          </c:dPt>
          <c:dPt>
            <c:idx val="2"/>
            <c:spPr>
              <a:solidFill xmlns:a="http://schemas.openxmlformats.org/drawingml/2006/main">
                <a:srgbClr val="13B7D5"/>
              </a:solidFill>
            </c:spPr>
          </c:dPt>
          <c:dPt>
            <c:idx val="3"/>
            <c:spPr>
              <a:solidFill xmlns:a="http://schemas.openxmlformats.org/drawingml/2006/main">
                <a:srgbClr val="7D8796"/>
              </a:solidFill>
            </c:spPr>
          </c:dPt>
          <c:cat>
            <c:strLit>
              <c:ptCount val="4"/>
              <c:pt idx="0">
                <c:v>Adaptive</c:v>
              </c:pt>
              <c:pt idx="1">
                <c:v>Full Palace</c:v>
              </c:pt>
              <c:pt idx="2">
                <c:v>Route-only</c:v>
              </c:pt>
              <c:pt idx="3">
                <c:v>Codex alone</c:v>
              </c:pt>
            </c:strLit>
          </c:cat>
          <c:val>
            <c:numLit>
              <c:formatCode>#,##0</c:formatCode>
              <c:ptCount val="4"/>
              <c:pt idx="0">
                <c:v>147119</c:v>
              </c:pt>
              <c:pt idx="1">
                <c:v>144664</c:v>
              </c:pt>
              <c:pt idx="2">
                <c:v>142070</c:v>
              </c:pt>
              <c:pt idx="3">
                <c:v>126703</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barChart>
        <c:barDir val="bar"/>
        <c:grouping val="clustered"/>
        <c:varyColors val="0"/>
        <c:ser>
          <c:idx val="0"/>
          <c:order val="0"/>
          <c:tx>
            <c:v>Wall time</c:v>
          </c:tx>
          <c:spPr>
            <a:solidFill xmlns:a="http://schemas.openxmlformats.org/drawingml/2006/main">
              <a:srgbClr val="1677FF"/>
            </a:solidFill>
          </c:spPr>
          <c:dPt>
            <c:idx val="0"/>
            <c:spPr>
              <a:solidFill xmlns:a="http://schemas.openxmlformats.org/drawingml/2006/main">
                <a:srgbClr val="7438F5"/>
              </a:solidFill>
            </c:spPr>
          </c:dPt>
          <c:dPt>
            <c:idx val="1"/>
            <c:spPr>
              <a:solidFill xmlns:a="http://schemas.openxmlformats.org/drawingml/2006/main">
                <a:srgbClr val="1677FF"/>
              </a:solidFill>
            </c:spPr>
          </c:dPt>
          <c:dPt>
            <c:idx val="2"/>
            <c:spPr>
              <a:solidFill xmlns:a="http://schemas.openxmlformats.org/drawingml/2006/main">
                <a:srgbClr val="13B7D5"/>
              </a:solidFill>
            </c:spPr>
          </c:dPt>
          <c:dPt>
            <c:idx val="3"/>
            <c:spPr>
              <a:solidFill xmlns:a="http://schemas.openxmlformats.org/drawingml/2006/main">
                <a:srgbClr val="7D8796"/>
              </a:solidFill>
            </c:spPr>
          </c:dPt>
          <c:cat>
            <c:strLit>
              <c:ptCount val="4"/>
              <c:pt idx="0">
                <c:v>Adaptive</c:v>
              </c:pt>
              <c:pt idx="1">
                <c:v>Full Palace</c:v>
              </c:pt>
              <c:pt idx="2">
                <c:v>Route-only</c:v>
              </c:pt>
              <c:pt idx="3">
                <c:v>Codex alone</c:v>
              </c:pt>
            </c:strLit>
          </c:cat>
          <c:val>
            <c:numLit>
              <c:formatCode>0.0</c:formatCode>
              <c:ptCount val="4"/>
              <c:pt idx="0">
                <c:v>72.026</c:v>
              </c:pt>
              <c:pt idx="1">
                <c:v>80.712</c:v>
              </c:pt>
              <c:pt idx="2">
                <c:v>67.996</c:v>
              </c:pt>
              <c:pt idx="3">
                <c:v>63.1195</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4.xml><?xml version="1.0" encoding="utf-8"?>
<c:chartSpace xmlns:c="http://schemas.openxmlformats.org/drawingml/2006/chart">
  <c:lang val="en-US"/>
  <c:chart>
    <c:plotArea>
      <c:barChart>
        <c:barDir val="bar"/>
        <c:grouping val="clustered"/>
        <c:varyColors val="0"/>
        <c:ser>
          <c:idx val="0"/>
          <c:order val="0"/>
          <c:tx>
            <c:v>Tool calls</c:v>
          </c:tx>
          <c:spPr>
            <a:solidFill xmlns:a="http://schemas.openxmlformats.org/drawingml/2006/main">
              <a:srgbClr val="1677FF"/>
            </a:solidFill>
          </c:spPr>
          <c:dPt>
            <c:idx val="0"/>
            <c:spPr>
              <a:solidFill xmlns:a="http://schemas.openxmlformats.org/drawingml/2006/main">
                <a:srgbClr val="7438F5"/>
              </a:solidFill>
            </c:spPr>
          </c:dPt>
          <c:dPt>
            <c:idx val="1"/>
            <c:spPr>
              <a:solidFill xmlns:a="http://schemas.openxmlformats.org/drawingml/2006/main">
                <a:srgbClr val="1677FF"/>
              </a:solidFill>
            </c:spPr>
          </c:dPt>
          <c:dPt>
            <c:idx val="2"/>
            <c:spPr>
              <a:solidFill xmlns:a="http://schemas.openxmlformats.org/drawingml/2006/main">
                <a:srgbClr val="13B7D5"/>
              </a:solidFill>
            </c:spPr>
          </c:dPt>
          <c:dPt>
            <c:idx val="3"/>
            <c:spPr>
              <a:solidFill xmlns:a="http://schemas.openxmlformats.org/drawingml/2006/main">
                <a:srgbClr val="7D8796"/>
              </a:solidFill>
            </c:spPr>
          </c:dPt>
          <c:cat>
            <c:strLit>
              <c:ptCount val="4"/>
              <c:pt idx="0">
                <c:v>Adaptive</c:v>
              </c:pt>
              <c:pt idx="1">
                <c:v>Full Palace</c:v>
              </c:pt>
              <c:pt idx="2">
                <c:v>Route-only</c:v>
              </c:pt>
              <c:pt idx="3">
                <c:v>Codex alone</c:v>
              </c:pt>
            </c:strLit>
          </c:cat>
          <c:val>
            <c:numLit>
              <c:formatCode>0.0</c:formatCode>
              <c:ptCount val="4"/>
              <c:pt idx="0">
                <c:v>9.5</c:v>
              </c:pt>
              <c:pt idx="1">
                <c:v>11.5</c:v>
              </c:pt>
              <c:pt idx="2">
                <c:v>12.5</c:v>
              </c:pt>
              <c:pt idx="3">
                <c:v>5</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5.xml><?xml version="1.0" encoding="utf-8"?>
<c:chartSpace xmlns:c="http://schemas.openxmlformats.org/drawingml/2006/chart">
  <c:lang val="en-US"/>
  <c:chart>
    <c:plotArea>
      <c:barChart>
        <c:barDir val="bar"/>
        <c:grouping val="clustered"/>
        <c:varyColors val="0"/>
        <c:ser>
          <c:idx val="0"/>
          <c:order val="0"/>
          <c:tx>
            <c:v>Token delta</c:v>
          </c:tx>
          <c:spPr>
            <a:solidFill xmlns:a="http://schemas.openxmlformats.org/drawingml/2006/main">
              <a:srgbClr val="1677FF"/>
            </a:solidFill>
          </c:spPr>
          <c:dPt>
            <c:idx val="0"/>
            <c:spPr>
              <a:solidFill xmlns:a="http://schemas.openxmlformats.org/drawingml/2006/main">
                <a:srgbClr val="B87712"/>
              </a:solidFill>
            </c:spPr>
          </c:dPt>
          <c:dPt>
            <c:idx val="1"/>
            <c:spPr>
              <a:solidFill xmlns:a="http://schemas.openxmlformats.org/drawingml/2006/main">
                <a:srgbClr val="7438F5"/>
              </a:solidFill>
            </c:spPr>
          </c:dPt>
          <c:dPt>
            <c:idx val="2"/>
            <c:spPr>
              <a:solidFill xmlns:a="http://schemas.openxmlformats.org/drawingml/2006/main">
                <a:srgbClr val="1677FF"/>
              </a:solidFill>
            </c:spPr>
          </c:dPt>
          <c:dPt>
            <c:idx val="3"/>
            <c:spPr>
              <a:solidFill xmlns:a="http://schemas.openxmlformats.org/drawingml/2006/main">
                <a:srgbClr val="13B7D5"/>
              </a:solidFill>
            </c:spPr>
          </c:dPt>
          <c:cat>
            <c:strLit>
              <c:ptCount val="4"/>
              <c:pt idx="0">
                <c:v>Stale mem.</c:v>
              </c:pt>
              <c:pt idx="1">
                <c:v>Useful mem.</c:v>
              </c:pt>
              <c:pt idx="2">
                <c:v>Cross-stack</c:v>
              </c:pt>
              <c:pt idx="3">
                <c:v>Small local</c:v>
              </c:pt>
            </c:strLit>
          </c:cat>
          <c:val>
            <c:numLit>
              <c:formatCode>#,##0</c:formatCode>
              <c:ptCount val="4"/>
              <c:pt idx="0">
                <c:v>10801</c:v>
              </c:pt>
              <c:pt idx="1">
                <c:v>35850.5</c:v>
              </c:pt>
              <c:pt idx="2">
                <c:v>51917</c:v>
              </c:pt>
              <c:pt idx="3">
                <c:v>17078.5</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63">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6.xml><?xml version="1.0" encoding="utf-8"?>
<c:chartSpace xmlns:c="http://schemas.openxmlformats.org/drawingml/2006/chart">
  <c:lang val="en-US"/>
  <c:chart>
    <c:plotArea>
      <c:barChart>
        <c:barDir val="bar"/>
        <c:grouping val="clustered"/>
        <c:varyColors val="0"/>
        <c:ser>
          <c:idx val="0"/>
          <c:order val="0"/>
          <c:tx>
            <c:v>Time delta</c:v>
          </c:tx>
          <c:spPr>
            <a:solidFill xmlns:a="http://schemas.openxmlformats.org/drawingml/2006/main">
              <a:srgbClr val="1677FF"/>
            </a:solidFill>
          </c:spPr>
          <c:dPt>
            <c:idx val="0"/>
            <c:spPr>
              <a:solidFill xmlns:a="http://schemas.openxmlformats.org/drawingml/2006/main">
                <a:srgbClr val="B87712"/>
              </a:solidFill>
            </c:spPr>
          </c:dPt>
          <c:dPt>
            <c:idx val="1"/>
            <c:spPr>
              <a:solidFill xmlns:a="http://schemas.openxmlformats.org/drawingml/2006/main">
                <a:srgbClr val="7438F5"/>
              </a:solidFill>
            </c:spPr>
          </c:dPt>
          <c:dPt>
            <c:idx val="2"/>
            <c:spPr>
              <a:solidFill xmlns:a="http://schemas.openxmlformats.org/drawingml/2006/main">
                <a:srgbClr val="1677FF"/>
              </a:solidFill>
            </c:spPr>
          </c:dPt>
          <c:dPt>
            <c:idx val="3"/>
            <c:spPr>
              <a:solidFill xmlns:a="http://schemas.openxmlformats.org/drawingml/2006/main">
                <a:srgbClr val="13B7D5"/>
              </a:solidFill>
            </c:spPr>
          </c:dPt>
          <c:cat>
            <c:strLit>
              <c:ptCount val="4"/>
              <c:pt idx="0">
                <c:v>Stale mem.</c:v>
              </c:pt>
              <c:pt idx="1">
                <c:v>Useful mem.</c:v>
              </c:pt>
              <c:pt idx="2">
                <c:v>Cross-stack</c:v>
              </c:pt>
              <c:pt idx="3">
                <c:v>Small local</c:v>
              </c:pt>
            </c:strLit>
          </c:cat>
          <c:val>
            <c:numLit>
              <c:formatCode>0.0</c:formatCode>
              <c:ptCount val="4"/>
              <c:pt idx="0">
                <c:v>9.594</c:v>
              </c:pt>
              <c:pt idx="1">
                <c:v>16.361</c:v>
              </c:pt>
              <c:pt idx="2">
                <c:v>20.228</c:v>
              </c:pt>
              <c:pt idx="3">
                <c:v>6.012</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63">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7.xml><?xml version="1.0" encoding="utf-8"?>
<c:chartSpace xmlns:c="http://schemas.openxmlformats.org/drawingml/2006/chart">
  <c:lang val="en-US"/>
  <c:chart>
    <c:plotArea>
      <c:barChart>
        <c:barDir val="bar"/>
        <c:grouping val="clustered"/>
        <c:varyColors val="0"/>
        <c:ser>
          <c:idx val="0"/>
          <c:order val="0"/>
          <c:tx>
            <c:v>Call delta</c:v>
          </c:tx>
          <c:spPr>
            <a:solidFill xmlns:a="http://schemas.openxmlformats.org/drawingml/2006/main">
              <a:srgbClr val="1677FF"/>
            </a:solidFill>
          </c:spPr>
          <c:dPt>
            <c:idx val="0"/>
            <c:spPr>
              <a:solidFill xmlns:a="http://schemas.openxmlformats.org/drawingml/2006/main">
                <a:srgbClr val="B87712"/>
              </a:solidFill>
            </c:spPr>
          </c:dPt>
          <c:dPt>
            <c:idx val="1"/>
            <c:spPr>
              <a:solidFill xmlns:a="http://schemas.openxmlformats.org/drawingml/2006/main">
                <a:srgbClr val="7438F5"/>
              </a:solidFill>
            </c:spPr>
          </c:dPt>
          <c:dPt>
            <c:idx val="2"/>
            <c:spPr>
              <a:solidFill xmlns:a="http://schemas.openxmlformats.org/drawingml/2006/main">
                <a:srgbClr val="1677FF"/>
              </a:solidFill>
            </c:spPr>
          </c:dPt>
          <c:dPt>
            <c:idx val="3"/>
            <c:spPr>
              <a:solidFill xmlns:a="http://schemas.openxmlformats.org/drawingml/2006/main">
                <a:srgbClr val="13B7D5"/>
              </a:solidFill>
            </c:spPr>
          </c:dPt>
          <c:cat>
            <c:strLit>
              <c:ptCount val="4"/>
              <c:pt idx="0">
                <c:v>Stale mem.</c:v>
              </c:pt>
              <c:pt idx="1">
                <c:v>Useful mem.</c:v>
              </c:pt>
              <c:pt idx="2">
                <c:v>Cross-stack</c:v>
              </c:pt>
              <c:pt idx="3">
                <c:v>Small local</c:v>
              </c:pt>
            </c:strLit>
          </c:cat>
          <c:val>
            <c:numLit>
              <c:formatCode>0.0</c:formatCode>
              <c:ptCount val="4"/>
              <c:pt idx="0">
                <c:v>6.5</c:v>
              </c:pt>
              <c:pt idx="1">
                <c:v>4.5</c:v>
              </c:pt>
              <c:pt idx="2">
                <c:v>5.5</c:v>
              </c:pt>
              <c:pt idx="3">
                <c:v>3.5</c:v>
              </c:pt>
            </c:numLit>
          </c:val>
        </c:ser>
        <c:dLbls>
          <c:txPr>
            <a:bodyPr xmlns:a="http://schemas.openxmlformats.org/drawingml/2006/main" anchorCtr="1"/>
            <a:lstStyle xmlns:a="http://schemas.openxmlformats.org/drawingml/2006/main"/>
            <a:p xmlns:a="http://schemas.openxmlformats.org/drawingml/2006/main">
              <a:pPr>
                <a:defRPr sz="863" b="1">
                  <a:solidFill>
                    <a:srgbClr val="0A1224"/>
                  </a:solidFill>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majorGridlines>
          <c:spPr>
            <a:ln xmlns:a="http://schemas.openxmlformats.org/drawingml/2006/main" w="9525">
              <a:solidFill>
                <a:srgbClr val="EDEFF3"/>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788">
                <a:solidFill>
                  <a:srgbClr val="526071"/>
                </a:solidFill>
                <a:latin typeface="Arial"/>
                <a:ea typeface="Arial"/>
                <a:cs typeface="Arial"/>
              </a:defRPr>
            </a:pPr>
          </a:p>
        </c:txPr>
        <c:crossAx val="48672768"/>
        <c:lblAlgn val="ctr"/>
        <c:lblOffset val="100"/>
        <c:noMultiLvlLbl val="0"/>
      </c:catAx>
      <c:valAx>
        <c:axId val="48672768"/>
        <c:scaling>
          <c:orientation val="minMax"/>
        </c:scaling>
        <c:delete val="0"/>
        <c:axPos val="b"/>
        <c:numFmt formatCode="General"/>
        <c:majorTickMark val="none"/>
        <c:minorTickMark val="none"/>
        <c:tickLblPos val="nextTo"/>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63">
                <a:solidFill>
                  <a:srgbClr val="526071"/>
                </a:solidFill>
                <a:latin typeface="Arial"/>
                <a:ea typeface="Arial"/>
                <a:cs typeface="Aria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1-eyebrow">
            <a:extLst xmlns:a="http://schemas.openxmlformats.org/drawingml/2006/main">
              <a:ext uri="{FF2B5EF4-FFF2-40B4-BE49-F238E27FC236}">
                <a16:creationId xmlns:a16="http://schemas.microsoft.com/office/drawing/2014/main" id="{BDC5B9C7-26BB-47C0-BB67-3FA8350C955B}"/>
              </a:ext>
            </a:extLst>
          </p:cNvPr>
          <p:cNvSpPr>
            <a:spLocks xmlns:a="http://schemas.openxmlformats.org/drawingml/2006/main" noGrp="1"/>
          </p:cNvSpPr>
          <p:nvPr/>
        </p:nvSpPr>
        <p:spPr>
          <a:xfrm xmlns:a="http://schemas.openxmlformats.org/drawingml/2006/main">
            <a:off x="495300" y="419100"/>
            <a:ext cx="533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OPENAI BUILD WEEK 2026  /  DEVELOPER TOOLS</a:t>
            </a:r>
          </a:p>
        </p:txBody>
      </p:sp>
      <p:sp>
        <p:nvSpPr>
          <p:cNvPr id="2" name="s1-title">
            <a:extLst xmlns:a="http://schemas.openxmlformats.org/drawingml/2006/main">
              <a:ext uri="{FF2B5EF4-FFF2-40B4-BE49-F238E27FC236}">
                <a16:creationId xmlns:a16="http://schemas.microsoft.com/office/drawing/2014/main" id="{E38C1ED2-C0AE-4900-A64D-CDC54F0513BF}"/>
              </a:ext>
            </a:extLst>
          </p:cNvPr>
          <p:cNvSpPr>
            <a:spLocks xmlns:a="http://schemas.openxmlformats.org/drawingml/2006/main" noGrp="1"/>
          </p:cNvSpPr>
          <p:nvPr/>
        </p:nvSpPr>
        <p:spPr>
          <a:xfrm xmlns:a="http://schemas.openxmlformats.org/drawingml/2006/main">
            <a:off x="495300" y="1428750"/>
            <a:ext cx="5905500" cy="2190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6150" b="1">
                <a:solidFill>
                  <a:srgbClr val="0A1224"/>
                </a:solidFill>
                <a:latin typeface="Arial"/>
                <a:ea typeface="Arial"/>
                <a:cs typeface="Arial"/>
              </a:defRPr>
            </a:pPr>
            <a:r>
              <a:t>Vertex
Palace</a:t>
            </a:r>
          </a:p>
        </p:txBody>
      </p:sp>
      <p:cxnSp>
        <p:nvCxnSpPr>
          <p:cNvPr id="9" name="s1-accent"/>
          <p:cNvCxnSpPr/>
          <p:nvPr/>
        </p:nvCxnSpPr>
        <p:spPr>
          <a:xfrm xmlns:a="http://schemas.openxmlformats.org/drawingml/2006/main">
            <a:off x="514350" y="3895725"/>
            <a:ext cx="12001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subtitle">
            <a:extLst xmlns:a="http://schemas.openxmlformats.org/drawingml/2006/main">
              <a:ext uri="{FF2B5EF4-FFF2-40B4-BE49-F238E27FC236}">
                <a16:creationId xmlns:a16="http://schemas.microsoft.com/office/drawing/2014/main" id="{2DE2C14A-34EB-4B75-9423-146141601223}"/>
              </a:ext>
            </a:extLst>
          </p:cNvPr>
          <p:cNvSpPr>
            <a:spLocks xmlns:a="http://schemas.openxmlformats.org/drawingml/2006/main" noGrp="1"/>
          </p:cNvSpPr>
          <p:nvPr/>
        </p:nvSpPr>
        <p:spPr>
          <a:xfrm xmlns:a="http://schemas.openxmlformats.org/drawingml/2006/main">
            <a:off x="495300" y="4210050"/>
            <a:ext cx="5810250" cy="1028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26071"/>
                </a:solidFill>
                <a:latin typeface="Arial"/>
                <a:ea typeface="Arial"/>
                <a:cs typeface="Arial"/>
              </a:defRPr>
            </a:pPr>
            <a:r>
              <a:t>A local map, route, memory, and evidence layer for Codex.</a:t>
            </a:r>
          </a:p>
        </p:txBody>
      </p:sp>
      <p:sp>
        <p:nvSpPr>
          <p:cNvPr id="5" name="s1-version">
            <a:extLst xmlns:a="http://schemas.openxmlformats.org/drawingml/2006/main">
              <a:ext uri="{FF2B5EF4-FFF2-40B4-BE49-F238E27FC236}">
                <a16:creationId xmlns:a16="http://schemas.microsoft.com/office/drawing/2014/main" id="{05723660-A8E9-4225-9F33-F4EFFA6D479B}"/>
              </a:ext>
            </a:extLst>
          </p:cNvPr>
          <p:cNvSpPr>
            <a:spLocks xmlns:a="http://schemas.openxmlformats.org/drawingml/2006/main" noGrp="1"/>
          </p:cNvSpPr>
          <p:nvPr/>
        </p:nvSpPr>
        <p:spPr>
          <a:xfrm xmlns:a="http://schemas.openxmlformats.org/drawingml/2006/main">
            <a:off x="495300" y="5600700"/>
            <a:ext cx="30480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vertex-palace@0.2.3</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85cf4f30b319431c"/>
          <a:stretch xmlns:a="http://schemas.openxmlformats.org/drawingml/2006/main"/>
        </p:blipFill>
        <p:spPr>
          <a:xfrm xmlns:a="http://schemas.openxmlformats.org/drawingml/2006/main">
            <a:off x="6858000" y="1565275"/>
            <a:ext cx="4476750" cy="2984500"/>
          </a:xfrm>
          <a:prstGeom xmlns:a="http://schemas.openxmlformats.org/drawingml/2006/main" prst="rect">
            <a:avLst/>
          </a:prstGeom>
        </p:spPr>
      </p:pic>
    </p:spTree>
    <p:extLst>
      <p:ext uri="{BB962C8B-B14F-4D97-AF65-F5344CB8AC3E}">
        <p14:creationId xmlns:p14="http://schemas.microsoft.com/office/powerpoint/2010/main" val="18711390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s2-title">
            <a:extLst xmlns:a="http://schemas.openxmlformats.org/drawingml/2006/main">
              <a:ext uri="{FF2B5EF4-FFF2-40B4-BE49-F238E27FC236}">
                <a16:creationId xmlns:a16="http://schemas.microsoft.com/office/drawing/2014/main" id="{6C8E91D4-F6EE-4C22-8790-155D5040EAB3}"/>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As my projects grew, one issue could take over an hour.</a:t>
            </a:r>
          </a:p>
        </p:txBody>
      </p:sp>
      <p:sp>
        <p:nvSpPr>
          <p:cNvPr id="2" name="s2-subtitle">
            <a:extLst xmlns:a="http://schemas.openxmlformats.org/drawingml/2006/main">
              <a:ext uri="{FF2B5EF4-FFF2-40B4-BE49-F238E27FC236}">
                <a16:creationId xmlns:a16="http://schemas.microsoft.com/office/drawing/2014/main" id="{5C024AF7-143C-438F-A12D-7E4E49987248}"/>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Token use became just as unreasonable as the agent repeatedly rediscovered the same repository.</a:t>
            </a:r>
          </a:p>
        </p:txBody>
      </p:sp>
      <p:cxnSp>
        <p:nvCxnSpPr>
          <p:cNvPr id="35" name="s2-link-a"/>
          <p:cNvCxnSpPr/>
          <p:nvPr/>
        </p:nvCxnSpPr>
        <p:spPr>
          <a:xfrm xmlns:a="http://schemas.openxmlformats.org/drawingml/2006/main">
            <a:off x="1400175" y="1981200"/>
            <a:ext cx="1257300" cy="1495425"/>
          </a:xfrm>
          <a:prstGeom xmlns:a="http://schemas.openxmlformats.org/drawingml/2006/main" prst="straightConnector1">
            <a:avLst/>
          </a:prstGeom>
          <a:ln xmlns:a="http://schemas.openxmlformats.org/drawingml/2006/main" w="19050">
            <a:solidFill>
              <a:srgbClr val="B8BCC4"/>
            </a:solidFill>
            <a:prstDash val="solid"/>
          </a:ln>
        </p:spPr>
      </p:cxnSp>
      <p:cxnSp>
        <p:nvCxnSpPr>
          <p:cNvPr id="36" name="s2-link-b"/>
          <p:cNvCxnSpPr/>
          <p:nvPr/>
        </p:nvCxnSpPr>
        <p:spPr>
          <a:xfrm xmlns:a="http://schemas.openxmlformats.org/drawingml/2006/main">
            <a:off x="2657475" y="1685925"/>
            <a:ext cx="1562100" cy="1790700"/>
          </a:xfrm>
          <a:prstGeom xmlns:a="http://schemas.openxmlformats.org/drawingml/2006/main" prst="straightConnector1">
            <a:avLst/>
          </a:prstGeom>
          <a:ln xmlns:a="http://schemas.openxmlformats.org/drawingml/2006/main" w="19050">
            <a:solidFill>
              <a:srgbClr val="B8BCC4"/>
            </a:solidFill>
            <a:prstDash val="solid"/>
          </a:ln>
        </p:spPr>
      </p:cxnSp>
      <p:cxnSp>
        <p:nvCxnSpPr>
          <p:cNvPr id="37" name="s2-link-c"/>
          <p:cNvCxnSpPr/>
          <p:nvPr/>
        </p:nvCxnSpPr>
        <p:spPr>
          <a:xfrm xmlns:a="http://schemas.openxmlformats.org/drawingml/2006/main">
            <a:off x="2657475" y="3181350"/>
            <a:ext cx="2400300" cy="295275"/>
          </a:xfrm>
          <a:prstGeom xmlns:a="http://schemas.openxmlformats.org/drawingml/2006/main" prst="straightConnector1">
            <a:avLst/>
          </a:prstGeom>
          <a:ln xmlns:a="http://schemas.openxmlformats.org/drawingml/2006/main" w="19050">
            <a:solidFill>
              <a:srgbClr val="B8BCC4"/>
            </a:solidFill>
            <a:prstDash val="solid"/>
          </a:ln>
        </p:spPr>
      </p:cxnSp>
      <p:cxnSp>
        <p:nvCxnSpPr>
          <p:cNvPr id="38" name="s2-link-d"/>
          <p:cNvCxnSpPr/>
          <p:nvPr/>
        </p:nvCxnSpPr>
        <p:spPr>
          <a:xfrm xmlns:a="http://schemas.openxmlformats.org/drawingml/2006/main">
            <a:off x="1533525" y="3476625"/>
            <a:ext cx="1123950" cy="1476375"/>
          </a:xfrm>
          <a:prstGeom xmlns:a="http://schemas.openxmlformats.org/drawingml/2006/main" prst="straightConnector1">
            <a:avLst/>
          </a:prstGeom>
          <a:ln xmlns:a="http://schemas.openxmlformats.org/drawingml/2006/main" w="19050">
            <a:solidFill>
              <a:srgbClr val="B8BCC4"/>
            </a:solidFill>
            <a:prstDash val="solid"/>
          </a:ln>
        </p:spPr>
      </p:cxnSp>
      <p:cxnSp>
        <p:nvCxnSpPr>
          <p:cNvPr id="39" name="s2-link-e"/>
          <p:cNvCxnSpPr/>
          <p:nvPr/>
        </p:nvCxnSpPr>
        <p:spPr>
          <a:xfrm xmlns:a="http://schemas.openxmlformats.org/drawingml/2006/main">
            <a:off x="2657475" y="3476625"/>
            <a:ext cx="1771650" cy="1552575"/>
          </a:xfrm>
          <a:prstGeom xmlns:a="http://schemas.openxmlformats.org/drawingml/2006/main" prst="straightConnector1">
            <a:avLst/>
          </a:prstGeom>
          <a:ln xmlns:a="http://schemas.openxmlformats.org/drawingml/2006/main" w="19050">
            <a:solidFill>
              <a:srgbClr val="B8BCC4"/>
            </a:solidFill>
            <a:prstDash val="solid"/>
          </a:ln>
        </p:spPr>
      </p:cxnSp>
      <p:sp>
        <p:nvSpPr>
          <p:cNvPr id="8" name="s2-agent">
            <a:extLst xmlns:a="http://schemas.openxmlformats.org/drawingml/2006/main">
              <a:ext uri="{FF2B5EF4-FFF2-40B4-BE49-F238E27FC236}">
                <a16:creationId xmlns:a16="http://schemas.microsoft.com/office/drawing/2014/main" id="{131AA882-6968-4F6F-A5E4-EF83CB40BBFB}"/>
              </a:ext>
            </a:extLst>
          </p:cNvPr>
          <p:cNvSpPr>
            <a:spLocks xmlns:a="http://schemas.openxmlformats.org/drawingml/2006/main" noGrp="1"/>
          </p:cNvSpPr>
          <p:nvPr/>
        </p:nvSpPr>
        <p:spPr>
          <a:xfrm xmlns:a="http://schemas.openxmlformats.org/drawingml/2006/main">
            <a:off x="2095500" y="2914650"/>
            <a:ext cx="1123950" cy="1123950"/>
          </a:xfrm>
          <a:prstGeom xmlns:a="http://schemas.openxmlformats.org/drawingml/2006/main" prst="ellipse">
            <a:avLst/>
          </a:prstGeom>
          <a:solidFill xmlns:a="http://schemas.openxmlformats.org/drawingml/2006/main">
            <a:srgbClr val="061B3D"/>
          </a:solidFill>
          <a:ln xmlns:a="http://schemas.openxmlformats.org/drawingml/2006/main" w="0">
            <a:solidFill>
              <a:srgbClr val="061B3D"/>
            </a:solidFill>
            <a:prstDash val="solid"/>
          </a:ln>
        </p:spPr>
      </p:sp>
      <p:sp>
        <p:nvSpPr>
          <p:cNvPr id="9" name="s2-agent-label">
            <a:extLst xmlns:a="http://schemas.openxmlformats.org/drawingml/2006/main">
              <a:ext uri="{FF2B5EF4-FFF2-40B4-BE49-F238E27FC236}">
                <a16:creationId xmlns:a16="http://schemas.microsoft.com/office/drawing/2014/main" id="{D6680CDF-F0A8-4032-87C5-8E5A6D0EC73B}"/>
              </a:ext>
            </a:extLst>
          </p:cNvPr>
          <p:cNvSpPr>
            <a:spLocks xmlns:a="http://schemas.openxmlformats.org/drawingml/2006/main" noGrp="1"/>
          </p:cNvSpPr>
          <p:nvPr/>
        </p:nvSpPr>
        <p:spPr>
          <a:xfrm xmlns:a="http://schemas.openxmlformats.org/drawingml/2006/main">
            <a:off x="2238375" y="3286125"/>
            <a:ext cx="8382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t>AGENT</a:t>
            </a:r>
          </a:p>
        </p:txBody>
      </p:sp>
      <p:sp>
        <p:nvSpPr>
          <p:cNvPr id="10" name="s2-file-a">
            <a:extLst xmlns:a="http://schemas.openxmlformats.org/drawingml/2006/main">
              <a:ext uri="{FF2B5EF4-FFF2-40B4-BE49-F238E27FC236}">
                <a16:creationId xmlns:a16="http://schemas.microsoft.com/office/drawing/2014/main" id="{977E01C8-15F6-4F48-BCA9-330017987B6A}"/>
              </a:ext>
            </a:extLst>
          </p:cNvPr>
          <p:cNvSpPr>
            <a:spLocks xmlns:a="http://schemas.openxmlformats.org/drawingml/2006/main" noGrp="1"/>
          </p:cNvSpPr>
          <p:nvPr/>
        </p:nvSpPr>
        <p:spPr>
          <a:xfrm xmlns:a="http://schemas.openxmlformats.org/drawingml/2006/main">
            <a:off x="685800" y="1638300"/>
            <a:ext cx="14287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1" name="s2-file-b">
            <a:extLst xmlns:a="http://schemas.openxmlformats.org/drawingml/2006/main">
              <a:ext uri="{FF2B5EF4-FFF2-40B4-BE49-F238E27FC236}">
                <a16:creationId xmlns:a16="http://schemas.microsoft.com/office/drawing/2014/main" id="{399CC0A8-6153-44A1-9758-092235BB7534}"/>
              </a:ext>
            </a:extLst>
          </p:cNvPr>
          <p:cNvSpPr>
            <a:spLocks xmlns:a="http://schemas.openxmlformats.org/drawingml/2006/main" noGrp="1"/>
          </p:cNvSpPr>
          <p:nvPr/>
        </p:nvSpPr>
        <p:spPr>
          <a:xfrm xmlns:a="http://schemas.openxmlformats.org/drawingml/2006/main">
            <a:off x="3448050" y="1343025"/>
            <a:ext cx="15430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2" name="s2-file-c">
            <a:extLst xmlns:a="http://schemas.openxmlformats.org/drawingml/2006/main">
              <a:ext uri="{FF2B5EF4-FFF2-40B4-BE49-F238E27FC236}">
                <a16:creationId xmlns:a16="http://schemas.microsoft.com/office/drawing/2014/main" id="{67B282A2-BCE5-4E96-8607-6CD946454219}"/>
              </a:ext>
            </a:extLst>
          </p:cNvPr>
          <p:cNvSpPr>
            <a:spLocks xmlns:a="http://schemas.openxmlformats.org/drawingml/2006/main" noGrp="1"/>
          </p:cNvSpPr>
          <p:nvPr/>
        </p:nvSpPr>
        <p:spPr>
          <a:xfrm xmlns:a="http://schemas.openxmlformats.org/drawingml/2006/main">
            <a:off x="4305300" y="2838450"/>
            <a:ext cx="15049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3" name="s2-file-d">
            <a:extLst xmlns:a="http://schemas.openxmlformats.org/drawingml/2006/main">
              <a:ext uri="{FF2B5EF4-FFF2-40B4-BE49-F238E27FC236}">
                <a16:creationId xmlns:a16="http://schemas.microsoft.com/office/drawing/2014/main" id="{DDFC03CE-325C-4C41-B379-9155CE6248CC}"/>
              </a:ext>
            </a:extLst>
          </p:cNvPr>
          <p:cNvSpPr>
            <a:spLocks xmlns:a="http://schemas.openxmlformats.org/drawingml/2006/main" noGrp="1"/>
          </p:cNvSpPr>
          <p:nvPr/>
        </p:nvSpPr>
        <p:spPr>
          <a:xfrm xmlns:a="http://schemas.openxmlformats.org/drawingml/2006/main">
            <a:off x="742950" y="46101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4" name="s2-file-e">
            <a:extLst xmlns:a="http://schemas.openxmlformats.org/drawingml/2006/main">
              <a:ext uri="{FF2B5EF4-FFF2-40B4-BE49-F238E27FC236}">
                <a16:creationId xmlns:a16="http://schemas.microsoft.com/office/drawing/2014/main" id="{AE7C4D4A-6804-4E0F-AAA5-61706B760BCA}"/>
              </a:ext>
            </a:extLst>
          </p:cNvPr>
          <p:cNvSpPr>
            <a:spLocks xmlns:a="http://schemas.openxmlformats.org/drawingml/2006/main" noGrp="1"/>
          </p:cNvSpPr>
          <p:nvPr/>
        </p:nvSpPr>
        <p:spPr>
          <a:xfrm xmlns:a="http://schemas.openxmlformats.org/drawingml/2006/main">
            <a:off x="3638550" y="4686300"/>
            <a:ext cx="1581150" cy="68580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15" name="s2-file-a-label">
            <a:extLst xmlns:a="http://schemas.openxmlformats.org/drawingml/2006/main">
              <a:ext uri="{FF2B5EF4-FFF2-40B4-BE49-F238E27FC236}">
                <a16:creationId xmlns:a16="http://schemas.microsoft.com/office/drawing/2014/main" id="{28DD0531-E21F-405E-A544-F9D83E89D21B}"/>
              </a:ext>
            </a:extLst>
          </p:cNvPr>
          <p:cNvSpPr>
            <a:spLocks xmlns:a="http://schemas.openxmlformats.org/drawingml/2006/main" noGrp="1"/>
          </p:cNvSpPr>
          <p:nvPr/>
        </p:nvSpPr>
        <p:spPr>
          <a:xfrm xmlns:a="http://schemas.openxmlformats.org/drawingml/2006/main">
            <a:off x="800100" y="1857375"/>
            <a:ext cx="12001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README.md</a:t>
            </a:r>
          </a:p>
        </p:txBody>
      </p:sp>
      <p:sp>
        <p:nvSpPr>
          <p:cNvPr id="16" name="s2-file-b-label">
            <a:extLst xmlns:a="http://schemas.openxmlformats.org/drawingml/2006/main">
              <a:ext uri="{FF2B5EF4-FFF2-40B4-BE49-F238E27FC236}">
                <a16:creationId xmlns:a16="http://schemas.microsoft.com/office/drawing/2014/main" id="{5C87C6B2-64C1-4A3B-8EB5-EA01262D4CCC}"/>
              </a:ext>
            </a:extLst>
          </p:cNvPr>
          <p:cNvSpPr>
            <a:spLocks xmlns:a="http://schemas.openxmlformats.org/drawingml/2006/main" noGrp="1"/>
          </p:cNvSpPr>
          <p:nvPr/>
        </p:nvSpPr>
        <p:spPr>
          <a:xfrm xmlns:a="http://schemas.openxmlformats.org/drawingml/2006/main">
            <a:off x="3571875" y="1562100"/>
            <a:ext cx="1295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checkout.ts</a:t>
            </a:r>
          </a:p>
        </p:txBody>
      </p:sp>
      <p:sp>
        <p:nvSpPr>
          <p:cNvPr id="17" name="s2-file-c-label">
            <a:extLst xmlns:a="http://schemas.openxmlformats.org/drawingml/2006/main">
              <a:ext uri="{FF2B5EF4-FFF2-40B4-BE49-F238E27FC236}">
                <a16:creationId xmlns:a16="http://schemas.microsoft.com/office/drawing/2014/main" id="{2CA986A0-E7D8-4DE0-9774-92ACD6B892E4}"/>
              </a:ext>
            </a:extLst>
          </p:cNvPr>
          <p:cNvSpPr>
            <a:spLocks xmlns:a="http://schemas.openxmlformats.org/drawingml/2006/main" noGrp="1"/>
          </p:cNvSpPr>
          <p:nvPr/>
        </p:nvSpPr>
        <p:spPr>
          <a:xfrm xmlns:a="http://schemas.openxmlformats.org/drawingml/2006/main">
            <a:off x="4419600" y="3057525"/>
            <a:ext cx="1276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policy.json</a:t>
            </a:r>
          </a:p>
        </p:txBody>
      </p:sp>
      <p:sp>
        <p:nvSpPr>
          <p:cNvPr id="18" name="s2-file-d-label">
            <a:extLst xmlns:a="http://schemas.openxmlformats.org/drawingml/2006/main">
              <a:ext uri="{FF2B5EF4-FFF2-40B4-BE49-F238E27FC236}">
                <a16:creationId xmlns:a16="http://schemas.microsoft.com/office/drawing/2014/main" id="{603C5406-94E2-46F1-BACF-EB74C18188A1}"/>
              </a:ext>
            </a:extLst>
          </p:cNvPr>
          <p:cNvSpPr>
            <a:spLocks xmlns:a="http://schemas.openxmlformats.org/drawingml/2006/main" noGrp="1"/>
          </p:cNvSpPr>
          <p:nvPr/>
        </p:nvSpPr>
        <p:spPr>
          <a:xfrm xmlns:a="http://schemas.openxmlformats.org/drawingml/2006/main">
            <a:off x="857250" y="4829175"/>
            <a:ext cx="13525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footer.tsx</a:t>
            </a:r>
          </a:p>
        </p:txBody>
      </p:sp>
      <p:sp>
        <p:nvSpPr>
          <p:cNvPr id="19" name="s2-file-e-label">
            <a:extLst xmlns:a="http://schemas.openxmlformats.org/drawingml/2006/main">
              <a:ext uri="{FF2B5EF4-FFF2-40B4-BE49-F238E27FC236}">
                <a16:creationId xmlns:a16="http://schemas.microsoft.com/office/drawing/2014/main" id="{BBA9A516-2BE3-4178-A239-0F6A1FFAF346}"/>
              </a:ext>
            </a:extLst>
          </p:cNvPr>
          <p:cNvSpPr>
            <a:spLocks xmlns:a="http://schemas.openxmlformats.org/drawingml/2006/main" noGrp="1"/>
          </p:cNvSpPr>
          <p:nvPr/>
        </p:nvSpPr>
        <p:spPr>
          <a:xfrm xmlns:a="http://schemas.openxmlformats.org/drawingml/2006/main">
            <a:off x="3762375" y="4905375"/>
            <a:ext cx="1333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75" b="0">
                <a:solidFill>
                  <a:srgbClr val="0A1224"/>
                </a:solidFill>
                <a:latin typeface="Consolas"/>
                <a:ea typeface="Consolas"/>
                <a:cs typeface="Consolas"/>
              </a:defRPr>
            </a:pPr>
            <a:r>
              <a:t>tests/...</a:t>
            </a:r>
          </a:p>
        </p:txBody>
      </p:sp>
      <p:sp>
        <p:nvSpPr>
          <p:cNvPr id="20" name="s2-n1">
            <a:extLst xmlns:a="http://schemas.openxmlformats.org/drawingml/2006/main">
              <a:ext uri="{FF2B5EF4-FFF2-40B4-BE49-F238E27FC236}">
                <a16:creationId xmlns:a16="http://schemas.microsoft.com/office/drawing/2014/main" id="{F12BD759-293A-4A29-B8D9-95DA49297498}"/>
              </a:ext>
            </a:extLst>
          </p:cNvPr>
          <p:cNvSpPr>
            <a:spLocks xmlns:a="http://schemas.openxmlformats.org/drawingml/2006/main" noGrp="1"/>
          </p:cNvSpPr>
          <p:nvPr/>
        </p:nvSpPr>
        <p:spPr>
          <a:xfrm xmlns:a="http://schemas.openxmlformats.org/drawingml/2006/main">
            <a:off x="6762750" y="1962150"/>
            <a:ext cx="323850" cy="32385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21" name="s2-n1-label">
            <a:extLst xmlns:a="http://schemas.openxmlformats.org/drawingml/2006/main">
              <a:ext uri="{FF2B5EF4-FFF2-40B4-BE49-F238E27FC236}">
                <a16:creationId xmlns:a16="http://schemas.microsoft.com/office/drawing/2014/main" id="{6C9DB174-F9CD-4A62-BE9E-769A66B834FE}"/>
              </a:ext>
            </a:extLst>
          </p:cNvPr>
          <p:cNvSpPr>
            <a:spLocks xmlns:a="http://schemas.openxmlformats.org/drawingml/2006/main" noGrp="1"/>
          </p:cNvSpPr>
          <p:nvPr/>
        </p:nvSpPr>
        <p:spPr>
          <a:xfrm xmlns:a="http://schemas.openxmlformats.org/drawingml/2006/main">
            <a:off x="6762750" y="20097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1</a:t>
            </a:r>
          </a:p>
        </p:txBody>
      </p:sp>
      <p:sp>
        <p:nvSpPr>
          <p:cNvPr id="22" name="s2-p1">
            <a:extLst xmlns:a="http://schemas.openxmlformats.org/drawingml/2006/main">
              <a:ext uri="{FF2B5EF4-FFF2-40B4-BE49-F238E27FC236}">
                <a16:creationId xmlns:a16="http://schemas.microsoft.com/office/drawing/2014/main" id="{AB4F7E14-1B73-4760-AFAD-BA904283AFED}"/>
              </a:ext>
            </a:extLst>
          </p:cNvPr>
          <p:cNvSpPr>
            <a:spLocks xmlns:a="http://schemas.openxmlformats.org/drawingml/2006/main" noGrp="1"/>
          </p:cNvSpPr>
          <p:nvPr/>
        </p:nvSpPr>
        <p:spPr>
          <a:xfrm xmlns:a="http://schemas.openxmlformats.org/drawingml/2006/main">
            <a:off x="7296150" y="18478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Broad search</a:t>
            </a:r>
          </a:p>
        </p:txBody>
      </p:sp>
      <p:sp>
        <p:nvSpPr>
          <p:cNvPr id="23" name="s2-n2">
            <a:extLst xmlns:a="http://schemas.openxmlformats.org/drawingml/2006/main">
              <a:ext uri="{FF2B5EF4-FFF2-40B4-BE49-F238E27FC236}">
                <a16:creationId xmlns:a16="http://schemas.microsoft.com/office/drawing/2014/main" id="{500299EB-D504-44E6-AAB2-4724AB38F41E}"/>
              </a:ext>
            </a:extLst>
          </p:cNvPr>
          <p:cNvSpPr>
            <a:spLocks xmlns:a="http://schemas.openxmlformats.org/drawingml/2006/main" noGrp="1"/>
          </p:cNvSpPr>
          <p:nvPr/>
        </p:nvSpPr>
        <p:spPr>
          <a:xfrm xmlns:a="http://schemas.openxmlformats.org/drawingml/2006/main">
            <a:off x="6762750" y="3143250"/>
            <a:ext cx="323850" cy="32385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24" name="s2-n2-label">
            <a:extLst xmlns:a="http://schemas.openxmlformats.org/drawingml/2006/main">
              <a:ext uri="{FF2B5EF4-FFF2-40B4-BE49-F238E27FC236}">
                <a16:creationId xmlns:a16="http://schemas.microsoft.com/office/drawing/2014/main" id="{B230CD7C-B9D4-4D57-B3F0-74A7623055D2}"/>
              </a:ext>
            </a:extLst>
          </p:cNvPr>
          <p:cNvSpPr>
            <a:spLocks xmlns:a="http://schemas.openxmlformats.org/drawingml/2006/main" noGrp="1"/>
          </p:cNvSpPr>
          <p:nvPr/>
        </p:nvSpPr>
        <p:spPr>
          <a:xfrm xmlns:a="http://schemas.openxmlformats.org/drawingml/2006/main">
            <a:off x="6762750" y="31908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2</a:t>
            </a:r>
          </a:p>
        </p:txBody>
      </p:sp>
      <p:sp>
        <p:nvSpPr>
          <p:cNvPr id="25" name="s2-p2">
            <a:extLst xmlns:a="http://schemas.openxmlformats.org/drawingml/2006/main">
              <a:ext uri="{FF2B5EF4-FFF2-40B4-BE49-F238E27FC236}">
                <a16:creationId xmlns:a16="http://schemas.microsoft.com/office/drawing/2014/main" id="{6A745634-2437-4726-ABFB-1B88BE8DC43D}"/>
              </a:ext>
            </a:extLst>
          </p:cNvPr>
          <p:cNvSpPr>
            <a:spLocks xmlns:a="http://schemas.openxmlformats.org/drawingml/2006/main" noGrp="1"/>
          </p:cNvSpPr>
          <p:nvPr/>
        </p:nvSpPr>
        <p:spPr>
          <a:xfrm xmlns:a="http://schemas.openxmlformats.org/drawingml/2006/main">
            <a:off x="7296150" y="3028950"/>
            <a:ext cx="39052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Repeated reading</a:t>
            </a:r>
          </a:p>
        </p:txBody>
      </p:sp>
      <p:sp>
        <p:nvSpPr>
          <p:cNvPr id="26" name="s2-n3">
            <a:extLst xmlns:a="http://schemas.openxmlformats.org/drawingml/2006/main">
              <a:ext uri="{FF2B5EF4-FFF2-40B4-BE49-F238E27FC236}">
                <a16:creationId xmlns:a16="http://schemas.microsoft.com/office/drawing/2014/main" id="{18B94EDA-676B-46CB-8FD3-CBCB4F1E6657}"/>
              </a:ext>
            </a:extLst>
          </p:cNvPr>
          <p:cNvSpPr>
            <a:spLocks xmlns:a="http://schemas.openxmlformats.org/drawingml/2006/main" noGrp="1"/>
          </p:cNvSpPr>
          <p:nvPr/>
        </p:nvSpPr>
        <p:spPr>
          <a:xfrm xmlns:a="http://schemas.openxmlformats.org/drawingml/2006/main">
            <a:off x="6762750" y="4324350"/>
            <a:ext cx="323850" cy="32385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27" name="s2-n3-label">
            <a:extLst xmlns:a="http://schemas.openxmlformats.org/drawingml/2006/main">
              <a:ext uri="{FF2B5EF4-FFF2-40B4-BE49-F238E27FC236}">
                <a16:creationId xmlns:a16="http://schemas.microsoft.com/office/drawing/2014/main" id="{33B6838E-3283-43F2-AB9A-1BE2E2EB9EEB}"/>
              </a:ext>
            </a:extLst>
          </p:cNvPr>
          <p:cNvSpPr>
            <a:spLocks xmlns:a="http://schemas.openxmlformats.org/drawingml/2006/main" noGrp="1"/>
          </p:cNvSpPr>
          <p:nvPr/>
        </p:nvSpPr>
        <p:spPr>
          <a:xfrm xmlns:a="http://schemas.openxmlformats.org/drawingml/2006/main">
            <a:off x="6762750" y="4371975"/>
            <a:ext cx="3238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1">
                <a:solidFill>
                  <a:srgbClr val="FFFFFF"/>
                </a:solidFill>
                <a:latin typeface="Arial"/>
                <a:ea typeface="Arial"/>
                <a:cs typeface="Arial"/>
              </a:defRPr>
            </a:pPr>
            <a:r>
              <a:t>3</a:t>
            </a:r>
          </a:p>
        </p:txBody>
      </p:sp>
      <p:sp>
        <p:nvSpPr>
          <p:cNvPr id="28" name="s2-p3">
            <a:extLst xmlns:a="http://schemas.openxmlformats.org/drawingml/2006/main">
              <a:ext uri="{FF2B5EF4-FFF2-40B4-BE49-F238E27FC236}">
                <a16:creationId xmlns:a16="http://schemas.microsoft.com/office/drawing/2014/main" id="{28F1917F-3732-4C0B-A9F8-B11E68DD900F}"/>
              </a:ext>
            </a:extLst>
          </p:cNvPr>
          <p:cNvSpPr>
            <a:spLocks xmlns:a="http://schemas.openxmlformats.org/drawingml/2006/main" noGrp="1"/>
          </p:cNvSpPr>
          <p:nvPr/>
        </p:nvSpPr>
        <p:spPr>
          <a:xfrm xmlns:a="http://schemas.openxmlformats.org/drawingml/2006/main">
            <a:off x="7296150" y="4210050"/>
            <a:ext cx="4095750" cy="4572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A1224"/>
                </a:solidFill>
                <a:latin typeface="Arial"/>
                <a:ea typeface="Arial"/>
                <a:cs typeface="Arial"/>
              </a:defRPr>
            </a:pPr>
            <a:r>
              <a:t>Forgotten decisions</a:t>
            </a:r>
          </a:p>
        </p:txBody>
      </p:sp>
      <p:sp>
        <p:nvSpPr>
          <p:cNvPr id="29" name="s2-takeaway">
            <a:extLst xmlns:a="http://schemas.openxmlformats.org/drawingml/2006/main">
              <a:ext uri="{FF2B5EF4-FFF2-40B4-BE49-F238E27FC236}">
                <a16:creationId xmlns:a16="http://schemas.microsoft.com/office/drawing/2014/main" id="{D2683AEA-6C83-43AB-8F14-E07E219A1AEE}"/>
              </a:ext>
            </a:extLst>
          </p:cNvPr>
          <p:cNvSpPr>
            <a:spLocks xmlns:a="http://schemas.openxmlformats.org/drawingml/2006/main" noGrp="1"/>
          </p:cNvSpPr>
          <p:nvPr/>
        </p:nvSpPr>
        <p:spPr>
          <a:xfrm xmlns:a="http://schemas.openxmlformats.org/drawingml/2006/main">
            <a:off x="6762750" y="5162550"/>
            <a:ext cx="4629150" cy="704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26071"/>
                </a:solidFill>
                <a:latin typeface="Arial"/>
                <a:ea typeface="Arial"/>
                <a:cs typeface="Arial"/>
              </a:defRPr>
            </a:pPr>
            <a:r>
              <a:t>That frustration became the reason I built Vertex Palace.</a:t>
            </a:r>
          </a:p>
        </p:txBody>
      </p:sp>
      <p:cxnSp>
        <p:nvCxnSpPr>
          <p:cNvPr id="62" name="footer-rule-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1" name="footer-source-2">
            <a:extLst xmlns:a="http://schemas.openxmlformats.org/drawingml/2006/main">
              <a:ext uri="{FF2B5EF4-FFF2-40B4-BE49-F238E27FC236}">
                <a16:creationId xmlns:a16="http://schemas.microsoft.com/office/drawing/2014/main" id="{ABE9FAD3-3701-44AB-A9F7-77AD2A23C095}"/>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2" name="footer-number-2">
            <a:extLst xmlns:a="http://schemas.openxmlformats.org/drawingml/2006/main">
              <a:ext uri="{FF2B5EF4-FFF2-40B4-BE49-F238E27FC236}">
                <a16:creationId xmlns:a16="http://schemas.microsoft.com/office/drawing/2014/main" id="{E121400D-3F38-421E-8ABE-59B1B701ABC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2</a:t>
            </a:r>
          </a:p>
        </p:txBody>
      </p:sp>
    </p:spTree>
    <p:extLst>
      <p:ext uri="{BB962C8B-B14F-4D97-AF65-F5344CB8AC3E}">
        <p14:creationId xmlns:p14="http://schemas.microsoft.com/office/powerpoint/2010/main" val="12196835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s3-title">
            <a:extLst xmlns:a="http://schemas.openxmlformats.org/drawingml/2006/main">
              <a:ext uri="{FF2B5EF4-FFF2-40B4-BE49-F238E27FC236}">
                <a16:creationId xmlns:a16="http://schemas.microsoft.com/office/drawing/2014/main" id="{06519EE5-5862-492B-9954-9F5F05580F74}"/>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The 3D building gives every context item an address.</a:t>
            </a:r>
          </a:p>
        </p:txBody>
      </p:sp>
      <p:sp>
        <p:nvSpPr>
          <p:cNvPr id="2" name="s3-subtitle">
            <a:extLst xmlns:a="http://schemas.openxmlformats.org/drawingml/2006/main">
              <a:ext uri="{FF2B5EF4-FFF2-40B4-BE49-F238E27FC236}">
                <a16:creationId xmlns:a16="http://schemas.microsoft.com/office/drawing/2014/main" id="{E5FED446-3F23-4A03-B9AA-6D3A8ACF411F}"/>
              </a:ext>
            </a:extLst>
          </p:cNvPr>
          <p:cNvSpPr>
            <a:spLocks xmlns:a="http://schemas.openxmlformats.org/drawingml/2006/main" noGrp="1"/>
          </p:cNvSpPr>
          <p:nvPr/>
        </p:nvSpPr>
        <p:spPr>
          <a:xfrm xmlns:a="http://schemas.openxmlformats.org/drawingml/2006/main">
            <a:off x="400050" y="1066800"/>
            <a:ext cx="113919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X locates the domain. Y selects the architectural floor. Z controls inspection depth.</a:t>
            </a:r>
          </a:p>
        </p:txBody>
      </p:sp>
      <p:cxnSp>
        <p:nvCxnSpPr>
          <p:cNvPr id="40" name="s3-rule-x"/>
          <p:cNvCxnSpPr/>
          <p:nvPr/>
        </p:nvCxnSpPr>
        <p:spPr>
          <a:xfrm xmlns:a="http://schemas.openxmlformats.org/drawingml/2006/main">
            <a:off x="1428750" y="2886075"/>
            <a:ext cx="4762500" cy="953"/>
          </a:xfrm>
          <a:prstGeom xmlns:a="http://schemas.openxmlformats.org/drawingml/2006/main" prst="straightConnector1">
            <a:avLst/>
          </a:prstGeom>
          <a:ln xmlns:a="http://schemas.openxmlformats.org/drawingml/2006/main" w="9525">
            <a:solidFill>
              <a:srgbClr val="B8BCC4"/>
            </a:solidFill>
            <a:prstDash val="solid"/>
          </a:ln>
        </p:spPr>
      </p:cxnSp>
      <p:cxnSp>
        <p:nvCxnSpPr>
          <p:cNvPr id="41" name="s3-rule-y"/>
          <p:cNvCxnSpPr/>
          <p:nvPr/>
        </p:nvCxnSpPr>
        <p:spPr>
          <a:xfrm xmlns:a="http://schemas.openxmlformats.org/drawingml/2006/main">
            <a:off x="1428750" y="4076700"/>
            <a:ext cx="4762500" cy="953"/>
          </a:xfrm>
          <a:prstGeom xmlns:a="http://schemas.openxmlformats.org/drawingml/2006/main" prst="straightConnector1">
            <a:avLst/>
          </a:prstGeom>
          <a:ln xmlns:a="http://schemas.openxmlformats.org/drawingml/2006/main" w="9525">
            <a:solidFill>
              <a:srgbClr val="B8BCC4"/>
            </a:solidFill>
            <a:prstDash val="solid"/>
          </a:ln>
        </p:spPr>
      </p:cxnSp>
      <p:sp>
        <p:nvSpPr>
          <p:cNvPr id="5" name="s3-address-panel">
            <a:extLst xmlns:a="http://schemas.openxmlformats.org/drawingml/2006/main">
              <a:ext uri="{FF2B5EF4-FFF2-40B4-BE49-F238E27FC236}">
                <a16:creationId xmlns:a16="http://schemas.microsoft.com/office/drawing/2014/main" id="{67501DC7-791E-480B-AC1E-D86EC5969D79}"/>
              </a:ext>
            </a:extLst>
          </p:cNvPr>
          <p:cNvSpPr>
            <a:spLocks xmlns:a="http://schemas.openxmlformats.org/drawingml/2006/main" noGrp="1"/>
          </p:cNvSpPr>
          <p:nvPr/>
        </p:nvSpPr>
        <p:spPr>
          <a:xfrm xmlns:a="http://schemas.openxmlformats.org/drawingml/2006/main">
            <a:off x="6858000" y="1809750"/>
            <a:ext cx="4762500" cy="3238500"/>
          </a:xfrm>
          <a:prstGeom xmlns:a="http://schemas.openxmlformats.org/drawingml/2006/main" prst="roundRect">
            <a:avLst>
              <a:gd name="adj" fmla="val 2353"/>
            </a:avLst>
          </a:prstGeom>
          <a:solidFill xmlns:a="http://schemas.openxmlformats.org/drawingml/2006/main">
            <a:srgbClr val="061B3D"/>
          </a:solidFill>
          <a:ln xmlns:a="http://schemas.openxmlformats.org/drawingml/2006/main" w="9525">
            <a:solidFill>
              <a:srgbClr val="0B2B56"/>
            </a:solidFill>
            <a:prstDash val="solid"/>
          </a:ln>
        </p:spPr>
      </p:sp>
      <p:cxnSp>
        <p:nvCxnSpPr>
          <p:cNvPr id="43" name="s3-address-rule-1"/>
          <p:cNvCxnSpPr/>
          <p:nvPr/>
        </p:nvCxnSpPr>
        <p:spPr>
          <a:xfrm xmlns:a="http://schemas.openxmlformats.org/drawingml/2006/main">
            <a:off x="7219950" y="2476500"/>
            <a:ext cx="4038600" cy="953"/>
          </a:xfrm>
          <a:prstGeom xmlns:a="http://schemas.openxmlformats.org/drawingml/2006/main" prst="straightConnector1">
            <a:avLst/>
          </a:prstGeom>
          <a:ln xmlns:a="http://schemas.openxmlformats.org/drawingml/2006/main" w="9525">
            <a:solidFill>
              <a:srgbClr val="24466F"/>
            </a:solidFill>
            <a:prstDash val="solid"/>
          </a:ln>
        </p:spPr>
      </p:cxnSp>
      <p:cxnSp>
        <p:nvCxnSpPr>
          <p:cNvPr id="44" name="s3-address-rule-2"/>
          <p:cNvCxnSpPr/>
          <p:nvPr/>
        </p:nvCxnSpPr>
        <p:spPr>
          <a:xfrm xmlns:a="http://schemas.openxmlformats.org/drawingml/2006/main">
            <a:off x="7219950" y="4267200"/>
            <a:ext cx="4038600" cy="953"/>
          </a:xfrm>
          <a:prstGeom xmlns:a="http://schemas.openxmlformats.org/drawingml/2006/main" prst="straightConnector1">
            <a:avLst/>
          </a:prstGeom>
          <a:ln xmlns:a="http://schemas.openxmlformats.org/drawingml/2006/main" w="9525">
            <a:solidFill>
              <a:srgbClr val="24466F"/>
            </a:solidFill>
            <a:prstDash val="solid"/>
          </a:ln>
        </p:spPr>
      </p:cxnSp>
      <p:sp>
        <p:nvSpPr>
          <p:cNvPr id="8" name="s3-x">
            <a:extLst xmlns:a="http://schemas.openxmlformats.org/drawingml/2006/main">
              <a:ext uri="{FF2B5EF4-FFF2-40B4-BE49-F238E27FC236}">
                <a16:creationId xmlns:a16="http://schemas.microsoft.com/office/drawing/2014/main" id="{5E6B64C1-B80F-479C-BD5A-A126B10604D7}"/>
              </a:ext>
            </a:extLst>
          </p:cNvPr>
          <p:cNvSpPr>
            <a:spLocks xmlns:a="http://schemas.openxmlformats.org/drawingml/2006/main" noGrp="1"/>
          </p:cNvSpPr>
          <p:nvPr/>
        </p:nvSpPr>
        <p:spPr>
          <a:xfrm xmlns:a="http://schemas.openxmlformats.org/drawingml/2006/main">
            <a:off x="666750" y="2000250"/>
            <a:ext cx="533400" cy="5334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9" name="s3-x-letter">
            <a:extLst xmlns:a="http://schemas.openxmlformats.org/drawingml/2006/main">
              <a:ext uri="{FF2B5EF4-FFF2-40B4-BE49-F238E27FC236}">
                <a16:creationId xmlns:a16="http://schemas.microsoft.com/office/drawing/2014/main" id="{5BB72A12-577E-43A8-B8D0-0E669B08E5DE}"/>
              </a:ext>
            </a:extLst>
          </p:cNvPr>
          <p:cNvSpPr>
            <a:spLocks xmlns:a="http://schemas.openxmlformats.org/drawingml/2006/main" noGrp="1"/>
          </p:cNvSpPr>
          <p:nvPr/>
        </p:nvSpPr>
        <p:spPr>
          <a:xfrm xmlns:a="http://schemas.openxmlformats.org/drawingml/2006/main">
            <a:off x="666750" y="211455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X</a:t>
            </a:r>
          </a:p>
        </p:txBody>
      </p:sp>
      <p:sp>
        <p:nvSpPr>
          <p:cNvPr id="10" name="s3-x-label">
            <a:extLst xmlns:a="http://schemas.openxmlformats.org/drawingml/2006/main">
              <a:ext uri="{FF2B5EF4-FFF2-40B4-BE49-F238E27FC236}">
                <a16:creationId xmlns:a16="http://schemas.microsoft.com/office/drawing/2014/main" id="{16E4E53E-8F9D-40B2-8237-926F5493E9CC}"/>
              </a:ext>
            </a:extLst>
          </p:cNvPr>
          <p:cNvSpPr>
            <a:spLocks xmlns:a="http://schemas.openxmlformats.org/drawingml/2006/main" noGrp="1"/>
          </p:cNvSpPr>
          <p:nvPr/>
        </p:nvSpPr>
        <p:spPr>
          <a:xfrm xmlns:a="http://schemas.openxmlformats.org/drawingml/2006/main">
            <a:off x="1428750" y="193357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3B7D5"/>
                </a:solidFill>
                <a:latin typeface="Arial"/>
                <a:ea typeface="Arial"/>
                <a:cs typeface="Arial"/>
              </a:defRPr>
            </a:pPr>
            <a:r>
              <a:t>X / DOMAIN OR MODULE</a:t>
            </a:r>
          </a:p>
        </p:txBody>
      </p:sp>
      <p:sp>
        <p:nvSpPr>
          <p:cNvPr id="11" name="s3-x-main">
            <a:extLst xmlns:a="http://schemas.openxmlformats.org/drawingml/2006/main">
              <a:ext uri="{FF2B5EF4-FFF2-40B4-BE49-F238E27FC236}">
                <a16:creationId xmlns:a16="http://schemas.microsoft.com/office/drawing/2014/main" id="{3FEC8F92-AE98-48C7-953D-51D266DC236B}"/>
              </a:ext>
            </a:extLst>
          </p:cNvPr>
          <p:cNvSpPr>
            <a:spLocks xmlns:a="http://schemas.openxmlformats.org/drawingml/2006/main" noGrp="1"/>
          </p:cNvSpPr>
          <p:nvPr/>
        </p:nvSpPr>
        <p:spPr>
          <a:xfrm xmlns:a="http://schemas.openxmlformats.org/drawingml/2006/main">
            <a:off x="1428750" y="2238375"/>
            <a:ext cx="47625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0A1224"/>
                </a:solidFill>
                <a:latin typeface="Consolas"/>
                <a:ea typeface="Consolas"/>
                <a:cs typeface="Consolas"/>
              </a:defRPr>
            </a:pPr>
            <a:r>
              <a:t>auth  /  checkout  /  blog</a:t>
            </a:r>
          </a:p>
        </p:txBody>
      </p:sp>
      <p:sp>
        <p:nvSpPr>
          <p:cNvPr id="12" name="s3-x-question">
            <a:extLst xmlns:a="http://schemas.openxmlformats.org/drawingml/2006/main">
              <a:ext uri="{FF2B5EF4-FFF2-40B4-BE49-F238E27FC236}">
                <a16:creationId xmlns:a16="http://schemas.microsoft.com/office/drawing/2014/main" id="{9E462231-2536-426D-B86C-32E673C7BA2A}"/>
              </a:ext>
            </a:extLst>
          </p:cNvPr>
          <p:cNvSpPr>
            <a:spLocks xmlns:a="http://schemas.openxmlformats.org/drawingml/2006/main" noGrp="1"/>
          </p:cNvSpPr>
          <p:nvPr/>
        </p:nvSpPr>
        <p:spPr>
          <a:xfrm xmlns:a="http://schemas.openxmlformats.org/drawingml/2006/main">
            <a:off x="1428750" y="260985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product area?</a:t>
            </a:r>
          </a:p>
        </p:txBody>
      </p:sp>
      <p:sp>
        <p:nvSpPr>
          <p:cNvPr id="13" name="s3-y">
            <a:extLst xmlns:a="http://schemas.openxmlformats.org/drawingml/2006/main">
              <a:ext uri="{FF2B5EF4-FFF2-40B4-BE49-F238E27FC236}">
                <a16:creationId xmlns:a16="http://schemas.microsoft.com/office/drawing/2014/main" id="{19B28F3E-E802-46AD-A22D-34BE345949DC}"/>
              </a:ext>
            </a:extLst>
          </p:cNvPr>
          <p:cNvSpPr>
            <a:spLocks xmlns:a="http://schemas.openxmlformats.org/drawingml/2006/main" noGrp="1"/>
          </p:cNvSpPr>
          <p:nvPr/>
        </p:nvSpPr>
        <p:spPr>
          <a:xfrm xmlns:a="http://schemas.openxmlformats.org/drawingml/2006/main">
            <a:off x="666750" y="3190875"/>
            <a:ext cx="533400" cy="5334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4" name="s3-y-letter">
            <a:extLst xmlns:a="http://schemas.openxmlformats.org/drawingml/2006/main">
              <a:ext uri="{FF2B5EF4-FFF2-40B4-BE49-F238E27FC236}">
                <a16:creationId xmlns:a16="http://schemas.microsoft.com/office/drawing/2014/main" id="{B8A7DA43-870A-4EC8-B89E-B9A4347EE3FE}"/>
              </a:ext>
            </a:extLst>
          </p:cNvPr>
          <p:cNvSpPr>
            <a:spLocks xmlns:a="http://schemas.openxmlformats.org/drawingml/2006/main" noGrp="1"/>
          </p:cNvSpPr>
          <p:nvPr/>
        </p:nvSpPr>
        <p:spPr>
          <a:xfrm xmlns:a="http://schemas.openxmlformats.org/drawingml/2006/main">
            <a:off x="666750" y="3305175"/>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Y</a:t>
            </a:r>
          </a:p>
        </p:txBody>
      </p:sp>
      <p:sp>
        <p:nvSpPr>
          <p:cNvPr id="15" name="s3-y-label">
            <a:extLst xmlns:a="http://schemas.openxmlformats.org/drawingml/2006/main">
              <a:ext uri="{FF2B5EF4-FFF2-40B4-BE49-F238E27FC236}">
                <a16:creationId xmlns:a16="http://schemas.microsoft.com/office/drawing/2014/main" id="{DA8A80D1-D6AA-44A0-9317-C6A91CCFFF0C}"/>
              </a:ext>
            </a:extLst>
          </p:cNvPr>
          <p:cNvSpPr>
            <a:spLocks xmlns:a="http://schemas.openxmlformats.org/drawingml/2006/main" noGrp="1"/>
          </p:cNvSpPr>
          <p:nvPr/>
        </p:nvSpPr>
        <p:spPr>
          <a:xfrm xmlns:a="http://schemas.openxmlformats.org/drawingml/2006/main">
            <a:off x="1428750" y="3124200"/>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677FF"/>
                </a:solidFill>
                <a:latin typeface="Arial"/>
                <a:ea typeface="Arial"/>
                <a:cs typeface="Arial"/>
              </a:defRPr>
            </a:pPr>
            <a:r>
              <a:t>Y / ARCHITECTURE FLOOR</a:t>
            </a:r>
          </a:p>
        </p:txBody>
      </p:sp>
      <p:sp>
        <p:nvSpPr>
          <p:cNvPr id="16" name="s3-y-main">
            <a:extLst xmlns:a="http://schemas.openxmlformats.org/drawingml/2006/main">
              <a:ext uri="{FF2B5EF4-FFF2-40B4-BE49-F238E27FC236}">
                <a16:creationId xmlns:a16="http://schemas.microsoft.com/office/drawing/2014/main" id="{2F167A27-B8C1-49F2-B3C9-5BDE46EA2AB0}"/>
              </a:ext>
            </a:extLst>
          </p:cNvPr>
          <p:cNvSpPr>
            <a:spLocks xmlns:a="http://schemas.openxmlformats.org/drawingml/2006/main" noGrp="1"/>
          </p:cNvSpPr>
          <p:nvPr/>
        </p:nvSpPr>
        <p:spPr>
          <a:xfrm xmlns:a="http://schemas.openxmlformats.org/drawingml/2006/main">
            <a:off x="1428750" y="342900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interface  /  implementation  /  data</a:t>
            </a:r>
          </a:p>
        </p:txBody>
      </p:sp>
      <p:sp>
        <p:nvSpPr>
          <p:cNvPr id="17" name="s3-y-question">
            <a:extLst xmlns:a="http://schemas.openxmlformats.org/drawingml/2006/main">
              <a:ext uri="{FF2B5EF4-FFF2-40B4-BE49-F238E27FC236}">
                <a16:creationId xmlns:a16="http://schemas.microsoft.com/office/drawing/2014/main" id="{394AACEA-2B1A-493B-978E-30E4285FFDC3}"/>
              </a:ext>
            </a:extLst>
          </p:cNvPr>
          <p:cNvSpPr>
            <a:spLocks xmlns:a="http://schemas.openxmlformats.org/drawingml/2006/main" noGrp="1"/>
          </p:cNvSpPr>
          <p:nvPr/>
        </p:nvSpPr>
        <p:spPr>
          <a:xfrm xmlns:a="http://schemas.openxmlformats.org/drawingml/2006/main">
            <a:off x="1428750" y="3800475"/>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Which responsibility layer?</a:t>
            </a:r>
          </a:p>
        </p:txBody>
      </p:sp>
      <p:sp>
        <p:nvSpPr>
          <p:cNvPr id="18" name="s3-z">
            <a:extLst xmlns:a="http://schemas.openxmlformats.org/drawingml/2006/main">
              <a:ext uri="{FF2B5EF4-FFF2-40B4-BE49-F238E27FC236}">
                <a16:creationId xmlns:a16="http://schemas.microsoft.com/office/drawing/2014/main" id="{2BB24D12-E62C-4786-8069-683C68EE2A8E}"/>
              </a:ext>
            </a:extLst>
          </p:cNvPr>
          <p:cNvSpPr>
            <a:spLocks xmlns:a="http://schemas.openxmlformats.org/drawingml/2006/main" noGrp="1"/>
          </p:cNvSpPr>
          <p:nvPr/>
        </p:nvSpPr>
        <p:spPr>
          <a:xfrm xmlns:a="http://schemas.openxmlformats.org/drawingml/2006/main">
            <a:off x="666750" y="4381500"/>
            <a:ext cx="533400" cy="5334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9" name="s3-z-letter">
            <a:extLst xmlns:a="http://schemas.openxmlformats.org/drawingml/2006/main">
              <a:ext uri="{FF2B5EF4-FFF2-40B4-BE49-F238E27FC236}">
                <a16:creationId xmlns:a16="http://schemas.microsoft.com/office/drawing/2014/main" id="{25576BFB-4278-471D-8D6E-58A0F5D6161A}"/>
              </a:ext>
            </a:extLst>
          </p:cNvPr>
          <p:cNvSpPr>
            <a:spLocks xmlns:a="http://schemas.openxmlformats.org/drawingml/2006/main" noGrp="1"/>
          </p:cNvSpPr>
          <p:nvPr/>
        </p:nvSpPr>
        <p:spPr>
          <a:xfrm xmlns:a="http://schemas.openxmlformats.org/drawingml/2006/main">
            <a:off x="666750" y="4495800"/>
            <a:ext cx="5334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875" b="1">
                <a:solidFill>
                  <a:srgbClr val="FFFFFF"/>
                </a:solidFill>
                <a:latin typeface="Arial"/>
                <a:ea typeface="Arial"/>
                <a:cs typeface="Arial"/>
              </a:defRPr>
            </a:pPr>
            <a:r>
              <a:t>Z</a:t>
            </a:r>
          </a:p>
        </p:txBody>
      </p:sp>
      <p:sp>
        <p:nvSpPr>
          <p:cNvPr id="20" name="s3-z-label">
            <a:extLst xmlns:a="http://schemas.openxmlformats.org/drawingml/2006/main">
              <a:ext uri="{FF2B5EF4-FFF2-40B4-BE49-F238E27FC236}">
                <a16:creationId xmlns:a16="http://schemas.microsoft.com/office/drawing/2014/main" id="{217DF1D3-884B-4B20-AF85-AC53AA54C3CF}"/>
              </a:ext>
            </a:extLst>
          </p:cNvPr>
          <p:cNvSpPr>
            <a:spLocks xmlns:a="http://schemas.openxmlformats.org/drawingml/2006/main" noGrp="1"/>
          </p:cNvSpPr>
          <p:nvPr/>
        </p:nvSpPr>
        <p:spPr>
          <a:xfrm xmlns:a="http://schemas.openxmlformats.org/drawingml/2006/main">
            <a:off x="1428750" y="4314825"/>
            <a:ext cx="4762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7438F5"/>
                </a:solidFill>
                <a:latin typeface="Arial"/>
                <a:ea typeface="Arial"/>
                <a:cs typeface="Arial"/>
              </a:defRPr>
            </a:pPr>
            <a:r>
              <a:t>Z / INSPECTION DEPTH</a:t>
            </a:r>
          </a:p>
        </p:txBody>
      </p:sp>
      <p:sp>
        <p:nvSpPr>
          <p:cNvPr id="21" name="s3-z-main">
            <a:extLst xmlns:a="http://schemas.openxmlformats.org/drawingml/2006/main">
              <a:ext uri="{FF2B5EF4-FFF2-40B4-BE49-F238E27FC236}">
                <a16:creationId xmlns:a16="http://schemas.microsoft.com/office/drawing/2014/main" id="{C05F404E-CD90-408A-A270-C663D6B29C70}"/>
              </a:ext>
            </a:extLst>
          </p:cNvPr>
          <p:cNvSpPr>
            <a:spLocks xmlns:a="http://schemas.openxmlformats.org/drawingml/2006/main" noGrp="1"/>
          </p:cNvSpPr>
          <p:nvPr/>
        </p:nvSpPr>
        <p:spPr>
          <a:xfrm xmlns:a="http://schemas.openxmlformats.org/drawingml/2006/main">
            <a:off x="1428750" y="4619625"/>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room  -&gt;  file  -&gt;  symbol  -&gt;  snippet</a:t>
            </a:r>
          </a:p>
        </p:txBody>
      </p:sp>
      <p:sp>
        <p:nvSpPr>
          <p:cNvPr id="22" name="s3-z-question">
            <a:extLst xmlns:a="http://schemas.openxmlformats.org/drawingml/2006/main">
              <a:ext uri="{FF2B5EF4-FFF2-40B4-BE49-F238E27FC236}">
                <a16:creationId xmlns:a16="http://schemas.microsoft.com/office/drawing/2014/main" id="{DE85D935-143F-4530-A118-356CBD442DF3}"/>
              </a:ext>
            </a:extLst>
          </p:cNvPr>
          <p:cNvSpPr>
            <a:spLocks xmlns:a="http://schemas.openxmlformats.org/drawingml/2006/main" noGrp="1"/>
          </p:cNvSpPr>
          <p:nvPr/>
        </p:nvSpPr>
        <p:spPr>
          <a:xfrm xmlns:a="http://schemas.openxmlformats.org/drawingml/2006/main">
            <a:off x="1428750" y="4991100"/>
            <a:ext cx="4762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How much context is needed?</a:t>
            </a:r>
          </a:p>
        </p:txBody>
      </p:sp>
      <p:sp>
        <p:nvSpPr>
          <p:cNvPr id="23" name="s3-address-label">
            <a:extLst xmlns:a="http://schemas.openxmlformats.org/drawingml/2006/main">
              <a:ext uri="{FF2B5EF4-FFF2-40B4-BE49-F238E27FC236}">
                <a16:creationId xmlns:a16="http://schemas.microsoft.com/office/drawing/2014/main" id="{EC9B8918-E762-40E0-AC6F-CD40159B6023}"/>
              </a:ext>
            </a:extLst>
          </p:cNvPr>
          <p:cNvSpPr>
            <a:spLocks xmlns:a="http://schemas.openxmlformats.org/drawingml/2006/main" noGrp="1"/>
          </p:cNvSpPr>
          <p:nvPr/>
        </p:nvSpPr>
        <p:spPr>
          <a:xfrm xmlns:a="http://schemas.openxmlformats.org/drawingml/2006/main">
            <a:off x="7219950" y="2095500"/>
            <a:ext cx="40386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ONE ADDRESS</a:t>
            </a:r>
          </a:p>
        </p:txBody>
      </p:sp>
      <p:sp>
        <p:nvSpPr>
          <p:cNvPr id="24" name="s3-address-x">
            <a:extLst xmlns:a="http://schemas.openxmlformats.org/drawingml/2006/main">
              <a:ext uri="{FF2B5EF4-FFF2-40B4-BE49-F238E27FC236}">
                <a16:creationId xmlns:a16="http://schemas.microsoft.com/office/drawing/2014/main" id="{291F8271-D11C-430D-8B52-479AA5D34EDA}"/>
              </a:ext>
            </a:extLst>
          </p:cNvPr>
          <p:cNvSpPr>
            <a:spLocks xmlns:a="http://schemas.openxmlformats.org/drawingml/2006/main" noGrp="1"/>
          </p:cNvSpPr>
          <p:nvPr/>
        </p:nvSpPr>
        <p:spPr>
          <a:xfrm xmlns:a="http://schemas.openxmlformats.org/drawingml/2006/main">
            <a:off x="7219950" y="27241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3B7D5"/>
                </a:solidFill>
                <a:latin typeface="Arial"/>
                <a:ea typeface="Arial"/>
                <a:cs typeface="Arial"/>
              </a:defRPr>
            </a:pPr>
            <a:r>
              <a:t>X</a:t>
            </a:r>
          </a:p>
        </p:txBody>
      </p:sp>
      <p:sp>
        <p:nvSpPr>
          <p:cNvPr id="25" name="s3-address-x-value">
            <a:extLst xmlns:a="http://schemas.openxmlformats.org/drawingml/2006/main">
              <a:ext uri="{FF2B5EF4-FFF2-40B4-BE49-F238E27FC236}">
                <a16:creationId xmlns:a16="http://schemas.microsoft.com/office/drawing/2014/main" id="{727A9845-DB38-4A24-BC8D-9934D59F4A49}"/>
              </a:ext>
            </a:extLst>
          </p:cNvPr>
          <p:cNvSpPr>
            <a:spLocks xmlns:a="http://schemas.openxmlformats.org/drawingml/2006/main" noGrp="1"/>
          </p:cNvSpPr>
          <p:nvPr/>
        </p:nvSpPr>
        <p:spPr>
          <a:xfrm xmlns:a="http://schemas.openxmlformats.org/drawingml/2006/main">
            <a:off x="7734300" y="27051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checkout</a:t>
            </a:r>
          </a:p>
        </p:txBody>
      </p:sp>
      <p:sp>
        <p:nvSpPr>
          <p:cNvPr id="26" name="s3-address-y">
            <a:extLst xmlns:a="http://schemas.openxmlformats.org/drawingml/2006/main">
              <a:ext uri="{FF2B5EF4-FFF2-40B4-BE49-F238E27FC236}">
                <a16:creationId xmlns:a16="http://schemas.microsoft.com/office/drawing/2014/main" id="{2AAAC936-3916-4958-A560-8B14E79CBA81}"/>
              </a:ext>
            </a:extLst>
          </p:cNvPr>
          <p:cNvSpPr>
            <a:spLocks xmlns:a="http://schemas.openxmlformats.org/drawingml/2006/main" noGrp="1"/>
          </p:cNvSpPr>
          <p:nvPr/>
        </p:nvSpPr>
        <p:spPr>
          <a:xfrm xmlns:a="http://schemas.openxmlformats.org/drawingml/2006/main">
            <a:off x="7219950" y="32575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1677FF"/>
                </a:solidFill>
                <a:latin typeface="Arial"/>
                <a:ea typeface="Arial"/>
                <a:cs typeface="Arial"/>
              </a:defRPr>
            </a:pPr>
            <a:r>
              <a:t>Y</a:t>
            </a:r>
          </a:p>
        </p:txBody>
      </p:sp>
      <p:sp>
        <p:nvSpPr>
          <p:cNvPr id="27" name="s3-address-y-value">
            <a:extLst xmlns:a="http://schemas.openxmlformats.org/drawingml/2006/main">
              <a:ext uri="{FF2B5EF4-FFF2-40B4-BE49-F238E27FC236}">
                <a16:creationId xmlns:a16="http://schemas.microsoft.com/office/drawing/2014/main" id="{FF86DE88-3CE0-4335-B5C4-9BE6B46D2EB3}"/>
              </a:ext>
            </a:extLst>
          </p:cNvPr>
          <p:cNvSpPr>
            <a:spLocks xmlns:a="http://schemas.openxmlformats.org/drawingml/2006/main" noGrp="1"/>
          </p:cNvSpPr>
          <p:nvPr/>
        </p:nvSpPr>
        <p:spPr>
          <a:xfrm xmlns:a="http://schemas.openxmlformats.org/drawingml/2006/main">
            <a:off x="7734300" y="32385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implementation</a:t>
            </a:r>
          </a:p>
        </p:txBody>
      </p:sp>
      <p:sp>
        <p:nvSpPr>
          <p:cNvPr id="28" name="s3-address-z">
            <a:extLst xmlns:a="http://schemas.openxmlformats.org/drawingml/2006/main">
              <a:ext uri="{FF2B5EF4-FFF2-40B4-BE49-F238E27FC236}">
                <a16:creationId xmlns:a16="http://schemas.microsoft.com/office/drawing/2014/main" id="{0CE29A1F-00E1-4918-BC82-51D505887012}"/>
              </a:ext>
            </a:extLst>
          </p:cNvPr>
          <p:cNvSpPr>
            <a:spLocks xmlns:a="http://schemas.openxmlformats.org/drawingml/2006/main" noGrp="1"/>
          </p:cNvSpPr>
          <p:nvPr/>
        </p:nvSpPr>
        <p:spPr>
          <a:xfrm xmlns:a="http://schemas.openxmlformats.org/drawingml/2006/main">
            <a:off x="7219950" y="3790950"/>
            <a:ext cx="3238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7438F5"/>
                </a:solidFill>
                <a:latin typeface="Arial"/>
                <a:ea typeface="Arial"/>
                <a:cs typeface="Arial"/>
              </a:defRPr>
            </a:pPr>
            <a:r>
              <a:t>Z</a:t>
            </a:r>
          </a:p>
        </p:txBody>
      </p:sp>
      <p:sp>
        <p:nvSpPr>
          <p:cNvPr id="29" name="s3-address-z-value">
            <a:extLst xmlns:a="http://schemas.openxmlformats.org/drawingml/2006/main">
              <a:ext uri="{FF2B5EF4-FFF2-40B4-BE49-F238E27FC236}">
                <a16:creationId xmlns:a16="http://schemas.microsoft.com/office/drawing/2014/main" id="{580FA5B1-40ED-44A3-9533-8BD668FEB033}"/>
              </a:ext>
            </a:extLst>
          </p:cNvPr>
          <p:cNvSpPr>
            <a:spLocks xmlns:a="http://schemas.openxmlformats.org/drawingml/2006/main" noGrp="1"/>
          </p:cNvSpPr>
          <p:nvPr/>
        </p:nvSpPr>
        <p:spPr>
          <a:xfrm xmlns:a="http://schemas.openxmlformats.org/drawingml/2006/main">
            <a:off x="7734300" y="377190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shippingQuote()</a:t>
            </a:r>
          </a:p>
        </p:txBody>
      </p:sp>
      <p:sp>
        <p:nvSpPr>
          <p:cNvPr id="30" name="s3-address-note">
            <a:extLst xmlns:a="http://schemas.openxmlformats.org/drawingml/2006/main">
              <a:ext uri="{FF2B5EF4-FFF2-40B4-BE49-F238E27FC236}">
                <a16:creationId xmlns:a16="http://schemas.microsoft.com/office/drawing/2014/main" id="{285D852D-18D0-4367-B293-C50568F406F3}"/>
              </a:ext>
            </a:extLst>
          </p:cNvPr>
          <p:cNvSpPr>
            <a:spLocks xmlns:a="http://schemas.openxmlformats.org/drawingml/2006/main" noGrp="1"/>
          </p:cNvSpPr>
          <p:nvPr/>
        </p:nvSpPr>
        <p:spPr>
          <a:xfrm xmlns:a="http://schemas.openxmlformats.org/drawingml/2006/main">
            <a:off x="7219950" y="4476750"/>
            <a:ext cx="40386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9CC8FF"/>
                </a:solidFill>
                <a:latin typeface="Arial"/>
                <a:ea typeface="Arial"/>
                <a:cs typeface="Arial"/>
              </a:defRPr>
            </a:pPr>
            <a:r>
              <a:t>One bounded entry point.</a:t>
            </a:r>
          </a:p>
        </p:txBody>
      </p:sp>
      <p:sp>
        <p:nvSpPr>
          <p:cNvPr id="31" name="s3-route-label">
            <a:extLst xmlns:a="http://schemas.openxmlformats.org/drawingml/2006/main">
              <a:ext uri="{FF2B5EF4-FFF2-40B4-BE49-F238E27FC236}">
                <a16:creationId xmlns:a16="http://schemas.microsoft.com/office/drawing/2014/main" id="{7D419483-7FCF-491D-B335-E6011818E8B5}"/>
              </a:ext>
            </a:extLst>
          </p:cNvPr>
          <p:cNvSpPr>
            <a:spLocks xmlns:a="http://schemas.openxmlformats.org/drawingml/2006/main" noGrp="1"/>
          </p:cNvSpPr>
          <p:nvPr/>
        </p:nvSpPr>
        <p:spPr>
          <a:xfrm xmlns:a="http://schemas.openxmlformats.org/drawingml/2006/main">
            <a:off x="6858000" y="5276850"/>
            <a:ext cx="7429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Arial"/>
                <a:ea typeface="Arial"/>
                <a:cs typeface="Arial"/>
              </a:defRPr>
            </a:pPr>
            <a:r>
              <a:t>ROUTE</a:t>
            </a:r>
          </a:p>
        </p:txBody>
      </p:sp>
      <p:sp>
        <p:nvSpPr>
          <p:cNvPr id="32" name="s3-route-main">
            <a:extLst xmlns:a="http://schemas.openxmlformats.org/drawingml/2006/main">
              <a:ext uri="{FF2B5EF4-FFF2-40B4-BE49-F238E27FC236}">
                <a16:creationId xmlns:a16="http://schemas.microsoft.com/office/drawing/2014/main" id="{D1440979-A095-4577-9BD4-7306A1DFD188}"/>
              </a:ext>
            </a:extLst>
          </p:cNvPr>
          <p:cNvSpPr>
            <a:spLocks xmlns:a="http://schemas.openxmlformats.org/drawingml/2006/main" noGrp="1"/>
          </p:cNvSpPr>
          <p:nvPr/>
        </p:nvSpPr>
        <p:spPr>
          <a:xfrm xmlns:a="http://schemas.openxmlformats.org/drawingml/2006/main">
            <a:off x="7639050" y="5276850"/>
            <a:ext cx="39814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task-specific path between addresses</a:t>
            </a:r>
          </a:p>
        </p:txBody>
      </p:sp>
      <p:sp>
        <p:nvSpPr>
          <p:cNvPr id="33" name="s3-memory-label">
            <a:extLst xmlns:a="http://schemas.openxmlformats.org/drawingml/2006/main">
              <a:ext uri="{FF2B5EF4-FFF2-40B4-BE49-F238E27FC236}">
                <a16:creationId xmlns:a16="http://schemas.microsoft.com/office/drawing/2014/main" id="{4B22BEEB-F2F5-4402-AC66-4BA539B91C99}"/>
              </a:ext>
            </a:extLst>
          </p:cNvPr>
          <p:cNvSpPr>
            <a:spLocks xmlns:a="http://schemas.openxmlformats.org/drawingml/2006/main" noGrp="1"/>
          </p:cNvSpPr>
          <p:nvPr/>
        </p:nvSpPr>
        <p:spPr>
          <a:xfrm xmlns:a="http://schemas.openxmlformats.org/drawingml/2006/main">
            <a:off x="6858000" y="5581650"/>
            <a:ext cx="8001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3B7D5"/>
                </a:solidFill>
                <a:latin typeface="Arial"/>
                <a:ea typeface="Arial"/>
                <a:cs typeface="Arial"/>
              </a:defRPr>
            </a:pPr>
            <a:r>
              <a:t>MEMORY</a:t>
            </a:r>
          </a:p>
        </p:txBody>
      </p:sp>
      <p:sp>
        <p:nvSpPr>
          <p:cNvPr id="34" name="s3-memory-main">
            <a:extLst xmlns:a="http://schemas.openxmlformats.org/drawingml/2006/main">
              <a:ext uri="{FF2B5EF4-FFF2-40B4-BE49-F238E27FC236}">
                <a16:creationId xmlns:a16="http://schemas.microsoft.com/office/drawing/2014/main" id="{6FF83996-76BB-45F1-AEB1-65D3A0380011}"/>
              </a:ext>
            </a:extLst>
          </p:cNvPr>
          <p:cNvSpPr>
            <a:spLocks xmlns:a="http://schemas.openxmlformats.org/drawingml/2006/main" noGrp="1"/>
          </p:cNvSpPr>
          <p:nvPr/>
        </p:nvSpPr>
        <p:spPr>
          <a:xfrm xmlns:a="http://schemas.openxmlformats.org/drawingml/2006/main">
            <a:off x="7696200" y="5581650"/>
            <a:ext cx="39243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evidence + pitfalls attached to places, not another axis</a:t>
            </a:r>
          </a:p>
        </p:txBody>
      </p:sp>
      <p:cxnSp>
        <p:nvCxnSpPr>
          <p:cNvPr id="72" name="footer-rule-3"/>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6" name="footer-source-3">
            <a:extLst xmlns:a="http://schemas.openxmlformats.org/drawingml/2006/main">
              <a:ext uri="{FF2B5EF4-FFF2-40B4-BE49-F238E27FC236}">
                <a16:creationId xmlns:a16="http://schemas.microsoft.com/office/drawing/2014/main" id="{126D1B71-C28A-4213-A7EF-35EF78026E14}"/>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37" name="footer-number-3">
            <a:extLst xmlns:a="http://schemas.openxmlformats.org/drawingml/2006/main">
              <a:ext uri="{FF2B5EF4-FFF2-40B4-BE49-F238E27FC236}">
                <a16:creationId xmlns:a16="http://schemas.microsoft.com/office/drawing/2014/main" id="{A36CBD3D-6F64-4F7E-9CF5-7BC550A01C0C}"/>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3</a:t>
            </a:r>
          </a:p>
        </p:txBody>
      </p:sp>
    </p:spTree>
    <p:extLst>
      <p:ext uri="{BB962C8B-B14F-4D97-AF65-F5344CB8AC3E}">
        <p14:creationId xmlns:p14="http://schemas.microsoft.com/office/powerpoint/2010/main" val="36154890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s4-title">
            <a:extLst xmlns:a="http://schemas.openxmlformats.org/drawingml/2006/main">
              <a:ext uri="{FF2B5EF4-FFF2-40B4-BE49-F238E27FC236}">
                <a16:creationId xmlns:a16="http://schemas.microsoft.com/office/drawing/2014/main" id="{A11520F1-CFE2-48BE-B9E3-B814256AD0E2}"/>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One call turns a task into an explainable entry path.</a:t>
            </a:r>
          </a:p>
        </p:txBody>
      </p:sp>
      <p:sp>
        <p:nvSpPr>
          <p:cNvPr id="2" name="s4-subtitle">
            <a:extLst xmlns:a="http://schemas.openxmlformats.org/drawingml/2006/main">
              <a:ext uri="{FF2B5EF4-FFF2-40B4-BE49-F238E27FC236}">
                <a16:creationId xmlns:a16="http://schemas.microsoft.com/office/drawing/2014/main" id="{F737107C-72DA-49CA-90CE-6E149B5BB0B0}"/>
              </a:ext>
            </a:extLst>
          </p:cNvPr>
          <p:cNvSpPr>
            <a:spLocks xmlns:a="http://schemas.openxmlformats.org/drawingml/2006/main" noGrp="1"/>
          </p:cNvSpPr>
          <p:nvPr/>
        </p:nvSpPr>
        <p:spPr>
          <a:xfrm xmlns:a="http://schemas.openxmlformats.org/drawingml/2006/main">
            <a:off x="400050" y="1066800"/>
            <a:ext cx="10477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result includes a mode, bounded route, scoped memory, guardrails, and measured payload.</a:t>
            </a:r>
          </a:p>
        </p:txBody>
      </p:sp>
      <p:sp>
        <p:nvSpPr>
          <p:cNvPr id="3" name="s4-terminal">
            <a:extLst xmlns:a="http://schemas.openxmlformats.org/drawingml/2006/main">
              <a:ext uri="{FF2B5EF4-FFF2-40B4-BE49-F238E27FC236}">
                <a16:creationId xmlns:a16="http://schemas.microsoft.com/office/drawing/2014/main" id="{D69C7D80-8632-419D-A21E-7CD43C9629D9}"/>
              </a:ext>
            </a:extLst>
          </p:cNvPr>
          <p:cNvSpPr>
            <a:spLocks xmlns:a="http://schemas.openxmlformats.org/drawingml/2006/main" noGrp="1"/>
          </p:cNvSpPr>
          <p:nvPr/>
        </p:nvSpPr>
        <p:spPr>
          <a:xfrm xmlns:a="http://schemas.openxmlformats.org/drawingml/2006/main">
            <a:off x="552450" y="1619250"/>
            <a:ext cx="11087100" cy="4267200"/>
          </a:xfrm>
          <a:prstGeom xmlns:a="http://schemas.openxmlformats.org/drawingml/2006/main" prst="roundRect">
            <a:avLst>
              <a:gd name="adj" fmla="val 1786"/>
            </a:avLst>
          </a:prstGeom>
          <a:solidFill xmlns:a="http://schemas.openxmlformats.org/drawingml/2006/main">
            <a:srgbClr val="061B3D"/>
          </a:solidFill>
          <a:ln xmlns:a="http://schemas.openxmlformats.org/drawingml/2006/main" w="9525">
            <a:solidFill>
              <a:srgbClr val="0B2B56"/>
            </a:solidFill>
            <a:prstDash val="solid"/>
          </a:ln>
        </p:spPr>
      </p:sp>
      <p:cxnSp>
        <p:nvCxnSpPr>
          <p:cNvPr id="29" name="s4-terminal-divider"/>
          <p:cNvCxnSpPr/>
          <p:nvPr/>
        </p:nvCxnSpPr>
        <p:spPr>
          <a:xfrm xmlns:a="http://schemas.openxmlformats.org/drawingml/2006/main">
            <a:off x="6334125" y="2038350"/>
            <a:ext cx="953" cy="3352800"/>
          </a:xfrm>
          <a:prstGeom xmlns:a="http://schemas.openxmlformats.org/drawingml/2006/main" prst="straightConnector1">
            <a:avLst/>
          </a:prstGeom>
          <a:ln xmlns:a="http://schemas.openxmlformats.org/drawingml/2006/main" w="9525">
            <a:solidFill>
              <a:srgbClr val="24466F"/>
            </a:solidFill>
            <a:prstDash val="solid"/>
          </a:ln>
        </p:spPr>
      </p:cxnSp>
      <p:sp>
        <p:nvSpPr>
          <p:cNvPr id="5" name="s4-dot1">
            <a:extLst xmlns:a="http://schemas.openxmlformats.org/drawingml/2006/main">
              <a:ext uri="{FF2B5EF4-FFF2-40B4-BE49-F238E27FC236}">
                <a16:creationId xmlns:a16="http://schemas.microsoft.com/office/drawing/2014/main" id="{4A09D552-0D75-4592-888B-005A0AFCFBDF}"/>
              </a:ext>
            </a:extLst>
          </p:cNvPr>
          <p:cNvSpPr>
            <a:spLocks xmlns:a="http://schemas.openxmlformats.org/drawingml/2006/main" noGrp="1"/>
          </p:cNvSpPr>
          <p:nvPr/>
        </p:nvSpPr>
        <p:spPr>
          <a:xfrm xmlns:a="http://schemas.openxmlformats.org/drawingml/2006/main">
            <a:off x="819150" y="1809750"/>
            <a:ext cx="114300" cy="114300"/>
          </a:xfrm>
          <a:prstGeom xmlns:a="http://schemas.openxmlformats.org/drawingml/2006/main" prst="ellipse">
            <a:avLst/>
          </a:prstGeom>
          <a:solidFill xmlns:a="http://schemas.openxmlformats.org/drawingml/2006/main">
            <a:srgbClr val="D4515D"/>
          </a:solidFill>
          <a:ln xmlns:a="http://schemas.openxmlformats.org/drawingml/2006/main" w="0">
            <a:solidFill>
              <a:srgbClr val="D4515D"/>
            </a:solidFill>
            <a:prstDash val="solid"/>
          </a:ln>
        </p:spPr>
      </p:sp>
      <p:sp>
        <p:nvSpPr>
          <p:cNvPr id="6" name="s4-dot2">
            <a:extLst xmlns:a="http://schemas.openxmlformats.org/drawingml/2006/main">
              <a:ext uri="{FF2B5EF4-FFF2-40B4-BE49-F238E27FC236}">
                <a16:creationId xmlns:a16="http://schemas.microsoft.com/office/drawing/2014/main" id="{01DF200F-1E59-4E1C-9AC5-49DB7933480D}"/>
              </a:ext>
            </a:extLst>
          </p:cNvPr>
          <p:cNvSpPr>
            <a:spLocks xmlns:a="http://schemas.openxmlformats.org/drawingml/2006/main" noGrp="1"/>
          </p:cNvSpPr>
          <p:nvPr/>
        </p:nvSpPr>
        <p:spPr>
          <a:xfrm xmlns:a="http://schemas.openxmlformats.org/drawingml/2006/main">
            <a:off x="1009650" y="1809750"/>
            <a:ext cx="114300" cy="11430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7" name="s4-dot3">
            <a:extLst xmlns:a="http://schemas.openxmlformats.org/drawingml/2006/main">
              <a:ext uri="{FF2B5EF4-FFF2-40B4-BE49-F238E27FC236}">
                <a16:creationId xmlns:a16="http://schemas.microsoft.com/office/drawing/2014/main" id="{DD5C7A68-7411-441C-BC95-1D32EE1DFDEA}"/>
              </a:ext>
            </a:extLst>
          </p:cNvPr>
          <p:cNvSpPr>
            <a:spLocks xmlns:a="http://schemas.openxmlformats.org/drawingml/2006/main" noGrp="1"/>
          </p:cNvSpPr>
          <p:nvPr/>
        </p:nvSpPr>
        <p:spPr>
          <a:xfrm xmlns:a="http://schemas.openxmlformats.org/drawingml/2006/main">
            <a:off x="1200150" y="1809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8" name="s4-command-label">
            <a:extLst xmlns:a="http://schemas.openxmlformats.org/drawingml/2006/main">
              <a:ext uri="{FF2B5EF4-FFF2-40B4-BE49-F238E27FC236}">
                <a16:creationId xmlns:a16="http://schemas.microsoft.com/office/drawing/2014/main" id="{19BF27CC-E370-4A63-8CB2-F17C8C4DE011}"/>
              </a:ext>
            </a:extLst>
          </p:cNvPr>
          <p:cNvSpPr>
            <a:spLocks xmlns:a="http://schemas.openxmlformats.org/drawingml/2006/main" noGrp="1"/>
          </p:cNvSpPr>
          <p:nvPr/>
        </p:nvSpPr>
        <p:spPr>
          <a:xfrm xmlns:a="http://schemas.openxmlformats.org/drawingml/2006/main">
            <a:off x="81915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3B7D5"/>
                </a:solidFill>
                <a:latin typeface="Arial"/>
                <a:ea typeface="Arial"/>
                <a:cs typeface="Arial"/>
              </a:defRPr>
            </a:pPr>
            <a:r>
              <a:t>COMMAND</a:t>
            </a:r>
          </a:p>
        </p:txBody>
      </p:sp>
      <p:sp>
        <p:nvSpPr>
          <p:cNvPr id="9" name="s4-command">
            <a:extLst xmlns:a="http://schemas.openxmlformats.org/drawingml/2006/main">
              <a:ext uri="{FF2B5EF4-FFF2-40B4-BE49-F238E27FC236}">
                <a16:creationId xmlns:a16="http://schemas.microsoft.com/office/drawing/2014/main" id="{DEB668F0-6DB0-4AD0-93BE-1FA15E2E3281}"/>
              </a:ext>
            </a:extLst>
          </p:cNvPr>
          <p:cNvSpPr>
            <a:spLocks xmlns:a="http://schemas.openxmlformats.org/drawingml/2006/main" noGrp="1"/>
          </p:cNvSpPr>
          <p:nvPr/>
        </p:nvSpPr>
        <p:spPr>
          <a:xfrm xmlns:a="http://schemas.openxmlformats.org/drawingml/2006/main">
            <a:off x="819150" y="2571750"/>
            <a:ext cx="5000625" cy="2133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FFFFFF"/>
                </a:solidFill>
                <a:latin typeface="Consolas"/>
                <a:ea typeface="Consolas"/>
                <a:cs typeface="Consolas"/>
              </a:defRPr>
            </a:pPr>
            <a:r>
              <a:t>$ palace context
  "Fix adaptive full-palace mode
   so relevant memory is included
   with current-code-first guardrails"
  --auto</a:t>
            </a:r>
          </a:p>
        </p:txBody>
      </p:sp>
      <p:sp>
        <p:nvSpPr>
          <p:cNvPr id="10" name="s4-command-note">
            <a:extLst xmlns:a="http://schemas.openxmlformats.org/drawingml/2006/main">
              <a:ext uri="{FF2B5EF4-FFF2-40B4-BE49-F238E27FC236}">
                <a16:creationId xmlns:a16="http://schemas.microsoft.com/office/drawing/2014/main" id="{5EE343D3-B61F-4EF8-9DD8-8DBE3A994870}"/>
              </a:ext>
            </a:extLst>
          </p:cNvPr>
          <p:cNvSpPr>
            <a:spLocks xmlns:a="http://schemas.openxmlformats.org/drawingml/2006/main" noGrp="1"/>
          </p:cNvSpPr>
          <p:nvPr/>
        </p:nvSpPr>
        <p:spPr>
          <a:xfrm xmlns:a="http://schemas.openxmlformats.org/drawingml/2006/main">
            <a:off x="819150" y="5048250"/>
            <a:ext cx="4762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9CC8FF"/>
                </a:solidFill>
                <a:latin typeface="Arial"/>
                <a:ea typeface="Arial"/>
                <a:cs typeface="Arial"/>
              </a:defRPr>
            </a:pPr>
            <a:r>
              <a:t>One request. No full-repo paste.</a:t>
            </a:r>
          </a:p>
        </p:txBody>
      </p:sp>
      <p:sp>
        <p:nvSpPr>
          <p:cNvPr id="11" name="s4-output-label">
            <a:extLst xmlns:a="http://schemas.openxmlformats.org/drawingml/2006/main">
              <a:ext uri="{FF2B5EF4-FFF2-40B4-BE49-F238E27FC236}">
                <a16:creationId xmlns:a16="http://schemas.microsoft.com/office/drawing/2014/main" id="{2598151A-3E80-4217-8640-258C86DE39C8}"/>
              </a:ext>
            </a:extLst>
          </p:cNvPr>
          <p:cNvSpPr>
            <a:spLocks xmlns:a="http://schemas.openxmlformats.org/drawingml/2006/main" noGrp="1"/>
          </p:cNvSpPr>
          <p:nvPr/>
        </p:nvSpPr>
        <p:spPr>
          <a:xfrm xmlns:a="http://schemas.openxmlformats.org/drawingml/2006/main">
            <a:off x="6705600" y="2171700"/>
            <a:ext cx="17145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LIVE OUTPUT</a:t>
            </a:r>
          </a:p>
        </p:txBody>
      </p:sp>
      <p:sp>
        <p:nvSpPr>
          <p:cNvPr id="12" name="s4-o1a">
            <a:extLst xmlns:a="http://schemas.openxmlformats.org/drawingml/2006/main">
              <a:ext uri="{FF2B5EF4-FFF2-40B4-BE49-F238E27FC236}">
                <a16:creationId xmlns:a16="http://schemas.microsoft.com/office/drawing/2014/main" id="{A29E7C8D-D00C-46E3-9184-C28CB934BFFB}"/>
              </a:ext>
            </a:extLst>
          </p:cNvPr>
          <p:cNvSpPr>
            <a:spLocks xmlns:a="http://schemas.openxmlformats.org/drawingml/2006/main" noGrp="1"/>
          </p:cNvSpPr>
          <p:nvPr/>
        </p:nvSpPr>
        <p:spPr>
          <a:xfrm xmlns:a="http://schemas.openxmlformats.org/drawingml/2006/main">
            <a:off x="6705600" y="262890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Mode</a:t>
            </a:r>
          </a:p>
        </p:txBody>
      </p:sp>
      <p:sp>
        <p:nvSpPr>
          <p:cNvPr id="13" name="s4-o1b">
            <a:extLst xmlns:a="http://schemas.openxmlformats.org/drawingml/2006/main">
              <a:ext uri="{FF2B5EF4-FFF2-40B4-BE49-F238E27FC236}">
                <a16:creationId xmlns:a16="http://schemas.microsoft.com/office/drawing/2014/main" id="{07055947-98F9-42C7-B338-46C7074BCBD4}"/>
              </a:ext>
            </a:extLst>
          </p:cNvPr>
          <p:cNvSpPr>
            <a:spLocks xmlns:a="http://schemas.openxmlformats.org/drawingml/2006/main" noGrp="1"/>
          </p:cNvSpPr>
          <p:nvPr/>
        </p:nvSpPr>
        <p:spPr>
          <a:xfrm xmlns:a="http://schemas.openxmlformats.org/drawingml/2006/main">
            <a:off x="8420100" y="26289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guarded-memory-palace</a:t>
            </a:r>
          </a:p>
        </p:txBody>
      </p:sp>
      <p:sp>
        <p:nvSpPr>
          <p:cNvPr id="14" name="s4-o2a">
            <a:extLst xmlns:a="http://schemas.openxmlformats.org/drawingml/2006/main">
              <a:ext uri="{FF2B5EF4-FFF2-40B4-BE49-F238E27FC236}">
                <a16:creationId xmlns:a16="http://schemas.microsoft.com/office/drawing/2014/main" id="{38464C8B-33B3-4151-926C-7563A89E7171}"/>
              </a:ext>
            </a:extLst>
          </p:cNvPr>
          <p:cNvSpPr>
            <a:spLocks xmlns:a="http://schemas.openxmlformats.org/drawingml/2006/main" noGrp="1"/>
          </p:cNvSpPr>
          <p:nvPr/>
        </p:nvSpPr>
        <p:spPr>
          <a:xfrm xmlns:a="http://schemas.openxmlformats.org/drawingml/2006/main">
            <a:off x="6705600" y="305752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Route confidence</a:t>
            </a:r>
          </a:p>
        </p:txBody>
      </p:sp>
      <p:sp>
        <p:nvSpPr>
          <p:cNvPr id="15" name="s4-o2b">
            <a:extLst xmlns:a="http://schemas.openxmlformats.org/drawingml/2006/main">
              <a:ext uri="{FF2B5EF4-FFF2-40B4-BE49-F238E27FC236}">
                <a16:creationId xmlns:a16="http://schemas.microsoft.com/office/drawing/2014/main" id="{56FBD222-F395-450D-90FC-AF2B34C53B80}"/>
              </a:ext>
            </a:extLst>
          </p:cNvPr>
          <p:cNvSpPr>
            <a:spLocks xmlns:a="http://schemas.openxmlformats.org/drawingml/2006/main" noGrp="1"/>
          </p:cNvSpPr>
          <p:nvPr/>
        </p:nvSpPr>
        <p:spPr>
          <a:xfrm xmlns:a="http://schemas.openxmlformats.org/drawingml/2006/main">
            <a:off x="8420100" y="3057525"/>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3B7D5"/>
                </a:solidFill>
                <a:latin typeface="Consolas"/>
                <a:ea typeface="Consolas"/>
                <a:cs typeface="Consolas"/>
              </a:defRPr>
            </a:pPr>
            <a:r>
              <a:t>0.81</a:t>
            </a:r>
          </a:p>
        </p:txBody>
      </p:sp>
      <p:sp>
        <p:nvSpPr>
          <p:cNvPr id="16" name="s4-o3a">
            <a:extLst xmlns:a="http://schemas.openxmlformats.org/drawingml/2006/main">
              <a:ext uri="{FF2B5EF4-FFF2-40B4-BE49-F238E27FC236}">
                <a16:creationId xmlns:a16="http://schemas.microsoft.com/office/drawing/2014/main" id="{D28C729E-A652-446C-8BAA-F9F8919FC6B1}"/>
              </a:ext>
            </a:extLst>
          </p:cNvPr>
          <p:cNvSpPr>
            <a:spLocks xmlns:a="http://schemas.openxmlformats.org/drawingml/2006/main" noGrp="1"/>
          </p:cNvSpPr>
          <p:nvPr/>
        </p:nvSpPr>
        <p:spPr>
          <a:xfrm xmlns:a="http://schemas.openxmlformats.org/drawingml/2006/main">
            <a:off x="6705600" y="3486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Payload</a:t>
            </a:r>
          </a:p>
        </p:txBody>
      </p:sp>
      <p:sp>
        <p:nvSpPr>
          <p:cNvPr id="17" name="s4-o3b">
            <a:extLst xmlns:a="http://schemas.openxmlformats.org/drawingml/2006/main">
              <a:ext uri="{FF2B5EF4-FFF2-40B4-BE49-F238E27FC236}">
                <a16:creationId xmlns:a16="http://schemas.microsoft.com/office/drawing/2014/main" id="{7585B819-1F57-4107-B332-A199D5959268}"/>
              </a:ext>
            </a:extLst>
          </p:cNvPr>
          <p:cNvSpPr>
            <a:spLocks xmlns:a="http://schemas.openxmlformats.org/drawingml/2006/main" noGrp="1"/>
          </p:cNvSpPr>
          <p:nvPr/>
        </p:nvSpPr>
        <p:spPr>
          <a:xfrm xmlns:a="http://schemas.openxmlformats.org/drawingml/2006/main">
            <a:off x="8420100" y="3486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1,165 est. tokens</a:t>
            </a:r>
          </a:p>
        </p:txBody>
      </p:sp>
      <p:sp>
        <p:nvSpPr>
          <p:cNvPr id="18" name="s4-o4a">
            <a:extLst xmlns:a="http://schemas.openxmlformats.org/drawingml/2006/main">
              <a:ext uri="{FF2B5EF4-FFF2-40B4-BE49-F238E27FC236}">
                <a16:creationId xmlns:a16="http://schemas.microsoft.com/office/drawing/2014/main" id="{F0476CD9-1824-491C-88BE-7AC6A267AAF9}"/>
              </a:ext>
            </a:extLst>
          </p:cNvPr>
          <p:cNvSpPr>
            <a:spLocks xmlns:a="http://schemas.openxmlformats.org/drawingml/2006/main" noGrp="1"/>
          </p:cNvSpPr>
          <p:nvPr/>
        </p:nvSpPr>
        <p:spPr>
          <a:xfrm xmlns:a="http://schemas.openxmlformats.org/drawingml/2006/main">
            <a:off x="6705600" y="391477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Primary</a:t>
            </a:r>
          </a:p>
        </p:txBody>
      </p:sp>
      <p:sp>
        <p:nvSpPr>
          <p:cNvPr id="19" name="s4-o4b">
            <a:extLst xmlns:a="http://schemas.openxmlformats.org/drawingml/2006/main">
              <a:ext uri="{FF2B5EF4-FFF2-40B4-BE49-F238E27FC236}">
                <a16:creationId xmlns:a16="http://schemas.microsoft.com/office/drawing/2014/main" id="{085E0D5B-759A-4666-8BE6-A56625F3BBD3}"/>
              </a:ext>
            </a:extLst>
          </p:cNvPr>
          <p:cNvSpPr>
            <a:spLocks xmlns:a="http://schemas.openxmlformats.org/drawingml/2006/main" noGrp="1"/>
          </p:cNvSpPr>
          <p:nvPr/>
        </p:nvSpPr>
        <p:spPr>
          <a:xfrm xmlns:a="http://schemas.openxmlformats.org/drawingml/2006/main">
            <a:off x="8420100" y="3914775"/>
            <a:ext cx="27622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FFFFFF"/>
                </a:solidFill>
                <a:latin typeface="Consolas"/>
                <a:ea typeface="Consolas"/>
                <a:cs typeface="Consolas"/>
              </a:defRPr>
            </a:pPr>
            <a:r>
              <a:t>context-packer.ts
mode-selector.ts</a:t>
            </a:r>
          </a:p>
        </p:txBody>
      </p:sp>
      <p:sp>
        <p:nvSpPr>
          <p:cNvPr id="20" name="s4-o5a">
            <a:extLst xmlns:a="http://schemas.openxmlformats.org/drawingml/2006/main">
              <a:ext uri="{FF2B5EF4-FFF2-40B4-BE49-F238E27FC236}">
                <a16:creationId xmlns:a16="http://schemas.microsoft.com/office/drawing/2014/main" id="{67787E63-724E-4BF9-B908-42A053AAF52F}"/>
              </a:ext>
            </a:extLst>
          </p:cNvPr>
          <p:cNvSpPr>
            <a:spLocks xmlns:a="http://schemas.openxmlformats.org/drawingml/2006/main" noGrp="1"/>
          </p:cNvSpPr>
          <p:nvPr/>
        </p:nvSpPr>
        <p:spPr>
          <a:xfrm xmlns:a="http://schemas.openxmlformats.org/drawingml/2006/main">
            <a:off x="6705600" y="46291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9CB0C8"/>
                </a:solidFill>
                <a:latin typeface="Consolas"/>
                <a:ea typeface="Consolas"/>
                <a:cs typeface="Consolas"/>
              </a:defRPr>
            </a:pPr>
            <a:r>
              <a:t>Memory</a:t>
            </a:r>
          </a:p>
        </p:txBody>
      </p:sp>
      <p:sp>
        <p:nvSpPr>
          <p:cNvPr id="21" name="s4-o5b">
            <a:extLst xmlns:a="http://schemas.openxmlformats.org/drawingml/2006/main">
              <a:ext uri="{FF2B5EF4-FFF2-40B4-BE49-F238E27FC236}">
                <a16:creationId xmlns:a16="http://schemas.microsoft.com/office/drawing/2014/main" id="{96D4FB6F-01D1-43AD-B8DC-D9940E2E9F0D}"/>
              </a:ext>
            </a:extLst>
          </p:cNvPr>
          <p:cNvSpPr>
            <a:spLocks xmlns:a="http://schemas.openxmlformats.org/drawingml/2006/main" noGrp="1"/>
          </p:cNvSpPr>
          <p:nvPr/>
        </p:nvSpPr>
        <p:spPr>
          <a:xfrm xmlns:a="http://schemas.openxmlformats.org/drawingml/2006/main">
            <a:off x="8420100" y="462915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5A777"/>
                </a:solidFill>
                <a:latin typeface="Consolas"/>
                <a:ea typeface="Consolas"/>
                <a:cs typeface="Consolas"/>
              </a:defRPr>
            </a:pPr>
            <a:r>
              <a:t>3 items + 1 guardrail</a:t>
            </a:r>
          </a:p>
        </p:txBody>
      </p:sp>
      <p:sp>
        <p:nvSpPr>
          <p:cNvPr id="22" name="s4-output-note">
            <a:extLst xmlns:a="http://schemas.openxmlformats.org/drawingml/2006/main">
              <a:ext uri="{FF2B5EF4-FFF2-40B4-BE49-F238E27FC236}">
                <a16:creationId xmlns:a16="http://schemas.microsoft.com/office/drawing/2014/main" id="{0B2D0E63-0919-4B9B-93C7-A89418AE2079}"/>
              </a:ext>
            </a:extLst>
          </p:cNvPr>
          <p:cNvSpPr>
            <a:spLocks xmlns:a="http://schemas.openxmlformats.org/drawingml/2006/main" noGrp="1"/>
          </p:cNvSpPr>
          <p:nvPr/>
        </p:nvSpPr>
        <p:spPr>
          <a:xfrm xmlns:a="http://schemas.openxmlformats.org/drawingml/2006/main">
            <a:off x="6705600" y="5219700"/>
            <a:ext cx="44386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9CC8FF"/>
                </a:solidFill>
                <a:latin typeface="Arial"/>
                <a:ea typeface="Arial"/>
                <a:cs typeface="Arial"/>
              </a:defRPr>
            </a:pPr>
            <a:r>
              <a:t>Primary files first. Supporting context stays bounded.</a:t>
            </a:r>
          </a:p>
        </p:txBody>
      </p:sp>
      <p:cxnSp>
        <p:nvCxnSpPr>
          <p:cNvPr id="48" name="footer-rule-4"/>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4" name="footer-source-4">
            <a:extLst xmlns:a="http://schemas.openxmlformats.org/drawingml/2006/main">
              <a:ext uri="{FF2B5EF4-FFF2-40B4-BE49-F238E27FC236}">
                <a16:creationId xmlns:a16="http://schemas.microsoft.com/office/drawing/2014/main" id="{4B1DBCCD-4554-41B6-AFC2-8E2A2170885E}"/>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Live local CLI output captured 2026-07-19 · vertex-palace@0.2.3</a:t>
            </a:r>
          </a:p>
        </p:txBody>
      </p:sp>
      <p:sp>
        <p:nvSpPr>
          <p:cNvPr id="25" name="footer-number-4">
            <a:extLst xmlns:a="http://schemas.openxmlformats.org/drawingml/2006/main">
              <a:ext uri="{FF2B5EF4-FFF2-40B4-BE49-F238E27FC236}">
                <a16:creationId xmlns:a16="http://schemas.microsoft.com/office/drawing/2014/main" id="{DFB12422-7A05-4013-8D17-5A77AE96D17E}"/>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4</a:t>
            </a:r>
          </a:p>
        </p:txBody>
      </p:sp>
    </p:spTree>
    <p:extLst>
      <p:ext uri="{BB962C8B-B14F-4D97-AF65-F5344CB8AC3E}">
        <p14:creationId xmlns:p14="http://schemas.microsoft.com/office/powerpoint/2010/main" val="50399885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s5m-title">
            <a:extLst xmlns:a="http://schemas.openxmlformats.org/drawingml/2006/main">
              <a:ext uri="{FF2B5EF4-FFF2-40B4-BE49-F238E27FC236}">
                <a16:creationId xmlns:a16="http://schemas.microsoft.com/office/drawing/2014/main" id="{79DDA238-902A-46EF-A01D-3EBF58194B2C}"/>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 past lesson changed this deck before editing began.</a:t>
            </a:r>
          </a:p>
        </p:txBody>
      </p:sp>
      <p:sp>
        <p:nvSpPr>
          <p:cNvPr id="2" name="s5m-subtitle">
            <a:extLst xmlns:a="http://schemas.openxmlformats.org/drawingml/2006/main">
              <a:ext uri="{FF2B5EF4-FFF2-40B4-BE49-F238E27FC236}">
                <a16:creationId xmlns:a16="http://schemas.microsoft.com/office/drawing/2014/main" id="{1816813B-0C31-4ED3-9E36-4DDC8E618324}"/>
              </a:ext>
            </a:extLst>
          </p:cNvPr>
          <p:cNvSpPr>
            <a:spLocks xmlns:a="http://schemas.openxmlformats.org/drawingml/2006/main" noGrp="1"/>
          </p:cNvSpPr>
          <p:nvPr/>
        </p:nvSpPr>
        <p:spPr>
          <a:xfrm xmlns:a="http://schemas.openxmlformats.org/drawingml/2006/main">
            <a:off x="400050" y="1066800"/>
            <a:ext cx="10668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current task loaded a relevant project warning before the presentation was opened.</a:t>
            </a:r>
          </a:p>
        </p:txBody>
      </p:sp>
      <p:cxnSp>
        <p:nvCxnSpPr>
          <p:cNvPr id="35" name="s5m-arrow-1"/>
          <p:cNvCxnSpPr/>
          <p:nvPr/>
        </p:nvCxnSpPr>
        <p:spPr>
          <a:xfrm xmlns:a="http://schemas.openxmlformats.org/drawingml/2006/main">
            <a:off x="3200400" y="3219450"/>
            <a:ext cx="666750" cy="953"/>
          </a:xfrm>
          <a:prstGeom xmlns:a="http://schemas.openxmlformats.org/drawingml/2006/main" prst="straightConnector1">
            <a:avLst/>
          </a:prstGeom>
          <a:ln xmlns:a="http://schemas.openxmlformats.org/drawingml/2006/main" w="28575">
            <a:solidFill>
              <a:srgbClr val="B8BCC4"/>
            </a:solidFill>
            <a:prstDash val="solid"/>
          </a:ln>
        </p:spPr>
      </p:cxnSp>
      <p:cxnSp>
        <p:nvCxnSpPr>
          <p:cNvPr id="36" name="s5m-arrow-2"/>
          <p:cNvCxnSpPr/>
          <p:nvPr/>
        </p:nvCxnSpPr>
        <p:spPr>
          <a:xfrm xmlns:a="http://schemas.openxmlformats.org/drawingml/2006/main">
            <a:off x="8115300" y="3219450"/>
            <a:ext cx="666750" cy="953"/>
          </a:xfrm>
          <a:prstGeom xmlns:a="http://schemas.openxmlformats.org/drawingml/2006/main" prst="straightConnector1">
            <a:avLst/>
          </a:prstGeom>
          <a:ln xmlns:a="http://schemas.openxmlformats.org/drawingml/2006/main" w="28575">
            <a:solidFill>
              <a:srgbClr val="B8BCC4"/>
            </a:solidFill>
            <a:prstDash val="solid"/>
          </a:ln>
        </p:spPr>
      </p:cxnSp>
      <p:sp>
        <p:nvSpPr>
          <p:cNvPr id="5" name="s5m-task-k">
            <a:extLst xmlns:a="http://schemas.openxmlformats.org/drawingml/2006/main">
              <a:ext uri="{FF2B5EF4-FFF2-40B4-BE49-F238E27FC236}">
                <a16:creationId xmlns:a16="http://schemas.microsoft.com/office/drawing/2014/main" id="{3BD8D414-3A59-4E0A-B00F-9E64AD8D7246}"/>
              </a:ext>
            </a:extLst>
          </p:cNvPr>
          <p:cNvSpPr>
            <a:spLocks xmlns:a="http://schemas.openxmlformats.org/drawingml/2006/main" noGrp="1"/>
          </p:cNvSpPr>
          <p:nvPr/>
        </p:nvSpPr>
        <p:spPr>
          <a:xfrm xmlns:a="http://schemas.openxmlformats.org/drawingml/2006/main">
            <a:off x="552450" y="1790700"/>
            <a:ext cx="24003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3B7D5"/>
                </a:solidFill>
                <a:latin typeface="Arial"/>
                <a:ea typeface="Arial"/>
                <a:cs typeface="Arial"/>
              </a:defRPr>
            </a:pPr>
            <a:r>
              <a:t>CURRENT TASK</a:t>
            </a:r>
          </a:p>
        </p:txBody>
      </p:sp>
      <p:sp>
        <p:nvSpPr>
          <p:cNvPr id="6" name="s5m-task-v">
            <a:extLst xmlns:a="http://schemas.openxmlformats.org/drawingml/2006/main">
              <a:ext uri="{FF2B5EF4-FFF2-40B4-BE49-F238E27FC236}">
                <a16:creationId xmlns:a16="http://schemas.microsoft.com/office/drawing/2014/main" id="{7A4C9C26-5FFC-4D00-97A9-5CF1D0B74DA8}"/>
              </a:ext>
            </a:extLst>
          </p:cNvPr>
          <p:cNvSpPr>
            <a:spLocks xmlns:a="http://schemas.openxmlformats.org/drawingml/2006/main" noGrp="1"/>
          </p:cNvSpPr>
          <p:nvPr/>
        </p:nvSpPr>
        <p:spPr>
          <a:xfrm xmlns:a="http://schemas.openxmlformats.org/drawingml/2006/main">
            <a:off x="552450" y="2209800"/>
            <a:ext cx="2609850" cy="1104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0A1224"/>
                </a:solidFill>
                <a:latin typeface="Arial"/>
                <a:ea typeface="Arial"/>
                <a:cs typeface="Arial"/>
              </a:defRPr>
            </a:pPr>
            <a:r>
              <a:t>Why doesn't the deck show Palace's real value?</a:t>
            </a:r>
          </a:p>
        </p:txBody>
      </p:sp>
      <p:sp>
        <p:nvSpPr>
          <p:cNvPr id="7" name="s5m-task-mode">
            <a:extLst xmlns:a="http://schemas.openxmlformats.org/drawingml/2006/main">
              <a:ext uri="{FF2B5EF4-FFF2-40B4-BE49-F238E27FC236}">
                <a16:creationId xmlns:a16="http://schemas.microsoft.com/office/drawing/2014/main" id="{7079B261-BDA5-465E-A36C-D6A45CFB9CC2}"/>
              </a:ext>
            </a:extLst>
          </p:cNvPr>
          <p:cNvSpPr>
            <a:spLocks xmlns:a="http://schemas.openxmlformats.org/drawingml/2006/main" noGrp="1"/>
          </p:cNvSpPr>
          <p:nvPr/>
        </p:nvSpPr>
        <p:spPr>
          <a:xfrm xmlns:a="http://schemas.openxmlformats.org/drawingml/2006/main">
            <a:off x="552450" y="3638550"/>
            <a:ext cx="260985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Consolas"/>
                <a:ea typeface="Consolas"/>
                <a:cs typeface="Consolas"/>
              </a:defRPr>
            </a:pPr>
            <a:r>
              <a:t>Mode selected:
guarded-memory-palace</a:t>
            </a:r>
          </a:p>
        </p:txBody>
      </p:sp>
      <p:sp>
        <p:nvSpPr>
          <p:cNvPr id="8" name="s5m-board">
            <a:extLst xmlns:a="http://schemas.openxmlformats.org/drawingml/2006/main">
              <a:ext uri="{FF2B5EF4-FFF2-40B4-BE49-F238E27FC236}">
                <a16:creationId xmlns:a16="http://schemas.microsoft.com/office/drawing/2014/main" id="{D2513AA0-9D8B-4FBD-913F-FED329A95743}"/>
              </a:ext>
            </a:extLst>
          </p:cNvPr>
          <p:cNvSpPr>
            <a:spLocks xmlns:a="http://schemas.openxmlformats.org/drawingml/2006/main" noGrp="1"/>
          </p:cNvSpPr>
          <p:nvPr/>
        </p:nvSpPr>
        <p:spPr>
          <a:xfrm xmlns:a="http://schemas.openxmlformats.org/drawingml/2006/main">
            <a:off x="3867150" y="1676400"/>
            <a:ext cx="4248150" cy="3390900"/>
          </a:xfrm>
          <a:prstGeom xmlns:a="http://schemas.openxmlformats.org/drawingml/2006/main" prst="roundRect">
            <a:avLst>
              <a:gd name="adj" fmla="val 2247"/>
            </a:avLst>
          </a:prstGeom>
          <a:solidFill xmlns:a="http://schemas.openxmlformats.org/drawingml/2006/main">
            <a:srgbClr val="061B3D"/>
          </a:solidFill>
          <a:ln xmlns:a="http://schemas.openxmlformats.org/drawingml/2006/main" w="9525">
            <a:solidFill>
              <a:srgbClr val="0B2B56"/>
            </a:solidFill>
            <a:prstDash val="solid"/>
          </a:ln>
        </p:spPr>
      </p:sp>
      <p:sp>
        <p:nvSpPr>
          <p:cNvPr id="9" name="s5m-board-k">
            <a:extLst xmlns:a="http://schemas.openxmlformats.org/drawingml/2006/main">
              <a:ext uri="{FF2B5EF4-FFF2-40B4-BE49-F238E27FC236}">
                <a16:creationId xmlns:a16="http://schemas.microsoft.com/office/drawing/2014/main" id="{5070F403-2927-48F1-B64F-3AF0C715402F}"/>
              </a:ext>
            </a:extLst>
          </p:cNvPr>
          <p:cNvSpPr>
            <a:spLocks xmlns:a="http://schemas.openxmlformats.org/drawingml/2006/main" noGrp="1"/>
          </p:cNvSpPr>
          <p:nvPr/>
        </p:nvSpPr>
        <p:spPr>
          <a:xfrm xmlns:a="http://schemas.openxmlformats.org/drawingml/2006/main">
            <a:off x="4171950" y="1981200"/>
            <a:ext cx="36385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3B7D5"/>
                </a:solidFill>
                <a:latin typeface="Arial"/>
                <a:ea typeface="Arial"/>
                <a:cs typeface="Arial"/>
              </a:defRPr>
            </a:pPr>
            <a:r>
              <a:t>ENTRANCE PITFALL BOARD</a:t>
            </a:r>
          </a:p>
        </p:txBody>
      </p:sp>
      <p:sp>
        <p:nvSpPr>
          <p:cNvPr id="10" name="s5m-board-v1">
            <a:extLst xmlns:a="http://schemas.openxmlformats.org/drawingml/2006/main">
              <a:ext uri="{FF2B5EF4-FFF2-40B4-BE49-F238E27FC236}">
                <a16:creationId xmlns:a16="http://schemas.microsoft.com/office/drawing/2014/main" id="{0AE6384D-8E0D-483D-8312-941A971DBFD6}"/>
              </a:ext>
            </a:extLst>
          </p:cNvPr>
          <p:cNvSpPr>
            <a:spLocks xmlns:a="http://schemas.openxmlformats.org/drawingml/2006/main" noGrp="1"/>
          </p:cNvSpPr>
          <p:nvPr/>
        </p:nvSpPr>
        <p:spPr>
          <a:xfrm xmlns:a="http://schemas.openxmlformats.org/drawingml/2006/main">
            <a:off x="4171950" y="2476500"/>
            <a:ext cx="3638550" cy="8001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FFFFFF"/>
                </a:solidFill>
                <a:latin typeface="Arial"/>
                <a:ea typeface="Arial"/>
                <a:cs typeface="Arial"/>
              </a:defRPr>
            </a:pPr>
            <a:r>
              <a:t>Do not present the Adaptive - Codex overhead chart by itself.</a:t>
            </a:r>
          </a:p>
        </p:txBody>
      </p:sp>
      <p:sp>
        <p:nvSpPr>
          <p:cNvPr id="11" name="s5m-board-v2">
            <a:extLst xmlns:a="http://schemas.openxmlformats.org/drawingml/2006/main">
              <a:ext uri="{FF2B5EF4-FFF2-40B4-BE49-F238E27FC236}">
                <a16:creationId xmlns:a16="http://schemas.microsoft.com/office/drawing/2014/main" id="{A248C396-F8BA-48CA-8FD5-4AEF8F03FA21}"/>
              </a:ext>
            </a:extLst>
          </p:cNvPr>
          <p:cNvSpPr>
            <a:spLocks xmlns:a="http://schemas.openxmlformats.org/drawingml/2006/main" noGrp="1"/>
          </p:cNvSpPr>
          <p:nvPr/>
        </p:nvSpPr>
        <p:spPr>
          <a:xfrm xmlns:a="http://schemas.openxmlformats.org/drawingml/2006/main">
            <a:off x="4171950" y="3505200"/>
            <a:ext cx="363855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C8D8EA"/>
                </a:solidFill>
                <a:latin typeface="Arial"/>
                <a:ea typeface="Arial"/>
                <a:cs typeface="Arial"/>
              </a:defRPr>
            </a:pPr>
            <a:r>
              <a:t>Pair it with the selective-mode response and an explicit benchmark boundary.</a:t>
            </a:r>
          </a:p>
        </p:txBody>
      </p:sp>
      <p:sp>
        <p:nvSpPr>
          <p:cNvPr id="12" name="s5m-board-meta">
            <a:extLst xmlns:a="http://schemas.openxmlformats.org/drawingml/2006/main">
              <a:ext uri="{FF2B5EF4-FFF2-40B4-BE49-F238E27FC236}">
                <a16:creationId xmlns:a16="http://schemas.microsoft.com/office/drawing/2014/main" id="{5CE1614F-A1B6-49BE-A8FE-DC9343CA2A97}"/>
              </a:ext>
            </a:extLst>
          </p:cNvPr>
          <p:cNvSpPr>
            <a:spLocks xmlns:a="http://schemas.openxmlformats.org/drawingml/2006/main" noGrp="1"/>
          </p:cNvSpPr>
          <p:nvPr/>
        </p:nvSpPr>
        <p:spPr>
          <a:xfrm xmlns:a="http://schemas.openxmlformats.org/drawingml/2006/main">
            <a:off x="4171950" y="4533900"/>
            <a:ext cx="36385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15A777"/>
                </a:solidFill>
                <a:latin typeface="Consolas"/>
                <a:ea typeface="Consolas"/>
                <a:cs typeface="Consolas"/>
              </a:defRPr>
            </a:pPr>
            <a:r>
              <a:t>scope: project   age: 0d   current code first</a:t>
            </a:r>
          </a:p>
        </p:txBody>
      </p:sp>
      <p:sp>
        <p:nvSpPr>
          <p:cNvPr id="13" name="s5m-change-k">
            <a:extLst xmlns:a="http://schemas.openxmlformats.org/drawingml/2006/main">
              <a:ext uri="{FF2B5EF4-FFF2-40B4-BE49-F238E27FC236}">
                <a16:creationId xmlns:a16="http://schemas.microsoft.com/office/drawing/2014/main" id="{C8CBADEE-D721-41E0-B33E-A57936B66C42}"/>
              </a:ext>
            </a:extLst>
          </p:cNvPr>
          <p:cNvSpPr>
            <a:spLocks xmlns:a="http://schemas.openxmlformats.org/drawingml/2006/main" noGrp="1"/>
          </p:cNvSpPr>
          <p:nvPr/>
        </p:nvSpPr>
        <p:spPr>
          <a:xfrm xmlns:a="http://schemas.openxmlformats.org/drawingml/2006/main">
            <a:off x="8782050" y="1790700"/>
            <a:ext cx="2571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5A777"/>
                </a:solidFill>
                <a:latin typeface="Arial"/>
                <a:ea typeface="Arial"/>
                <a:cs typeface="Arial"/>
              </a:defRPr>
            </a:pPr>
            <a:r>
              <a:t>WHAT CHANGED</a:t>
            </a:r>
          </a:p>
        </p:txBody>
      </p:sp>
      <p:sp>
        <p:nvSpPr>
          <p:cNvPr id="14" name="s5m-n1">
            <a:extLst xmlns:a="http://schemas.openxmlformats.org/drawingml/2006/main">
              <a:ext uri="{FF2B5EF4-FFF2-40B4-BE49-F238E27FC236}">
                <a16:creationId xmlns:a16="http://schemas.microsoft.com/office/drawing/2014/main" id="{597324AD-B32D-44F3-B12A-1D7FE4690D62}"/>
              </a:ext>
            </a:extLst>
          </p:cNvPr>
          <p:cNvSpPr>
            <a:spLocks xmlns:a="http://schemas.openxmlformats.org/drawingml/2006/main" noGrp="1"/>
          </p:cNvSpPr>
          <p:nvPr/>
        </p:nvSpPr>
        <p:spPr>
          <a:xfrm xmlns:a="http://schemas.openxmlformats.org/drawingml/2006/main">
            <a:off x="8782050" y="2305050"/>
            <a:ext cx="285750" cy="28575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15" name="s5m-n1t">
            <a:extLst xmlns:a="http://schemas.openxmlformats.org/drawingml/2006/main">
              <a:ext uri="{FF2B5EF4-FFF2-40B4-BE49-F238E27FC236}">
                <a16:creationId xmlns:a16="http://schemas.microsoft.com/office/drawing/2014/main" id="{E1F41B62-178A-43D4-B073-F99FD12A9656}"/>
              </a:ext>
            </a:extLst>
          </p:cNvPr>
          <p:cNvSpPr>
            <a:spLocks xmlns:a="http://schemas.openxmlformats.org/drawingml/2006/main" noGrp="1"/>
          </p:cNvSpPr>
          <p:nvPr/>
        </p:nvSpPr>
        <p:spPr>
          <a:xfrm xmlns:a="http://schemas.openxmlformats.org/drawingml/2006/main">
            <a:off x="8782050" y="2343150"/>
            <a:ext cx="285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00" b="1">
                <a:solidFill>
                  <a:srgbClr val="FFFFFF"/>
                </a:solidFill>
                <a:latin typeface="Arial"/>
                <a:ea typeface="Arial"/>
                <a:cs typeface="Arial"/>
              </a:defRPr>
            </a:pPr>
            <a:r>
              <a:t>1</a:t>
            </a:r>
          </a:p>
        </p:txBody>
      </p:sp>
      <p:sp>
        <p:nvSpPr>
          <p:cNvPr id="16" name="s5m-c1">
            <a:extLst xmlns:a="http://schemas.openxmlformats.org/drawingml/2006/main">
              <a:ext uri="{FF2B5EF4-FFF2-40B4-BE49-F238E27FC236}">
                <a16:creationId xmlns:a16="http://schemas.microsoft.com/office/drawing/2014/main" id="{380731FA-E085-491C-A920-AA5A8AA0B4C0}"/>
              </a:ext>
            </a:extLst>
          </p:cNvPr>
          <p:cNvSpPr>
            <a:spLocks xmlns:a="http://schemas.openxmlformats.org/drawingml/2006/main" noGrp="1"/>
          </p:cNvSpPr>
          <p:nvPr/>
        </p:nvSpPr>
        <p:spPr>
          <a:xfrm xmlns:a="http://schemas.openxmlformats.org/drawingml/2006/main">
            <a:off x="9239250" y="2247900"/>
            <a:ext cx="2286000" cy="552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Core value now comes before benchmark data.</a:t>
            </a:r>
          </a:p>
        </p:txBody>
      </p:sp>
      <p:sp>
        <p:nvSpPr>
          <p:cNvPr id="17" name="s5m-n2">
            <a:extLst xmlns:a="http://schemas.openxmlformats.org/drawingml/2006/main">
              <a:ext uri="{FF2B5EF4-FFF2-40B4-BE49-F238E27FC236}">
                <a16:creationId xmlns:a16="http://schemas.microsoft.com/office/drawing/2014/main" id="{FCCD7C77-C3E6-4473-9D18-BF401692FC8C}"/>
              </a:ext>
            </a:extLst>
          </p:cNvPr>
          <p:cNvSpPr>
            <a:spLocks xmlns:a="http://schemas.openxmlformats.org/drawingml/2006/main" noGrp="1"/>
          </p:cNvSpPr>
          <p:nvPr/>
        </p:nvSpPr>
        <p:spPr>
          <a:xfrm xmlns:a="http://schemas.openxmlformats.org/drawingml/2006/main">
            <a:off x="8782050" y="3105150"/>
            <a:ext cx="285750" cy="28575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8" name="s5m-n2t">
            <a:extLst xmlns:a="http://schemas.openxmlformats.org/drawingml/2006/main">
              <a:ext uri="{FF2B5EF4-FFF2-40B4-BE49-F238E27FC236}">
                <a16:creationId xmlns:a16="http://schemas.microsoft.com/office/drawing/2014/main" id="{A96C6311-4227-430D-B164-C2C943CA3F6D}"/>
              </a:ext>
            </a:extLst>
          </p:cNvPr>
          <p:cNvSpPr>
            <a:spLocks xmlns:a="http://schemas.openxmlformats.org/drawingml/2006/main" noGrp="1"/>
          </p:cNvSpPr>
          <p:nvPr/>
        </p:nvSpPr>
        <p:spPr>
          <a:xfrm xmlns:a="http://schemas.openxmlformats.org/drawingml/2006/main">
            <a:off x="8782050" y="3143250"/>
            <a:ext cx="285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00" b="1">
                <a:solidFill>
                  <a:srgbClr val="FFFFFF"/>
                </a:solidFill>
                <a:latin typeface="Arial"/>
                <a:ea typeface="Arial"/>
                <a:cs typeface="Arial"/>
              </a:defRPr>
            </a:pPr>
            <a:r>
              <a:t>2</a:t>
            </a:r>
          </a:p>
        </p:txBody>
      </p:sp>
      <p:sp>
        <p:nvSpPr>
          <p:cNvPr id="19" name="s5m-c2">
            <a:extLst xmlns:a="http://schemas.openxmlformats.org/drawingml/2006/main">
              <a:ext uri="{FF2B5EF4-FFF2-40B4-BE49-F238E27FC236}">
                <a16:creationId xmlns:a16="http://schemas.microsoft.com/office/drawing/2014/main" id="{F7A95346-A9E5-42B1-9CE1-711ADE138164}"/>
              </a:ext>
            </a:extLst>
          </p:cNvPr>
          <p:cNvSpPr>
            <a:spLocks xmlns:a="http://schemas.openxmlformats.org/drawingml/2006/main" noGrp="1"/>
          </p:cNvSpPr>
          <p:nvPr/>
        </p:nvSpPr>
        <p:spPr>
          <a:xfrm xmlns:a="http://schemas.openxmlformats.org/drawingml/2006/main">
            <a:off x="9239250" y="3048000"/>
            <a:ext cx="2286000" cy="590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History and pitfall prevention become visible evidence.</a:t>
            </a:r>
          </a:p>
        </p:txBody>
      </p:sp>
      <p:sp>
        <p:nvSpPr>
          <p:cNvPr id="20" name="s5m-n3">
            <a:extLst xmlns:a="http://schemas.openxmlformats.org/drawingml/2006/main">
              <a:ext uri="{FF2B5EF4-FFF2-40B4-BE49-F238E27FC236}">
                <a16:creationId xmlns:a16="http://schemas.microsoft.com/office/drawing/2014/main" id="{4CB7ED83-DEEA-4369-B1B8-737A9293E364}"/>
              </a:ext>
            </a:extLst>
          </p:cNvPr>
          <p:cNvSpPr>
            <a:spLocks xmlns:a="http://schemas.openxmlformats.org/drawingml/2006/main" noGrp="1"/>
          </p:cNvSpPr>
          <p:nvPr/>
        </p:nvSpPr>
        <p:spPr>
          <a:xfrm xmlns:a="http://schemas.openxmlformats.org/drawingml/2006/main">
            <a:off x="8782050" y="3943350"/>
            <a:ext cx="285750" cy="28575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21" name="s5m-n3t">
            <a:extLst xmlns:a="http://schemas.openxmlformats.org/drawingml/2006/main">
              <a:ext uri="{FF2B5EF4-FFF2-40B4-BE49-F238E27FC236}">
                <a16:creationId xmlns:a16="http://schemas.microsoft.com/office/drawing/2014/main" id="{D1807BD2-60FD-4F8A-977C-10F6EA1AECE0}"/>
              </a:ext>
            </a:extLst>
          </p:cNvPr>
          <p:cNvSpPr>
            <a:spLocks xmlns:a="http://schemas.openxmlformats.org/drawingml/2006/main" noGrp="1"/>
          </p:cNvSpPr>
          <p:nvPr/>
        </p:nvSpPr>
        <p:spPr>
          <a:xfrm xmlns:a="http://schemas.openxmlformats.org/drawingml/2006/main">
            <a:off x="8782050" y="3981450"/>
            <a:ext cx="285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200" b="1">
                <a:solidFill>
                  <a:srgbClr val="FFFFFF"/>
                </a:solidFill>
                <a:latin typeface="Arial"/>
                <a:ea typeface="Arial"/>
                <a:cs typeface="Arial"/>
              </a:defRPr>
            </a:pPr>
            <a:r>
              <a:t>3</a:t>
            </a:r>
          </a:p>
        </p:txBody>
      </p:sp>
      <p:sp>
        <p:nvSpPr>
          <p:cNvPr id="22" name="s5m-c3">
            <a:extLst xmlns:a="http://schemas.openxmlformats.org/drawingml/2006/main">
              <a:ext uri="{FF2B5EF4-FFF2-40B4-BE49-F238E27FC236}">
                <a16:creationId xmlns:a16="http://schemas.microsoft.com/office/drawing/2014/main" id="{B6BE5452-BF7D-4B84-9B90-0AC1F60CDCAF}"/>
              </a:ext>
            </a:extLst>
          </p:cNvPr>
          <p:cNvSpPr>
            <a:spLocks xmlns:a="http://schemas.openxmlformats.org/drawingml/2006/main" noGrp="1"/>
          </p:cNvSpPr>
          <p:nvPr/>
        </p:nvSpPr>
        <p:spPr>
          <a:xfrm xmlns:a="http://schemas.openxmlformats.org/drawingml/2006/main">
            <a:off x="9239250" y="3886200"/>
            <a:ext cx="2286000" cy="590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1">
                <a:solidFill>
                  <a:srgbClr val="0A1224"/>
                </a:solidFill>
                <a:latin typeface="Arial"/>
                <a:ea typeface="Arial"/>
                <a:cs typeface="Arial"/>
              </a:defRPr>
            </a:pPr>
            <a:r>
              <a:t>A/B results stay as a boundary, not the product verdict.</a:t>
            </a:r>
          </a:p>
        </p:txBody>
      </p:sp>
      <p:sp>
        <p:nvSpPr>
          <p:cNvPr id="23" name="s5m-strip">
            <a:extLst xmlns:a="http://schemas.openxmlformats.org/drawingml/2006/main">
              <a:ext uri="{FF2B5EF4-FFF2-40B4-BE49-F238E27FC236}">
                <a16:creationId xmlns:a16="http://schemas.microsoft.com/office/drawing/2014/main" id="{5D79B1C1-F985-4DA7-9CDA-6F3C40A5C238}"/>
              </a:ext>
            </a:extLst>
          </p:cNvPr>
          <p:cNvSpPr>
            <a:spLocks xmlns:a="http://schemas.openxmlformats.org/drawingml/2006/main" noGrp="1"/>
          </p:cNvSpPr>
          <p:nvPr/>
        </p:nvSpPr>
        <p:spPr>
          <a:xfrm xmlns:a="http://schemas.openxmlformats.org/drawingml/2006/main">
            <a:off x="552450" y="5334000"/>
            <a:ext cx="10972800" cy="590550"/>
          </a:xfrm>
          <a:prstGeom xmlns:a="http://schemas.openxmlformats.org/drawingml/2006/main" prst="rect">
            <a:avLst/>
          </a:prstGeom>
          <a:solidFill xmlns:a="http://schemas.openxmlformats.org/drawingml/2006/main">
            <a:srgbClr val="EDEFF3"/>
          </a:solidFill>
          <a:ln xmlns:a="http://schemas.openxmlformats.org/drawingml/2006/main" w="0">
            <a:solidFill>
              <a:srgbClr val="EDEFF3"/>
            </a:solidFill>
            <a:prstDash val="solid"/>
          </a:ln>
        </p:spPr>
      </p:sp>
      <p:sp>
        <p:nvSpPr>
          <p:cNvPr id="24" name="s5m-flow-a">
            <a:extLst xmlns:a="http://schemas.openxmlformats.org/drawingml/2006/main">
              <a:ext uri="{FF2B5EF4-FFF2-40B4-BE49-F238E27FC236}">
                <a16:creationId xmlns:a16="http://schemas.microsoft.com/office/drawing/2014/main" id="{6662FFB1-BE17-4784-9209-233756AE3721}"/>
              </a:ext>
            </a:extLst>
          </p:cNvPr>
          <p:cNvSpPr>
            <a:spLocks xmlns:a="http://schemas.openxmlformats.org/drawingml/2006/main" noGrp="1"/>
          </p:cNvSpPr>
          <p:nvPr/>
        </p:nvSpPr>
        <p:spPr>
          <a:xfrm xmlns:a="http://schemas.openxmlformats.org/drawingml/2006/main">
            <a:off x="781050" y="5514975"/>
            <a:ext cx="15240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7438F5"/>
                </a:solidFill>
                <a:latin typeface="Arial"/>
                <a:ea typeface="Arial"/>
                <a:cs typeface="Arial"/>
              </a:defRPr>
            </a:pPr>
            <a:r>
              <a:t>PAST TASK</a:t>
            </a:r>
          </a:p>
        </p:txBody>
      </p:sp>
      <p:sp>
        <p:nvSpPr>
          <p:cNvPr id="25" name="s5m-flow-a2">
            <a:extLst xmlns:a="http://schemas.openxmlformats.org/drawingml/2006/main">
              <a:ext uri="{FF2B5EF4-FFF2-40B4-BE49-F238E27FC236}">
                <a16:creationId xmlns:a16="http://schemas.microsoft.com/office/drawing/2014/main" id="{9E4AAC04-C345-4C4F-BA7E-E977902437DE}"/>
              </a:ext>
            </a:extLst>
          </p:cNvPr>
          <p:cNvSpPr>
            <a:spLocks xmlns:a="http://schemas.openxmlformats.org/drawingml/2006/main" noGrp="1"/>
          </p:cNvSpPr>
          <p:nvPr/>
        </p:nvSpPr>
        <p:spPr>
          <a:xfrm xmlns:a="http://schemas.openxmlformats.org/drawingml/2006/main">
            <a:off x="2400300" y="5514975"/>
            <a:ext cx="3810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526071"/>
                </a:solidFill>
                <a:latin typeface="Consolas"/>
                <a:ea typeface="Consolas"/>
                <a:cs typeface="Consolas"/>
              </a:defRPr>
            </a:pPr>
            <a:r>
              <a:t>-&gt;</a:t>
            </a:r>
          </a:p>
        </p:txBody>
      </p:sp>
      <p:sp>
        <p:nvSpPr>
          <p:cNvPr id="26" name="s5m-flow-b">
            <a:extLst xmlns:a="http://schemas.openxmlformats.org/drawingml/2006/main">
              <a:ext uri="{FF2B5EF4-FFF2-40B4-BE49-F238E27FC236}">
                <a16:creationId xmlns:a16="http://schemas.microsoft.com/office/drawing/2014/main" id="{D0A2EA6C-09D5-424A-BFD6-FB550E834992}"/>
              </a:ext>
            </a:extLst>
          </p:cNvPr>
          <p:cNvSpPr>
            <a:spLocks xmlns:a="http://schemas.openxmlformats.org/drawingml/2006/main" noGrp="1"/>
          </p:cNvSpPr>
          <p:nvPr/>
        </p:nvSpPr>
        <p:spPr>
          <a:xfrm xmlns:a="http://schemas.openxmlformats.org/drawingml/2006/main">
            <a:off x="2952750" y="5514975"/>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RELEVANCE FILTER</a:t>
            </a:r>
          </a:p>
        </p:txBody>
      </p:sp>
      <p:sp>
        <p:nvSpPr>
          <p:cNvPr id="27" name="s5m-flow-b2">
            <a:extLst xmlns:a="http://schemas.openxmlformats.org/drawingml/2006/main">
              <a:ext uri="{FF2B5EF4-FFF2-40B4-BE49-F238E27FC236}">
                <a16:creationId xmlns:a16="http://schemas.microsoft.com/office/drawing/2014/main" id="{C93C2A62-DDB2-4C42-AE5B-089F7EFC0A5B}"/>
              </a:ext>
            </a:extLst>
          </p:cNvPr>
          <p:cNvSpPr>
            <a:spLocks xmlns:a="http://schemas.openxmlformats.org/drawingml/2006/main" noGrp="1"/>
          </p:cNvSpPr>
          <p:nvPr/>
        </p:nvSpPr>
        <p:spPr>
          <a:xfrm xmlns:a="http://schemas.openxmlformats.org/drawingml/2006/main">
            <a:off x="4914900" y="5514975"/>
            <a:ext cx="3810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526071"/>
                </a:solidFill>
                <a:latin typeface="Consolas"/>
                <a:ea typeface="Consolas"/>
                <a:cs typeface="Consolas"/>
              </a:defRPr>
            </a:pPr>
            <a:r>
              <a:t>-&gt;</a:t>
            </a:r>
          </a:p>
        </p:txBody>
      </p:sp>
      <p:sp>
        <p:nvSpPr>
          <p:cNvPr id="28" name="s5m-flow-c">
            <a:extLst xmlns:a="http://schemas.openxmlformats.org/drawingml/2006/main">
              <a:ext uri="{FF2B5EF4-FFF2-40B4-BE49-F238E27FC236}">
                <a16:creationId xmlns:a16="http://schemas.microsoft.com/office/drawing/2014/main" id="{D3E90C6D-11F7-47A0-8093-A1150101D59D}"/>
              </a:ext>
            </a:extLst>
          </p:cNvPr>
          <p:cNvSpPr>
            <a:spLocks xmlns:a="http://schemas.openxmlformats.org/drawingml/2006/main" noGrp="1"/>
          </p:cNvSpPr>
          <p:nvPr/>
        </p:nvSpPr>
        <p:spPr>
          <a:xfrm xmlns:a="http://schemas.openxmlformats.org/drawingml/2006/main">
            <a:off x="5467350" y="5514975"/>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5A777"/>
                </a:solidFill>
                <a:latin typeface="Arial"/>
                <a:ea typeface="Arial"/>
                <a:cs typeface="Arial"/>
              </a:defRPr>
            </a:pPr>
            <a:r>
              <a:t>NEXT TASK STARTS WITH THE LESSON</a:t>
            </a:r>
          </a:p>
        </p:txBody>
      </p:sp>
      <p:sp>
        <p:nvSpPr>
          <p:cNvPr id="29" name="s5m-flow-d">
            <a:extLst xmlns:a="http://schemas.openxmlformats.org/drawingml/2006/main">
              <a:ext uri="{FF2B5EF4-FFF2-40B4-BE49-F238E27FC236}">
                <a16:creationId xmlns:a16="http://schemas.microsoft.com/office/drawing/2014/main" id="{3E4881D9-09EB-4062-8B00-85D7607783D5}"/>
              </a:ext>
            </a:extLst>
          </p:cNvPr>
          <p:cNvSpPr>
            <a:spLocks xmlns:a="http://schemas.openxmlformats.org/drawingml/2006/main" noGrp="1"/>
          </p:cNvSpPr>
          <p:nvPr/>
        </p:nvSpPr>
        <p:spPr>
          <a:xfrm xmlns:a="http://schemas.openxmlformats.org/drawingml/2006/main">
            <a:off x="9144000" y="5514975"/>
            <a:ext cx="21526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1">
                <a:solidFill>
                  <a:srgbClr val="0A1224"/>
                </a:solidFill>
                <a:latin typeface="Arial"/>
                <a:ea typeface="Arial"/>
                <a:cs typeface="Arial"/>
              </a:defRPr>
            </a:pPr>
            <a:r>
              <a:t>Continuity, not a claimed speedup.</a:t>
            </a:r>
          </a:p>
        </p:txBody>
      </p:sp>
      <p:cxnSp>
        <p:nvCxnSpPr>
          <p:cNvPr id="62" name="footer-rule-5"/>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1" name="footer-source-5">
            <a:extLst xmlns:a="http://schemas.openxmlformats.org/drawingml/2006/main">
              <a:ext uri="{FF2B5EF4-FFF2-40B4-BE49-F238E27FC236}">
                <a16:creationId xmlns:a16="http://schemas.microsoft.com/office/drawing/2014/main" id="{B80F09C8-56E9-4EC4-8827-13C35D1EEF2F}"/>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Evidence: docs/research/DECK_MEMORY_CASE_2026-07-19.md | guarded memory selected before editing</a:t>
            </a:r>
          </a:p>
        </p:txBody>
      </p:sp>
      <p:sp>
        <p:nvSpPr>
          <p:cNvPr id="32" name="footer-number-5">
            <a:extLst xmlns:a="http://schemas.openxmlformats.org/drawingml/2006/main">
              <a:ext uri="{FF2B5EF4-FFF2-40B4-BE49-F238E27FC236}">
                <a16:creationId xmlns:a16="http://schemas.microsoft.com/office/drawing/2014/main" id="{A9E1A7DD-B3BF-48D1-B4C7-1404EE1905C4}"/>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5</a:t>
            </a:r>
          </a:p>
        </p:txBody>
      </p:sp>
    </p:spTree>
    <p:extLst>
      <p:ext uri="{BB962C8B-B14F-4D97-AF65-F5344CB8AC3E}">
        <p14:creationId xmlns:p14="http://schemas.microsoft.com/office/powerpoint/2010/main" val="18312726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5-title">
            <a:extLst xmlns:a="http://schemas.openxmlformats.org/drawingml/2006/main">
              <a:ext uri="{FF2B5EF4-FFF2-40B4-BE49-F238E27FC236}">
                <a16:creationId xmlns:a16="http://schemas.microsoft.com/office/drawing/2014/main" id="{E86B2D5E-5985-4BE1-9E51-04F757B34A90}"/>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Auditability means a route can fail in public.</a:t>
            </a:r>
          </a:p>
        </p:txBody>
      </p:sp>
      <p:sp>
        <p:nvSpPr>
          <p:cNvPr id="2" name="s5-subtitle">
            <a:extLst xmlns:a="http://schemas.openxmlformats.org/drawingml/2006/main">
              <a:ext uri="{FF2B5EF4-FFF2-40B4-BE49-F238E27FC236}">
                <a16:creationId xmlns:a16="http://schemas.microsoft.com/office/drawing/2014/main" id="{67362C1F-5B17-4E55-BD9C-36198A109E81}"/>
              </a:ext>
            </a:extLst>
          </p:cNvPr>
          <p:cNvSpPr>
            <a:spLocks xmlns:a="http://schemas.openxmlformats.org/drawingml/2006/main" noGrp="1"/>
          </p:cNvSpPr>
          <p:nvPr/>
        </p:nvSpPr>
        <p:spPr>
          <a:xfrm xmlns:a="http://schemas.openxmlformats.org/drawingml/2006/main">
            <a:off x="400050" y="1066800"/>
            <a:ext cx="10668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After this edit, the route matched 1 of 3 changed files and was labeled overconfident.</a:t>
            </a:r>
          </a:p>
        </p:txBody>
      </p:sp>
      <p:sp>
        <p:nvSpPr>
          <p:cNvPr id="3" name="s5-chart-label-pack">
            <a:extLst xmlns:a="http://schemas.openxmlformats.org/drawingml/2006/main">
              <a:ext uri="{FF2B5EF4-FFF2-40B4-BE49-F238E27FC236}">
                <a16:creationId xmlns:a16="http://schemas.microsoft.com/office/drawing/2014/main" id="{F411C2C6-D8CB-4942-972A-5894E81305DC}"/>
              </a:ext>
            </a:extLst>
          </p:cNvPr>
          <p:cNvSpPr>
            <a:spLocks xmlns:a="http://schemas.openxmlformats.org/drawingml/2006/main" noGrp="1"/>
          </p:cNvSpPr>
          <p:nvPr/>
        </p:nvSpPr>
        <p:spPr>
          <a:xfrm xmlns:a="http://schemas.openxmlformats.org/drawingml/2006/main">
            <a:off x="400050" y="27241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Context pack</a:t>
            </a:r>
          </a:p>
        </p:txBody>
      </p:sp>
      <p:sp>
        <p:nvSpPr>
          <p:cNvPr id="4" name="s5-chart-label-repo">
            <a:extLst xmlns:a="http://schemas.openxmlformats.org/drawingml/2006/main">
              <a:ext uri="{FF2B5EF4-FFF2-40B4-BE49-F238E27FC236}">
                <a16:creationId xmlns:a16="http://schemas.microsoft.com/office/drawing/2014/main" id="{32534B27-1ACB-4075-88E1-4E2FBA58E2FA}"/>
              </a:ext>
            </a:extLst>
          </p:cNvPr>
          <p:cNvSpPr>
            <a:spLocks xmlns:a="http://schemas.openxmlformats.org/drawingml/2006/main" noGrp="1"/>
          </p:cNvSpPr>
          <p:nvPr/>
        </p:nvSpPr>
        <p:spPr>
          <a:xfrm xmlns:a="http://schemas.openxmlformats.org/drawingml/2006/main">
            <a:off x="400050" y="4362450"/>
            <a:ext cx="1028700" cy="323850"/>
          </a:xfrm>
          <a:prstGeom xmlns:a="http://schemas.openxmlformats.org/drawingml/2006/main" prst="rect">
            <a:avLst/>
          </a:prstGeom>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526071"/>
                </a:solidFill>
                <a:latin typeface="Arial"/>
                <a:ea typeface="Arial"/>
                <a:cs typeface="Arial"/>
              </a:defRPr>
            </a:pPr>
            <a:r>
              <a:t>Indexed repo</a:t>
            </a:r>
          </a:p>
        </p:txBody>
      </p:sp>
      <p:sp>
        <p:nvSpPr>
          <p:cNvPr id="5" name="s5-stat1">
            <a:extLst xmlns:a="http://schemas.openxmlformats.org/drawingml/2006/main">
              <a:ext uri="{FF2B5EF4-FFF2-40B4-BE49-F238E27FC236}">
                <a16:creationId xmlns:a16="http://schemas.microsoft.com/office/drawing/2014/main" id="{A1E565DF-183C-400E-887B-DA527AA47720}"/>
              </a:ext>
            </a:extLst>
          </p:cNvPr>
          <p:cNvSpPr>
            <a:spLocks xmlns:a="http://schemas.openxmlformats.org/drawingml/2006/main" noGrp="1"/>
          </p:cNvSpPr>
          <p:nvPr/>
        </p:nvSpPr>
        <p:spPr>
          <a:xfrm xmlns:a="http://schemas.openxmlformats.org/drawingml/2006/main">
            <a:off x="7867650" y="1943100"/>
            <a:ext cx="3333750" cy="895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950" b="1">
                <a:solidFill>
                  <a:srgbClr val="D4515D"/>
                </a:solidFill>
                <a:latin typeface="Arial"/>
                <a:ea typeface="Arial"/>
                <a:cs typeface="Arial"/>
              </a:defRPr>
            </a:pPr>
            <a:r>
              <a:t>33%</a:t>
            </a:r>
          </a:p>
        </p:txBody>
      </p:sp>
      <p:sp>
        <p:nvSpPr>
          <p:cNvPr id="6" name="s5-stat1-label">
            <a:extLst xmlns:a="http://schemas.openxmlformats.org/drawingml/2006/main">
              <a:ext uri="{FF2B5EF4-FFF2-40B4-BE49-F238E27FC236}">
                <a16:creationId xmlns:a16="http://schemas.microsoft.com/office/drawing/2014/main" id="{4ECBB70F-15B1-4D80-9ED0-2FDDC1D3B64E}"/>
              </a:ext>
            </a:extLst>
          </p:cNvPr>
          <p:cNvSpPr>
            <a:spLocks xmlns:a="http://schemas.openxmlformats.org/drawingml/2006/main" noGrp="1"/>
          </p:cNvSpPr>
          <p:nvPr/>
        </p:nvSpPr>
        <p:spPr>
          <a:xfrm xmlns:a="http://schemas.openxmlformats.org/drawingml/2006/main">
            <a:off x="7905750" y="2838450"/>
            <a:ext cx="3333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0A1224"/>
                </a:solidFill>
                <a:latin typeface="Arial"/>
                <a:ea typeface="Arial"/>
                <a:cs typeface="Arial"/>
              </a:defRPr>
            </a:pPr>
            <a:r>
              <a:t>changed-file coverage</a:t>
            </a:r>
          </a:p>
        </p:txBody>
      </p:sp>
      <p:cxnSp>
        <p:nvCxnSpPr>
          <p:cNvPr id="25" name="s5-r1"/>
          <p:cNvCxnSpPr/>
          <p:nvPr/>
        </p:nvCxnSpPr>
        <p:spPr>
          <a:xfrm xmlns:a="http://schemas.openxmlformats.org/drawingml/2006/main">
            <a:off x="7867650" y="3371850"/>
            <a:ext cx="331470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5-stat2">
            <a:extLst xmlns:a="http://schemas.openxmlformats.org/drawingml/2006/main">
              <a:ext uri="{FF2B5EF4-FFF2-40B4-BE49-F238E27FC236}">
                <a16:creationId xmlns:a16="http://schemas.microsoft.com/office/drawing/2014/main" id="{985D1F80-E1EA-429E-A1F3-16332C44A95E}"/>
              </a:ext>
            </a:extLst>
          </p:cNvPr>
          <p:cNvSpPr>
            <a:spLocks xmlns:a="http://schemas.openxmlformats.org/drawingml/2006/main" noGrp="1"/>
          </p:cNvSpPr>
          <p:nvPr/>
        </p:nvSpPr>
        <p:spPr>
          <a:xfrm xmlns:a="http://schemas.openxmlformats.org/drawingml/2006/main">
            <a:off x="78676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677FF"/>
                </a:solidFill>
                <a:latin typeface="Arial"/>
                <a:ea typeface="Arial"/>
                <a:cs typeface="Arial"/>
              </a:defRPr>
            </a:pPr>
            <a:r>
              <a:t>10%</a:t>
            </a:r>
          </a:p>
        </p:txBody>
      </p:sp>
      <p:sp>
        <p:nvSpPr>
          <p:cNvPr id="9" name="s5-stat2-label">
            <a:extLst xmlns:a="http://schemas.openxmlformats.org/drawingml/2006/main">
              <a:ext uri="{FF2B5EF4-FFF2-40B4-BE49-F238E27FC236}">
                <a16:creationId xmlns:a16="http://schemas.microsoft.com/office/drawing/2014/main" id="{7169A63C-2861-4C7E-94BE-B1DDAC5890FA}"/>
              </a:ext>
            </a:extLst>
          </p:cNvPr>
          <p:cNvSpPr>
            <a:spLocks xmlns:a="http://schemas.openxmlformats.org/drawingml/2006/main" noGrp="1"/>
          </p:cNvSpPr>
          <p:nvPr/>
        </p:nvSpPr>
        <p:spPr>
          <a:xfrm xmlns:a="http://schemas.openxmlformats.org/drawingml/2006/main">
            <a:off x="78676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route focus</a:t>
            </a:r>
          </a:p>
        </p:txBody>
      </p:sp>
      <p:sp>
        <p:nvSpPr>
          <p:cNvPr id="10" name="s5-stat3">
            <a:extLst xmlns:a="http://schemas.openxmlformats.org/drawingml/2006/main">
              <a:ext uri="{FF2B5EF4-FFF2-40B4-BE49-F238E27FC236}">
                <a16:creationId xmlns:a16="http://schemas.microsoft.com/office/drawing/2014/main" id="{FDF3946D-BB62-4DF8-AB7C-F18FA2CE1D4A}"/>
              </a:ext>
            </a:extLst>
          </p:cNvPr>
          <p:cNvSpPr>
            <a:spLocks xmlns:a="http://schemas.openxmlformats.org/drawingml/2006/main" noGrp="1"/>
          </p:cNvSpPr>
          <p:nvPr/>
        </p:nvSpPr>
        <p:spPr>
          <a:xfrm xmlns:a="http://schemas.openxmlformats.org/drawingml/2006/main">
            <a:off x="9620250" y="3638550"/>
            <a:ext cx="1524000" cy="647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7438F5"/>
                </a:solidFill>
                <a:latin typeface="Arial"/>
                <a:ea typeface="Arial"/>
                <a:cs typeface="Arial"/>
              </a:defRPr>
            </a:pPr>
            <a:r>
              <a:t>0.78</a:t>
            </a:r>
          </a:p>
        </p:txBody>
      </p:sp>
      <p:sp>
        <p:nvSpPr>
          <p:cNvPr id="11" name="s5-stat3-label">
            <a:extLst xmlns:a="http://schemas.openxmlformats.org/drawingml/2006/main">
              <a:ext uri="{FF2B5EF4-FFF2-40B4-BE49-F238E27FC236}">
                <a16:creationId xmlns:a16="http://schemas.microsoft.com/office/drawing/2014/main" id="{5B6C3F4C-1262-4CD5-BF12-D8314691F1AF}"/>
              </a:ext>
            </a:extLst>
          </p:cNvPr>
          <p:cNvSpPr>
            <a:spLocks xmlns:a="http://schemas.openxmlformats.org/drawingml/2006/main" noGrp="1"/>
          </p:cNvSpPr>
          <p:nvPr/>
        </p:nvSpPr>
        <p:spPr>
          <a:xfrm xmlns:a="http://schemas.openxmlformats.org/drawingml/2006/main">
            <a:off x="9620250" y="4295775"/>
            <a:ext cx="1619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confidence</a:t>
            </a:r>
          </a:p>
        </p:txBody>
      </p:sp>
      <p:sp>
        <p:nvSpPr>
          <p:cNvPr id="12" name="s5-explain">
            <a:extLst xmlns:a="http://schemas.openxmlformats.org/drawingml/2006/main">
              <a:ext uri="{FF2B5EF4-FFF2-40B4-BE49-F238E27FC236}">
                <a16:creationId xmlns:a16="http://schemas.microsoft.com/office/drawing/2014/main" id="{085C62FD-8AAD-4B07-B178-FF0674C4875A}"/>
              </a:ext>
            </a:extLst>
          </p:cNvPr>
          <p:cNvSpPr>
            <a:spLocks xmlns:a="http://schemas.openxmlformats.org/drawingml/2006/main" noGrp="1"/>
          </p:cNvSpPr>
          <p:nvPr/>
        </p:nvSpPr>
        <p:spPr>
          <a:xfrm xmlns:a="http://schemas.openxmlformats.org/drawingml/2006/main">
            <a:off x="7867650" y="4838700"/>
            <a:ext cx="3333750" cy="590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It found the deck document but missed the new research note and binary PPTX.</a:t>
            </a:r>
          </a:p>
        </p:txBody>
      </p:sp>
      <p:sp>
        <p:nvSpPr>
          <p:cNvPr id="13" name="s5-receipt-strip">
            <a:extLst xmlns:a="http://schemas.openxmlformats.org/drawingml/2006/main">
              <a:ext uri="{FF2B5EF4-FFF2-40B4-BE49-F238E27FC236}">
                <a16:creationId xmlns:a16="http://schemas.microsoft.com/office/drawing/2014/main" id="{FA410359-72E9-4C13-ADB4-05002D30A2FD}"/>
              </a:ext>
            </a:extLst>
          </p:cNvPr>
          <p:cNvSpPr>
            <a:spLocks xmlns:a="http://schemas.openxmlformats.org/drawingml/2006/main" noGrp="1"/>
          </p:cNvSpPr>
          <p:nvPr/>
        </p:nvSpPr>
        <p:spPr>
          <a:xfrm xmlns:a="http://schemas.openxmlformats.org/drawingml/2006/main">
            <a:off x="1714500" y="5734050"/>
            <a:ext cx="9486900" cy="304800"/>
          </a:xfrm>
          <a:prstGeom xmlns:a="http://schemas.openxmlformats.org/drawingml/2006/main" prst="rect">
            <a:avLst/>
          </a:prstGeom>
          <a:solidFill xmlns:a="http://schemas.openxmlformats.org/drawingml/2006/main">
            <a:srgbClr val="061B3D"/>
          </a:solidFill>
          <a:ln xmlns:a="http://schemas.openxmlformats.org/drawingml/2006/main" w="0">
            <a:solidFill>
              <a:srgbClr val="061B3D"/>
            </a:solidFill>
            <a:prstDash val="solid"/>
          </a:ln>
        </p:spPr>
      </p:sp>
      <p:sp>
        <p:nvSpPr>
          <p:cNvPr id="14" name="s5-receipt-flow">
            <a:extLst xmlns:a="http://schemas.openxmlformats.org/drawingml/2006/main">
              <a:ext uri="{FF2B5EF4-FFF2-40B4-BE49-F238E27FC236}">
                <a16:creationId xmlns:a16="http://schemas.microsoft.com/office/drawing/2014/main" id="{58E898BD-4517-43F1-8A71-3061AED02354}"/>
              </a:ext>
            </a:extLst>
          </p:cNvPr>
          <p:cNvSpPr>
            <a:spLocks xmlns:a="http://schemas.openxmlformats.org/drawingml/2006/main" noGrp="1"/>
          </p:cNvSpPr>
          <p:nvPr/>
        </p:nvSpPr>
        <p:spPr>
          <a:xfrm xmlns:a="http://schemas.openxmlformats.org/drawingml/2006/main">
            <a:off x="1981200" y="5791200"/>
            <a:ext cx="8953500" cy="190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1">
                <a:solidFill>
                  <a:srgbClr val="FFFFFF"/>
                </a:solidFill>
                <a:latin typeface="Consolas"/>
                <a:ea typeface="Consolas"/>
                <a:cs typeface="Consolas"/>
              </a:defRPr>
            </a:pPr>
            <a:r>
              <a:t>ROUTE  -&gt;  CHANGED FILES  -&gt;  TESTS  -&gt;  DECISIONS  -&gt;  PITFALLS</a:t>
            </a:r>
          </a:p>
        </p:txBody>
      </p:sp>
      <p:cxnSp>
        <p:nvCxnSpPr>
          <p:cNvPr id="33" name="footer-rule-6"/>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6" name="footer-source-6">
            <a:extLst xmlns:a="http://schemas.openxmlformats.org/drawingml/2006/main">
              <a:ext uri="{FF2B5EF4-FFF2-40B4-BE49-F238E27FC236}">
                <a16:creationId xmlns:a16="http://schemas.microsoft.com/office/drawing/2014/main" id="{D2196D0C-3953-4ECB-8C25-77F19EAD9E61}"/>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Evaluation evaluation_551e86b873dda6bb | 91,102 indexed tokens | 4,787 pack tokens | context only, not session savings</a:t>
            </a:r>
          </a:p>
        </p:txBody>
      </p:sp>
      <p:sp>
        <p:nvSpPr>
          <p:cNvPr id="17" name="footer-number-6">
            <a:extLst xmlns:a="http://schemas.openxmlformats.org/drawingml/2006/main">
              <a:ext uri="{FF2B5EF4-FFF2-40B4-BE49-F238E27FC236}">
                <a16:creationId xmlns:a16="http://schemas.microsoft.com/office/drawing/2014/main" id="{A911DC83-F394-4D0C-87BE-287809627D37}"/>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6</a:t>
            </a:r>
          </a:p>
        </p:txBody>
      </p:sp>
      <p:graphicFrame>
        <p:nvGraphicFramePr>
          <p:cNvPr id="36" name="Chart"/>
          <p:cNvGraphicFramePr/>
          <p:nvPr/>
        </p:nvGraphicFramePr>
        <p:xfrm>
          <a:off xmlns:a="http://schemas.openxmlformats.org/drawingml/2006/main" x="1714500" y="1771650"/>
          <a:ext xmlns:a="http://schemas.openxmlformats.org/drawingml/2006/main" cx="5410200" cy="3924300"/>
        </p:xfrm>
        <a:graphic xmlns:a="http://schemas.openxmlformats.org/drawingml/2006/main">
          <a:graphicData uri="http://schemas.openxmlformats.org/drawingml/2006/chart">
            <c:chart xmlns:r="http://schemas.openxmlformats.org/officeDocument/2006/relationships" xmlns:c="http://schemas.openxmlformats.org/drawingml/2006/chart" r:id="R26cec10a95e24bf3"/>
          </a:graphicData>
        </a:graphic>
      </p:graphicFrame>
    </p:spTree>
    <p:extLst>
      <p:ext uri="{BB962C8B-B14F-4D97-AF65-F5344CB8AC3E}">
        <p14:creationId xmlns:p14="http://schemas.microsoft.com/office/powerpoint/2010/main" val="146494624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s6-title-new">
            <a:extLst xmlns:a="http://schemas.openxmlformats.org/drawingml/2006/main">
              <a:ext uri="{FF2B5EF4-FFF2-40B4-BE49-F238E27FC236}">
                <a16:creationId xmlns:a16="http://schemas.microsoft.com/office/drawing/2014/main" id="{451FDDAC-14B3-4294-8BF4-DBE68D9C75E4}"/>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A separate experiment tested the acceleration hypothesis.</a:t>
            </a:r>
          </a:p>
        </p:txBody>
      </p:sp>
      <p:sp>
        <p:nvSpPr>
          <p:cNvPr id="2" name="s6-subtitle-new">
            <a:extLst xmlns:a="http://schemas.openxmlformats.org/drawingml/2006/main">
              <a:ext uri="{FF2B5EF4-FFF2-40B4-BE49-F238E27FC236}">
                <a16:creationId xmlns:a16="http://schemas.microsoft.com/office/drawing/2014/main" id="{C4771857-C83A-4C26-9DAC-3B47EB2EB44F}"/>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Same Codex, model, task, fixture, prompt, tests, and hidden oracle; only Palace context changed.</a:t>
            </a:r>
          </a:p>
        </p:txBody>
      </p:sp>
      <p:sp>
        <p:nvSpPr>
          <p:cNvPr id="3" name="s6-task-new">
            <a:extLst xmlns:a="http://schemas.openxmlformats.org/drawingml/2006/main">
              <a:ext uri="{FF2B5EF4-FFF2-40B4-BE49-F238E27FC236}">
                <a16:creationId xmlns:a16="http://schemas.microsoft.com/office/drawing/2014/main" id="{BA06E3BA-778F-4C77-96D4-8F2606BFB696}"/>
              </a:ext>
            </a:extLst>
          </p:cNvPr>
          <p:cNvSpPr>
            <a:spLocks xmlns:a="http://schemas.openxmlformats.org/drawingml/2006/main" noGrp="1"/>
          </p:cNvSpPr>
          <p:nvPr/>
        </p:nvSpPr>
        <p:spPr>
          <a:xfrm xmlns:a="http://schemas.openxmlformats.org/drawingml/2006/main">
            <a:off x="4762500" y="1562100"/>
            <a:ext cx="2667000" cy="838200"/>
          </a:xfrm>
          <a:prstGeom xmlns:a="http://schemas.openxmlformats.org/drawingml/2006/main" prst="roundRect">
            <a:avLst>
              <a:gd name="adj" fmla="val 9091"/>
            </a:avLst>
          </a:prstGeom>
          <a:solidFill xmlns:a="http://schemas.openxmlformats.org/drawingml/2006/main">
            <a:srgbClr val="061B3D"/>
          </a:solidFill>
          <a:ln xmlns:a="http://schemas.openxmlformats.org/drawingml/2006/main" w="0">
            <a:solidFill>
              <a:srgbClr val="061B3D"/>
            </a:solidFill>
            <a:prstDash val="solid"/>
          </a:ln>
        </p:spPr>
      </p:sp>
      <p:sp>
        <p:nvSpPr>
          <p:cNvPr id="4" name="s6-task-k-new">
            <a:extLst xmlns:a="http://schemas.openxmlformats.org/drawingml/2006/main">
              <a:ext uri="{FF2B5EF4-FFF2-40B4-BE49-F238E27FC236}">
                <a16:creationId xmlns:a16="http://schemas.microsoft.com/office/drawing/2014/main" id="{1C30ED52-9B2D-45A4-B54D-8DB909B24208}"/>
              </a:ext>
            </a:extLst>
          </p:cNvPr>
          <p:cNvSpPr>
            <a:spLocks xmlns:a="http://schemas.openxmlformats.org/drawingml/2006/main" noGrp="1"/>
          </p:cNvSpPr>
          <p:nvPr/>
        </p:nvSpPr>
        <p:spPr>
          <a:xfrm xmlns:a="http://schemas.openxmlformats.org/drawingml/2006/main">
            <a:off x="4953000" y="1724025"/>
            <a:ext cx="2286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050" b="1">
                <a:solidFill>
                  <a:srgbClr val="13B7D5"/>
                </a:solidFill>
                <a:latin typeface="Arial"/>
                <a:ea typeface="Arial"/>
                <a:cs typeface="Arial"/>
              </a:defRPr>
            </a:pPr>
            <a:r>
              <a:t>SAME CODEX + TASK</a:t>
            </a:r>
          </a:p>
        </p:txBody>
      </p:sp>
      <p:sp>
        <p:nvSpPr>
          <p:cNvPr id="5" name="s6-task-v-new">
            <a:extLst xmlns:a="http://schemas.openxmlformats.org/drawingml/2006/main">
              <a:ext uri="{FF2B5EF4-FFF2-40B4-BE49-F238E27FC236}">
                <a16:creationId xmlns:a16="http://schemas.microsoft.com/office/drawing/2014/main" id="{59E377C7-A707-4177-A8B6-02E7815501C7}"/>
              </a:ext>
            </a:extLst>
          </p:cNvPr>
          <p:cNvSpPr>
            <a:spLocks xmlns:a="http://schemas.openxmlformats.org/drawingml/2006/main" noGrp="1"/>
          </p:cNvSpPr>
          <p:nvPr/>
        </p:nvSpPr>
        <p:spPr>
          <a:xfrm xmlns:a="http://schemas.openxmlformats.org/drawingml/2006/main">
            <a:off x="4953000" y="2009775"/>
            <a:ext cx="2286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650" b="1">
                <a:solidFill>
                  <a:srgbClr val="FFFFFF"/>
                </a:solidFill>
                <a:latin typeface="Arial"/>
                <a:ea typeface="Arial"/>
                <a:cs typeface="Arial"/>
              </a:defRPr>
            </a:pPr>
            <a:r>
              <a:t>Fix the target issue</a:t>
            </a:r>
          </a:p>
        </p:txBody>
      </p:sp>
      <p:cxnSp>
        <p:nvCxnSpPr>
          <p:cNvPr id="45" name="s6-stem-new"/>
          <p:cNvCxnSpPr/>
          <p:nvPr/>
        </p:nvCxnSpPr>
        <p:spPr>
          <a:xfrm xmlns:a="http://schemas.openxmlformats.org/drawingml/2006/main">
            <a:off x="6096000" y="2400300"/>
            <a:ext cx="953" cy="457200"/>
          </a:xfrm>
          <a:prstGeom xmlns:a="http://schemas.openxmlformats.org/drawingml/2006/main" prst="straightConnector1">
            <a:avLst/>
          </a:prstGeom>
          <a:ln xmlns:a="http://schemas.openxmlformats.org/drawingml/2006/main" w="19050">
            <a:solidFill>
              <a:srgbClr val="B8BCC4"/>
            </a:solidFill>
            <a:prstDash val="solid"/>
          </a:ln>
        </p:spPr>
      </p:cxnSp>
      <p:cxnSp>
        <p:nvCxnSpPr>
          <p:cNvPr id="46" name="s6-branch-new"/>
          <p:cNvCxnSpPr/>
          <p:nvPr/>
        </p:nvCxnSpPr>
        <p:spPr>
          <a:xfrm xmlns:a="http://schemas.openxmlformats.org/drawingml/2006/main">
            <a:off x="1809750" y="2857500"/>
            <a:ext cx="857250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47" name="s6-control-link-new"/>
          <p:cNvCxnSpPr/>
          <p:nvPr/>
        </p:nvCxnSpPr>
        <p:spPr>
          <a:xfrm xmlns:a="http://schemas.openxmlformats.org/drawingml/2006/main">
            <a:off x="1809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8" name="s6-route-link-new"/>
          <p:cNvCxnSpPr/>
          <p:nvPr/>
        </p:nvCxnSpPr>
        <p:spPr>
          <a:xfrm xmlns:a="http://schemas.openxmlformats.org/drawingml/2006/main">
            <a:off x="4667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49" name="s6-full-link-new"/>
          <p:cNvCxnSpPr/>
          <p:nvPr/>
        </p:nvCxnSpPr>
        <p:spPr>
          <a:xfrm xmlns:a="http://schemas.openxmlformats.org/drawingml/2006/main">
            <a:off x="75247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cxnSp>
        <p:nvCxnSpPr>
          <p:cNvPr id="50" name="s6-adaptive-link-new"/>
          <p:cNvCxnSpPr/>
          <p:nvPr/>
        </p:nvCxnSpPr>
        <p:spPr>
          <a:xfrm xmlns:a="http://schemas.openxmlformats.org/drawingml/2006/main">
            <a:off x="10382250" y="2857500"/>
            <a:ext cx="953" cy="361950"/>
          </a:xfrm>
          <a:prstGeom xmlns:a="http://schemas.openxmlformats.org/drawingml/2006/main" prst="straightConnector1">
            <a:avLst/>
          </a:prstGeom>
          <a:ln xmlns:a="http://schemas.openxmlformats.org/drawingml/2006/main" w="19050">
            <a:solidFill>
              <a:srgbClr val="B8BCC4"/>
            </a:solidFill>
            <a:prstDash val="solid"/>
          </a:ln>
        </p:spPr>
      </p:cxnSp>
      <p:sp>
        <p:nvSpPr>
          <p:cNvPr id="12" name="s6-control-new">
            <a:extLst xmlns:a="http://schemas.openxmlformats.org/drawingml/2006/main">
              <a:ext uri="{FF2B5EF4-FFF2-40B4-BE49-F238E27FC236}">
                <a16:creationId xmlns:a16="http://schemas.microsoft.com/office/drawing/2014/main" id="{8D1978FC-FDC7-430C-9323-1D94619D2770}"/>
              </a:ext>
            </a:extLst>
          </p:cNvPr>
          <p:cNvSpPr>
            <a:spLocks xmlns:a="http://schemas.openxmlformats.org/drawingml/2006/main" noGrp="1"/>
          </p:cNvSpPr>
          <p:nvPr/>
        </p:nvSpPr>
        <p:spPr>
          <a:xfrm xmlns:a="http://schemas.openxmlformats.org/drawingml/2006/main">
            <a:off x="571500" y="3219450"/>
            <a:ext cx="2476500" cy="1581150"/>
          </a:xfrm>
          <a:prstGeom xmlns:a="http://schemas.openxmlformats.org/drawingml/2006/main" prst="roundRect">
            <a:avLst>
              <a:gd name="adj" fmla="val 4819"/>
            </a:avLst>
          </a:prstGeom>
          <a:solidFill xmlns:a="http://schemas.openxmlformats.org/drawingml/2006/main">
            <a:srgbClr val="EDEFF3"/>
          </a:solidFill>
          <a:ln xmlns:a="http://schemas.openxmlformats.org/drawingml/2006/main" w="0">
            <a:solidFill>
              <a:srgbClr val="EDEFF3"/>
            </a:solidFill>
            <a:prstDash val="solid"/>
          </a:ln>
        </p:spPr>
      </p:sp>
      <p:sp>
        <p:nvSpPr>
          <p:cNvPr id="13" name="s6-route-new">
            <a:extLst xmlns:a="http://schemas.openxmlformats.org/drawingml/2006/main">
              <a:ext uri="{FF2B5EF4-FFF2-40B4-BE49-F238E27FC236}">
                <a16:creationId xmlns:a16="http://schemas.microsoft.com/office/drawing/2014/main" id="{22BBDD78-C74F-4B90-8A59-9774991F6500}"/>
              </a:ext>
            </a:extLst>
          </p:cNvPr>
          <p:cNvSpPr>
            <a:spLocks xmlns:a="http://schemas.openxmlformats.org/drawingml/2006/main" noGrp="1"/>
          </p:cNvSpPr>
          <p:nvPr/>
        </p:nvSpPr>
        <p:spPr>
          <a:xfrm xmlns:a="http://schemas.openxmlformats.org/drawingml/2006/main">
            <a:off x="3429000" y="3219450"/>
            <a:ext cx="2476500" cy="1581150"/>
          </a:xfrm>
          <a:prstGeom xmlns:a="http://schemas.openxmlformats.org/drawingml/2006/main" prst="roundRect">
            <a:avLst>
              <a:gd name="adj" fmla="val 4819"/>
            </a:avLst>
          </a:prstGeom>
          <a:solidFill xmlns:a="http://schemas.openxmlformats.org/drawingml/2006/main">
            <a:srgbClr val="E8F7FB"/>
          </a:solidFill>
          <a:ln xmlns:a="http://schemas.openxmlformats.org/drawingml/2006/main" w="0">
            <a:solidFill>
              <a:srgbClr val="E8F7FB"/>
            </a:solidFill>
            <a:prstDash val="solid"/>
          </a:ln>
        </p:spPr>
      </p:sp>
      <p:sp>
        <p:nvSpPr>
          <p:cNvPr id="14" name="s6-full-new">
            <a:extLst xmlns:a="http://schemas.openxmlformats.org/drawingml/2006/main">
              <a:ext uri="{FF2B5EF4-FFF2-40B4-BE49-F238E27FC236}">
                <a16:creationId xmlns:a16="http://schemas.microsoft.com/office/drawing/2014/main" id="{73788464-1333-45A5-BAE9-6F8ED5C8A118}"/>
              </a:ext>
            </a:extLst>
          </p:cNvPr>
          <p:cNvSpPr>
            <a:spLocks xmlns:a="http://schemas.openxmlformats.org/drawingml/2006/main" noGrp="1"/>
          </p:cNvSpPr>
          <p:nvPr/>
        </p:nvSpPr>
        <p:spPr>
          <a:xfrm xmlns:a="http://schemas.openxmlformats.org/drawingml/2006/main">
            <a:off x="6286500" y="3219450"/>
            <a:ext cx="2476500" cy="1581150"/>
          </a:xfrm>
          <a:prstGeom xmlns:a="http://schemas.openxmlformats.org/drawingml/2006/main" prst="roundRect">
            <a:avLst>
              <a:gd name="adj" fmla="val 4819"/>
            </a:avLst>
          </a:prstGeom>
          <a:solidFill xmlns:a="http://schemas.openxmlformats.org/drawingml/2006/main">
            <a:srgbClr val="EAF1FF"/>
          </a:solidFill>
          <a:ln xmlns:a="http://schemas.openxmlformats.org/drawingml/2006/main" w="0">
            <a:solidFill>
              <a:srgbClr val="EAF1FF"/>
            </a:solidFill>
            <a:prstDash val="solid"/>
          </a:ln>
        </p:spPr>
      </p:sp>
      <p:sp>
        <p:nvSpPr>
          <p:cNvPr id="15" name="s6-adaptive-new">
            <a:extLst xmlns:a="http://schemas.openxmlformats.org/drawingml/2006/main">
              <a:ext uri="{FF2B5EF4-FFF2-40B4-BE49-F238E27FC236}">
                <a16:creationId xmlns:a16="http://schemas.microsoft.com/office/drawing/2014/main" id="{017F8100-6E7A-4EFC-825F-D6273D6D7163}"/>
              </a:ext>
            </a:extLst>
          </p:cNvPr>
          <p:cNvSpPr>
            <a:spLocks xmlns:a="http://schemas.openxmlformats.org/drawingml/2006/main" noGrp="1"/>
          </p:cNvSpPr>
          <p:nvPr/>
        </p:nvSpPr>
        <p:spPr>
          <a:xfrm xmlns:a="http://schemas.openxmlformats.org/drawingml/2006/main">
            <a:off x="9144000" y="3219450"/>
            <a:ext cx="2476500" cy="1581150"/>
          </a:xfrm>
          <a:prstGeom xmlns:a="http://schemas.openxmlformats.org/drawingml/2006/main" prst="roundRect">
            <a:avLst>
              <a:gd name="adj" fmla="val 4819"/>
            </a:avLst>
          </a:prstGeom>
          <a:solidFill xmlns:a="http://schemas.openxmlformats.org/drawingml/2006/main">
            <a:srgbClr val="F1EBFF"/>
          </a:solidFill>
          <a:ln xmlns:a="http://schemas.openxmlformats.org/drawingml/2006/main" w="0">
            <a:solidFill>
              <a:srgbClr val="F1EBFF"/>
            </a:solidFill>
            <a:prstDash val="solid"/>
          </a:ln>
        </p:spPr>
      </p:sp>
      <p:sp>
        <p:nvSpPr>
          <p:cNvPr id="16" name="s6-control-k-new">
            <a:extLst xmlns:a="http://schemas.openxmlformats.org/drawingml/2006/main">
              <a:ext uri="{FF2B5EF4-FFF2-40B4-BE49-F238E27FC236}">
                <a16:creationId xmlns:a16="http://schemas.microsoft.com/office/drawing/2014/main" id="{6350BD6C-6551-46CF-B4D6-87FF77A55AF3}"/>
              </a:ext>
            </a:extLst>
          </p:cNvPr>
          <p:cNvSpPr>
            <a:spLocks xmlns:a="http://schemas.openxmlformats.org/drawingml/2006/main" noGrp="1"/>
          </p:cNvSpPr>
          <p:nvPr/>
        </p:nvSpPr>
        <p:spPr>
          <a:xfrm xmlns:a="http://schemas.openxmlformats.org/drawingml/2006/main">
            <a:off x="800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CODEX ALONE</a:t>
            </a:r>
          </a:p>
        </p:txBody>
      </p:sp>
      <p:sp>
        <p:nvSpPr>
          <p:cNvPr id="17" name="s6-control-v-new">
            <a:extLst xmlns:a="http://schemas.openxmlformats.org/drawingml/2006/main">
              <a:ext uri="{FF2B5EF4-FFF2-40B4-BE49-F238E27FC236}">
                <a16:creationId xmlns:a16="http://schemas.microsoft.com/office/drawing/2014/main" id="{C85A8CB9-BD6F-4580-906B-A892A28185B6}"/>
              </a:ext>
            </a:extLst>
          </p:cNvPr>
          <p:cNvSpPr>
            <a:spLocks xmlns:a="http://schemas.openxmlformats.org/drawingml/2006/main" noGrp="1"/>
          </p:cNvSpPr>
          <p:nvPr/>
        </p:nvSpPr>
        <p:spPr>
          <a:xfrm xmlns:a="http://schemas.openxmlformats.org/drawingml/2006/main">
            <a:off x="8001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0A1224"/>
                </a:solidFill>
                <a:latin typeface="Arial"/>
                <a:ea typeface="Arial"/>
                <a:cs typeface="Arial"/>
              </a:defRPr>
            </a:pPr>
            <a:r>
              <a:t>No Palace</a:t>
            </a:r>
          </a:p>
        </p:txBody>
      </p:sp>
      <p:sp>
        <p:nvSpPr>
          <p:cNvPr id="18" name="s6-control-d-new">
            <a:extLst xmlns:a="http://schemas.openxmlformats.org/drawingml/2006/main">
              <a:ext uri="{FF2B5EF4-FFF2-40B4-BE49-F238E27FC236}">
                <a16:creationId xmlns:a16="http://schemas.microsoft.com/office/drawing/2014/main" id="{C7318CC1-63CB-492F-AAA5-763828585918}"/>
              </a:ext>
            </a:extLst>
          </p:cNvPr>
          <p:cNvSpPr>
            <a:spLocks xmlns:a="http://schemas.openxmlformats.org/drawingml/2006/main" noGrp="1"/>
          </p:cNvSpPr>
          <p:nvPr/>
        </p:nvSpPr>
        <p:spPr>
          <a:xfrm xmlns:a="http://schemas.openxmlformats.org/drawingml/2006/main">
            <a:off x="8001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Codex searches the repo directly</a:t>
            </a:r>
          </a:p>
        </p:txBody>
      </p:sp>
      <p:sp>
        <p:nvSpPr>
          <p:cNvPr id="19" name="s6-route-k-new">
            <a:extLst xmlns:a="http://schemas.openxmlformats.org/drawingml/2006/main">
              <a:ext uri="{FF2B5EF4-FFF2-40B4-BE49-F238E27FC236}">
                <a16:creationId xmlns:a16="http://schemas.microsoft.com/office/drawing/2014/main" id="{E70734B5-C43D-4946-9EAB-5728472CACD6}"/>
              </a:ext>
            </a:extLst>
          </p:cNvPr>
          <p:cNvSpPr>
            <a:spLocks xmlns:a="http://schemas.openxmlformats.org/drawingml/2006/main" noGrp="1"/>
          </p:cNvSpPr>
          <p:nvPr/>
        </p:nvSpPr>
        <p:spPr>
          <a:xfrm xmlns:a="http://schemas.openxmlformats.org/drawingml/2006/main">
            <a:off x="3657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3B7D5"/>
                </a:solidFill>
                <a:latin typeface="Arial"/>
                <a:ea typeface="Arial"/>
                <a:cs typeface="Arial"/>
              </a:defRPr>
            </a:pPr>
            <a:r>
              <a:t>ROUTE-ONLY</a:t>
            </a:r>
          </a:p>
        </p:txBody>
      </p:sp>
      <p:sp>
        <p:nvSpPr>
          <p:cNvPr id="20" name="s6-route-v-new">
            <a:extLst xmlns:a="http://schemas.openxmlformats.org/drawingml/2006/main">
              <a:ext uri="{FF2B5EF4-FFF2-40B4-BE49-F238E27FC236}">
                <a16:creationId xmlns:a16="http://schemas.microsoft.com/office/drawing/2014/main" id="{69C118DD-E5CA-4414-87BB-BF7044B56E81}"/>
              </a:ext>
            </a:extLst>
          </p:cNvPr>
          <p:cNvSpPr>
            <a:spLocks xmlns:a="http://schemas.openxmlformats.org/drawingml/2006/main" noGrp="1"/>
          </p:cNvSpPr>
          <p:nvPr/>
        </p:nvSpPr>
        <p:spPr>
          <a:xfrm xmlns:a="http://schemas.openxmlformats.org/drawingml/2006/main">
            <a:off x="3657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Route metadata</a:t>
            </a:r>
          </a:p>
        </p:txBody>
      </p:sp>
      <p:sp>
        <p:nvSpPr>
          <p:cNvPr id="21" name="s6-route-d-new">
            <a:extLst xmlns:a="http://schemas.openxmlformats.org/drawingml/2006/main">
              <a:ext uri="{FF2B5EF4-FFF2-40B4-BE49-F238E27FC236}">
                <a16:creationId xmlns:a16="http://schemas.microsoft.com/office/drawing/2014/main" id="{F60E8A43-07AF-4715-A0B1-109BEF450A20}"/>
              </a:ext>
            </a:extLst>
          </p:cNvPr>
          <p:cNvSpPr>
            <a:spLocks xmlns:a="http://schemas.openxmlformats.org/drawingml/2006/main" noGrp="1"/>
          </p:cNvSpPr>
          <p:nvPr/>
        </p:nvSpPr>
        <p:spPr>
          <a:xfrm xmlns:a="http://schemas.openxmlformats.org/drawingml/2006/main">
            <a:off x="3657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No packed source</a:t>
            </a:r>
          </a:p>
        </p:txBody>
      </p:sp>
      <p:sp>
        <p:nvSpPr>
          <p:cNvPr id="22" name="s6-full-k-new">
            <a:extLst xmlns:a="http://schemas.openxmlformats.org/drawingml/2006/main">
              <a:ext uri="{FF2B5EF4-FFF2-40B4-BE49-F238E27FC236}">
                <a16:creationId xmlns:a16="http://schemas.microsoft.com/office/drawing/2014/main" id="{70EB5596-AFAE-40A4-8810-92D4189077D7}"/>
              </a:ext>
            </a:extLst>
          </p:cNvPr>
          <p:cNvSpPr>
            <a:spLocks xmlns:a="http://schemas.openxmlformats.org/drawingml/2006/main" noGrp="1"/>
          </p:cNvSpPr>
          <p:nvPr/>
        </p:nvSpPr>
        <p:spPr>
          <a:xfrm xmlns:a="http://schemas.openxmlformats.org/drawingml/2006/main">
            <a:off x="65151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FULL PALACE</a:t>
            </a:r>
          </a:p>
        </p:txBody>
      </p:sp>
      <p:sp>
        <p:nvSpPr>
          <p:cNvPr id="23" name="s6-full-v-new">
            <a:extLst xmlns:a="http://schemas.openxmlformats.org/drawingml/2006/main">
              <a:ext uri="{FF2B5EF4-FFF2-40B4-BE49-F238E27FC236}">
                <a16:creationId xmlns:a16="http://schemas.microsoft.com/office/drawing/2014/main" id="{C6660834-0218-4A90-A38F-18A50099B38A}"/>
              </a:ext>
            </a:extLst>
          </p:cNvPr>
          <p:cNvSpPr>
            <a:spLocks xmlns:a="http://schemas.openxmlformats.org/drawingml/2006/main" noGrp="1"/>
          </p:cNvSpPr>
          <p:nvPr/>
        </p:nvSpPr>
        <p:spPr>
          <a:xfrm xmlns:a="http://schemas.openxmlformats.org/drawingml/2006/main">
            <a:off x="6515100" y="3752850"/>
            <a:ext cx="201930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Always-on full pack</a:t>
            </a:r>
          </a:p>
        </p:txBody>
      </p:sp>
      <p:sp>
        <p:nvSpPr>
          <p:cNvPr id="24" name="s6-full-d-new">
            <a:extLst xmlns:a="http://schemas.openxmlformats.org/drawingml/2006/main">
              <a:ext uri="{FF2B5EF4-FFF2-40B4-BE49-F238E27FC236}">
                <a16:creationId xmlns:a16="http://schemas.microsoft.com/office/drawing/2014/main" id="{84645BD3-BD49-4B06-9089-B6F695809FCA}"/>
              </a:ext>
            </a:extLst>
          </p:cNvPr>
          <p:cNvSpPr>
            <a:spLocks xmlns:a="http://schemas.openxmlformats.org/drawingml/2006/main" noGrp="1"/>
          </p:cNvSpPr>
          <p:nvPr/>
        </p:nvSpPr>
        <p:spPr>
          <a:xfrm xmlns:a="http://schemas.openxmlformats.org/drawingml/2006/main">
            <a:off x="6515100" y="43243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Source + memory</a:t>
            </a:r>
          </a:p>
        </p:txBody>
      </p:sp>
      <p:sp>
        <p:nvSpPr>
          <p:cNvPr id="25" name="s6-adaptive-k-new">
            <a:extLst xmlns:a="http://schemas.openxmlformats.org/drawingml/2006/main">
              <a:ext uri="{FF2B5EF4-FFF2-40B4-BE49-F238E27FC236}">
                <a16:creationId xmlns:a16="http://schemas.microsoft.com/office/drawing/2014/main" id="{3A65E0B3-6EE7-458F-AA38-2A5A79354EE1}"/>
              </a:ext>
            </a:extLst>
          </p:cNvPr>
          <p:cNvSpPr>
            <a:spLocks xmlns:a="http://schemas.openxmlformats.org/drawingml/2006/main" noGrp="1"/>
          </p:cNvSpPr>
          <p:nvPr/>
        </p:nvSpPr>
        <p:spPr>
          <a:xfrm xmlns:a="http://schemas.openxmlformats.org/drawingml/2006/main">
            <a:off x="9372600" y="3429000"/>
            <a:ext cx="20193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7438F5"/>
                </a:solidFill>
                <a:latin typeface="Arial"/>
                <a:ea typeface="Arial"/>
                <a:cs typeface="Arial"/>
              </a:defRPr>
            </a:pPr>
            <a:r>
              <a:t>ADAPTIVE</a:t>
            </a:r>
          </a:p>
        </p:txBody>
      </p:sp>
      <p:sp>
        <p:nvSpPr>
          <p:cNvPr id="26" name="s6-adaptive-v-new">
            <a:extLst xmlns:a="http://schemas.openxmlformats.org/drawingml/2006/main">
              <a:ext uri="{FF2B5EF4-FFF2-40B4-BE49-F238E27FC236}">
                <a16:creationId xmlns:a16="http://schemas.microsoft.com/office/drawing/2014/main" id="{FAD93D74-5E4F-4640-A9C6-2F1A69EC20AA}"/>
              </a:ext>
            </a:extLst>
          </p:cNvPr>
          <p:cNvSpPr>
            <a:spLocks xmlns:a="http://schemas.openxmlformats.org/drawingml/2006/main" noGrp="1"/>
          </p:cNvSpPr>
          <p:nvPr/>
        </p:nvSpPr>
        <p:spPr>
          <a:xfrm xmlns:a="http://schemas.openxmlformats.org/drawingml/2006/main">
            <a:off x="9372600" y="3752850"/>
            <a:ext cx="201930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0A1224"/>
                </a:solidFill>
                <a:latin typeface="Arial"/>
                <a:ea typeface="Arial"/>
                <a:cs typeface="Arial"/>
              </a:defRPr>
            </a:pPr>
            <a:r>
              <a:t>Mode per task</a:t>
            </a:r>
          </a:p>
        </p:txBody>
      </p:sp>
      <p:sp>
        <p:nvSpPr>
          <p:cNvPr id="27" name="s6-adaptive-d-new">
            <a:extLst xmlns:a="http://schemas.openxmlformats.org/drawingml/2006/main">
              <a:ext uri="{FF2B5EF4-FFF2-40B4-BE49-F238E27FC236}">
                <a16:creationId xmlns:a16="http://schemas.microsoft.com/office/drawing/2014/main" id="{652E61B6-036B-4D56-B893-622876D12F34}"/>
              </a:ext>
            </a:extLst>
          </p:cNvPr>
          <p:cNvSpPr>
            <a:spLocks xmlns:a="http://schemas.openxmlformats.org/drawingml/2006/main" noGrp="1"/>
          </p:cNvSpPr>
          <p:nvPr/>
        </p:nvSpPr>
        <p:spPr>
          <a:xfrm xmlns:a="http://schemas.openxmlformats.org/drawingml/2006/main">
            <a:off x="9372600" y="4229100"/>
            <a:ext cx="20193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526071"/>
                </a:solidFill>
                <a:latin typeface="Arial"/>
                <a:ea typeface="Arial"/>
                <a:cs typeface="Arial"/>
              </a:defRPr>
            </a:pPr>
            <a:r>
              <a:t>Bypass / lite / full</a:t>
            </a:r>
          </a:p>
        </p:txBody>
      </p:sp>
      <p:sp>
        <p:nvSpPr>
          <p:cNvPr id="28" name="s6-summary-new">
            <a:extLst xmlns:a="http://schemas.openxmlformats.org/drawingml/2006/main">
              <a:ext uri="{FF2B5EF4-FFF2-40B4-BE49-F238E27FC236}">
                <a16:creationId xmlns:a16="http://schemas.microsoft.com/office/drawing/2014/main" id="{66F28EDE-5C4C-4831-A781-163E49EED990}"/>
              </a:ext>
            </a:extLst>
          </p:cNvPr>
          <p:cNvSpPr>
            <a:spLocks xmlns:a="http://schemas.openxmlformats.org/drawingml/2006/main" noGrp="1"/>
          </p:cNvSpPr>
          <p:nvPr/>
        </p:nvSpPr>
        <p:spPr>
          <a:xfrm xmlns:a="http://schemas.openxmlformats.org/drawingml/2006/main">
            <a:off x="571500" y="5029200"/>
            <a:ext cx="11049000" cy="857250"/>
          </a:xfrm>
          <a:prstGeom xmlns:a="http://schemas.openxmlformats.org/drawingml/2006/main" prst="roundRect">
            <a:avLst>
              <a:gd name="adj" fmla="val 8889"/>
            </a:avLst>
          </a:prstGeom>
          <a:solidFill xmlns:a="http://schemas.openxmlformats.org/drawingml/2006/main">
            <a:srgbClr val="061B3D"/>
          </a:solidFill>
          <a:ln xmlns:a="http://schemas.openxmlformats.org/drawingml/2006/main" w="0">
            <a:solidFill>
              <a:srgbClr val="061B3D"/>
            </a:solidFill>
            <a:prstDash val="solid"/>
          </a:ln>
        </p:spPr>
      </p:sp>
      <p:sp>
        <p:nvSpPr>
          <p:cNvPr id="29" name="s6-n-trials-new">
            <a:extLst xmlns:a="http://schemas.openxmlformats.org/drawingml/2006/main">
              <a:ext uri="{FF2B5EF4-FFF2-40B4-BE49-F238E27FC236}">
                <a16:creationId xmlns:a16="http://schemas.microsoft.com/office/drawing/2014/main" id="{8D6E76A2-3C94-4AF4-A543-D86868F0DDBA}"/>
              </a:ext>
            </a:extLst>
          </p:cNvPr>
          <p:cNvSpPr>
            <a:spLocks xmlns:a="http://schemas.openxmlformats.org/drawingml/2006/main" noGrp="1"/>
          </p:cNvSpPr>
          <p:nvPr/>
        </p:nvSpPr>
        <p:spPr>
          <a:xfrm xmlns:a="http://schemas.openxmlformats.org/drawingml/2006/main">
            <a:off x="81915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3B7D5"/>
                </a:solidFill>
                <a:latin typeface="Arial"/>
                <a:ea typeface="Arial"/>
                <a:cs typeface="Arial"/>
              </a:defRPr>
            </a:pPr>
            <a:r>
              <a:t>4</a:t>
            </a:r>
          </a:p>
        </p:txBody>
      </p:sp>
      <p:sp>
        <p:nvSpPr>
          <p:cNvPr id="30" name="s6-l-trials-new">
            <a:extLst xmlns:a="http://schemas.openxmlformats.org/drawingml/2006/main">
              <a:ext uri="{FF2B5EF4-FFF2-40B4-BE49-F238E27FC236}">
                <a16:creationId xmlns:a16="http://schemas.microsoft.com/office/drawing/2014/main" id="{31339766-82DF-45F2-9F84-88F865517C0A}"/>
              </a:ext>
            </a:extLst>
          </p:cNvPr>
          <p:cNvSpPr>
            <a:spLocks xmlns:a="http://schemas.openxmlformats.org/drawingml/2006/main" noGrp="1"/>
          </p:cNvSpPr>
          <p:nvPr/>
        </p:nvSpPr>
        <p:spPr>
          <a:xfrm xmlns:a="http://schemas.openxmlformats.org/drawingml/2006/main">
            <a:off x="819150" y="55626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scenarios</a:t>
            </a:r>
          </a:p>
        </p:txBody>
      </p:sp>
      <p:sp>
        <p:nvSpPr>
          <p:cNvPr id="31" name="s6-n-arms-new">
            <a:extLst xmlns:a="http://schemas.openxmlformats.org/drawingml/2006/main">
              <a:ext uri="{FF2B5EF4-FFF2-40B4-BE49-F238E27FC236}">
                <a16:creationId xmlns:a16="http://schemas.microsoft.com/office/drawing/2014/main" id="{7AC4CEE9-7D7F-4843-B41C-4DD908023DD4}"/>
              </a:ext>
            </a:extLst>
          </p:cNvPr>
          <p:cNvSpPr>
            <a:spLocks xmlns:a="http://schemas.openxmlformats.org/drawingml/2006/main" noGrp="1"/>
          </p:cNvSpPr>
          <p:nvPr/>
        </p:nvSpPr>
        <p:spPr>
          <a:xfrm xmlns:a="http://schemas.openxmlformats.org/drawingml/2006/main">
            <a:off x="266700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677FF"/>
                </a:solidFill>
                <a:latin typeface="Arial"/>
                <a:ea typeface="Arial"/>
                <a:cs typeface="Arial"/>
              </a:defRPr>
            </a:pPr>
            <a:r>
              <a:t>4</a:t>
            </a:r>
          </a:p>
        </p:txBody>
      </p:sp>
      <p:sp>
        <p:nvSpPr>
          <p:cNvPr id="32" name="s6-l-arms-new">
            <a:extLst xmlns:a="http://schemas.openxmlformats.org/drawingml/2006/main">
              <a:ext uri="{FF2B5EF4-FFF2-40B4-BE49-F238E27FC236}">
                <a16:creationId xmlns:a16="http://schemas.microsoft.com/office/drawing/2014/main" id="{7868EA55-4B62-4E38-BD57-29EDB327F063}"/>
              </a:ext>
            </a:extLst>
          </p:cNvPr>
          <p:cNvSpPr>
            <a:spLocks xmlns:a="http://schemas.openxmlformats.org/drawingml/2006/main" noGrp="1"/>
          </p:cNvSpPr>
          <p:nvPr/>
        </p:nvSpPr>
        <p:spPr>
          <a:xfrm xmlns:a="http://schemas.openxmlformats.org/drawingml/2006/main">
            <a:off x="2667000" y="5562600"/>
            <a:ext cx="1619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repetitions each</a:t>
            </a:r>
          </a:p>
        </p:txBody>
      </p:sp>
      <p:sp>
        <p:nvSpPr>
          <p:cNvPr id="33" name="s6-n-fixed-new">
            <a:extLst xmlns:a="http://schemas.openxmlformats.org/drawingml/2006/main">
              <a:ext uri="{FF2B5EF4-FFF2-40B4-BE49-F238E27FC236}">
                <a16:creationId xmlns:a16="http://schemas.microsoft.com/office/drawing/2014/main" id="{DEF5E2D2-1CAC-4185-BF57-B7DC823DFF17}"/>
              </a:ext>
            </a:extLst>
          </p:cNvPr>
          <p:cNvSpPr>
            <a:spLocks xmlns:a="http://schemas.openxmlformats.org/drawingml/2006/main" noGrp="1"/>
          </p:cNvSpPr>
          <p:nvPr/>
        </p:nvSpPr>
        <p:spPr>
          <a:xfrm xmlns:a="http://schemas.openxmlformats.org/drawingml/2006/main">
            <a:off x="4762500" y="5181600"/>
            <a:ext cx="7620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5A777"/>
                </a:solidFill>
                <a:latin typeface="Arial"/>
                <a:ea typeface="Arial"/>
                <a:cs typeface="Arial"/>
              </a:defRPr>
            </a:pPr>
            <a:r>
              <a:t>4</a:t>
            </a:r>
          </a:p>
        </p:txBody>
      </p:sp>
      <p:sp>
        <p:nvSpPr>
          <p:cNvPr id="34" name="s6-l-fixed-new">
            <a:extLst xmlns:a="http://schemas.openxmlformats.org/drawingml/2006/main">
              <a:ext uri="{FF2B5EF4-FFF2-40B4-BE49-F238E27FC236}">
                <a16:creationId xmlns:a16="http://schemas.microsoft.com/office/drawing/2014/main" id="{7F3A6873-0F2D-4700-8C73-62E703E19826}"/>
              </a:ext>
            </a:extLst>
          </p:cNvPr>
          <p:cNvSpPr>
            <a:spLocks xmlns:a="http://schemas.openxmlformats.org/drawingml/2006/main" noGrp="1"/>
          </p:cNvSpPr>
          <p:nvPr/>
        </p:nvSpPr>
        <p:spPr>
          <a:xfrm xmlns:a="http://schemas.openxmlformats.org/drawingml/2006/main">
            <a:off x="4762500" y="556260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context arms</a:t>
            </a:r>
          </a:p>
        </p:txBody>
      </p:sp>
      <p:sp>
        <p:nvSpPr>
          <p:cNvPr id="35" name="s6-n-variable-new">
            <a:extLst xmlns:a="http://schemas.openxmlformats.org/drawingml/2006/main">
              <a:ext uri="{FF2B5EF4-FFF2-40B4-BE49-F238E27FC236}">
                <a16:creationId xmlns:a16="http://schemas.microsoft.com/office/drawing/2014/main" id="{1000BB34-34E1-4BF9-A81D-D20D8DFE5B1B}"/>
              </a:ext>
            </a:extLst>
          </p:cNvPr>
          <p:cNvSpPr>
            <a:spLocks xmlns:a="http://schemas.openxmlformats.org/drawingml/2006/main" noGrp="1"/>
          </p:cNvSpPr>
          <p:nvPr/>
        </p:nvSpPr>
        <p:spPr>
          <a:xfrm xmlns:a="http://schemas.openxmlformats.org/drawingml/2006/main">
            <a:off x="8382000" y="5181600"/>
            <a:ext cx="2095500" cy="438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7438F5"/>
                </a:solidFill>
                <a:latin typeface="Arial"/>
                <a:ea typeface="Arial"/>
                <a:cs typeface="Arial"/>
              </a:defRPr>
            </a:pPr>
            <a:r>
              <a:t>64/64</a:t>
            </a:r>
          </a:p>
        </p:txBody>
      </p:sp>
      <p:sp>
        <p:nvSpPr>
          <p:cNvPr id="36" name="s6-l-variable-new">
            <a:extLst xmlns:a="http://schemas.openxmlformats.org/drawingml/2006/main">
              <a:ext uri="{FF2B5EF4-FFF2-40B4-BE49-F238E27FC236}">
                <a16:creationId xmlns:a16="http://schemas.microsoft.com/office/drawing/2014/main" id="{2B76D072-9239-4D2F-A6D5-9521A513BC7C}"/>
              </a:ext>
            </a:extLst>
          </p:cNvPr>
          <p:cNvSpPr>
            <a:spLocks xmlns:a="http://schemas.openxmlformats.org/drawingml/2006/main" noGrp="1"/>
          </p:cNvSpPr>
          <p:nvPr/>
        </p:nvSpPr>
        <p:spPr>
          <a:xfrm xmlns:a="http://schemas.openxmlformats.org/drawingml/2006/main">
            <a:off x="8382000" y="5562600"/>
            <a:ext cx="2857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valid + correct runs</a:t>
            </a:r>
          </a:p>
        </p:txBody>
      </p:sp>
      <p:cxnSp>
        <p:nvCxnSpPr>
          <p:cNvPr id="76" name="footer-rule-7"/>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8" name="footer-source-7">
            <a:extLst xmlns:a="http://schemas.openxmlformats.org/drawingml/2006/main">
              <a:ext uri="{FF2B5EF4-FFF2-40B4-BE49-F238E27FC236}">
                <a16:creationId xmlns:a16="http://schemas.microsoft.com/office/drawing/2014/main" id="{68357AA5-4E8F-4994-A117-ADB8A26C861F}"/>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Frozen protocol v2.2 | local bug | cross-stack | useful memory | stale memory | github.com/lohchanhin/benchmarks-demo</a:t>
            </a:r>
          </a:p>
        </p:txBody>
      </p:sp>
      <p:sp>
        <p:nvSpPr>
          <p:cNvPr id="39" name="footer-number-7">
            <a:extLst xmlns:a="http://schemas.openxmlformats.org/drawingml/2006/main">
              <a:ext uri="{FF2B5EF4-FFF2-40B4-BE49-F238E27FC236}">
                <a16:creationId xmlns:a16="http://schemas.microsoft.com/office/drawing/2014/main" id="{DF82B672-6112-4953-A3E1-346119BA7C4E}"/>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7</a:t>
            </a:r>
          </a:p>
        </p:txBody>
      </p:sp>
    </p:spTree>
    <p:extLst>
      <p:ext uri="{BB962C8B-B14F-4D97-AF65-F5344CB8AC3E}">
        <p14:creationId xmlns:p14="http://schemas.microsoft.com/office/powerpoint/2010/main" val="13731796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s7-title-chart">
            <a:extLst xmlns:a="http://schemas.openxmlformats.org/drawingml/2006/main">
              <a:ext uri="{FF2B5EF4-FFF2-40B4-BE49-F238E27FC236}">
                <a16:creationId xmlns:a16="http://schemas.microsoft.com/office/drawing/2014/main" id="{31D1FA83-B10A-43EA-A709-9A016E48F372}"/>
              </a:ext>
            </a:extLst>
          </p:cNvPr>
          <p:cNvSpPr>
            <a:spLocks xmlns:a="http://schemas.openxmlformats.org/drawingml/2006/main" noGrp="1"/>
          </p:cNvSpPr>
          <p:nvPr/>
        </p:nvSpPr>
        <p:spPr>
          <a:xfrm xmlns:a="http://schemas.openxmlformats.org/drawingml/2006/main">
            <a:off x="400050" y="323850"/>
            <a:ext cx="11391900" cy="666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The four-arm medians did not show an efficiency win.</a:t>
            </a:r>
          </a:p>
        </p:txBody>
      </p:sp>
      <p:sp>
        <p:nvSpPr>
          <p:cNvPr id="2" name="s7-subtitle-chart">
            <a:extLst xmlns:a="http://schemas.openxmlformats.org/drawingml/2006/main">
              <a:ext uri="{FF2B5EF4-FFF2-40B4-BE49-F238E27FC236}">
                <a16:creationId xmlns:a16="http://schemas.microsoft.com/office/drawing/2014/main" id="{C332FE6B-61F4-4DB4-AD31-FB447251858E}"/>
              </a:ext>
            </a:extLst>
          </p:cNvPr>
          <p:cNvSpPr>
            <a:spLocks xmlns:a="http://schemas.openxmlformats.org/drawingml/2006/main" noGrp="1"/>
          </p:cNvSpPr>
          <p:nvPr/>
        </p:nvSpPr>
        <p:spPr>
          <a:xfrm xmlns:a="http://schemas.openxmlformats.org/drawingml/2006/main">
            <a:off x="400050" y="1028700"/>
            <a:ext cx="112395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Overall medians across 16 paired trials; lower is better. These bars are descriptive, not confidence intervals.</a:t>
            </a:r>
          </a:p>
        </p:txBody>
      </p:sp>
      <p:sp>
        <p:nvSpPr>
          <p:cNvPr id="3" name="s7-token-heading">
            <a:extLst xmlns:a="http://schemas.openxmlformats.org/drawingml/2006/main">
              <a:ext uri="{FF2B5EF4-FFF2-40B4-BE49-F238E27FC236}">
                <a16:creationId xmlns:a16="http://schemas.microsoft.com/office/drawing/2014/main" id="{1CBCED00-38FF-4841-BBAB-63ABFD13246C}"/>
              </a:ext>
            </a:extLst>
          </p:cNvPr>
          <p:cNvSpPr>
            <a:spLocks xmlns:a="http://schemas.openxmlformats.org/drawingml/2006/main" noGrp="1"/>
          </p:cNvSpPr>
          <p:nvPr/>
        </p:nvSpPr>
        <p:spPr>
          <a:xfrm xmlns:a="http://schemas.openxmlformats.org/drawingml/2006/main">
            <a:off x="400050" y="15240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REPORTED TOKENS</a:t>
            </a:r>
          </a:p>
        </p:txBody>
      </p:sp>
      <p:sp>
        <p:nvSpPr>
          <p:cNvPr id="4" name="s7-time-heading">
            <a:extLst xmlns:a="http://schemas.openxmlformats.org/drawingml/2006/main">
              <a:ext uri="{FF2B5EF4-FFF2-40B4-BE49-F238E27FC236}">
                <a16:creationId xmlns:a16="http://schemas.microsoft.com/office/drawing/2014/main" id="{1D67231B-33EE-48F2-BCE2-347B163F166A}"/>
              </a:ext>
            </a:extLst>
          </p:cNvPr>
          <p:cNvSpPr>
            <a:spLocks xmlns:a="http://schemas.openxmlformats.org/drawingml/2006/main" noGrp="1"/>
          </p:cNvSpPr>
          <p:nvPr/>
        </p:nvSpPr>
        <p:spPr>
          <a:xfrm xmlns:a="http://schemas.openxmlformats.org/drawingml/2006/main">
            <a:off x="4324350" y="15240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WALL TIME (SECONDS)</a:t>
            </a:r>
          </a:p>
        </p:txBody>
      </p:sp>
      <p:sp>
        <p:nvSpPr>
          <p:cNvPr id="5" name="s7-calls-heading">
            <a:extLst xmlns:a="http://schemas.openxmlformats.org/drawingml/2006/main">
              <a:ext uri="{FF2B5EF4-FFF2-40B4-BE49-F238E27FC236}">
                <a16:creationId xmlns:a16="http://schemas.microsoft.com/office/drawing/2014/main" id="{B807B7A2-E05C-495D-B1D8-A582CEE112C9}"/>
              </a:ext>
            </a:extLst>
          </p:cNvPr>
          <p:cNvSpPr>
            <a:spLocks xmlns:a="http://schemas.openxmlformats.org/drawingml/2006/main" noGrp="1"/>
          </p:cNvSpPr>
          <p:nvPr/>
        </p:nvSpPr>
        <p:spPr>
          <a:xfrm xmlns:a="http://schemas.openxmlformats.org/drawingml/2006/main">
            <a:off x="8248650" y="152400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TOOL CALLS</a:t>
            </a:r>
          </a:p>
        </p:txBody>
      </p:sp>
      <p:cxnSp>
        <p:nvCxnSpPr>
          <p:cNvPr id="28" name="s7-chart-separator-1"/>
          <p:cNvCxnSpPr/>
          <p:nvPr/>
        </p:nvCxnSpPr>
        <p:spPr>
          <a:xfrm xmlns:a="http://schemas.openxmlformats.org/drawingml/2006/main">
            <a:off x="4133850" y="1695450"/>
            <a:ext cx="953" cy="3295650"/>
          </a:xfrm>
          <a:prstGeom xmlns:a="http://schemas.openxmlformats.org/drawingml/2006/main" prst="straightConnector1">
            <a:avLst/>
          </a:prstGeom>
          <a:ln xmlns:a="http://schemas.openxmlformats.org/drawingml/2006/main" w="19050">
            <a:solidFill>
              <a:srgbClr val="EDEFF3"/>
            </a:solidFill>
            <a:prstDash val="solid"/>
          </a:ln>
        </p:spPr>
      </p:cxnSp>
      <p:cxnSp>
        <p:nvCxnSpPr>
          <p:cNvPr id="29" name="s7-chart-separator-2"/>
          <p:cNvCxnSpPr/>
          <p:nvPr/>
        </p:nvCxnSpPr>
        <p:spPr>
          <a:xfrm xmlns:a="http://schemas.openxmlformats.org/drawingml/2006/main">
            <a:off x="8058150" y="1695450"/>
            <a:ext cx="953" cy="3295650"/>
          </a:xfrm>
          <a:prstGeom xmlns:a="http://schemas.openxmlformats.org/drawingml/2006/main" prst="straightConnector1">
            <a:avLst/>
          </a:prstGeom>
          <a:ln xmlns:a="http://schemas.openxmlformats.org/drawingml/2006/main" w="19050">
            <a:solidFill>
              <a:srgbClr val="EDEFF3"/>
            </a:solidFill>
            <a:prstDash val="solid"/>
          </a:ln>
        </p:spPr>
      </p:cxnSp>
      <p:sp>
        <p:nvSpPr>
          <p:cNvPr id="8" name="s7-integrity-band">
            <a:extLst xmlns:a="http://schemas.openxmlformats.org/drawingml/2006/main">
              <a:ext uri="{FF2B5EF4-FFF2-40B4-BE49-F238E27FC236}">
                <a16:creationId xmlns:a16="http://schemas.microsoft.com/office/drawing/2014/main" id="{4BEE6E31-8637-43D8-9B08-BA1B4309C972}"/>
              </a:ext>
            </a:extLst>
          </p:cNvPr>
          <p:cNvSpPr>
            <a:spLocks xmlns:a="http://schemas.openxmlformats.org/drawingml/2006/main" noGrp="1"/>
          </p:cNvSpPr>
          <p:nvPr/>
        </p:nvSpPr>
        <p:spPr>
          <a:xfrm xmlns:a="http://schemas.openxmlformats.org/drawingml/2006/main">
            <a:off x="552450" y="5219700"/>
            <a:ext cx="11087100" cy="781050"/>
          </a:xfrm>
          <a:prstGeom xmlns:a="http://schemas.openxmlformats.org/drawingml/2006/main" prst="roundRect">
            <a:avLst>
              <a:gd name="adj" fmla="val 9756"/>
            </a:avLst>
          </a:prstGeom>
          <a:solidFill xmlns:a="http://schemas.openxmlformats.org/drawingml/2006/main">
            <a:srgbClr val="061B3D"/>
          </a:solidFill>
          <a:ln xmlns:a="http://schemas.openxmlformats.org/drawingml/2006/main" w="0">
            <a:solidFill>
              <a:srgbClr val="061B3D"/>
            </a:solidFill>
            <a:prstDash val="solid"/>
          </a:ln>
        </p:spPr>
      </p:sp>
      <p:sp>
        <p:nvSpPr>
          <p:cNvPr id="9" name="s7-trials-value">
            <a:extLst xmlns:a="http://schemas.openxmlformats.org/drawingml/2006/main">
              <a:ext uri="{FF2B5EF4-FFF2-40B4-BE49-F238E27FC236}">
                <a16:creationId xmlns:a16="http://schemas.microsoft.com/office/drawing/2014/main" id="{6C97DDBD-0F8F-4AEC-B72E-1A07E2E4D3F6}"/>
              </a:ext>
            </a:extLst>
          </p:cNvPr>
          <p:cNvSpPr>
            <a:spLocks xmlns:a="http://schemas.openxmlformats.org/drawingml/2006/main" noGrp="1"/>
          </p:cNvSpPr>
          <p:nvPr/>
        </p:nvSpPr>
        <p:spPr>
          <a:xfrm xmlns:a="http://schemas.openxmlformats.org/drawingml/2006/main">
            <a:off x="781050" y="5353050"/>
            <a:ext cx="952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3B7D5"/>
                </a:solidFill>
                <a:latin typeface="Arial"/>
                <a:ea typeface="Arial"/>
                <a:cs typeface="Arial"/>
              </a:defRPr>
            </a:pPr>
            <a:r>
              <a:t>16</a:t>
            </a:r>
          </a:p>
        </p:txBody>
      </p:sp>
      <p:sp>
        <p:nvSpPr>
          <p:cNvPr id="10" name="s7-trials-label">
            <a:extLst xmlns:a="http://schemas.openxmlformats.org/drawingml/2006/main">
              <a:ext uri="{FF2B5EF4-FFF2-40B4-BE49-F238E27FC236}">
                <a16:creationId xmlns:a16="http://schemas.microsoft.com/office/drawing/2014/main" id="{EE12E3C1-3470-4B13-94F4-4A9396BD2408}"/>
              </a:ext>
            </a:extLst>
          </p:cNvPr>
          <p:cNvSpPr>
            <a:spLocks xmlns:a="http://schemas.openxmlformats.org/drawingml/2006/main" noGrp="1"/>
          </p:cNvSpPr>
          <p:nvPr/>
        </p:nvSpPr>
        <p:spPr>
          <a:xfrm xmlns:a="http://schemas.openxmlformats.org/drawingml/2006/main">
            <a:off x="781050" y="569595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paired trials</a:t>
            </a:r>
          </a:p>
        </p:txBody>
      </p:sp>
      <p:sp>
        <p:nvSpPr>
          <p:cNvPr id="11" name="s7-valid-value">
            <a:extLst xmlns:a="http://schemas.openxmlformats.org/drawingml/2006/main">
              <a:ext uri="{FF2B5EF4-FFF2-40B4-BE49-F238E27FC236}">
                <a16:creationId xmlns:a16="http://schemas.microsoft.com/office/drawing/2014/main" id="{39429A84-0EB8-46F0-8EED-15747C6A3D6F}"/>
              </a:ext>
            </a:extLst>
          </p:cNvPr>
          <p:cNvSpPr>
            <a:spLocks xmlns:a="http://schemas.openxmlformats.org/drawingml/2006/main" noGrp="1"/>
          </p:cNvSpPr>
          <p:nvPr/>
        </p:nvSpPr>
        <p:spPr>
          <a:xfrm xmlns:a="http://schemas.openxmlformats.org/drawingml/2006/main">
            <a:off x="3028950" y="5353050"/>
            <a:ext cx="1333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5A777"/>
                </a:solidFill>
                <a:latin typeface="Arial"/>
                <a:ea typeface="Arial"/>
                <a:cs typeface="Arial"/>
              </a:defRPr>
            </a:pPr>
            <a:r>
              <a:t>64/64</a:t>
            </a:r>
          </a:p>
        </p:txBody>
      </p:sp>
      <p:sp>
        <p:nvSpPr>
          <p:cNvPr id="12" name="s7-valid-label">
            <a:extLst xmlns:a="http://schemas.openxmlformats.org/drawingml/2006/main">
              <a:ext uri="{FF2B5EF4-FFF2-40B4-BE49-F238E27FC236}">
                <a16:creationId xmlns:a16="http://schemas.microsoft.com/office/drawing/2014/main" id="{341FF86D-077E-4336-90CB-E3683934C398}"/>
              </a:ext>
            </a:extLst>
          </p:cNvPr>
          <p:cNvSpPr>
            <a:spLocks xmlns:a="http://schemas.openxmlformats.org/drawingml/2006/main" noGrp="1"/>
          </p:cNvSpPr>
          <p:nvPr/>
        </p:nvSpPr>
        <p:spPr>
          <a:xfrm xmlns:a="http://schemas.openxmlformats.org/drawingml/2006/main">
            <a:off x="3028950" y="5695950"/>
            <a:ext cx="2000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valid + successful</a:t>
            </a:r>
          </a:p>
        </p:txBody>
      </p:sp>
      <p:sp>
        <p:nvSpPr>
          <p:cNvPr id="13" name="s7-oracle-value">
            <a:extLst xmlns:a="http://schemas.openxmlformats.org/drawingml/2006/main">
              <a:ext uri="{FF2B5EF4-FFF2-40B4-BE49-F238E27FC236}">
                <a16:creationId xmlns:a16="http://schemas.microsoft.com/office/drawing/2014/main" id="{B79AF9F1-2082-449C-AE63-BF20C3F6B4F0}"/>
              </a:ext>
            </a:extLst>
          </p:cNvPr>
          <p:cNvSpPr>
            <a:spLocks xmlns:a="http://schemas.openxmlformats.org/drawingml/2006/main" noGrp="1"/>
          </p:cNvSpPr>
          <p:nvPr/>
        </p:nvSpPr>
        <p:spPr>
          <a:xfrm xmlns:a="http://schemas.openxmlformats.org/drawingml/2006/main">
            <a:off x="5695950" y="5353050"/>
            <a:ext cx="1333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5A777"/>
                </a:solidFill>
                <a:latin typeface="Arial"/>
                <a:ea typeface="Arial"/>
                <a:cs typeface="Arial"/>
              </a:defRPr>
            </a:pPr>
            <a:r>
              <a:t>64/64</a:t>
            </a:r>
          </a:p>
        </p:txBody>
      </p:sp>
      <p:sp>
        <p:nvSpPr>
          <p:cNvPr id="14" name="s7-oracle-label">
            <a:extLst xmlns:a="http://schemas.openxmlformats.org/drawingml/2006/main">
              <a:ext uri="{FF2B5EF4-FFF2-40B4-BE49-F238E27FC236}">
                <a16:creationId xmlns:a16="http://schemas.microsoft.com/office/drawing/2014/main" id="{6C0A8053-BFB6-4E63-BD83-615AFAB45601}"/>
              </a:ext>
            </a:extLst>
          </p:cNvPr>
          <p:cNvSpPr>
            <a:spLocks xmlns:a="http://schemas.openxmlformats.org/drawingml/2006/main" noGrp="1"/>
          </p:cNvSpPr>
          <p:nvPr/>
        </p:nvSpPr>
        <p:spPr>
          <a:xfrm xmlns:a="http://schemas.openxmlformats.org/drawingml/2006/main">
            <a:off x="5695950" y="5695950"/>
            <a:ext cx="2095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public + hidden tests</a:t>
            </a:r>
          </a:p>
        </p:txBody>
      </p:sp>
      <p:sp>
        <p:nvSpPr>
          <p:cNvPr id="15" name="s7-scope-value">
            <a:extLst xmlns:a="http://schemas.openxmlformats.org/drawingml/2006/main">
              <a:ext uri="{FF2B5EF4-FFF2-40B4-BE49-F238E27FC236}">
                <a16:creationId xmlns:a16="http://schemas.microsoft.com/office/drawing/2014/main" id="{922AB35B-C533-41BB-AD02-AFFB1B517573}"/>
              </a:ext>
            </a:extLst>
          </p:cNvPr>
          <p:cNvSpPr>
            <a:spLocks xmlns:a="http://schemas.openxmlformats.org/drawingml/2006/main" noGrp="1"/>
          </p:cNvSpPr>
          <p:nvPr/>
        </p:nvSpPr>
        <p:spPr>
          <a:xfrm xmlns:a="http://schemas.openxmlformats.org/drawingml/2006/main">
            <a:off x="8496300" y="5372100"/>
            <a:ext cx="24765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7438F5"/>
                </a:solidFill>
                <a:latin typeface="Arial"/>
                <a:ea typeface="Arial"/>
                <a:cs typeface="Arial"/>
              </a:defRPr>
            </a:pPr>
            <a:r>
              <a:t>100/100  |  0</a:t>
            </a:r>
          </a:p>
        </p:txBody>
      </p:sp>
      <p:sp>
        <p:nvSpPr>
          <p:cNvPr id="16" name="s7-scope-label">
            <a:extLst xmlns:a="http://schemas.openxmlformats.org/drawingml/2006/main">
              <a:ext uri="{FF2B5EF4-FFF2-40B4-BE49-F238E27FC236}">
                <a16:creationId xmlns:a16="http://schemas.microsoft.com/office/drawing/2014/main" id="{C4DEF181-7CED-494D-938B-9A2E2465F086}"/>
              </a:ext>
            </a:extLst>
          </p:cNvPr>
          <p:cNvSpPr>
            <a:spLocks xmlns:a="http://schemas.openxmlformats.org/drawingml/2006/main" noGrp="1"/>
          </p:cNvSpPr>
          <p:nvPr/>
        </p:nvSpPr>
        <p:spPr>
          <a:xfrm xmlns:a="http://schemas.openxmlformats.org/drawingml/2006/main">
            <a:off x="8496300" y="5695950"/>
            <a:ext cx="2724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scope score  |  forbidden files</a:t>
            </a:r>
          </a:p>
        </p:txBody>
      </p:sp>
      <p:cxnSp>
        <p:nvCxnSpPr>
          <p:cNvPr id="39" name="footer-rule-8"/>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8" name="footer-source-8">
            <a:extLst xmlns:a="http://schemas.openxmlformats.org/drawingml/2006/main">
              <a:ext uri="{FF2B5EF4-FFF2-40B4-BE49-F238E27FC236}">
                <a16:creationId xmlns:a16="http://schemas.microsoft.com/office/drawing/2014/main" id="{220EECB3-DFD2-4CD0-8ADD-37D8013B4D2A}"/>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Source: benchmarks-demo/results/adaptive-pilot-v2.2/analysis.json | protocol v2.2 | Vertex Palace 0.2.1</a:t>
            </a:r>
          </a:p>
        </p:txBody>
      </p:sp>
      <p:sp>
        <p:nvSpPr>
          <p:cNvPr id="19" name="footer-number-8">
            <a:extLst xmlns:a="http://schemas.openxmlformats.org/drawingml/2006/main">
              <a:ext uri="{FF2B5EF4-FFF2-40B4-BE49-F238E27FC236}">
                <a16:creationId xmlns:a16="http://schemas.microsoft.com/office/drawing/2014/main" id="{E0769D51-03BD-4118-AAE4-4750FF69050A}"/>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8</a:t>
            </a:r>
          </a:p>
        </p:txBody>
      </p:sp>
      <p:graphicFrame>
        <p:nvGraphicFramePr>
          <p:cNvPr id="42" name="Chart"/>
          <p:cNvGraphicFramePr/>
          <p:nvPr/>
        </p:nvGraphicFramePr>
        <p:xfrm>
          <a:off xmlns:a="http://schemas.openxmlformats.org/drawingml/2006/main" x="400050" y="1790700"/>
          <a:ext xmlns:a="http://schemas.openxmlformats.org/drawingml/2006/main" cx="3524250" cy="3257550"/>
        </p:xfrm>
        <a:graphic xmlns:a="http://schemas.openxmlformats.org/drawingml/2006/main">
          <a:graphicData uri="http://schemas.openxmlformats.org/drawingml/2006/chart">
            <c:chart xmlns:r="http://schemas.openxmlformats.org/officeDocument/2006/relationships" xmlns:c="http://schemas.openxmlformats.org/drawingml/2006/chart" r:id="R715dd326c85c4330"/>
          </a:graphicData>
        </a:graphic>
      </p:graphicFrame>
      <p:graphicFrame>
        <p:nvGraphicFramePr>
          <p:cNvPr id="43" name="Chart"/>
          <p:cNvGraphicFramePr/>
          <p:nvPr/>
        </p:nvGraphicFramePr>
        <p:xfrm>
          <a:off xmlns:a="http://schemas.openxmlformats.org/drawingml/2006/main" x="4324350" y="1790700"/>
          <a:ext xmlns:a="http://schemas.openxmlformats.org/drawingml/2006/main" cx="3524250" cy="3257550"/>
        </p:xfrm>
        <a:graphic xmlns:a="http://schemas.openxmlformats.org/drawingml/2006/main">
          <a:graphicData uri="http://schemas.openxmlformats.org/drawingml/2006/chart">
            <c:chart xmlns:r="http://schemas.openxmlformats.org/officeDocument/2006/relationships" xmlns:c="http://schemas.openxmlformats.org/drawingml/2006/chart" r:id="R87fc4dbcc3964174"/>
          </a:graphicData>
        </a:graphic>
      </p:graphicFrame>
      <p:graphicFrame>
        <p:nvGraphicFramePr>
          <p:cNvPr id="44" name="Chart"/>
          <p:cNvGraphicFramePr/>
          <p:nvPr/>
        </p:nvGraphicFramePr>
        <p:xfrm>
          <a:off xmlns:a="http://schemas.openxmlformats.org/drawingml/2006/main" x="8248650" y="1790700"/>
          <a:ext xmlns:a="http://schemas.openxmlformats.org/drawingml/2006/main" cx="3524250" cy="3257550"/>
        </p:xfrm>
        <a:graphic xmlns:a="http://schemas.openxmlformats.org/drawingml/2006/main">
          <a:graphicData uri="http://schemas.openxmlformats.org/drawingml/2006/chart">
            <c:chart xmlns:r="http://schemas.openxmlformats.org/officeDocument/2006/relationships" xmlns:c="http://schemas.openxmlformats.org/drawingml/2006/chart" r:id="Rd148523843dd4d4a"/>
          </a:graphicData>
        </a:graphic>
      </p:graphicFrame>
    </p:spTree>
    <p:extLst>
      <p:ext uri="{BB962C8B-B14F-4D97-AF65-F5344CB8AC3E}">
        <p14:creationId xmlns:p14="http://schemas.microsoft.com/office/powerpoint/2010/main" val="1879864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5" name="s8-title-chart">
            <a:extLst xmlns:a="http://schemas.openxmlformats.org/drawingml/2006/main">
              <a:ext uri="{FF2B5EF4-FFF2-40B4-BE49-F238E27FC236}">
                <a16:creationId xmlns:a16="http://schemas.microsoft.com/office/drawing/2014/main" id="{D33F3201-DA90-46CF-A32B-C6DE6EC3E6EC}"/>
              </a:ext>
            </a:extLst>
          </p:cNvPr>
          <p:cNvSpPr>
            <a:spLocks xmlns:a="http://schemas.openxmlformats.org/drawingml/2006/main" noGrp="1"/>
          </p:cNvSpPr>
          <p:nvPr/>
        </p:nvSpPr>
        <p:spPr>
          <a:xfrm xmlns:a="http://schemas.openxmlformats.org/drawingml/2006/main">
            <a:off x="400050" y="323850"/>
            <a:ext cx="11391900" cy="666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Adaptive vs Codex alone: only extra tool calls cleared zero.</a:t>
            </a:r>
          </a:p>
        </p:txBody>
      </p:sp>
      <p:sp>
        <p:nvSpPr>
          <p:cNvPr id="2" name="s8-subtitle-chart">
            <a:extLst xmlns:a="http://schemas.openxmlformats.org/drawingml/2006/main">
              <a:ext uri="{FF2B5EF4-FFF2-40B4-BE49-F238E27FC236}">
                <a16:creationId xmlns:a16="http://schemas.microsoft.com/office/drawing/2014/main" id="{2ED2D9E6-C573-4856-B762-BA7E32ABD78D}"/>
              </a:ext>
            </a:extLst>
          </p:cNvPr>
          <p:cNvSpPr>
            <a:spLocks xmlns:a="http://schemas.openxmlformats.org/drawingml/2006/main" noGrp="1"/>
          </p:cNvSpPr>
          <p:nvPr/>
        </p:nvSpPr>
        <p:spPr>
          <a:xfrm xmlns:a="http://schemas.openxmlformats.org/drawingml/2006/main">
            <a:off x="400050" y="1028700"/>
            <a:ext cx="11239500" cy="4191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13" b="0">
                <a:solidFill>
                  <a:srgbClr val="526071"/>
                </a:solidFill>
                <a:latin typeface="Arial"/>
                <a:ea typeface="Arial"/>
                <a:cs typeface="Arial"/>
              </a:defRPr>
            </a:pPr>
            <a:r>
              <a:t>Adaptive - Codex paired medians and 95% bootstrap intervals. Positive means Adaptive used more; each row has its own unit and scale.</a:t>
            </a:r>
          </a:p>
        </p:txBody>
      </p:sp>
      <p:sp>
        <p:nvSpPr>
          <p:cNvPr id="3" name="s8-negative-label">
            <a:extLst xmlns:a="http://schemas.openxmlformats.org/drawingml/2006/main">
              <a:ext uri="{FF2B5EF4-FFF2-40B4-BE49-F238E27FC236}">
                <a16:creationId xmlns:a16="http://schemas.microsoft.com/office/drawing/2014/main" id="{925AD97B-5518-48F6-B295-8543C3B02875}"/>
              </a:ext>
            </a:extLst>
          </p:cNvPr>
          <p:cNvSpPr>
            <a:spLocks xmlns:a="http://schemas.openxmlformats.org/drawingml/2006/main" noGrp="1"/>
          </p:cNvSpPr>
          <p:nvPr/>
        </p:nvSpPr>
        <p:spPr>
          <a:xfrm xmlns:a="http://schemas.openxmlformats.org/drawingml/2006/main">
            <a:off x="5334000" y="1524000"/>
            <a:ext cx="1524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0">
                <a:solidFill>
                  <a:srgbClr val="526071"/>
                </a:solidFill>
                <a:latin typeface="Arial"/>
                <a:ea typeface="Arial"/>
                <a:cs typeface="Arial"/>
              </a:defRPr>
            </a:pPr>
            <a:r>
              <a:t>FAVORS ADAPTIVE</a:t>
            </a:r>
          </a:p>
        </p:txBody>
      </p:sp>
      <p:sp>
        <p:nvSpPr>
          <p:cNvPr id="4" name="s8-zero-heading">
            <a:extLst xmlns:a="http://schemas.openxmlformats.org/drawingml/2006/main">
              <a:ext uri="{FF2B5EF4-FFF2-40B4-BE49-F238E27FC236}">
                <a16:creationId xmlns:a16="http://schemas.microsoft.com/office/drawing/2014/main" id="{F8C4999F-5A93-4B2B-A129-4DC2CB133762}"/>
              </a:ext>
            </a:extLst>
          </p:cNvPr>
          <p:cNvSpPr>
            <a:spLocks xmlns:a="http://schemas.openxmlformats.org/drawingml/2006/main" noGrp="1"/>
          </p:cNvSpPr>
          <p:nvPr/>
        </p:nvSpPr>
        <p:spPr>
          <a:xfrm xmlns:a="http://schemas.openxmlformats.org/drawingml/2006/main">
            <a:off x="7410450" y="1524000"/>
            <a:ext cx="6096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a:solidFill>
                  <a:srgbClr val="0A1224"/>
                </a:solidFill>
                <a:latin typeface="Arial"/>
                <a:ea typeface="Arial"/>
                <a:cs typeface="Arial"/>
              </a:defRPr>
            </a:pPr>
            <a:r>
              <a:t>ZERO</a:t>
            </a:r>
          </a:p>
        </p:txBody>
      </p:sp>
      <p:sp>
        <p:nvSpPr>
          <p:cNvPr id="5" name="s8-positive-label">
            <a:extLst xmlns:a="http://schemas.openxmlformats.org/drawingml/2006/main">
              <a:ext uri="{FF2B5EF4-FFF2-40B4-BE49-F238E27FC236}">
                <a16:creationId xmlns:a16="http://schemas.microsoft.com/office/drawing/2014/main" id="{70901EAD-9056-40AE-93E1-9D38FE9723E2}"/>
              </a:ext>
            </a:extLst>
          </p:cNvPr>
          <p:cNvSpPr>
            <a:spLocks xmlns:a="http://schemas.openxmlformats.org/drawingml/2006/main" noGrp="1"/>
          </p:cNvSpPr>
          <p:nvPr/>
        </p:nvSpPr>
        <p:spPr>
          <a:xfrm xmlns:a="http://schemas.openxmlformats.org/drawingml/2006/main">
            <a:off x="8382000" y="1524000"/>
            <a:ext cx="1428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75" b="0">
                <a:solidFill>
                  <a:srgbClr val="526071"/>
                </a:solidFill>
                <a:latin typeface="Arial"/>
                <a:ea typeface="Arial"/>
                <a:cs typeface="Arial"/>
              </a:defRPr>
            </a:pPr>
            <a:r>
              <a:t>ADAPTIVE USES MORE</a:t>
            </a:r>
          </a:p>
        </p:txBody>
      </p:sp>
      <p:sp>
        <p:nvSpPr>
          <p:cNvPr id="6" name="s8-calls-label">
            <a:extLst xmlns:a="http://schemas.openxmlformats.org/drawingml/2006/main">
              <a:ext uri="{FF2B5EF4-FFF2-40B4-BE49-F238E27FC236}">
                <a16:creationId xmlns:a16="http://schemas.microsoft.com/office/drawing/2014/main" id="{15CE64F7-6A03-4180-ABD1-E4971461FBA0}"/>
              </a:ext>
            </a:extLst>
          </p:cNvPr>
          <p:cNvSpPr>
            <a:spLocks xmlns:a="http://schemas.openxmlformats.org/drawingml/2006/main" noGrp="1"/>
          </p:cNvSpPr>
          <p:nvPr/>
        </p:nvSpPr>
        <p:spPr>
          <a:xfrm xmlns:a="http://schemas.openxmlformats.org/drawingml/2006/main">
            <a:off x="685800" y="180975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TOOL CALLS</a:t>
            </a:r>
          </a:p>
        </p:txBody>
      </p:sp>
      <p:sp>
        <p:nvSpPr>
          <p:cNvPr id="7" name="s8-calls-value">
            <a:extLst xmlns:a="http://schemas.openxmlformats.org/drawingml/2006/main">
              <a:ext uri="{FF2B5EF4-FFF2-40B4-BE49-F238E27FC236}">
                <a16:creationId xmlns:a16="http://schemas.microsoft.com/office/drawing/2014/main" id="{63E80F10-65DC-4EAC-90DC-52B889B41242}"/>
              </a:ext>
            </a:extLst>
          </p:cNvPr>
          <p:cNvSpPr>
            <a:spLocks xmlns:a="http://schemas.openxmlformats.org/drawingml/2006/main" noGrp="1"/>
          </p:cNvSpPr>
          <p:nvPr/>
        </p:nvSpPr>
        <p:spPr>
          <a:xfrm xmlns:a="http://schemas.openxmlformats.org/drawingml/2006/main">
            <a:off x="685800" y="2057400"/>
            <a:ext cx="180975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D4515D"/>
                </a:solidFill>
                <a:latin typeface="Arial"/>
                <a:ea typeface="Arial"/>
                <a:cs typeface="Arial"/>
              </a:defRPr>
            </a:pPr>
            <a:r>
              <a:t>+4.5 calls</a:t>
            </a:r>
          </a:p>
        </p:txBody>
      </p:sp>
      <p:sp>
        <p:nvSpPr>
          <p:cNvPr id="8" name="s8-calls-ci">
            <a:extLst xmlns:a="http://schemas.openxmlformats.org/drawingml/2006/main">
              <a:ext uri="{FF2B5EF4-FFF2-40B4-BE49-F238E27FC236}">
                <a16:creationId xmlns:a16="http://schemas.microsoft.com/office/drawing/2014/main" id="{090E57B4-063E-494E-AA6C-3D394ECD0771}"/>
              </a:ext>
            </a:extLst>
          </p:cNvPr>
          <p:cNvSpPr>
            <a:spLocks xmlns:a="http://schemas.openxmlformats.org/drawingml/2006/main" noGrp="1"/>
          </p:cNvSpPr>
          <p:nvPr/>
        </p:nvSpPr>
        <p:spPr>
          <a:xfrm xmlns:a="http://schemas.openxmlformats.org/drawingml/2006/main">
            <a:off x="2571750" y="2124075"/>
            <a:ext cx="2476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+2.5 to +6.5</a:t>
            </a:r>
          </a:p>
        </p:txBody>
      </p:sp>
      <p:cxnSp>
        <p:nvCxnSpPr>
          <p:cNvPr id="63" name="s8-calls-axis"/>
          <p:cNvCxnSpPr/>
          <p:nvPr/>
        </p:nvCxnSpPr>
        <p:spPr>
          <a:xfrm xmlns:a="http://schemas.openxmlformats.org/drawingml/2006/main">
            <a:off x="5334000" y="2266950"/>
            <a:ext cx="447675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64" name="s8-calls-zero"/>
          <p:cNvCxnSpPr/>
          <p:nvPr/>
        </p:nvCxnSpPr>
        <p:spPr>
          <a:xfrm xmlns:a="http://schemas.openxmlformats.org/drawingml/2006/main">
            <a:off x="7572375" y="2000250"/>
            <a:ext cx="953" cy="533400"/>
          </a:xfrm>
          <a:prstGeom xmlns:a="http://schemas.openxmlformats.org/drawingml/2006/main" prst="straightConnector1">
            <a:avLst/>
          </a:prstGeom>
          <a:ln xmlns:a="http://schemas.openxmlformats.org/drawingml/2006/main" w="19050">
            <a:solidFill>
              <a:srgbClr val="0A1224"/>
            </a:solidFill>
            <a:prstDash val="solid"/>
          </a:ln>
        </p:spPr>
      </p:cxnSp>
      <p:sp>
        <p:nvSpPr>
          <p:cNvPr id="11" name="s8-calls-zero-label">
            <a:extLst xmlns:a="http://schemas.openxmlformats.org/drawingml/2006/main">
              <a:ext uri="{FF2B5EF4-FFF2-40B4-BE49-F238E27FC236}">
                <a16:creationId xmlns:a16="http://schemas.microsoft.com/office/drawing/2014/main" id="{94A80265-FDB2-4AC4-B7EB-E31A9219DFF5}"/>
              </a:ext>
            </a:extLst>
          </p:cNvPr>
          <p:cNvSpPr>
            <a:spLocks xmlns:a="http://schemas.openxmlformats.org/drawingml/2006/main" noGrp="1"/>
          </p:cNvSpPr>
          <p:nvPr/>
        </p:nvSpPr>
        <p:spPr>
          <a:xfrm xmlns:a="http://schemas.openxmlformats.org/drawingml/2006/main">
            <a:off x="7458075" y="2438400"/>
            <a:ext cx="2286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66" name="s8-calls-interval"/>
          <p:cNvCxnSpPr/>
          <p:nvPr/>
        </p:nvCxnSpPr>
        <p:spPr>
          <a:xfrm xmlns:a="http://schemas.openxmlformats.org/drawingml/2006/main">
            <a:off x="8271867" y="2266950"/>
            <a:ext cx="1119188" cy="953"/>
          </a:xfrm>
          <a:prstGeom xmlns:a="http://schemas.openxmlformats.org/drawingml/2006/main" prst="straightConnector1">
            <a:avLst/>
          </a:prstGeom>
          <a:ln xmlns:a="http://schemas.openxmlformats.org/drawingml/2006/main" w="57150">
            <a:solidFill>
              <a:srgbClr val="D4515D"/>
            </a:solidFill>
            <a:prstDash val="solid"/>
          </a:ln>
        </p:spPr>
      </p:cxnSp>
      <p:cxnSp>
        <p:nvCxnSpPr>
          <p:cNvPr id="67" name="s8-calls-low-cap"/>
          <p:cNvCxnSpPr/>
          <p:nvPr/>
        </p:nvCxnSpPr>
        <p:spPr>
          <a:xfrm xmlns:a="http://schemas.openxmlformats.org/drawingml/2006/main">
            <a:off x="8271867" y="2171700"/>
            <a:ext cx="953" cy="190500"/>
          </a:xfrm>
          <a:prstGeom xmlns:a="http://schemas.openxmlformats.org/drawingml/2006/main" prst="straightConnector1">
            <a:avLst/>
          </a:prstGeom>
          <a:ln xmlns:a="http://schemas.openxmlformats.org/drawingml/2006/main" w="28575">
            <a:solidFill>
              <a:srgbClr val="D4515D"/>
            </a:solidFill>
            <a:prstDash val="solid"/>
          </a:ln>
        </p:spPr>
      </p:cxnSp>
      <p:cxnSp>
        <p:nvCxnSpPr>
          <p:cNvPr id="68" name="s8-calls-high-cap"/>
          <p:cNvCxnSpPr/>
          <p:nvPr/>
        </p:nvCxnSpPr>
        <p:spPr>
          <a:xfrm xmlns:a="http://schemas.openxmlformats.org/drawingml/2006/main">
            <a:off x="9391055" y="2171700"/>
            <a:ext cx="953" cy="190500"/>
          </a:xfrm>
          <a:prstGeom xmlns:a="http://schemas.openxmlformats.org/drawingml/2006/main" prst="straightConnector1">
            <a:avLst/>
          </a:prstGeom>
          <a:ln xmlns:a="http://schemas.openxmlformats.org/drawingml/2006/main" w="28575">
            <a:solidFill>
              <a:srgbClr val="D4515D"/>
            </a:solidFill>
            <a:prstDash val="solid"/>
          </a:ln>
        </p:spPr>
      </p:cxnSp>
      <p:sp>
        <p:nvSpPr>
          <p:cNvPr id="15" name="s8-calls-estimate">
            <a:extLst xmlns:a="http://schemas.openxmlformats.org/drawingml/2006/main">
              <a:ext uri="{FF2B5EF4-FFF2-40B4-BE49-F238E27FC236}">
                <a16:creationId xmlns:a16="http://schemas.microsoft.com/office/drawing/2014/main" id="{B7AB10C4-048F-49A7-B36C-F1B1E109F159}"/>
              </a:ext>
            </a:extLst>
          </p:cNvPr>
          <p:cNvSpPr>
            <a:spLocks xmlns:a="http://schemas.openxmlformats.org/drawingml/2006/main" noGrp="1"/>
          </p:cNvSpPr>
          <p:nvPr/>
        </p:nvSpPr>
        <p:spPr>
          <a:xfrm xmlns:a="http://schemas.openxmlformats.org/drawingml/2006/main">
            <a:off x="8764786" y="2200275"/>
            <a:ext cx="133350" cy="133350"/>
          </a:xfrm>
          <a:prstGeom xmlns:a="http://schemas.openxmlformats.org/drawingml/2006/main" prst="ellipse">
            <a:avLst/>
          </a:prstGeom>
          <a:solidFill xmlns:a="http://schemas.openxmlformats.org/drawingml/2006/main">
            <a:srgbClr val="D4515D"/>
          </a:solidFill>
          <a:ln xmlns:a="http://schemas.openxmlformats.org/drawingml/2006/main" w="0">
            <a:solidFill>
              <a:srgbClr val="D4515D"/>
            </a:solidFill>
            <a:prstDash val="solid"/>
          </a:ln>
        </p:spPr>
      </p:sp>
      <p:sp>
        <p:nvSpPr>
          <p:cNvPr id="16" name="s8-calls-status">
            <a:extLst xmlns:a="http://schemas.openxmlformats.org/drawingml/2006/main">
              <a:ext uri="{FF2B5EF4-FFF2-40B4-BE49-F238E27FC236}">
                <a16:creationId xmlns:a16="http://schemas.microsoft.com/office/drawing/2014/main" id="{EC0E9467-7C0D-4203-9792-77F1E18AFD32}"/>
              </a:ext>
            </a:extLst>
          </p:cNvPr>
          <p:cNvSpPr>
            <a:spLocks xmlns:a="http://schemas.openxmlformats.org/drawingml/2006/main" noGrp="1"/>
          </p:cNvSpPr>
          <p:nvPr/>
        </p:nvSpPr>
        <p:spPr>
          <a:xfrm xmlns:a="http://schemas.openxmlformats.org/drawingml/2006/main">
            <a:off x="10020300" y="1924050"/>
            <a:ext cx="1581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D4515D"/>
                </a:solidFill>
                <a:latin typeface="Arial"/>
                <a:ea typeface="Arial"/>
                <a:cs typeface="Arial"/>
              </a:defRPr>
            </a:pPr>
            <a:r>
              <a:t>SUPPORTED</a:t>
            </a:r>
          </a:p>
        </p:txBody>
      </p:sp>
      <p:sp>
        <p:nvSpPr>
          <p:cNvPr id="17" name="s8-calls-interpretation">
            <a:extLst xmlns:a="http://schemas.openxmlformats.org/drawingml/2006/main">
              <a:ext uri="{FF2B5EF4-FFF2-40B4-BE49-F238E27FC236}">
                <a16:creationId xmlns:a16="http://schemas.microsoft.com/office/drawing/2014/main" id="{095EE861-9E1C-426D-A4D1-57439D068F3F}"/>
              </a:ext>
            </a:extLst>
          </p:cNvPr>
          <p:cNvSpPr>
            <a:spLocks xmlns:a="http://schemas.openxmlformats.org/drawingml/2006/main" noGrp="1"/>
          </p:cNvSpPr>
          <p:nvPr/>
        </p:nvSpPr>
        <p:spPr>
          <a:xfrm xmlns:a="http://schemas.openxmlformats.org/drawingml/2006/main">
            <a:off x="10020300" y="2190750"/>
            <a:ext cx="15811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extra calls</a:t>
            </a:r>
          </a:p>
        </p:txBody>
      </p:sp>
      <p:cxnSp>
        <p:nvCxnSpPr>
          <p:cNvPr id="72" name="s8-calls-rule"/>
          <p:cNvCxnSpPr/>
          <p:nvPr/>
        </p:nvCxnSpPr>
        <p:spPr>
          <a:xfrm xmlns:a="http://schemas.openxmlformats.org/drawingml/2006/main">
            <a:off x="552450" y="2724150"/>
            <a:ext cx="11087100" cy="953"/>
          </a:xfrm>
          <a:prstGeom xmlns:a="http://schemas.openxmlformats.org/drawingml/2006/main" prst="straightConnector1">
            <a:avLst/>
          </a:prstGeom>
          <a:ln xmlns:a="http://schemas.openxmlformats.org/drawingml/2006/main" w="9525">
            <a:solidFill>
              <a:srgbClr val="EDEFF3"/>
            </a:solidFill>
            <a:prstDash val="solid"/>
          </a:ln>
        </p:spPr>
      </p:cxnSp>
      <p:sp>
        <p:nvSpPr>
          <p:cNvPr id="19" name="s8-tokens-label">
            <a:extLst xmlns:a="http://schemas.openxmlformats.org/drawingml/2006/main">
              <a:ext uri="{FF2B5EF4-FFF2-40B4-BE49-F238E27FC236}">
                <a16:creationId xmlns:a16="http://schemas.microsoft.com/office/drawing/2014/main" id="{6B7914AF-397D-465E-A91D-A3E9C15712CD}"/>
              </a:ext>
            </a:extLst>
          </p:cNvPr>
          <p:cNvSpPr>
            <a:spLocks xmlns:a="http://schemas.openxmlformats.org/drawingml/2006/main" noGrp="1"/>
          </p:cNvSpPr>
          <p:nvPr/>
        </p:nvSpPr>
        <p:spPr>
          <a:xfrm xmlns:a="http://schemas.openxmlformats.org/drawingml/2006/main">
            <a:off x="685800" y="289560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REPORTED TOKENS</a:t>
            </a:r>
          </a:p>
        </p:txBody>
      </p:sp>
      <p:sp>
        <p:nvSpPr>
          <p:cNvPr id="20" name="s8-tokens-value">
            <a:extLst xmlns:a="http://schemas.openxmlformats.org/drawingml/2006/main">
              <a:ext uri="{FF2B5EF4-FFF2-40B4-BE49-F238E27FC236}">
                <a16:creationId xmlns:a16="http://schemas.microsoft.com/office/drawing/2014/main" id="{EBBC42CF-9473-413B-9188-985DC26621DB}"/>
              </a:ext>
            </a:extLst>
          </p:cNvPr>
          <p:cNvSpPr>
            <a:spLocks xmlns:a="http://schemas.openxmlformats.org/drawingml/2006/main" noGrp="1"/>
          </p:cNvSpPr>
          <p:nvPr/>
        </p:nvSpPr>
        <p:spPr>
          <a:xfrm xmlns:a="http://schemas.openxmlformats.org/drawingml/2006/main">
            <a:off x="685800" y="3143250"/>
            <a:ext cx="180975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+30,147</a:t>
            </a:r>
          </a:p>
        </p:txBody>
      </p:sp>
      <p:sp>
        <p:nvSpPr>
          <p:cNvPr id="21" name="s8-tokens-ci">
            <a:extLst xmlns:a="http://schemas.openxmlformats.org/drawingml/2006/main">
              <a:ext uri="{FF2B5EF4-FFF2-40B4-BE49-F238E27FC236}">
                <a16:creationId xmlns:a16="http://schemas.microsoft.com/office/drawing/2014/main" id="{61DD9F68-714F-46B5-8A61-0DCE0F0680E9}"/>
              </a:ext>
            </a:extLst>
          </p:cNvPr>
          <p:cNvSpPr>
            <a:spLocks xmlns:a="http://schemas.openxmlformats.org/drawingml/2006/main" noGrp="1"/>
          </p:cNvSpPr>
          <p:nvPr/>
        </p:nvSpPr>
        <p:spPr>
          <a:xfrm xmlns:a="http://schemas.openxmlformats.org/drawingml/2006/main">
            <a:off x="2571750" y="3209925"/>
            <a:ext cx="2476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-1,518.5 to +39,219</a:t>
            </a:r>
          </a:p>
        </p:txBody>
      </p:sp>
      <p:cxnSp>
        <p:nvCxnSpPr>
          <p:cNvPr id="76" name="s8-tokens-axis"/>
          <p:cNvCxnSpPr/>
          <p:nvPr/>
        </p:nvCxnSpPr>
        <p:spPr>
          <a:xfrm xmlns:a="http://schemas.openxmlformats.org/drawingml/2006/main">
            <a:off x="5334000" y="3352800"/>
            <a:ext cx="447675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77" name="s8-tokens-zero"/>
          <p:cNvCxnSpPr/>
          <p:nvPr/>
        </p:nvCxnSpPr>
        <p:spPr>
          <a:xfrm xmlns:a="http://schemas.openxmlformats.org/drawingml/2006/main">
            <a:off x="7572375" y="3086100"/>
            <a:ext cx="953" cy="533400"/>
          </a:xfrm>
          <a:prstGeom xmlns:a="http://schemas.openxmlformats.org/drawingml/2006/main" prst="straightConnector1">
            <a:avLst/>
          </a:prstGeom>
          <a:ln xmlns:a="http://schemas.openxmlformats.org/drawingml/2006/main" w="19050">
            <a:solidFill>
              <a:srgbClr val="0A1224"/>
            </a:solidFill>
            <a:prstDash val="solid"/>
          </a:ln>
        </p:spPr>
      </p:cxnSp>
      <p:sp>
        <p:nvSpPr>
          <p:cNvPr id="24" name="s8-tokens-zero-label">
            <a:extLst xmlns:a="http://schemas.openxmlformats.org/drawingml/2006/main">
              <a:ext uri="{FF2B5EF4-FFF2-40B4-BE49-F238E27FC236}">
                <a16:creationId xmlns:a16="http://schemas.microsoft.com/office/drawing/2014/main" id="{F6360AF7-67C1-42B0-A0E8-56FF6E718641}"/>
              </a:ext>
            </a:extLst>
          </p:cNvPr>
          <p:cNvSpPr>
            <a:spLocks xmlns:a="http://schemas.openxmlformats.org/drawingml/2006/main" noGrp="1"/>
          </p:cNvSpPr>
          <p:nvPr/>
        </p:nvSpPr>
        <p:spPr>
          <a:xfrm xmlns:a="http://schemas.openxmlformats.org/drawingml/2006/main">
            <a:off x="7458075" y="3524250"/>
            <a:ext cx="2286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79" name="s8-tokens-interval"/>
          <p:cNvCxnSpPr/>
          <p:nvPr/>
        </p:nvCxnSpPr>
        <p:spPr>
          <a:xfrm xmlns:a="http://schemas.openxmlformats.org/drawingml/2006/main">
            <a:off x="7496842" y="3352800"/>
            <a:ext cx="2026351"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80" name="s8-tokens-low-cap"/>
          <p:cNvCxnSpPr/>
          <p:nvPr/>
        </p:nvCxnSpPr>
        <p:spPr>
          <a:xfrm xmlns:a="http://schemas.openxmlformats.org/drawingml/2006/main">
            <a:off x="7496842" y="3257550"/>
            <a:ext cx="953" cy="190500"/>
          </a:xfrm>
          <a:prstGeom xmlns:a="http://schemas.openxmlformats.org/drawingml/2006/main" prst="straightConnector1">
            <a:avLst/>
          </a:prstGeom>
          <a:ln xmlns:a="http://schemas.openxmlformats.org/drawingml/2006/main" w="28575">
            <a:solidFill>
              <a:srgbClr val="B87712"/>
            </a:solidFill>
            <a:prstDash val="solid"/>
          </a:ln>
        </p:spPr>
      </p:cxnSp>
      <p:cxnSp>
        <p:nvCxnSpPr>
          <p:cNvPr id="81" name="s8-tokens-high-cap"/>
          <p:cNvCxnSpPr/>
          <p:nvPr/>
        </p:nvCxnSpPr>
        <p:spPr>
          <a:xfrm xmlns:a="http://schemas.openxmlformats.org/drawingml/2006/main">
            <a:off x="9523193" y="3257550"/>
            <a:ext cx="953" cy="190500"/>
          </a:xfrm>
          <a:prstGeom xmlns:a="http://schemas.openxmlformats.org/drawingml/2006/main" prst="straightConnector1">
            <a:avLst/>
          </a:prstGeom>
          <a:ln xmlns:a="http://schemas.openxmlformats.org/drawingml/2006/main" w="28575">
            <a:solidFill>
              <a:srgbClr val="B87712"/>
            </a:solidFill>
            <a:prstDash val="solid"/>
          </a:ln>
        </p:spPr>
      </p:cxnSp>
      <p:sp>
        <p:nvSpPr>
          <p:cNvPr id="28" name="s8-tokens-estimate">
            <a:extLst xmlns:a="http://schemas.openxmlformats.org/drawingml/2006/main">
              <a:ext uri="{FF2B5EF4-FFF2-40B4-BE49-F238E27FC236}">
                <a16:creationId xmlns:a16="http://schemas.microsoft.com/office/drawing/2014/main" id="{2E95E8D4-A379-48DA-B0A5-A82546EFCCB2}"/>
              </a:ext>
            </a:extLst>
          </p:cNvPr>
          <p:cNvSpPr>
            <a:spLocks xmlns:a="http://schemas.openxmlformats.org/drawingml/2006/main" noGrp="1"/>
          </p:cNvSpPr>
          <p:nvPr/>
        </p:nvSpPr>
        <p:spPr>
          <a:xfrm xmlns:a="http://schemas.openxmlformats.org/drawingml/2006/main">
            <a:off x="9005262" y="328612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29" name="s8-tokens-status">
            <a:extLst xmlns:a="http://schemas.openxmlformats.org/drawingml/2006/main">
              <a:ext uri="{FF2B5EF4-FFF2-40B4-BE49-F238E27FC236}">
                <a16:creationId xmlns:a16="http://schemas.microsoft.com/office/drawing/2014/main" id="{2E5CF07C-F7F5-4886-B9CA-6C11EC935469}"/>
              </a:ext>
            </a:extLst>
          </p:cNvPr>
          <p:cNvSpPr>
            <a:spLocks xmlns:a="http://schemas.openxmlformats.org/drawingml/2006/main" noGrp="1"/>
          </p:cNvSpPr>
          <p:nvPr/>
        </p:nvSpPr>
        <p:spPr>
          <a:xfrm xmlns:a="http://schemas.openxmlformats.org/drawingml/2006/main">
            <a:off x="10020300" y="3009900"/>
            <a:ext cx="1581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30" name="s8-tokens-interpretation">
            <a:extLst xmlns:a="http://schemas.openxmlformats.org/drawingml/2006/main">
              <a:ext uri="{FF2B5EF4-FFF2-40B4-BE49-F238E27FC236}">
                <a16:creationId xmlns:a16="http://schemas.microsoft.com/office/drawing/2014/main" id="{B9BF52FC-46E5-45D3-A500-7992CDA09CCD}"/>
              </a:ext>
            </a:extLst>
          </p:cNvPr>
          <p:cNvSpPr>
            <a:spLocks xmlns:a="http://schemas.openxmlformats.org/drawingml/2006/main" noGrp="1"/>
          </p:cNvSpPr>
          <p:nvPr/>
        </p:nvSpPr>
        <p:spPr>
          <a:xfrm xmlns:a="http://schemas.openxmlformats.org/drawingml/2006/main">
            <a:off x="10020300" y="3276600"/>
            <a:ext cx="15811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cxnSp>
        <p:nvCxnSpPr>
          <p:cNvPr id="85" name="s8-tokens-rule"/>
          <p:cNvCxnSpPr/>
          <p:nvPr/>
        </p:nvCxnSpPr>
        <p:spPr>
          <a:xfrm xmlns:a="http://schemas.openxmlformats.org/drawingml/2006/main">
            <a:off x="552450" y="3810000"/>
            <a:ext cx="11087100" cy="953"/>
          </a:xfrm>
          <a:prstGeom xmlns:a="http://schemas.openxmlformats.org/drawingml/2006/main" prst="straightConnector1">
            <a:avLst/>
          </a:prstGeom>
          <a:ln xmlns:a="http://schemas.openxmlformats.org/drawingml/2006/main" w="9525">
            <a:solidFill>
              <a:srgbClr val="EDEFF3"/>
            </a:solidFill>
            <a:prstDash val="solid"/>
          </a:ln>
        </p:spPr>
      </p:cxnSp>
      <p:sp>
        <p:nvSpPr>
          <p:cNvPr id="32" name="s8-time-label">
            <a:extLst xmlns:a="http://schemas.openxmlformats.org/drawingml/2006/main">
              <a:ext uri="{FF2B5EF4-FFF2-40B4-BE49-F238E27FC236}">
                <a16:creationId xmlns:a16="http://schemas.microsoft.com/office/drawing/2014/main" id="{F0FCEC99-1F49-4C89-81C9-ED24B9D44E83}"/>
              </a:ext>
            </a:extLst>
          </p:cNvPr>
          <p:cNvSpPr>
            <a:spLocks xmlns:a="http://schemas.openxmlformats.org/drawingml/2006/main" noGrp="1"/>
          </p:cNvSpPr>
          <p:nvPr/>
        </p:nvSpPr>
        <p:spPr>
          <a:xfrm xmlns:a="http://schemas.openxmlformats.org/drawingml/2006/main">
            <a:off x="685800" y="3981450"/>
            <a:ext cx="17145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WALL TIME</a:t>
            </a:r>
          </a:p>
        </p:txBody>
      </p:sp>
      <p:sp>
        <p:nvSpPr>
          <p:cNvPr id="33" name="s8-time-value">
            <a:extLst xmlns:a="http://schemas.openxmlformats.org/drawingml/2006/main">
              <a:ext uri="{FF2B5EF4-FFF2-40B4-BE49-F238E27FC236}">
                <a16:creationId xmlns:a16="http://schemas.microsoft.com/office/drawing/2014/main" id="{17938925-C55A-49D5-9042-9A697773259E}"/>
              </a:ext>
            </a:extLst>
          </p:cNvPr>
          <p:cNvSpPr>
            <a:spLocks xmlns:a="http://schemas.openxmlformats.org/drawingml/2006/main" noGrp="1"/>
          </p:cNvSpPr>
          <p:nvPr/>
        </p:nvSpPr>
        <p:spPr>
          <a:xfrm xmlns:a="http://schemas.openxmlformats.org/drawingml/2006/main">
            <a:off x="685800" y="4229100"/>
            <a:ext cx="180975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B87712"/>
                </a:solidFill>
                <a:latin typeface="Arial"/>
                <a:ea typeface="Arial"/>
                <a:cs typeface="Arial"/>
              </a:defRPr>
            </a:pPr>
            <a:r>
              <a:t>+10.919s</a:t>
            </a:r>
          </a:p>
        </p:txBody>
      </p:sp>
      <p:sp>
        <p:nvSpPr>
          <p:cNvPr id="34" name="s8-time-ci">
            <a:extLst xmlns:a="http://schemas.openxmlformats.org/drawingml/2006/main">
              <a:ext uri="{FF2B5EF4-FFF2-40B4-BE49-F238E27FC236}">
                <a16:creationId xmlns:a16="http://schemas.microsoft.com/office/drawing/2014/main" id="{FFAE5AD2-FEF9-40E8-A9B6-38CF9CFAA4A2}"/>
              </a:ext>
            </a:extLst>
          </p:cNvPr>
          <p:cNvSpPr>
            <a:spLocks xmlns:a="http://schemas.openxmlformats.org/drawingml/2006/main" noGrp="1"/>
          </p:cNvSpPr>
          <p:nvPr/>
        </p:nvSpPr>
        <p:spPr>
          <a:xfrm xmlns:a="http://schemas.openxmlformats.org/drawingml/2006/main">
            <a:off x="2571750" y="4295775"/>
            <a:ext cx="24765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26071"/>
                </a:solidFill>
                <a:latin typeface="Arial"/>
                <a:ea typeface="Arial"/>
                <a:cs typeface="Arial"/>
              </a:defRPr>
            </a:pPr>
            <a:r>
              <a:t>95% CI  -1.433s to +31.043s</a:t>
            </a:r>
          </a:p>
        </p:txBody>
      </p:sp>
      <p:cxnSp>
        <p:nvCxnSpPr>
          <p:cNvPr id="89" name="s8-time-axis"/>
          <p:cNvCxnSpPr/>
          <p:nvPr/>
        </p:nvCxnSpPr>
        <p:spPr>
          <a:xfrm xmlns:a="http://schemas.openxmlformats.org/drawingml/2006/main">
            <a:off x="5334000" y="4438650"/>
            <a:ext cx="4476750" cy="953"/>
          </a:xfrm>
          <a:prstGeom xmlns:a="http://schemas.openxmlformats.org/drawingml/2006/main" prst="straightConnector1">
            <a:avLst/>
          </a:prstGeom>
          <a:ln xmlns:a="http://schemas.openxmlformats.org/drawingml/2006/main" w="19050">
            <a:solidFill>
              <a:srgbClr val="B8BCC4"/>
            </a:solidFill>
            <a:prstDash val="solid"/>
          </a:ln>
        </p:spPr>
      </p:cxnSp>
      <p:cxnSp>
        <p:nvCxnSpPr>
          <p:cNvPr id="90" name="s8-time-zero"/>
          <p:cNvCxnSpPr/>
          <p:nvPr/>
        </p:nvCxnSpPr>
        <p:spPr>
          <a:xfrm xmlns:a="http://schemas.openxmlformats.org/drawingml/2006/main">
            <a:off x="7572375" y="4171950"/>
            <a:ext cx="953" cy="533400"/>
          </a:xfrm>
          <a:prstGeom xmlns:a="http://schemas.openxmlformats.org/drawingml/2006/main" prst="straightConnector1">
            <a:avLst/>
          </a:prstGeom>
          <a:ln xmlns:a="http://schemas.openxmlformats.org/drawingml/2006/main" w="19050">
            <a:solidFill>
              <a:srgbClr val="0A1224"/>
            </a:solidFill>
            <a:prstDash val="solid"/>
          </a:ln>
        </p:spPr>
      </p:cxnSp>
      <p:sp>
        <p:nvSpPr>
          <p:cNvPr id="37" name="s8-time-zero-label">
            <a:extLst xmlns:a="http://schemas.openxmlformats.org/drawingml/2006/main">
              <a:ext uri="{FF2B5EF4-FFF2-40B4-BE49-F238E27FC236}">
                <a16:creationId xmlns:a16="http://schemas.microsoft.com/office/drawing/2014/main" id="{9DA485A4-B672-4632-8BAC-0AD10AE90D17}"/>
              </a:ext>
            </a:extLst>
          </p:cNvPr>
          <p:cNvSpPr>
            <a:spLocks xmlns:a="http://schemas.openxmlformats.org/drawingml/2006/main" noGrp="1"/>
          </p:cNvSpPr>
          <p:nvPr/>
        </p:nvSpPr>
        <p:spPr>
          <a:xfrm xmlns:a="http://schemas.openxmlformats.org/drawingml/2006/main">
            <a:off x="7458075" y="4610100"/>
            <a:ext cx="228600" cy="1714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00" b="0">
                <a:solidFill>
                  <a:srgbClr val="526071"/>
                </a:solidFill>
                <a:latin typeface="Arial"/>
                <a:ea typeface="Arial"/>
                <a:cs typeface="Arial"/>
              </a:defRPr>
            </a:pPr>
            <a:r>
              <a:t>0</a:t>
            </a:r>
          </a:p>
        </p:txBody>
      </p:sp>
      <p:cxnSp>
        <p:nvCxnSpPr>
          <p:cNvPr id="92" name="s8-time-interval"/>
          <p:cNvCxnSpPr/>
          <p:nvPr/>
        </p:nvCxnSpPr>
        <p:spPr>
          <a:xfrm xmlns:a="http://schemas.openxmlformats.org/drawingml/2006/main">
            <a:off x="7480730" y="4438650"/>
            <a:ext cx="2076956" cy="953"/>
          </a:xfrm>
          <a:prstGeom xmlns:a="http://schemas.openxmlformats.org/drawingml/2006/main" prst="straightConnector1">
            <a:avLst/>
          </a:prstGeom>
          <a:ln xmlns:a="http://schemas.openxmlformats.org/drawingml/2006/main" w="57150">
            <a:solidFill>
              <a:srgbClr val="B87712"/>
            </a:solidFill>
            <a:prstDash val="solid"/>
          </a:ln>
        </p:spPr>
      </p:cxnSp>
      <p:cxnSp>
        <p:nvCxnSpPr>
          <p:cNvPr id="93" name="s8-time-low-cap"/>
          <p:cNvCxnSpPr/>
          <p:nvPr/>
        </p:nvCxnSpPr>
        <p:spPr>
          <a:xfrm xmlns:a="http://schemas.openxmlformats.org/drawingml/2006/main">
            <a:off x="7480730" y="4343400"/>
            <a:ext cx="953" cy="190500"/>
          </a:xfrm>
          <a:prstGeom xmlns:a="http://schemas.openxmlformats.org/drawingml/2006/main" prst="straightConnector1">
            <a:avLst/>
          </a:prstGeom>
          <a:ln xmlns:a="http://schemas.openxmlformats.org/drawingml/2006/main" w="28575">
            <a:solidFill>
              <a:srgbClr val="B87712"/>
            </a:solidFill>
            <a:prstDash val="solid"/>
          </a:ln>
        </p:spPr>
      </p:cxnSp>
      <p:cxnSp>
        <p:nvCxnSpPr>
          <p:cNvPr id="94" name="s8-time-high-cap"/>
          <p:cNvCxnSpPr/>
          <p:nvPr/>
        </p:nvCxnSpPr>
        <p:spPr>
          <a:xfrm xmlns:a="http://schemas.openxmlformats.org/drawingml/2006/main">
            <a:off x="9557686" y="4343400"/>
            <a:ext cx="953" cy="190500"/>
          </a:xfrm>
          <a:prstGeom xmlns:a="http://schemas.openxmlformats.org/drawingml/2006/main" prst="straightConnector1">
            <a:avLst/>
          </a:prstGeom>
          <a:ln xmlns:a="http://schemas.openxmlformats.org/drawingml/2006/main" w="28575">
            <a:solidFill>
              <a:srgbClr val="B87712"/>
            </a:solidFill>
            <a:prstDash val="solid"/>
          </a:ln>
        </p:spPr>
      </p:cxnSp>
      <p:sp>
        <p:nvSpPr>
          <p:cNvPr id="41" name="s8-time-estimate">
            <a:extLst xmlns:a="http://schemas.openxmlformats.org/drawingml/2006/main">
              <a:ext uri="{FF2B5EF4-FFF2-40B4-BE49-F238E27FC236}">
                <a16:creationId xmlns:a16="http://schemas.microsoft.com/office/drawing/2014/main" id="{4326AF00-1CCB-4718-B2FB-8603C287806E}"/>
              </a:ext>
            </a:extLst>
          </p:cNvPr>
          <p:cNvSpPr>
            <a:spLocks xmlns:a="http://schemas.openxmlformats.org/drawingml/2006/main" noGrp="1"/>
          </p:cNvSpPr>
          <p:nvPr/>
        </p:nvSpPr>
        <p:spPr>
          <a:xfrm xmlns:a="http://schemas.openxmlformats.org/drawingml/2006/main">
            <a:off x="8204009" y="4371975"/>
            <a:ext cx="133350" cy="133350"/>
          </a:xfrm>
          <a:prstGeom xmlns:a="http://schemas.openxmlformats.org/drawingml/2006/main" prst="ellipse">
            <a:avLst/>
          </a:prstGeom>
          <a:solidFill xmlns:a="http://schemas.openxmlformats.org/drawingml/2006/main">
            <a:srgbClr val="B87712"/>
          </a:solidFill>
          <a:ln xmlns:a="http://schemas.openxmlformats.org/drawingml/2006/main" w="0">
            <a:solidFill>
              <a:srgbClr val="B87712"/>
            </a:solidFill>
            <a:prstDash val="solid"/>
          </a:ln>
        </p:spPr>
      </p:sp>
      <p:sp>
        <p:nvSpPr>
          <p:cNvPr id="42" name="s8-time-status">
            <a:extLst xmlns:a="http://schemas.openxmlformats.org/drawingml/2006/main">
              <a:ext uri="{FF2B5EF4-FFF2-40B4-BE49-F238E27FC236}">
                <a16:creationId xmlns:a16="http://schemas.microsoft.com/office/drawing/2014/main" id="{30E4F6F4-6BEF-413D-A88D-8BE5C03A2C50}"/>
              </a:ext>
            </a:extLst>
          </p:cNvPr>
          <p:cNvSpPr>
            <a:spLocks xmlns:a="http://schemas.openxmlformats.org/drawingml/2006/main" noGrp="1"/>
          </p:cNvSpPr>
          <p:nvPr/>
        </p:nvSpPr>
        <p:spPr>
          <a:xfrm xmlns:a="http://schemas.openxmlformats.org/drawingml/2006/main">
            <a:off x="10020300" y="4095750"/>
            <a:ext cx="15811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050" b="1">
                <a:solidFill>
                  <a:srgbClr val="B87712"/>
                </a:solidFill>
                <a:latin typeface="Arial"/>
                <a:ea typeface="Arial"/>
                <a:cs typeface="Arial"/>
              </a:defRPr>
            </a:pPr>
            <a:r>
              <a:t>CROSSES 0</a:t>
            </a:r>
          </a:p>
        </p:txBody>
      </p:sp>
      <p:sp>
        <p:nvSpPr>
          <p:cNvPr id="43" name="s8-time-interpretation">
            <a:extLst xmlns:a="http://schemas.openxmlformats.org/drawingml/2006/main">
              <a:ext uri="{FF2B5EF4-FFF2-40B4-BE49-F238E27FC236}">
                <a16:creationId xmlns:a16="http://schemas.microsoft.com/office/drawing/2014/main" id="{D62454B6-D89D-41AA-88AC-57A34575566F}"/>
              </a:ext>
            </a:extLst>
          </p:cNvPr>
          <p:cNvSpPr>
            <a:spLocks xmlns:a="http://schemas.openxmlformats.org/drawingml/2006/main" noGrp="1"/>
          </p:cNvSpPr>
          <p:nvPr/>
        </p:nvSpPr>
        <p:spPr>
          <a:xfrm xmlns:a="http://schemas.openxmlformats.org/drawingml/2006/main">
            <a:off x="10020300" y="4362450"/>
            <a:ext cx="15811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1125" b="0">
                <a:solidFill>
                  <a:srgbClr val="526071"/>
                </a:solidFill>
                <a:latin typeface="Arial"/>
                <a:ea typeface="Arial"/>
                <a:cs typeface="Arial"/>
              </a:defRPr>
            </a:pPr>
            <a:r>
              <a:t>inconclusive</a:t>
            </a:r>
          </a:p>
        </p:txBody>
      </p:sp>
      <p:cxnSp>
        <p:nvCxnSpPr>
          <p:cNvPr id="98" name="s8-time-rule"/>
          <p:cNvCxnSpPr/>
          <p:nvPr/>
        </p:nvCxnSpPr>
        <p:spPr>
          <a:xfrm xmlns:a="http://schemas.openxmlformats.org/drawingml/2006/main">
            <a:off x="552450" y="4895850"/>
            <a:ext cx="11087100" cy="953"/>
          </a:xfrm>
          <a:prstGeom xmlns:a="http://schemas.openxmlformats.org/drawingml/2006/main" prst="straightConnector1">
            <a:avLst/>
          </a:prstGeom>
          <a:ln xmlns:a="http://schemas.openxmlformats.org/drawingml/2006/main" w="9525">
            <a:solidFill>
              <a:srgbClr val="EDEFF3"/>
            </a:solidFill>
            <a:prstDash val="solid"/>
          </a:ln>
        </p:spPr>
      </p:cxnSp>
      <p:sp>
        <p:nvSpPr>
          <p:cNvPr id="45" name="s8-boundary-band">
            <a:extLst xmlns:a="http://schemas.openxmlformats.org/drawingml/2006/main">
              <a:ext uri="{FF2B5EF4-FFF2-40B4-BE49-F238E27FC236}">
                <a16:creationId xmlns:a16="http://schemas.microsoft.com/office/drawing/2014/main" id="{60C4B739-CF45-41D2-B70B-2F9332B2323D}"/>
              </a:ext>
            </a:extLst>
          </p:cNvPr>
          <p:cNvSpPr>
            <a:spLocks xmlns:a="http://schemas.openxmlformats.org/drawingml/2006/main" noGrp="1"/>
          </p:cNvSpPr>
          <p:nvPr/>
        </p:nvSpPr>
        <p:spPr>
          <a:xfrm xmlns:a="http://schemas.openxmlformats.org/drawingml/2006/main">
            <a:off x="552450" y="5086350"/>
            <a:ext cx="11087100" cy="914400"/>
          </a:xfrm>
          <a:prstGeom xmlns:a="http://schemas.openxmlformats.org/drawingml/2006/main" prst="roundRect">
            <a:avLst>
              <a:gd name="adj" fmla="val 8333"/>
            </a:avLst>
          </a:prstGeom>
          <a:solidFill xmlns:a="http://schemas.openxmlformats.org/drawingml/2006/main">
            <a:srgbClr val="061B3D"/>
          </a:solidFill>
          <a:ln xmlns:a="http://schemas.openxmlformats.org/drawingml/2006/main" w="0">
            <a:solidFill>
              <a:srgbClr val="061B3D"/>
            </a:solidFill>
            <a:prstDash val="solid"/>
          </a:ln>
        </p:spPr>
      </p:sp>
      <p:sp>
        <p:nvSpPr>
          <p:cNvPr id="46" name="s8-correct-value">
            <a:extLst xmlns:a="http://schemas.openxmlformats.org/drawingml/2006/main">
              <a:ext uri="{FF2B5EF4-FFF2-40B4-BE49-F238E27FC236}">
                <a16:creationId xmlns:a16="http://schemas.microsoft.com/office/drawing/2014/main" id="{4C1E1470-BF06-4B11-AC77-02281C5226C5}"/>
              </a:ext>
            </a:extLst>
          </p:cNvPr>
          <p:cNvSpPr>
            <a:spLocks xmlns:a="http://schemas.openxmlformats.org/drawingml/2006/main" noGrp="1"/>
          </p:cNvSpPr>
          <p:nvPr/>
        </p:nvSpPr>
        <p:spPr>
          <a:xfrm xmlns:a="http://schemas.openxmlformats.org/drawingml/2006/main">
            <a:off x="781050" y="5238750"/>
            <a:ext cx="142875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3B7D5"/>
                </a:solidFill>
                <a:latin typeface="Arial"/>
                <a:ea typeface="Arial"/>
                <a:cs typeface="Arial"/>
              </a:defRPr>
            </a:pPr>
            <a:r>
              <a:t>64/64</a:t>
            </a:r>
          </a:p>
        </p:txBody>
      </p:sp>
      <p:sp>
        <p:nvSpPr>
          <p:cNvPr id="47" name="s8-correct-label">
            <a:extLst xmlns:a="http://schemas.openxmlformats.org/drawingml/2006/main">
              <a:ext uri="{FF2B5EF4-FFF2-40B4-BE49-F238E27FC236}">
                <a16:creationId xmlns:a16="http://schemas.microsoft.com/office/drawing/2014/main" id="{68015CCF-D108-479D-B737-FC8BA662FB08}"/>
              </a:ext>
            </a:extLst>
          </p:cNvPr>
          <p:cNvSpPr>
            <a:spLocks xmlns:a="http://schemas.openxmlformats.org/drawingml/2006/main" noGrp="1"/>
          </p:cNvSpPr>
          <p:nvPr/>
        </p:nvSpPr>
        <p:spPr>
          <a:xfrm xmlns:a="http://schemas.openxmlformats.org/drawingml/2006/main">
            <a:off x="781050" y="5619750"/>
            <a:ext cx="2000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FFFFFF"/>
                </a:solidFill>
                <a:latin typeface="Arial"/>
                <a:ea typeface="Arial"/>
                <a:cs typeface="Arial"/>
              </a:defRPr>
            </a:pPr>
            <a:r>
              <a:t>all arms correct</a:t>
            </a:r>
          </a:p>
        </p:txBody>
      </p:sp>
      <p:sp>
        <p:nvSpPr>
          <p:cNvPr id="48" name="s8-full-value">
            <a:extLst xmlns:a="http://schemas.openxmlformats.org/drawingml/2006/main">
              <a:ext uri="{FF2B5EF4-FFF2-40B4-BE49-F238E27FC236}">
                <a16:creationId xmlns:a16="http://schemas.microsoft.com/office/drawing/2014/main" id="{233D81E0-31CD-4AB1-A200-9576B6756BBC}"/>
              </a:ext>
            </a:extLst>
          </p:cNvPr>
          <p:cNvSpPr>
            <a:spLocks xmlns:a="http://schemas.openxmlformats.org/drawingml/2006/main" noGrp="1"/>
          </p:cNvSpPr>
          <p:nvPr/>
        </p:nvSpPr>
        <p:spPr>
          <a:xfrm xmlns:a="http://schemas.openxmlformats.org/drawingml/2006/main">
            <a:off x="3505200" y="5238750"/>
            <a:ext cx="2095500" cy="361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15A777"/>
                </a:solidFill>
                <a:latin typeface="Arial"/>
                <a:ea typeface="Arial"/>
                <a:cs typeface="Arial"/>
              </a:defRPr>
            </a:pPr>
            <a:r>
              <a:t>-898.5 bytes</a:t>
            </a:r>
          </a:p>
        </p:txBody>
      </p:sp>
      <p:sp>
        <p:nvSpPr>
          <p:cNvPr id="49" name="s8-full-label">
            <a:extLst xmlns:a="http://schemas.openxmlformats.org/drawingml/2006/main">
              <a:ext uri="{FF2B5EF4-FFF2-40B4-BE49-F238E27FC236}">
                <a16:creationId xmlns:a16="http://schemas.microsoft.com/office/drawing/2014/main" id="{0678A5F7-B6E1-4641-B114-C86B2DCAEF51}"/>
              </a:ext>
            </a:extLst>
          </p:cNvPr>
          <p:cNvSpPr>
            <a:spLocks xmlns:a="http://schemas.openxmlformats.org/drawingml/2006/main" noGrp="1"/>
          </p:cNvSpPr>
          <p:nvPr/>
        </p:nvSpPr>
        <p:spPr>
          <a:xfrm xmlns:a="http://schemas.openxmlformats.org/drawingml/2006/main">
            <a:off x="3505200" y="5619750"/>
            <a:ext cx="3714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13" b="0">
                <a:solidFill>
                  <a:srgbClr val="FFFFFF"/>
                </a:solidFill>
                <a:latin typeface="Arial"/>
                <a:ea typeface="Arial"/>
                <a:cs typeface="Arial"/>
              </a:defRPr>
            </a:pPr>
            <a:r>
              <a:t>Adaptive vs Full Palace output | CI -1,972 to -550.5</a:t>
            </a:r>
          </a:p>
        </p:txBody>
      </p:sp>
      <p:sp>
        <p:nvSpPr>
          <p:cNvPr id="50" name="s8-limit-value">
            <a:extLst xmlns:a="http://schemas.openxmlformats.org/drawingml/2006/main">
              <a:ext uri="{FF2B5EF4-FFF2-40B4-BE49-F238E27FC236}">
                <a16:creationId xmlns:a16="http://schemas.microsoft.com/office/drawing/2014/main" id="{6ACEF150-ACA2-4E60-97BF-405234AFE603}"/>
              </a:ext>
            </a:extLst>
          </p:cNvPr>
          <p:cNvSpPr>
            <a:spLocks xmlns:a="http://schemas.openxmlformats.org/drawingml/2006/main" noGrp="1"/>
          </p:cNvSpPr>
          <p:nvPr/>
        </p:nvSpPr>
        <p:spPr>
          <a:xfrm xmlns:a="http://schemas.openxmlformats.org/drawingml/2006/main">
            <a:off x="8172450" y="5276850"/>
            <a:ext cx="17145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D4515D"/>
                </a:solidFill>
                <a:latin typeface="Arial"/>
                <a:ea typeface="Arial"/>
                <a:cs typeface="Arial"/>
              </a:defRPr>
            </a:pPr>
            <a:r>
              <a:t>NOT PROVEN</a:t>
            </a:r>
          </a:p>
        </p:txBody>
      </p:sp>
      <p:sp>
        <p:nvSpPr>
          <p:cNvPr id="51" name="s8-limit-label">
            <a:extLst xmlns:a="http://schemas.openxmlformats.org/drawingml/2006/main">
              <a:ext uri="{FF2B5EF4-FFF2-40B4-BE49-F238E27FC236}">
                <a16:creationId xmlns:a16="http://schemas.microsoft.com/office/drawing/2014/main" id="{87C171D0-D082-4B14-BBE0-0DB9799147B3}"/>
              </a:ext>
            </a:extLst>
          </p:cNvPr>
          <p:cNvSpPr>
            <a:spLocks xmlns:a="http://schemas.openxmlformats.org/drawingml/2006/main" noGrp="1"/>
          </p:cNvSpPr>
          <p:nvPr/>
        </p:nvSpPr>
        <p:spPr>
          <a:xfrm xmlns:a="http://schemas.openxmlformats.org/drawingml/2006/main">
            <a:off x="8172450" y="5600700"/>
            <a:ext cx="2952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0">
                <a:solidFill>
                  <a:srgbClr val="FFFFFF"/>
                </a:solidFill>
                <a:latin typeface="Arial"/>
                <a:ea typeface="Arial"/>
                <a:cs typeface="Arial"/>
              </a:defRPr>
            </a:pPr>
            <a:r>
              <a:t>universal Token or time savings</a:t>
            </a:r>
          </a:p>
        </p:txBody>
      </p:sp>
      <p:cxnSp>
        <p:nvCxnSpPr>
          <p:cNvPr id="106" name="footer-rule-9"/>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53" name="footer-source-9">
            <a:extLst xmlns:a="http://schemas.openxmlformats.org/drawingml/2006/main">
              <a:ext uri="{FF2B5EF4-FFF2-40B4-BE49-F238E27FC236}">
                <a16:creationId xmlns:a16="http://schemas.microsoft.com/office/drawing/2014/main" id="{AB7BC622-D57C-48CD-A066-7E952ED387D2}"/>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benchmarks-demo | adaptive-pilot-v2.2/analysis.json | n=16 | paired 95% bootstrap intervals</a:t>
            </a:r>
          </a:p>
        </p:txBody>
      </p:sp>
      <p:sp>
        <p:nvSpPr>
          <p:cNvPr id="54" name="footer-number-9">
            <a:extLst xmlns:a="http://schemas.openxmlformats.org/drawingml/2006/main">
              <a:ext uri="{FF2B5EF4-FFF2-40B4-BE49-F238E27FC236}">
                <a16:creationId xmlns:a16="http://schemas.microsoft.com/office/drawing/2014/main" id="{467782B0-6CFE-4BB8-9051-1BF201B48DFF}"/>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9</a:t>
            </a:r>
          </a:p>
        </p:txBody>
      </p:sp>
    </p:spTree>
    <p:extLst>
      <p:ext uri="{BB962C8B-B14F-4D97-AF65-F5344CB8AC3E}">
        <p14:creationId xmlns:p14="http://schemas.microsoft.com/office/powerpoint/2010/main" val="206890528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s9-title-scenarios">
            <a:extLst xmlns:a="http://schemas.openxmlformats.org/drawingml/2006/main">
              <a:ext uri="{FF2B5EF4-FFF2-40B4-BE49-F238E27FC236}">
                <a16:creationId xmlns:a16="http://schemas.microsoft.com/office/drawing/2014/main" id="{490C87A4-A88D-45AC-8B22-36F6219E8953}"/>
              </a:ext>
            </a:extLst>
          </p:cNvPr>
          <p:cNvSpPr>
            <a:spLocks xmlns:a="http://schemas.openxmlformats.org/drawingml/2006/main" noGrp="1"/>
          </p:cNvSpPr>
          <p:nvPr/>
        </p:nvSpPr>
        <p:spPr>
          <a:xfrm xmlns:a="http://schemas.openxmlformats.org/drawingml/2006/main">
            <a:off x="400050" y="323850"/>
            <a:ext cx="11391900" cy="666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0A1224"/>
                </a:solidFill>
                <a:latin typeface="Arial"/>
                <a:ea typeface="Arial"/>
                <a:cs typeface="Arial"/>
              </a:defRPr>
            </a:pPr>
            <a:r>
              <a:t>Task profile changed the overhead, not its direction.</a:t>
            </a:r>
          </a:p>
        </p:txBody>
      </p:sp>
      <p:sp>
        <p:nvSpPr>
          <p:cNvPr id="2" name="s9-subtitle-scenarios">
            <a:extLst xmlns:a="http://schemas.openxmlformats.org/drawingml/2006/main">
              <a:ext uri="{FF2B5EF4-FFF2-40B4-BE49-F238E27FC236}">
                <a16:creationId xmlns:a16="http://schemas.microsoft.com/office/drawing/2014/main" id="{247A0B3E-EDD2-4D53-94E6-9F49F2A2EA15}"/>
              </a:ext>
            </a:extLst>
          </p:cNvPr>
          <p:cNvSpPr>
            <a:spLocks xmlns:a="http://schemas.openxmlformats.org/drawingml/2006/main" noGrp="1"/>
          </p:cNvSpPr>
          <p:nvPr/>
        </p:nvSpPr>
        <p:spPr>
          <a:xfrm xmlns:a="http://schemas.openxmlformats.org/drawingml/2006/main">
            <a:off x="400050" y="1028700"/>
            <a:ext cx="112395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Adaptive - Codex paired medians; positive means more. These are complexity and risk profiles, not calibrated difficulty levels.</a:t>
            </a:r>
          </a:p>
        </p:txBody>
      </p:sp>
      <p:sp>
        <p:nvSpPr>
          <p:cNvPr id="3" name="s9-token-heading">
            <a:extLst xmlns:a="http://schemas.openxmlformats.org/drawingml/2006/main">
              <a:ext uri="{FF2B5EF4-FFF2-40B4-BE49-F238E27FC236}">
                <a16:creationId xmlns:a16="http://schemas.microsoft.com/office/drawing/2014/main" id="{1E3C7318-7581-4F51-B3F4-003BFA4470BA}"/>
              </a:ext>
            </a:extLst>
          </p:cNvPr>
          <p:cNvSpPr>
            <a:spLocks xmlns:a="http://schemas.openxmlformats.org/drawingml/2006/main" noGrp="1"/>
          </p:cNvSpPr>
          <p:nvPr/>
        </p:nvSpPr>
        <p:spPr>
          <a:xfrm xmlns:a="http://schemas.openxmlformats.org/drawingml/2006/main">
            <a:off x="400050" y="146685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DELTA REPORTED TOKENS</a:t>
            </a:r>
          </a:p>
        </p:txBody>
      </p:sp>
      <p:sp>
        <p:nvSpPr>
          <p:cNvPr id="4" name="s9-token-supported">
            <a:extLst xmlns:a="http://schemas.openxmlformats.org/drawingml/2006/main">
              <a:ext uri="{FF2B5EF4-FFF2-40B4-BE49-F238E27FC236}">
                <a16:creationId xmlns:a16="http://schemas.microsoft.com/office/drawing/2014/main" id="{F099451F-72D0-45F5-8088-E2F3971055E8}"/>
              </a:ext>
            </a:extLst>
          </p:cNvPr>
          <p:cNvSpPr>
            <a:spLocks xmlns:a="http://schemas.openxmlformats.org/drawingml/2006/main" noGrp="1"/>
          </p:cNvSpPr>
          <p:nvPr/>
        </p:nvSpPr>
        <p:spPr>
          <a:xfrm xmlns:a="http://schemas.openxmlformats.org/drawingml/2006/main">
            <a:off x="400050" y="1695450"/>
            <a:ext cx="3524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38" b="1">
                <a:solidFill>
                  <a:srgbClr val="D4515D"/>
                </a:solidFill>
                <a:latin typeface="Arial"/>
                <a:ea typeface="Arial"/>
                <a:cs typeface="Arial"/>
              </a:defRPr>
            </a:pPr>
            <a:r>
              <a:t>95% CI above zero: SMALL LOCAL</a:t>
            </a:r>
          </a:p>
        </p:txBody>
      </p:sp>
      <p:sp>
        <p:nvSpPr>
          <p:cNvPr id="5" name="s9-time-heading">
            <a:extLst xmlns:a="http://schemas.openxmlformats.org/drawingml/2006/main">
              <a:ext uri="{FF2B5EF4-FFF2-40B4-BE49-F238E27FC236}">
                <a16:creationId xmlns:a16="http://schemas.microsoft.com/office/drawing/2014/main" id="{A69CC942-E53A-4447-98E8-AE4C09E6ECDB}"/>
              </a:ext>
            </a:extLst>
          </p:cNvPr>
          <p:cNvSpPr>
            <a:spLocks xmlns:a="http://schemas.openxmlformats.org/drawingml/2006/main" noGrp="1"/>
          </p:cNvSpPr>
          <p:nvPr/>
        </p:nvSpPr>
        <p:spPr>
          <a:xfrm xmlns:a="http://schemas.openxmlformats.org/drawingml/2006/main">
            <a:off x="4324350" y="146685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DELTA WALL TIME (SECONDS)</a:t>
            </a:r>
          </a:p>
        </p:txBody>
      </p:sp>
      <p:sp>
        <p:nvSpPr>
          <p:cNvPr id="6" name="s9-time-supported">
            <a:extLst xmlns:a="http://schemas.openxmlformats.org/drawingml/2006/main">
              <a:ext uri="{FF2B5EF4-FFF2-40B4-BE49-F238E27FC236}">
                <a16:creationId xmlns:a16="http://schemas.microsoft.com/office/drawing/2014/main" id="{D2559516-9EE2-4394-BA46-3A451FCA0997}"/>
              </a:ext>
            </a:extLst>
          </p:cNvPr>
          <p:cNvSpPr>
            <a:spLocks xmlns:a="http://schemas.openxmlformats.org/drawingml/2006/main" noGrp="1"/>
          </p:cNvSpPr>
          <p:nvPr/>
        </p:nvSpPr>
        <p:spPr>
          <a:xfrm xmlns:a="http://schemas.openxmlformats.org/drawingml/2006/main">
            <a:off x="4324350" y="1695450"/>
            <a:ext cx="3524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38" b="1">
                <a:solidFill>
                  <a:srgbClr val="D4515D"/>
                </a:solidFill>
                <a:latin typeface="Arial"/>
                <a:ea typeface="Arial"/>
                <a:cs typeface="Arial"/>
              </a:defRPr>
            </a:pPr>
            <a:r>
              <a:t>95% CI above zero: CROSS-STACK</a:t>
            </a:r>
          </a:p>
        </p:txBody>
      </p:sp>
      <p:sp>
        <p:nvSpPr>
          <p:cNvPr id="7" name="s9-calls-heading">
            <a:extLst xmlns:a="http://schemas.openxmlformats.org/drawingml/2006/main">
              <a:ext uri="{FF2B5EF4-FFF2-40B4-BE49-F238E27FC236}">
                <a16:creationId xmlns:a16="http://schemas.microsoft.com/office/drawing/2014/main" id="{6EDF8277-E58F-4B32-AFF1-818BD4D72571}"/>
              </a:ext>
            </a:extLst>
          </p:cNvPr>
          <p:cNvSpPr>
            <a:spLocks xmlns:a="http://schemas.openxmlformats.org/drawingml/2006/main" noGrp="1"/>
          </p:cNvSpPr>
          <p:nvPr/>
        </p:nvSpPr>
        <p:spPr>
          <a:xfrm xmlns:a="http://schemas.openxmlformats.org/drawingml/2006/main">
            <a:off x="8248650" y="1466850"/>
            <a:ext cx="3524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125" b="1">
                <a:solidFill>
                  <a:srgbClr val="1677FF"/>
                </a:solidFill>
                <a:latin typeface="Arial"/>
                <a:ea typeface="Arial"/>
                <a:cs typeface="Arial"/>
              </a:defRPr>
            </a:pPr>
            <a:r>
              <a:t>DELTA TOOL CALLS</a:t>
            </a:r>
          </a:p>
        </p:txBody>
      </p:sp>
      <p:sp>
        <p:nvSpPr>
          <p:cNvPr id="8" name="s9-calls-supported">
            <a:extLst xmlns:a="http://schemas.openxmlformats.org/drawingml/2006/main">
              <a:ext uri="{FF2B5EF4-FFF2-40B4-BE49-F238E27FC236}">
                <a16:creationId xmlns:a16="http://schemas.microsoft.com/office/drawing/2014/main" id="{93A249CC-B1EE-4ABD-AA1D-CDAFBC91C386}"/>
              </a:ext>
            </a:extLst>
          </p:cNvPr>
          <p:cNvSpPr>
            <a:spLocks xmlns:a="http://schemas.openxmlformats.org/drawingml/2006/main" noGrp="1"/>
          </p:cNvSpPr>
          <p:nvPr/>
        </p:nvSpPr>
        <p:spPr>
          <a:xfrm xmlns:a="http://schemas.openxmlformats.org/drawingml/2006/main">
            <a:off x="8248650" y="1695450"/>
            <a:ext cx="3524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938" b="1">
                <a:solidFill>
                  <a:srgbClr val="D4515D"/>
                </a:solidFill>
                <a:latin typeface="Arial"/>
                <a:ea typeface="Arial"/>
                <a:cs typeface="Arial"/>
              </a:defRPr>
            </a:pPr>
            <a:r>
              <a:t>95% CI above zero: CROSS-STACK</a:t>
            </a:r>
          </a:p>
        </p:txBody>
      </p:sp>
      <p:cxnSp>
        <p:nvCxnSpPr>
          <p:cNvPr id="34" name="s9-chart-separator-1"/>
          <p:cNvCxnSpPr/>
          <p:nvPr/>
        </p:nvCxnSpPr>
        <p:spPr>
          <a:xfrm xmlns:a="http://schemas.openxmlformats.org/drawingml/2006/main">
            <a:off x="4133850" y="1866900"/>
            <a:ext cx="953" cy="3143250"/>
          </a:xfrm>
          <a:prstGeom xmlns:a="http://schemas.openxmlformats.org/drawingml/2006/main" prst="straightConnector1">
            <a:avLst/>
          </a:prstGeom>
          <a:ln xmlns:a="http://schemas.openxmlformats.org/drawingml/2006/main" w="19050">
            <a:solidFill>
              <a:srgbClr val="EDEFF3"/>
            </a:solidFill>
            <a:prstDash val="solid"/>
          </a:ln>
        </p:spPr>
      </p:cxnSp>
      <p:cxnSp>
        <p:nvCxnSpPr>
          <p:cNvPr id="35" name="s9-chart-separator-2"/>
          <p:cNvCxnSpPr/>
          <p:nvPr/>
        </p:nvCxnSpPr>
        <p:spPr>
          <a:xfrm xmlns:a="http://schemas.openxmlformats.org/drawingml/2006/main">
            <a:off x="8058150" y="1866900"/>
            <a:ext cx="953" cy="3143250"/>
          </a:xfrm>
          <a:prstGeom xmlns:a="http://schemas.openxmlformats.org/drawingml/2006/main" prst="straightConnector1">
            <a:avLst/>
          </a:prstGeom>
          <a:ln xmlns:a="http://schemas.openxmlformats.org/drawingml/2006/main" w="19050">
            <a:solidFill>
              <a:srgbClr val="EDEFF3"/>
            </a:solidFill>
            <a:prstDash val="solid"/>
          </a:ln>
        </p:spPr>
      </p:cxnSp>
      <p:sp>
        <p:nvSpPr>
          <p:cNvPr id="11" name="s9-modes-band">
            <a:extLst xmlns:a="http://schemas.openxmlformats.org/drawingml/2006/main">
              <a:ext uri="{FF2B5EF4-FFF2-40B4-BE49-F238E27FC236}">
                <a16:creationId xmlns:a16="http://schemas.microsoft.com/office/drawing/2014/main" id="{E346093E-771E-467D-82C0-7216D1D5D5CB}"/>
              </a:ext>
            </a:extLst>
          </p:cNvPr>
          <p:cNvSpPr>
            <a:spLocks xmlns:a="http://schemas.openxmlformats.org/drawingml/2006/main" noGrp="1"/>
          </p:cNvSpPr>
          <p:nvPr/>
        </p:nvSpPr>
        <p:spPr>
          <a:xfrm xmlns:a="http://schemas.openxmlformats.org/drawingml/2006/main">
            <a:off x="552450" y="5219700"/>
            <a:ext cx="11087100" cy="781050"/>
          </a:xfrm>
          <a:prstGeom xmlns:a="http://schemas.openxmlformats.org/drawingml/2006/main" prst="roundRect">
            <a:avLst>
              <a:gd name="adj" fmla="val 9756"/>
            </a:avLst>
          </a:prstGeom>
          <a:solidFill xmlns:a="http://schemas.openxmlformats.org/drawingml/2006/main">
            <a:srgbClr val="061B3D"/>
          </a:solidFill>
          <a:ln xmlns:a="http://schemas.openxmlformats.org/drawingml/2006/main" w="0">
            <a:solidFill>
              <a:srgbClr val="061B3D"/>
            </a:solidFill>
            <a:prstDash val="solid"/>
          </a:ln>
        </p:spPr>
      </p:sp>
      <p:sp>
        <p:nvSpPr>
          <p:cNvPr id="12" name="s9-mode-local-k">
            <a:extLst xmlns:a="http://schemas.openxmlformats.org/drawingml/2006/main">
              <a:ext uri="{FF2B5EF4-FFF2-40B4-BE49-F238E27FC236}">
                <a16:creationId xmlns:a16="http://schemas.microsoft.com/office/drawing/2014/main" id="{B3AD6222-56DF-424E-ACCF-BB5BB47E0809}"/>
              </a:ext>
            </a:extLst>
          </p:cNvPr>
          <p:cNvSpPr>
            <a:spLocks xmlns:a="http://schemas.openxmlformats.org/drawingml/2006/main" noGrp="1"/>
          </p:cNvSpPr>
          <p:nvPr/>
        </p:nvSpPr>
        <p:spPr>
          <a:xfrm xmlns:a="http://schemas.openxmlformats.org/drawingml/2006/main">
            <a:off x="781050" y="5353050"/>
            <a:ext cx="18097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3B7D5"/>
                </a:solidFill>
                <a:latin typeface="Arial"/>
                <a:ea typeface="Arial"/>
                <a:cs typeface="Arial"/>
              </a:defRPr>
            </a:pPr>
            <a:r>
              <a:t>SMALL LOCAL</a:t>
            </a:r>
          </a:p>
        </p:txBody>
      </p:sp>
      <p:sp>
        <p:nvSpPr>
          <p:cNvPr id="13" name="s9-mode-local-v">
            <a:extLst xmlns:a="http://schemas.openxmlformats.org/drawingml/2006/main">
              <a:ext uri="{FF2B5EF4-FFF2-40B4-BE49-F238E27FC236}">
                <a16:creationId xmlns:a16="http://schemas.microsoft.com/office/drawing/2014/main" id="{D21724B1-D1C4-4613-8885-B013C7911BE7}"/>
              </a:ext>
            </a:extLst>
          </p:cNvPr>
          <p:cNvSpPr>
            <a:spLocks xmlns:a="http://schemas.openxmlformats.org/drawingml/2006/main" noGrp="1"/>
          </p:cNvSpPr>
          <p:nvPr/>
        </p:nvSpPr>
        <p:spPr>
          <a:xfrm xmlns:a="http://schemas.openxmlformats.org/drawingml/2006/main">
            <a:off x="781050" y="5619750"/>
            <a:ext cx="1809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FFFFFF"/>
                </a:solidFill>
                <a:latin typeface="Consolas"/>
                <a:ea typeface="Consolas"/>
                <a:cs typeface="Consolas"/>
              </a:defRPr>
            </a:pPr>
            <a:r>
              <a:t>route-lite</a:t>
            </a:r>
          </a:p>
        </p:txBody>
      </p:sp>
      <p:sp>
        <p:nvSpPr>
          <p:cNvPr id="14" name="s9-mode-cross-k">
            <a:extLst xmlns:a="http://schemas.openxmlformats.org/drawingml/2006/main">
              <a:ext uri="{FF2B5EF4-FFF2-40B4-BE49-F238E27FC236}">
                <a16:creationId xmlns:a16="http://schemas.microsoft.com/office/drawing/2014/main" id="{63A86B3E-0DFC-4139-8288-0F3C0709D9BC}"/>
              </a:ext>
            </a:extLst>
          </p:cNvPr>
          <p:cNvSpPr>
            <a:spLocks xmlns:a="http://schemas.openxmlformats.org/drawingml/2006/main" noGrp="1"/>
          </p:cNvSpPr>
          <p:nvPr/>
        </p:nvSpPr>
        <p:spPr>
          <a:xfrm xmlns:a="http://schemas.openxmlformats.org/drawingml/2006/main">
            <a:off x="3219450" y="5353050"/>
            <a:ext cx="19050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1677FF"/>
                </a:solidFill>
                <a:latin typeface="Arial"/>
                <a:ea typeface="Arial"/>
                <a:cs typeface="Arial"/>
              </a:defRPr>
            </a:pPr>
            <a:r>
              <a:t>CROSS-STACK</a:t>
            </a:r>
          </a:p>
        </p:txBody>
      </p:sp>
      <p:sp>
        <p:nvSpPr>
          <p:cNvPr id="15" name="s9-mode-cross-v">
            <a:extLst xmlns:a="http://schemas.openxmlformats.org/drawingml/2006/main">
              <a:ext uri="{FF2B5EF4-FFF2-40B4-BE49-F238E27FC236}">
                <a16:creationId xmlns:a16="http://schemas.microsoft.com/office/drawing/2014/main" id="{536F9430-799E-4761-B584-D1002EFCAFE6}"/>
              </a:ext>
            </a:extLst>
          </p:cNvPr>
          <p:cNvSpPr>
            <a:spLocks xmlns:a="http://schemas.openxmlformats.org/drawingml/2006/main" noGrp="1"/>
          </p:cNvSpPr>
          <p:nvPr/>
        </p:nvSpPr>
        <p:spPr>
          <a:xfrm xmlns:a="http://schemas.openxmlformats.org/drawingml/2006/main">
            <a:off x="3219450" y="5619750"/>
            <a:ext cx="19050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FFFFFF"/>
                </a:solidFill>
                <a:latin typeface="Consolas"/>
                <a:ea typeface="Consolas"/>
                <a:cs typeface="Consolas"/>
              </a:defRPr>
            </a:pPr>
            <a:r>
              <a:t>full-palace</a:t>
            </a:r>
          </a:p>
        </p:txBody>
      </p:sp>
      <p:sp>
        <p:nvSpPr>
          <p:cNvPr id="16" name="s9-mode-useful-k">
            <a:extLst xmlns:a="http://schemas.openxmlformats.org/drawingml/2006/main">
              <a:ext uri="{FF2B5EF4-FFF2-40B4-BE49-F238E27FC236}">
                <a16:creationId xmlns:a16="http://schemas.microsoft.com/office/drawing/2014/main" id="{0D47FFFC-23A4-42DC-81EB-DFC9F5EBA4F7}"/>
              </a:ext>
            </a:extLst>
          </p:cNvPr>
          <p:cNvSpPr>
            <a:spLocks xmlns:a="http://schemas.openxmlformats.org/drawingml/2006/main" noGrp="1"/>
          </p:cNvSpPr>
          <p:nvPr/>
        </p:nvSpPr>
        <p:spPr>
          <a:xfrm xmlns:a="http://schemas.openxmlformats.org/drawingml/2006/main">
            <a:off x="5924550" y="5353050"/>
            <a:ext cx="2000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7438F5"/>
                </a:solidFill>
                <a:latin typeface="Arial"/>
                <a:ea typeface="Arial"/>
                <a:cs typeface="Arial"/>
              </a:defRPr>
            </a:pPr>
            <a:r>
              <a:t>USEFUL MEMORY</a:t>
            </a:r>
          </a:p>
        </p:txBody>
      </p:sp>
      <p:sp>
        <p:nvSpPr>
          <p:cNvPr id="17" name="s9-mode-useful-v">
            <a:extLst xmlns:a="http://schemas.openxmlformats.org/drawingml/2006/main">
              <a:ext uri="{FF2B5EF4-FFF2-40B4-BE49-F238E27FC236}">
                <a16:creationId xmlns:a16="http://schemas.microsoft.com/office/drawing/2014/main" id="{2DC1152B-B8FE-48BC-A843-5E473662FBFB}"/>
              </a:ext>
            </a:extLst>
          </p:cNvPr>
          <p:cNvSpPr>
            <a:spLocks xmlns:a="http://schemas.openxmlformats.org/drawingml/2006/main" noGrp="1"/>
          </p:cNvSpPr>
          <p:nvPr/>
        </p:nvSpPr>
        <p:spPr>
          <a:xfrm xmlns:a="http://schemas.openxmlformats.org/drawingml/2006/main">
            <a:off x="5924550" y="5619750"/>
            <a:ext cx="2000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FFFFFF"/>
                </a:solidFill>
                <a:latin typeface="Consolas"/>
                <a:ea typeface="Consolas"/>
                <a:cs typeface="Consolas"/>
              </a:defRPr>
            </a:pPr>
            <a:r>
              <a:t>full-palace*</a:t>
            </a:r>
          </a:p>
        </p:txBody>
      </p:sp>
      <p:sp>
        <p:nvSpPr>
          <p:cNvPr id="18" name="s9-mode-stale-k">
            <a:extLst xmlns:a="http://schemas.openxmlformats.org/drawingml/2006/main">
              <a:ext uri="{FF2B5EF4-FFF2-40B4-BE49-F238E27FC236}">
                <a16:creationId xmlns:a16="http://schemas.microsoft.com/office/drawing/2014/main" id="{EAD3F819-31CF-4F60-8456-7C0788737847}"/>
              </a:ext>
            </a:extLst>
          </p:cNvPr>
          <p:cNvSpPr>
            <a:spLocks xmlns:a="http://schemas.openxmlformats.org/drawingml/2006/main" noGrp="1"/>
          </p:cNvSpPr>
          <p:nvPr/>
        </p:nvSpPr>
        <p:spPr>
          <a:xfrm xmlns:a="http://schemas.openxmlformats.org/drawingml/2006/main">
            <a:off x="8820150" y="5353050"/>
            <a:ext cx="200025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975" b="1">
                <a:solidFill>
                  <a:srgbClr val="B87712"/>
                </a:solidFill>
                <a:latin typeface="Arial"/>
                <a:ea typeface="Arial"/>
                <a:cs typeface="Arial"/>
              </a:defRPr>
            </a:pPr>
            <a:r>
              <a:t>STALE MEMORY</a:t>
            </a:r>
          </a:p>
        </p:txBody>
      </p:sp>
      <p:sp>
        <p:nvSpPr>
          <p:cNvPr id="19" name="s9-mode-stale-v">
            <a:extLst xmlns:a="http://schemas.openxmlformats.org/drawingml/2006/main">
              <a:ext uri="{FF2B5EF4-FFF2-40B4-BE49-F238E27FC236}">
                <a16:creationId xmlns:a16="http://schemas.microsoft.com/office/drawing/2014/main" id="{77B23FBB-1C0C-45D1-BF6D-181C8CDFD019}"/>
              </a:ext>
            </a:extLst>
          </p:cNvPr>
          <p:cNvSpPr>
            <a:spLocks xmlns:a="http://schemas.openxmlformats.org/drawingml/2006/main" noGrp="1"/>
          </p:cNvSpPr>
          <p:nvPr/>
        </p:nvSpPr>
        <p:spPr>
          <a:xfrm xmlns:a="http://schemas.openxmlformats.org/drawingml/2006/main">
            <a:off x="8820150" y="5619750"/>
            <a:ext cx="21907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FFFFFF"/>
                </a:solidFill>
                <a:latin typeface="Consolas"/>
                <a:ea typeface="Consolas"/>
                <a:cs typeface="Consolas"/>
              </a:defRPr>
            </a:pPr>
            <a:r>
              <a:t>guarded-memory</a:t>
            </a:r>
          </a:p>
        </p:txBody>
      </p:sp>
      <p:cxnSp>
        <p:nvCxnSpPr>
          <p:cNvPr id="45" name="footer-rule-10"/>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1" name="footer-source-10">
            <a:extLst xmlns:a="http://schemas.openxmlformats.org/drawingml/2006/main">
              <a:ext uri="{FF2B5EF4-FFF2-40B4-BE49-F238E27FC236}">
                <a16:creationId xmlns:a16="http://schemas.microsoft.com/office/drawing/2014/main" id="{F6BB45ED-27D9-4D05-B596-272BA1EBADAB}"/>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Each profile n=4 paired trials | *v0.2.1 omitted seeded useful memory | benchmarks-demo adaptive-pilot-v2.2</a:t>
            </a:r>
          </a:p>
        </p:txBody>
      </p:sp>
      <p:sp>
        <p:nvSpPr>
          <p:cNvPr id="22" name="footer-number-10">
            <a:extLst xmlns:a="http://schemas.openxmlformats.org/drawingml/2006/main">
              <a:ext uri="{FF2B5EF4-FFF2-40B4-BE49-F238E27FC236}">
                <a16:creationId xmlns:a16="http://schemas.microsoft.com/office/drawing/2014/main" id="{340116DF-CB72-4164-86DF-01208AFCF37B}"/>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10</a:t>
            </a:r>
          </a:p>
        </p:txBody>
      </p:sp>
      <p:graphicFrame>
        <p:nvGraphicFramePr>
          <p:cNvPr id="48" name="Chart"/>
          <p:cNvGraphicFramePr/>
          <p:nvPr/>
        </p:nvGraphicFramePr>
        <p:xfrm>
          <a:off xmlns:a="http://schemas.openxmlformats.org/drawingml/2006/main" x="400050" y="1924050"/>
          <a:ext xmlns:a="http://schemas.openxmlformats.org/drawingml/2006/main" cx="3524250" cy="3124200"/>
        </p:xfrm>
        <a:graphic xmlns:a="http://schemas.openxmlformats.org/drawingml/2006/main">
          <a:graphicData uri="http://schemas.openxmlformats.org/drawingml/2006/chart">
            <c:chart xmlns:r="http://schemas.openxmlformats.org/officeDocument/2006/relationships" xmlns:c="http://schemas.openxmlformats.org/drawingml/2006/chart" r:id="R77030457b1cf4a4f"/>
          </a:graphicData>
        </a:graphic>
      </p:graphicFrame>
      <p:graphicFrame>
        <p:nvGraphicFramePr>
          <p:cNvPr id="49" name="Chart"/>
          <p:cNvGraphicFramePr/>
          <p:nvPr/>
        </p:nvGraphicFramePr>
        <p:xfrm>
          <a:off xmlns:a="http://schemas.openxmlformats.org/drawingml/2006/main" x="4324350" y="1924050"/>
          <a:ext xmlns:a="http://schemas.openxmlformats.org/drawingml/2006/main" cx="3524250" cy="3124200"/>
        </p:xfrm>
        <a:graphic xmlns:a="http://schemas.openxmlformats.org/drawingml/2006/main">
          <a:graphicData uri="http://schemas.openxmlformats.org/drawingml/2006/chart">
            <c:chart xmlns:r="http://schemas.openxmlformats.org/officeDocument/2006/relationships" xmlns:c="http://schemas.openxmlformats.org/drawingml/2006/chart" r:id="Rad3b65f0ebb84ce3"/>
          </a:graphicData>
        </a:graphic>
      </p:graphicFrame>
      <p:graphicFrame>
        <p:nvGraphicFramePr>
          <p:cNvPr id="50" name="Chart"/>
          <p:cNvGraphicFramePr/>
          <p:nvPr/>
        </p:nvGraphicFramePr>
        <p:xfrm>
          <a:off xmlns:a="http://schemas.openxmlformats.org/drawingml/2006/main" x="8248650" y="1924050"/>
          <a:ext xmlns:a="http://schemas.openxmlformats.org/drawingml/2006/main" cx="3524250" cy="3124200"/>
        </p:xfrm>
        <a:graphic xmlns:a="http://schemas.openxmlformats.org/drawingml/2006/main">
          <a:graphicData uri="http://schemas.openxmlformats.org/drawingml/2006/chart">
            <c:chart xmlns:r="http://schemas.openxmlformats.org/officeDocument/2006/relationships" xmlns:c="http://schemas.openxmlformats.org/drawingml/2006/chart" r:id="Rd51e70c1ee3b482e"/>
          </a:graphicData>
        </a:graphic>
      </p:graphicFrame>
    </p:spTree>
    <p:extLst>
      <p:ext uri="{BB962C8B-B14F-4D97-AF65-F5344CB8AC3E}">
        <p14:creationId xmlns:p14="http://schemas.microsoft.com/office/powerpoint/2010/main" val="40856187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s10-title">
            <a:extLst xmlns:a="http://schemas.openxmlformats.org/drawingml/2006/main">
              <a:ext uri="{FF2B5EF4-FFF2-40B4-BE49-F238E27FC236}">
                <a16:creationId xmlns:a16="http://schemas.microsoft.com/office/drawing/2014/main" id="{2FE881B6-CDC2-4AF3-90B1-C871B811D3DC}"/>
              </a:ext>
            </a:extLst>
          </p:cNvPr>
          <p:cNvSpPr>
            <a:spLocks xmlns:a="http://schemas.openxmlformats.org/drawingml/2006/main" noGrp="1"/>
          </p:cNvSpPr>
          <p:nvPr/>
        </p:nvSpPr>
        <p:spPr>
          <a:xfrm xmlns:a="http://schemas.openxmlformats.org/drawingml/2006/main">
            <a:off x="495300" y="323850"/>
            <a:ext cx="1095375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0A1224"/>
                </a:solidFill>
                <a:latin typeface="Arial"/>
                <a:ea typeface="Arial"/>
                <a:cs typeface="Arial"/>
              </a:defRPr>
            </a:pPr>
            <a:r>
              <a:t>Independent gates verify the product.</a:t>
            </a:r>
          </a:p>
        </p:txBody>
      </p:sp>
      <p:sp>
        <p:nvSpPr>
          <p:cNvPr id="2" name="s10-subtitle">
            <a:extLst xmlns:a="http://schemas.openxmlformats.org/drawingml/2006/main">
              <a:ext uri="{FF2B5EF4-FFF2-40B4-BE49-F238E27FC236}">
                <a16:creationId xmlns:a16="http://schemas.microsoft.com/office/drawing/2014/main" id="{7F6C4EC7-53CC-4EE4-ACCC-95D2B21CF5C7}"/>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Repository tests, cross-platform CI, and public-distribution checks verify different failure modes.</a:t>
            </a:r>
          </a:p>
        </p:txBody>
      </p:sp>
      <p:sp>
        <p:nvSpPr>
          <p:cNvPr id="3" name="s10-tests">
            <a:extLst xmlns:a="http://schemas.openxmlformats.org/drawingml/2006/main">
              <a:ext uri="{FF2B5EF4-FFF2-40B4-BE49-F238E27FC236}">
                <a16:creationId xmlns:a16="http://schemas.microsoft.com/office/drawing/2014/main" id="{CD624CEB-BE56-4DB3-AE22-FEA98564B1AF}"/>
              </a:ext>
            </a:extLst>
          </p:cNvPr>
          <p:cNvSpPr>
            <a:spLocks xmlns:a="http://schemas.openxmlformats.org/drawingml/2006/main" noGrp="1"/>
          </p:cNvSpPr>
          <p:nvPr/>
        </p:nvSpPr>
        <p:spPr>
          <a:xfrm xmlns:a="http://schemas.openxmlformats.org/drawingml/2006/main">
            <a:off x="552450" y="1695450"/>
            <a:ext cx="3295650" cy="3771900"/>
          </a:xfrm>
          <a:prstGeom xmlns:a="http://schemas.openxmlformats.org/drawingml/2006/main" prst="roundRect">
            <a:avLst>
              <a:gd name="adj" fmla="val 2312"/>
            </a:avLst>
          </a:prstGeom>
          <a:solidFill xmlns:a="http://schemas.openxmlformats.org/drawingml/2006/main">
            <a:srgbClr val="EAF1FF"/>
          </a:solidFill>
          <a:ln xmlns:a="http://schemas.openxmlformats.org/drawingml/2006/main" w="0">
            <a:solidFill>
              <a:srgbClr val="EAF1FF"/>
            </a:solidFill>
            <a:prstDash val="solid"/>
          </a:ln>
        </p:spPr>
      </p:sp>
      <p:sp>
        <p:nvSpPr>
          <p:cNvPr id="4" name="s10-tests-k">
            <a:extLst xmlns:a="http://schemas.openxmlformats.org/drawingml/2006/main">
              <a:ext uri="{FF2B5EF4-FFF2-40B4-BE49-F238E27FC236}">
                <a16:creationId xmlns:a16="http://schemas.microsoft.com/office/drawing/2014/main" id="{E2D9F889-DD37-4357-891A-6B0E6292E509}"/>
              </a:ext>
            </a:extLst>
          </p:cNvPr>
          <p:cNvSpPr>
            <a:spLocks xmlns:a="http://schemas.openxmlformats.org/drawingml/2006/main" noGrp="1"/>
          </p:cNvSpPr>
          <p:nvPr/>
        </p:nvSpPr>
        <p:spPr>
          <a:xfrm xmlns:a="http://schemas.openxmlformats.org/drawingml/2006/main">
            <a:off x="819150" y="1981200"/>
            <a:ext cx="2762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677FF"/>
                </a:solidFill>
                <a:latin typeface="Arial"/>
                <a:ea typeface="Arial"/>
                <a:cs typeface="Arial"/>
              </a:defRPr>
            </a:pPr>
            <a:r>
              <a:t>PRODUCT TESTS</a:t>
            </a:r>
          </a:p>
        </p:txBody>
      </p:sp>
      <p:sp>
        <p:nvSpPr>
          <p:cNvPr id="5" name="s10-tests-stat">
            <a:extLst xmlns:a="http://schemas.openxmlformats.org/drawingml/2006/main">
              <a:ext uri="{FF2B5EF4-FFF2-40B4-BE49-F238E27FC236}">
                <a16:creationId xmlns:a16="http://schemas.microsoft.com/office/drawing/2014/main" id="{85F75355-D596-42CE-A953-DF38567DEDA8}"/>
              </a:ext>
            </a:extLst>
          </p:cNvPr>
          <p:cNvSpPr>
            <a:spLocks xmlns:a="http://schemas.openxmlformats.org/drawingml/2006/main" noGrp="1"/>
          </p:cNvSpPr>
          <p:nvPr/>
        </p:nvSpPr>
        <p:spPr>
          <a:xfrm xmlns:a="http://schemas.openxmlformats.org/drawingml/2006/main">
            <a:off x="81915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677FF"/>
                </a:solidFill>
                <a:latin typeface="Arial"/>
                <a:ea typeface="Arial"/>
                <a:cs typeface="Arial"/>
              </a:defRPr>
            </a:pPr>
            <a:r>
              <a:t>55</a:t>
            </a:r>
          </a:p>
        </p:txBody>
      </p:sp>
      <p:sp>
        <p:nvSpPr>
          <p:cNvPr id="6" name="s10-tests-label">
            <a:extLst xmlns:a="http://schemas.openxmlformats.org/drawingml/2006/main">
              <a:ext uri="{FF2B5EF4-FFF2-40B4-BE49-F238E27FC236}">
                <a16:creationId xmlns:a16="http://schemas.microsoft.com/office/drawing/2014/main" id="{12A41594-59A5-449C-B376-9EF3DCB0021B}"/>
              </a:ext>
            </a:extLst>
          </p:cNvPr>
          <p:cNvSpPr>
            <a:spLocks xmlns:a="http://schemas.openxmlformats.org/drawingml/2006/main" noGrp="1"/>
          </p:cNvSpPr>
          <p:nvPr/>
        </p:nvSpPr>
        <p:spPr>
          <a:xfrm xmlns:a="http://schemas.openxmlformats.org/drawingml/2006/main">
            <a:off x="81915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automated tests</a:t>
            </a:r>
          </a:p>
        </p:txBody>
      </p:sp>
      <p:cxnSp>
        <p:nvCxnSpPr>
          <p:cNvPr id="45" name="s10-tests-rule"/>
          <p:cNvCxnSpPr/>
          <p:nvPr/>
        </p:nvCxnSpPr>
        <p:spPr>
          <a:xfrm xmlns:a="http://schemas.openxmlformats.org/drawingml/2006/main">
            <a:off x="819150" y="3429000"/>
            <a:ext cx="2762250" cy="953"/>
          </a:xfrm>
          <a:prstGeom xmlns:a="http://schemas.openxmlformats.org/drawingml/2006/main" prst="straightConnector1">
            <a:avLst/>
          </a:prstGeom>
          <a:ln xmlns:a="http://schemas.openxmlformats.org/drawingml/2006/main" w="9525">
            <a:solidFill>
              <a:srgbClr val="B8BCC4"/>
            </a:solidFill>
            <a:prstDash val="solid"/>
          </a:ln>
        </p:spPr>
      </p:cxnSp>
      <p:sp>
        <p:nvSpPr>
          <p:cNvPr id="8" name="s10-tests-body">
            <a:extLst xmlns:a="http://schemas.openxmlformats.org/drawingml/2006/main">
              <a:ext uri="{FF2B5EF4-FFF2-40B4-BE49-F238E27FC236}">
                <a16:creationId xmlns:a16="http://schemas.microsoft.com/office/drawing/2014/main" id="{39975618-BCAA-4E6F-9571-989D408F03BC}"/>
              </a:ext>
            </a:extLst>
          </p:cNvPr>
          <p:cNvSpPr>
            <a:spLocks xmlns:a="http://schemas.openxmlformats.org/drawingml/2006/main" noGrp="1"/>
          </p:cNvSpPr>
          <p:nvPr/>
        </p:nvSpPr>
        <p:spPr>
          <a:xfrm xmlns:a="http://schemas.openxmlformats.org/drawingml/2006/main">
            <a:off x="819150" y="3638550"/>
            <a:ext cx="1200150" cy="990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Consolas"/>
                <a:ea typeface="Consolas"/>
                <a:cs typeface="Consolas"/>
              </a:defRPr>
            </a:pPr>
            <a:r>
              <a:t>51  Core
 2  CLI
 2  MCP</a:t>
            </a:r>
          </a:p>
        </p:txBody>
      </p:sp>
      <p:sp>
        <p:nvSpPr>
          <p:cNvPr id="9" name="s10-test-d1">
            <a:extLst xmlns:a="http://schemas.openxmlformats.org/drawingml/2006/main">
              <a:ext uri="{FF2B5EF4-FFF2-40B4-BE49-F238E27FC236}">
                <a16:creationId xmlns:a16="http://schemas.microsoft.com/office/drawing/2014/main" id="{B42CD31D-DF69-4541-A646-5F5EF1534443}"/>
              </a:ext>
            </a:extLst>
          </p:cNvPr>
          <p:cNvSpPr>
            <a:spLocks xmlns:a="http://schemas.openxmlformats.org/drawingml/2006/main" noGrp="1"/>
          </p:cNvSpPr>
          <p:nvPr/>
        </p:nvSpPr>
        <p:spPr>
          <a:xfrm xmlns:a="http://schemas.openxmlformats.org/drawingml/2006/main">
            <a:off x="2152650" y="37052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0" name="s10-test-d2">
            <a:extLst xmlns:a="http://schemas.openxmlformats.org/drawingml/2006/main">
              <a:ext uri="{FF2B5EF4-FFF2-40B4-BE49-F238E27FC236}">
                <a16:creationId xmlns:a16="http://schemas.microsoft.com/office/drawing/2014/main" id="{E5B7B3BD-5F5F-402E-81FC-223E4EEA686B}"/>
              </a:ext>
            </a:extLst>
          </p:cNvPr>
          <p:cNvSpPr>
            <a:spLocks xmlns:a="http://schemas.openxmlformats.org/drawingml/2006/main" noGrp="1"/>
          </p:cNvSpPr>
          <p:nvPr/>
        </p:nvSpPr>
        <p:spPr>
          <a:xfrm xmlns:a="http://schemas.openxmlformats.org/drawingml/2006/main">
            <a:off x="2152650" y="406717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1" name="s10-test-d3">
            <a:extLst xmlns:a="http://schemas.openxmlformats.org/drawingml/2006/main">
              <a:ext uri="{FF2B5EF4-FFF2-40B4-BE49-F238E27FC236}">
                <a16:creationId xmlns:a16="http://schemas.microsoft.com/office/drawing/2014/main" id="{2F68107B-6F84-46F4-B3CF-D31BE48760B5}"/>
              </a:ext>
            </a:extLst>
          </p:cNvPr>
          <p:cNvSpPr>
            <a:spLocks xmlns:a="http://schemas.openxmlformats.org/drawingml/2006/main" noGrp="1"/>
          </p:cNvSpPr>
          <p:nvPr/>
        </p:nvSpPr>
        <p:spPr>
          <a:xfrm xmlns:a="http://schemas.openxmlformats.org/drawingml/2006/main">
            <a:off x="2152650" y="4429125"/>
            <a:ext cx="95250" cy="9525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12" name="s10-test-g1">
            <a:extLst xmlns:a="http://schemas.openxmlformats.org/drawingml/2006/main">
              <a:ext uri="{FF2B5EF4-FFF2-40B4-BE49-F238E27FC236}">
                <a16:creationId xmlns:a16="http://schemas.microsoft.com/office/drawing/2014/main" id="{D49A8BA1-B2FF-41DB-A218-420ED2A5E779}"/>
              </a:ext>
            </a:extLst>
          </p:cNvPr>
          <p:cNvSpPr>
            <a:spLocks xmlns:a="http://schemas.openxmlformats.org/drawingml/2006/main" noGrp="1"/>
          </p:cNvSpPr>
          <p:nvPr/>
        </p:nvSpPr>
        <p:spPr>
          <a:xfrm xmlns:a="http://schemas.openxmlformats.org/drawingml/2006/main">
            <a:off x="2343150" y="364807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Build</a:t>
            </a:r>
          </a:p>
        </p:txBody>
      </p:sp>
      <p:sp>
        <p:nvSpPr>
          <p:cNvPr id="13" name="s10-test-g2">
            <a:extLst xmlns:a="http://schemas.openxmlformats.org/drawingml/2006/main">
              <a:ext uri="{FF2B5EF4-FFF2-40B4-BE49-F238E27FC236}">
                <a16:creationId xmlns:a16="http://schemas.microsoft.com/office/drawing/2014/main" id="{3BD52E27-71AB-4A1D-8EE7-A2973F78F16C}"/>
              </a:ext>
            </a:extLst>
          </p:cNvPr>
          <p:cNvSpPr>
            <a:spLocks xmlns:a="http://schemas.openxmlformats.org/drawingml/2006/main" noGrp="1"/>
          </p:cNvSpPr>
          <p:nvPr/>
        </p:nvSpPr>
        <p:spPr>
          <a:xfrm xmlns:a="http://schemas.openxmlformats.org/drawingml/2006/main">
            <a:off x="2343150" y="4010025"/>
            <a:ext cx="123825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5A777"/>
                </a:solidFill>
                <a:latin typeface="Consolas"/>
                <a:ea typeface="Consolas"/>
                <a:cs typeface="Consolas"/>
              </a:defRPr>
            </a:pPr>
            <a:r>
              <a:t>TS lint</a:t>
            </a:r>
          </a:p>
        </p:txBody>
      </p:sp>
      <p:sp>
        <p:nvSpPr>
          <p:cNvPr id="14" name="s10-test-g3">
            <a:extLst xmlns:a="http://schemas.openxmlformats.org/drawingml/2006/main">
              <a:ext uri="{FF2B5EF4-FFF2-40B4-BE49-F238E27FC236}">
                <a16:creationId xmlns:a16="http://schemas.microsoft.com/office/drawing/2014/main" id="{7178DBE7-62F6-46FE-8560-CF395127AA5F}"/>
              </a:ext>
            </a:extLst>
          </p:cNvPr>
          <p:cNvSpPr>
            <a:spLocks xmlns:a="http://schemas.openxmlformats.org/drawingml/2006/main" noGrp="1"/>
          </p:cNvSpPr>
          <p:nvPr/>
        </p:nvSpPr>
        <p:spPr>
          <a:xfrm xmlns:a="http://schemas.openxmlformats.org/drawingml/2006/main">
            <a:off x="2343150" y="4371975"/>
            <a:ext cx="1409700" cy="2476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Consolas"/>
                <a:ea typeface="Consolas"/>
                <a:cs typeface="Consolas"/>
              </a:defRPr>
            </a:pPr>
            <a:r>
              <a:t>MCP smoke: 10 tools</a:t>
            </a:r>
          </a:p>
        </p:txBody>
      </p:sp>
      <p:sp>
        <p:nvSpPr>
          <p:cNvPr id="15" name="s10-tests-foot">
            <a:extLst xmlns:a="http://schemas.openxmlformats.org/drawingml/2006/main">
              <a:ext uri="{FF2B5EF4-FFF2-40B4-BE49-F238E27FC236}">
                <a16:creationId xmlns:a16="http://schemas.microsoft.com/office/drawing/2014/main" id="{7278619A-F3D9-4EEC-9E71-8C0B7FD7A7B3}"/>
              </a:ext>
            </a:extLst>
          </p:cNvPr>
          <p:cNvSpPr>
            <a:spLocks xmlns:a="http://schemas.openxmlformats.org/drawingml/2006/main" noGrp="1"/>
          </p:cNvSpPr>
          <p:nvPr/>
        </p:nvSpPr>
        <p:spPr>
          <a:xfrm xmlns:a="http://schemas.openxmlformats.org/drawingml/2006/main">
            <a:off x="819150" y="4914900"/>
            <a:ext cx="276225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0A1224"/>
                </a:solidFill>
                <a:latin typeface="Arial"/>
                <a:ea typeface="Arial"/>
                <a:cs typeface="Arial"/>
              </a:defRPr>
            </a:pPr>
            <a:r>
              <a:t>Release-routing matrix passed</a:t>
            </a:r>
          </a:p>
        </p:txBody>
      </p:sp>
      <p:sp>
        <p:nvSpPr>
          <p:cNvPr id="16" name="s10-ci">
            <a:extLst xmlns:a="http://schemas.openxmlformats.org/drawingml/2006/main">
              <a:ext uri="{FF2B5EF4-FFF2-40B4-BE49-F238E27FC236}">
                <a16:creationId xmlns:a16="http://schemas.microsoft.com/office/drawing/2014/main" id="{04B025BA-52FF-4416-8DDD-C8D8EDE0ABD4}"/>
              </a:ext>
            </a:extLst>
          </p:cNvPr>
          <p:cNvSpPr>
            <a:spLocks xmlns:a="http://schemas.openxmlformats.org/drawingml/2006/main" noGrp="1"/>
          </p:cNvSpPr>
          <p:nvPr/>
        </p:nvSpPr>
        <p:spPr>
          <a:xfrm xmlns:a="http://schemas.openxmlformats.org/drawingml/2006/main">
            <a:off x="4114800" y="1695450"/>
            <a:ext cx="3543300" cy="3771900"/>
          </a:xfrm>
          <a:prstGeom xmlns:a="http://schemas.openxmlformats.org/drawingml/2006/main" prst="roundRect">
            <a:avLst>
              <a:gd name="adj" fmla="val 2151"/>
            </a:avLst>
          </a:prstGeom>
          <a:solidFill xmlns:a="http://schemas.openxmlformats.org/drawingml/2006/main">
            <a:srgbClr val="EDEFF3"/>
          </a:solidFill>
          <a:ln xmlns:a="http://schemas.openxmlformats.org/drawingml/2006/main" w="0">
            <a:solidFill>
              <a:srgbClr val="EDEFF3"/>
            </a:solidFill>
            <a:prstDash val="solid"/>
          </a:ln>
        </p:spPr>
      </p:sp>
      <p:sp>
        <p:nvSpPr>
          <p:cNvPr id="17" name="s10-ci-k">
            <a:extLst xmlns:a="http://schemas.openxmlformats.org/drawingml/2006/main">
              <a:ext uri="{FF2B5EF4-FFF2-40B4-BE49-F238E27FC236}">
                <a16:creationId xmlns:a16="http://schemas.microsoft.com/office/drawing/2014/main" id="{047C6D61-7D50-4D03-853B-B728E47F09A4}"/>
              </a:ext>
            </a:extLst>
          </p:cNvPr>
          <p:cNvSpPr>
            <a:spLocks xmlns:a="http://schemas.openxmlformats.org/drawingml/2006/main" noGrp="1"/>
          </p:cNvSpPr>
          <p:nvPr/>
        </p:nvSpPr>
        <p:spPr>
          <a:xfrm xmlns:a="http://schemas.openxmlformats.org/drawingml/2006/main">
            <a:off x="4381500" y="1981200"/>
            <a:ext cx="30099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526071"/>
                </a:solidFill>
                <a:latin typeface="Arial"/>
                <a:ea typeface="Arial"/>
                <a:cs typeface="Arial"/>
              </a:defRPr>
            </a:pPr>
            <a:r>
              <a:t>GITHUB ACTIONS</a:t>
            </a:r>
          </a:p>
        </p:txBody>
      </p:sp>
      <p:sp>
        <p:nvSpPr>
          <p:cNvPr id="18" name="s10-ci-stat">
            <a:extLst xmlns:a="http://schemas.openxmlformats.org/drawingml/2006/main">
              <a:ext uri="{FF2B5EF4-FFF2-40B4-BE49-F238E27FC236}">
                <a16:creationId xmlns:a16="http://schemas.microsoft.com/office/drawing/2014/main" id="{EABDD5C6-E777-44F5-AE03-503B93AE8098}"/>
              </a:ext>
            </a:extLst>
          </p:cNvPr>
          <p:cNvSpPr>
            <a:spLocks xmlns:a="http://schemas.openxmlformats.org/drawingml/2006/main" noGrp="1"/>
          </p:cNvSpPr>
          <p:nvPr/>
        </p:nvSpPr>
        <p:spPr>
          <a:xfrm xmlns:a="http://schemas.openxmlformats.org/drawingml/2006/main">
            <a:off x="4381500" y="2324100"/>
            <a:ext cx="1714500" cy="685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5A777"/>
                </a:solidFill>
                <a:latin typeface="Arial"/>
                <a:ea typeface="Arial"/>
                <a:cs typeface="Arial"/>
              </a:defRPr>
            </a:pPr>
            <a:r>
              <a:t>5/5</a:t>
            </a:r>
          </a:p>
        </p:txBody>
      </p:sp>
      <p:sp>
        <p:nvSpPr>
          <p:cNvPr id="19" name="s10-ci-label">
            <a:extLst xmlns:a="http://schemas.openxmlformats.org/drawingml/2006/main">
              <a:ext uri="{FF2B5EF4-FFF2-40B4-BE49-F238E27FC236}">
                <a16:creationId xmlns:a16="http://schemas.microsoft.com/office/drawing/2014/main" id="{CCAE25DC-1CB7-4C28-A133-2CEB1F986587}"/>
              </a:ext>
            </a:extLst>
          </p:cNvPr>
          <p:cNvSpPr>
            <a:spLocks xmlns:a="http://schemas.openxmlformats.org/drawingml/2006/main" noGrp="1"/>
          </p:cNvSpPr>
          <p:nvPr/>
        </p:nvSpPr>
        <p:spPr>
          <a:xfrm xmlns:a="http://schemas.openxmlformats.org/drawingml/2006/main">
            <a:off x="4381500" y="299085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Arial"/>
                <a:ea typeface="Arial"/>
                <a:cs typeface="Arial"/>
              </a:defRPr>
            </a:pPr>
            <a:r>
              <a:t>jobs passed</a:t>
            </a:r>
          </a:p>
        </p:txBody>
      </p:sp>
      <p:cxnSp>
        <p:nvCxnSpPr>
          <p:cNvPr id="58" name="s10-ci-rule"/>
          <p:cNvCxnSpPr/>
          <p:nvPr/>
        </p:nvCxnSpPr>
        <p:spPr>
          <a:xfrm xmlns:a="http://schemas.openxmlformats.org/drawingml/2006/main">
            <a:off x="4381500" y="3429000"/>
            <a:ext cx="3009900" cy="953"/>
          </a:xfrm>
          <a:prstGeom xmlns:a="http://schemas.openxmlformats.org/drawingml/2006/main" prst="straightConnector1">
            <a:avLst/>
          </a:prstGeom>
          <a:ln xmlns:a="http://schemas.openxmlformats.org/drawingml/2006/main" w="9525">
            <a:solidFill>
              <a:srgbClr val="B8BCC4"/>
            </a:solidFill>
            <a:prstDash val="solid"/>
          </a:ln>
        </p:spPr>
      </p:cxnSp>
      <p:sp>
        <p:nvSpPr>
          <p:cNvPr id="21" name="s10-ci-d1">
            <a:extLst xmlns:a="http://schemas.openxmlformats.org/drawingml/2006/main">
              <a:ext uri="{FF2B5EF4-FFF2-40B4-BE49-F238E27FC236}">
                <a16:creationId xmlns:a16="http://schemas.microsoft.com/office/drawing/2014/main" id="{1BD6F0FD-7C2E-42F6-9E6E-D7861AD88847}"/>
              </a:ext>
            </a:extLst>
          </p:cNvPr>
          <p:cNvSpPr>
            <a:spLocks xmlns:a="http://schemas.openxmlformats.org/drawingml/2006/main" noGrp="1"/>
          </p:cNvSpPr>
          <p:nvPr/>
        </p:nvSpPr>
        <p:spPr>
          <a:xfrm xmlns:a="http://schemas.openxmlformats.org/drawingml/2006/main">
            <a:off x="4400550" y="37147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2" name="s10-ci-d2">
            <a:extLst xmlns:a="http://schemas.openxmlformats.org/drawingml/2006/main">
              <a:ext uri="{FF2B5EF4-FFF2-40B4-BE49-F238E27FC236}">
                <a16:creationId xmlns:a16="http://schemas.microsoft.com/office/drawing/2014/main" id="{EB6317F4-7E73-4D28-89E7-8B09D8E6B7D0}"/>
              </a:ext>
            </a:extLst>
          </p:cNvPr>
          <p:cNvSpPr>
            <a:spLocks xmlns:a="http://schemas.openxmlformats.org/drawingml/2006/main" noGrp="1"/>
          </p:cNvSpPr>
          <p:nvPr/>
        </p:nvSpPr>
        <p:spPr>
          <a:xfrm xmlns:a="http://schemas.openxmlformats.org/drawingml/2006/main">
            <a:off x="4400550" y="40576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3" name="s10-ci-d3">
            <a:extLst xmlns:a="http://schemas.openxmlformats.org/drawingml/2006/main">
              <a:ext uri="{FF2B5EF4-FFF2-40B4-BE49-F238E27FC236}">
                <a16:creationId xmlns:a16="http://schemas.microsoft.com/office/drawing/2014/main" id="{AD6182AD-161E-46C8-A093-8C86F3283070}"/>
              </a:ext>
            </a:extLst>
          </p:cNvPr>
          <p:cNvSpPr>
            <a:spLocks xmlns:a="http://schemas.openxmlformats.org/drawingml/2006/main" noGrp="1"/>
          </p:cNvSpPr>
          <p:nvPr/>
        </p:nvSpPr>
        <p:spPr>
          <a:xfrm xmlns:a="http://schemas.openxmlformats.org/drawingml/2006/main">
            <a:off x="4400550" y="44005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4" name="s10-ci-d4">
            <a:extLst xmlns:a="http://schemas.openxmlformats.org/drawingml/2006/main">
              <a:ext uri="{FF2B5EF4-FFF2-40B4-BE49-F238E27FC236}">
                <a16:creationId xmlns:a16="http://schemas.microsoft.com/office/drawing/2014/main" id="{8F4F1688-083F-49BD-870A-5D13308A2AC3}"/>
              </a:ext>
            </a:extLst>
          </p:cNvPr>
          <p:cNvSpPr>
            <a:spLocks xmlns:a="http://schemas.openxmlformats.org/drawingml/2006/main" noGrp="1"/>
          </p:cNvSpPr>
          <p:nvPr/>
        </p:nvSpPr>
        <p:spPr>
          <a:xfrm xmlns:a="http://schemas.openxmlformats.org/drawingml/2006/main">
            <a:off x="4400550" y="47434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5" name="s10-ci-d5">
            <a:extLst xmlns:a="http://schemas.openxmlformats.org/drawingml/2006/main">
              <a:ext uri="{FF2B5EF4-FFF2-40B4-BE49-F238E27FC236}">
                <a16:creationId xmlns:a16="http://schemas.microsoft.com/office/drawing/2014/main" id="{312C2C5A-23B2-4886-953E-39A741981924}"/>
              </a:ext>
            </a:extLst>
          </p:cNvPr>
          <p:cNvSpPr>
            <a:spLocks xmlns:a="http://schemas.openxmlformats.org/drawingml/2006/main" noGrp="1"/>
          </p:cNvSpPr>
          <p:nvPr/>
        </p:nvSpPr>
        <p:spPr>
          <a:xfrm xmlns:a="http://schemas.openxmlformats.org/drawingml/2006/main">
            <a:off x="4400550" y="5086350"/>
            <a:ext cx="114300" cy="114300"/>
          </a:xfrm>
          <a:prstGeom xmlns:a="http://schemas.openxmlformats.org/drawingml/2006/main" prst="ellipse">
            <a:avLst/>
          </a:prstGeom>
          <a:solidFill xmlns:a="http://schemas.openxmlformats.org/drawingml/2006/main">
            <a:srgbClr val="15A777"/>
          </a:solidFill>
          <a:ln xmlns:a="http://schemas.openxmlformats.org/drawingml/2006/main" w="0">
            <a:solidFill>
              <a:srgbClr val="15A777"/>
            </a:solidFill>
            <a:prstDash val="solid"/>
          </a:ln>
        </p:spPr>
      </p:sp>
      <p:sp>
        <p:nvSpPr>
          <p:cNvPr id="26" name="s10-ci-r1">
            <a:extLst xmlns:a="http://schemas.openxmlformats.org/drawingml/2006/main">
              <a:ext uri="{FF2B5EF4-FFF2-40B4-BE49-F238E27FC236}">
                <a16:creationId xmlns:a16="http://schemas.microsoft.com/office/drawing/2014/main" id="{198FC196-2519-46D5-BC33-079501786D3C}"/>
              </a:ext>
            </a:extLst>
          </p:cNvPr>
          <p:cNvSpPr>
            <a:spLocks xmlns:a="http://schemas.openxmlformats.org/drawingml/2006/main" noGrp="1"/>
          </p:cNvSpPr>
          <p:nvPr/>
        </p:nvSpPr>
        <p:spPr>
          <a:xfrm xmlns:a="http://schemas.openxmlformats.org/drawingml/2006/main">
            <a:off x="4629150" y="36480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20</a:t>
            </a:r>
          </a:p>
        </p:txBody>
      </p:sp>
      <p:sp>
        <p:nvSpPr>
          <p:cNvPr id="27" name="s10-ci-r2">
            <a:extLst xmlns:a="http://schemas.openxmlformats.org/drawingml/2006/main">
              <a:ext uri="{FF2B5EF4-FFF2-40B4-BE49-F238E27FC236}">
                <a16:creationId xmlns:a16="http://schemas.microsoft.com/office/drawing/2014/main" id="{70928128-E289-405C-9AA5-B492C9CF1DDA}"/>
              </a:ext>
            </a:extLst>
          </p:cNvPr>
          <p:cNvSpPr>
            <a:spLocks xmlns:a="http://schemas.openxmlformats.org/drawingml/2006/main" noGrp="1"/>
          </p:cNvSpPr>
          <p:nvPr/>
        </p:nvSpPr>
        <p:spPr>
          <a:xfrm xmlns:a="http://schemas.openxmlformats.org/drawingml/2006/main">
            <a:off x="4629150" y="39909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Windows / Node 20</a:t>
            </a:r>
          </a:p>
        </p:txBody>
      </p:sp>
      <p:sp>
        <p:nvSpPr>
          <p:cNvPr id="28" name="s10-ci-r3">
            <a:extLst xmlns:a="http://schemas.openxmlformats.org/drawingml/2006/main">
              <a:ext uri="{FF2B5EF4-FFF2-40B4-BE49-F238E27FC236}">
                <a16:creationId xmlns:a16="http://schemas.microsoft.com/office/drawing/2014/main" id="{A5DC7058-AF42-4B46-A01A-810F471DEC66}"/>
              </a:ext>
            </a:extLst>
          </p:cNvPr>
          <p:cNvSpPr>
            <a:spLocks xmlns:a="http://schemas.openxmlformats.org/drawingml/2006/main" noGrp="1"/>
          </p:cNvSpPr>
          <p:nvPr/>
        </p:nvSpPr>
        <p:spPr>
          <a:xfrm xmlns:a="http://schemas.openxmlformats.org/drawingml/2006/main">
            <a:off x="4629150" y="43338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macOS / Node 20</a:t>
            </a:r>
          </a:p>
        </p:txBody>
      </p:sp>
      <p:sp>
        <p:nvSpPr>
          <p:cNvPr id="29" name="s10-ci-r4">
            <a:extLst xmlns:a="http://schemas.openxmlformats.org/drawingml/2006/main">
              <a:ext uri="{FF2B5EF4-FFF2-40B4-BE49-F238E27FC236}">
                <a16:creationId xmlns:a16="http://schemas.microsoft.com/office/drawing/2014/main" id="{A3D57DDC-9B8D-4A09-B87E-5EE15CB77CE7}"/>
              </a:ext>
            </a:extLst>
          </p:cNvPr>
          <p:cNvSpPr>
            <a:spLocks xmlns:a="http://schemas.openxmlformats.org/drawingml/2006/main" noGrp="1"/>
          </p:cNvSpPr>
          <p:nvPr/>
        </p:nvSpPr>
        <p:spPr>
          <a:xfrm xmlns:a="http://schemas.openxmlformats.org/drawingml/2006/main">
            <a:off x="4629150" y="46767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Ubuntu / Node 24</a:t>
            </a:r>
          </a:p>
        </p:txBody>
      </p:sp>
      <p:sp>
        <p:nvSpPr>
          <p:cNvPr id="30" name="s10-ci-r5">
            <a:extLst xmlns:a="http://schemas.openxmlformats.org/drawingml/2006/main">
              <a:ext uri="{FF2B5EF4-FFF2-40B4-BE49-F238E27FC236}">
                <a16:creationId xmlns:a16="http://schemas.microsoft.com/office/drawing/2014/main" id="{0BCAD5D5-C8E3-4DA5-B969-4363DCD947EB}"/>
              </a:ext>
            </a:extLst>
          </p:cNvPr>
          <p:cNvSpPr>
            <a:spLocks xmlns:a="http://schemas.openxmlformats.org/drawingml/2006/main" noGrp="1"/>
          </p:cNvSpPr>
          <p:nvPr/>
        </p:nvSpPr>
        <p:spPr>
          <a:xfrm xmlns:a="http://schemas.openxmlformats.org/drawingml/2006/main">
            <a:off x="4629150" y="5019675"/>
            <a:ext cx="27241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0">
                <a:solidFill>
                  <a:srgbClr val="0A1224"/>
                </a:solidFill>
                <a:latin typeface="Consolas"/>
                <a:ea typeface="Consolas"/>
                <a:cs typeface="Consolas"/>
              </a:defRPr>
            </a:pPr>
            <a:r>
              <a:t>npm package dry run</a:t>
            </a:r>
          </a:p>
        </p:txBody>
      </p:sp>
      <p:sp>
        <p:nvSpPr>
          <p:cNvPr id="31" name="s10-release">
            <a:extLst xmlns:a="http://schemas.openxmlformats.org/drawingml/2006/main">
              <a:ext uri="{FF2B5EF4-FFF2-40B4-BE49-F238E27FC236}">
                <a16:creationId xmlns:a16="http://schemas.microsoft.com/office/drawing/2014/main" id="{EFD08C94-A3BB-4A03-A9A1-46742A04FB35}"/>
              </a:ext>
            </a:extLst>
          </p:cNvPr>
          <p:cNvSpPr>
            <a:spLocks xmlns:a="http://schemas.openxmlformats.org/drawingml/2006/main" noGrp="1"/>
          </p:cNvSpPr>
          <p:nvPr/>
        </p:nvSpPr>
        <p:spPr>
          <a:xfrm xmlns:a="http://schemas.openxmlformats.org/drawingml/2006/main">
            <a:off x="7924800" y="1695450"/>
            <a:ext cx="3714750" cy="3771900"/>
          </a:xfrm>
          <a:prstGeom xmlns:a="http://schemas.openxmlformats.org/drawingml/2006/main" prst="roundRect">
            <a:avLst>
              <a:gd name="adj" fmla="val 2051"/>
            </a:avLst>
          </a:prstGeom>
          <a:solidFill xmlns:a="http://schemas.openxmlformats.org/drawingml/2006/main">
            <a:srgbClr val="E9F7F2"/>
          </a:solidFill>
          <a:ln xmlns:a="http://schemas.openxmlformats.org/drawingml/2006/main" w="0">
            <a:solidFill>
              <a:srgbClr val="E9F7F2"/>
            </a:solidFill>
            <a:prstDash val="solid"/>
          </a:ln>
        </p:spPr>
      </p:sp>
      <p:sp>
        <p:nvSpPr>
          <p:cNvPr id="32" name="s10-release-k">
            <a:extLst xmlns:a="http://schemas.openxmlformats.org/drawingml/2006/main">
              <a:ext uri="{FF2B5EF4-FFF2-40B4-BE49-F238E27FC236}">
                <a16:creationId xmlns:a16="http://schemas.microsoft.com/office/drawing/2014/main" id="{E657489E-120A-47F9-ABBC-2DC26D5C13C7}"/>
              </a:ext>
            </a:extLst>
          </p:cNvPr>
          <p:cNvSpPr>
            <a:spLocks xmlns:a="http://schemas.openxmlformats.org/drawingml/2006/main" noGrp="1"/>
          </p:cNvSpPr>
          <p:nvPr/>
        </p:nvSpPr>
        <p:spPr>
          <a:xfrm xmlns:a="http://schemas.openxmlformats.org/drawingml/2006/main">
            <a:off x="8191500" y="1981200"/>
            <a:ext cx="31813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125" b="1">
                <a:solidFill>
                  <a:srgbClr val="15A777"/>
                </a:solidFill>
                <a:latin typeface="Arial"/>
                <a:ea typeface="Arial"/>
                <a:cs typeface="Arial"/>
              </a:defRPr>
            </a:pPr>
            <a:r>
              <a:t>PUBLIC DISTRIBUTION</a:t>
            </a:r>
          </a:p>
        </p:txBody>
      </p:sp>
      <p:sp>
        <p:nvSpPr>
          <p:cNvPr id="33" name="s10-release-stat">
            <a:extLst xmlns:a="http://schemas.openxmlformats.org/drawingml/2006/main">
              <a:ext uri="{FF2B5EF4-FFF2-40B4-BE49-F238E27FC236}">
                <a16:creationId xmlns:a16="http://schemas.microsoft.com/office/drawing/2014/main" id="{759893C6-0369-4D77-85CD-0961FF999931}"/>
              </a:ext>
            </a:extLst>
          </p:cNvPr>
          <p:cNvSpPr>
            <a:spLocks xmlns:a="http://schemas.openxmlformats.org/drawingml/2006/main" noGrp="1"/>
          </p:cNvSpPr>
          <p:nvPr/>
        </p:nvSpPr>
        <p:spPr>
          <a:xfrm xmlns:a="http://schemas.openxmlformats.org/drawingml/2006/main">
            <a:off x="8191500" y="2400300"/>
            <a:ext cx="3181350" cy="5143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5A777"/>
                </a:solidFill>
                <a:latin typeface="Arial"/>
                <a:ea typeface="Arial"/>
                <a:cs typeface="Arial"/>
              </a:defRPr>
            </a:pPr>
            <a:r>
              <a:t>VERIFIED</a:t>
            </a:r>
          </a:p>
        </p:txBody>
      </p:sp>
      <p:sp>
        <p:nvSpPr>
          <p:cNvPr id="34" name="s10-release-list">
            <a:extLst xmlns:a="http://schemas.openxmlformats.org/drawingml/2006/main">
              <a:ext uri="{FF2B5EF4-FFF2-40B4-BE49-F238E27FC236}">
                <a16:creationId xmlns:a16="http://schemas.microsoft.com/office/drawing/2014/main" id="{EB9BD444-2CDA-4D89-ADB3-551D43DEBFDA}"/>
              </a:ext>
            </a:extLst>
          </p:cNvPr>
          <p:cNvSpPr>
            <a:spLocks xmlns:a="http://schemas.openxmlformats.org/drawingml/2006/main" noGrp="1"/>
          </p:cNvSpPr>
          <p:nvPr/>
        </p:nvSpPr>
        <p:spPr>
          <a:xfrm xmlns:a="http://schemas.openxmlformats.org/drawingml/2006/main">
            <a:off x="8191500" y="3181350"/>
            <a:ext cx="3181350" cy="1752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0A1224"/>
                </a:solidFill>
                <a:latin typeface="Consolas"/>
                <a:ea typeface="Consolas"/>
                <a:cs typeface="Consolas"/>
              </a:defRPr>
            </a:pPr>
            <a:r>
              <a:t>clean tarball install
public npm install
CLI release route
MCP init + 10 tools
candidate SHA = registry
tag / version / ref / pin</a:t>
            </a:r>
          </a:p>
        </p:txBody>
      </p:sp>
      <p:sp>
        <p:nvSpPr>
          <p:cNvPr id="35" name="s10-release-platforms">
            <a:extLst xmlns:a="http://schemas.openxmlformats.org/drawingml/2006/main">
              <a:ext uri="{FF2B5EF4-FFF2-40B4-BE49-F238E27FC236}">
                <a16:creationId xmlns:a16="http://schemas.microsoft.com/office/drawing/2014/main" id="{9370EC00-A0C8-4FC9-880E-2901D49FFB25}"/>
              </a:ext>
            </a:extLst>
          </p:cNvPr>
          <p:cNvSpPr>
            <a:spLocks xmlns:a="http://schemas.openxmlformats.org/drawingml/2006/main" noGrp="1"/>
          </p:cNvSpPr>
          <p:nvPr/>
        </p:nvSpPr>
        <p:spPr>
          <a:xfrm xmlns:a="http://schemas.openxmlformats.org/drawingml/2006/main">
            <a:off x="8191500" y="5010150"/>
            <a:ext cx="318135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Windows | macOS | Linux</a:t>
            </a:r>
          </a:p>
        </p:txBody>
      </p:sp>
      <p:cxnSp>
        <p:nvCxnSpPr>
          <p:cNvPr id="74" name="footer-rule-11"/>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37" name="footer-source-11">
            <a:extLst xmlns:a="http://schemas.openxmlformats.org/drawingml/2006/main">
              <a:ext uri="{FF2B5EF4-FFF2-40B4-BE49-F238E27FC236}">
                <a16:creationId xmlns:a16="http://schemas.microsoft.com/office/drawing/2014/main" id="{8736E6B7-456C-47EA-A9FA-7C31E18EA613}"/>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CI run 29687844288 | Vertex Palace 0.2.3 release verification | all listed gates passed</a:t>
            </a:r>
          </a:p>
        </p:txBody>
      </p:sp>
      <p:sp>
        <p:nvSpPr>
          <p:cNvPr id="38" name="footer-number-11">
            <a:extLst xmlns:a="http://schemas.openxmlformats.org/drawingml/2006/main">
              <a:ext uri="{FF2B5EF4-FFF2-40B4-BE49-F238E27FC236}">
                <a16:creationId xmlns:a16="http://schemas.microsoft.com/office/drawing/2014/main" id="{F77FDD7B-9474-48A9-8058-AED4AB4D9077}"/>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11</a:t>
            </a:r>
          </a:p>
        </p:txBody>
      </p:sp>
    </p:spTree>
    <p:extLst>
      <p:ext uri="{BB962C8B-B14F-4D97-AF65-F5344CB8AC3E}">
        <p14:creationId xmlns:p14="http://schemas.microsoft.com/office/powerpoint/2010/main" val="116629255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s11-title">
            <a:extLst xmlns:a="http://schemas.openxmlformats.org/drawingml/2006/main">
              <a:ext uri="{FF2B5EF4-FFF2-40B4-BE49-F238E27FC236}">
                <a16:creationId xmlns:a16="http://schemas.microsoft.com/office/drawing/2014/main" id="{C9F2A452-3359-4C64-A010-88104821B8FB}"/>
              </a:ext>
            </a:extLst>
          </p:cNvPr>
          <p:cNvSpPr>
            <a:spLocks xmlns:a="http://schemas.openxmlformats.org/drawingml/2006/main" noGrp="1"/>
          </p:cNvSpPr>
          <p:nvPr/>
        </p:nvSpPr>
        <p:spPr>
          <a:xfrm xmlns:a="http://schemas.openxmlformats.org/drawingml/2006/main">
            <a:off x="400050" y="323850"/>
            <a:ext cx="11391900" cy="723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0A1224"/>
                </a:solidFill>
                <a:latin typeface="Arial"/>
                <a:ea typeface="Arial"/>
                <a:cs typeface="Arial"/>
              </a:defRPr>
            </a:pPr>
            <a:r>
              <a:t>Failures became versioned regression gates.</a:t>
            </a:r>
          </a:p>
        </p:txBody>
      </p:sp>
      <p:sp>
        <p:nvSpPr>
          <p:cNvPr id="2" name="s11-subtitle">
            <a:extLst xmlns:a="http://schemas.openxmlformats.org/drawingml/2006/main">
              <a:ext uri="{FF2B5EF4-FFF2-40B4-BE49-F238E27FC236}">
                <a16:creationId xmlns:a16="http://schemas.microsoft.com/office/drawing/2014/main" id="{C24B450A-279C-46E7-A8E9-50D3D18225EB}"/>
              </a:ext>
            </a:extLst>
          </p:cNvPr>
          <p:cNvSpPr>
            <a:spLocks xmlns:a="http://schemas.openxmlformats.org/drawingml/2006/main" noGrp="1"/>
          </p:cNvSpPr>
          <p:nvPr/>
        </p:nvSpPr>
        <p:spPr>
          <a:xfrm xmlns:a="http://schemas.openxmlformats.org/drawingml/2006/main">
            <a:off x="400050" y="1066800"/>
            <a:ext cx="11049000" cy="3810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Arial"/>
                <a:ea typeface="Arial"/>
                <a:cs typeface="Arial"/>
              </a:defRPr>
            </a:pPr>
            <a:r>
              <a:t>The benchmark did not just score Vertex Palace; it changed the implementation and release process.</a:t>
            </a:r>
          </a:p>
        </p:txBody>
      </p:sp>
      <p:cxnSp>
        <p:nvCxnSpPr>
          <p:cNvPr id="29" name="s11-link1"/>
          <p:cNvCxnSpPr/>
          <p:nvPr/>
        </p:nvCxnSpPr>
        <p:spPr>
          <a:xfrm xmlns:a="http://schemas.openxmlformats.org/drawingml/2006/main">
            <a:off x="37147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cxnSp>
        <p:nvCxnSpPr>
          <p:cNvPr id="30" name="s11-link2"/>
          <p:cNvCxnSpPr/>
          <p:nvPr/>
        </p:nvCxnSpPr>
        <p:spPr>
          <a:xfrm xmlns:a="http://schemas.openxmlformats.org/drawingml/2006/main">
            <a:off x="7715250" y="3333750"/>
            <a:ext cx="762000" cy="953"/>
          </a:xfrm>
          <a:prstGeom xmlns:a="http://schemas.openxmlformats.org/drawingml/2006/main" prst="straightConnector1">
            <a:avLst/>
          </a:prstGeom>
          <a:ln xmlns:a="http://schemas.openxmlformats.org/drawingml/2006/main" w="38100">
            <a:solidFill>
              <a:srgbClr val="B8BCC4"/>
            </a:solidFill>
            <a:prstDash val="solid"/>
          </a:ln>
        </p:spPr>
      </p:cxnSp>
      <p:sp>
        <p:nvSpPr>
          <p:cNvPr id="5" name="s11-arrow1">
            <a:extLst xmlns:a="http://schemas.openxmlformats.org/drawingml/2006/main">
              <a:ext uri="{FF2B5EF4-FFF2-40B4-BE49-F238E27FC236}">
                <a16:creationId xmlns:a16="http://schemas.microsoft.com/office/drawing/2014/main" id="{1BBB98D0-08BF-494D-A29E-3F6C39F5C791}"/>
              </a:ext>
            </a:extLst>
          </p:cNvPr>
          <p:cNvSpPr>
            <a:spLocks xmlns:a="http://schemas.openxmlformats.org/drawingml/2006/main" noGrp="1"/>
          </p:cNvSpPr>
          <p:nvPr/>
        </p:nvSpPr>
        <p:spPr>
          <a:xfrm xmlns:a="http://schemas.openxmlformats.org/drawingml/2006/main">
            <a:off x="40957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6" name="s11-arrow2">
            <a:extLst xmlns:a="http://schemas.openxmlformats.org/drawingml/2006/main">
              <a:ext uri="{FF2B5EF4-FFF2-40B4-BE49-F238E27FC236}">
                <a16:creationId xmlns:a16="http://schemas.microsoft.com/office/drawing/2014/main" id="{AC5BA22A-257B-414C-8369-595B7A4189F0}"/>
              </a:ext>
            </a:extLst>
          </p:cNvPr>
          <p:cNvSpPr>
            <a:spLocks xmlns:a="http://schemas.openxmlformats.org/drawingml/2006/main" noGrp="1"/>
          </p:cNvSpPr>
          <p:nvPr/>
        </p:nvSpPr>
        <p:spPr>
          <a:xfrm xmlns:a="http://schemas.openxmlformats.org/drawingml/2006/main">
            <a:off x="8096250" y="3152775"/>
            <a:ext cx="342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2100" b="1">
                <a:solidFill>
                  <a:srgbClr val="B8BCC4"/>
                </a:solidFill>
                <a:latin typeface="Arial"/>
                <a:ea typeface="Arial"/>
                <a:cs typeface="Arial"/>
              </a:defRPr>
            </a:pPr>
            <a:r>
              <a:t>&gt;</a:t>
            </a:r>
          </a:p>
        </p:txBody>
      </p:sp>
      <p:sp>
        <p:nvSpPr>
          <p:cNvPr id="7" name="s11-v021">
            <a:extLst xmlns:a="http://schemas.openxmlformats.org/drawingml/2006/main">
              <a:ext uri="{FF2B5EF4-FFF2-40B4-BE49-F238E27FC236}">
                <a16:creationId xmlns:a16="http://schemas.microsoft.com/office/drawing/2014/main" id="{D1D8932C-4324-4BDB-956C-2433784C046C}"/>
              </a:ext>
            </a:extLst>
          </p:cNvPr>
          <p:cNvSpPr>
            <a:spLocks xmlns:a="http://schemas.openxmlformats.org/drawingml/2006/main" noGrp="1"/>
          </p:cNvSpPr>
          <p:nvPr/>
        </p:nvSpPr>
        <p:spPr>
          <a:xfrm xmlns:a="http://schemas.openxmlformats.org/drawingml/2006/main">
            <a:off x="552450" y="1885950"/>
            <a:ext cx="3162300" cy="3028950"/>
          </a:xfrm>
          <a:prstGeom xmlns:a="http://schemas.openxmlformats.org/drawingml/2006/main" prst="roundRect">
            <a:avLst>
              <a:gd name="adj" fmla="val 2516"/>
            </a:avLst>
          </a:prstGeom>
          <a:solidFill xmlns:a="http://schemas.openxmlformats.org/drawingml/2006/main">
            <a:srgbClr val="FFF1F3"/>
          </a:solidFill>
          <a:ln xmlns:a="http://schemas.openxmlformats.org/drawingml/2006/main" w="0">
            <a:solidFill>
              <a:srgbClr val="FFF1F3"/>
            </a:solidFill>
            <a:prstDash val="solid"/>
          </a:ln>
        </p:spPr>
      </p:sp>
      <p:sp>
        <p:nvSpPr>
          <p:cNvPr id="8" name="s11-v021-version">
            <a:extLst xmlns:a="http://schemas.openxmlformats.org/drawingml/2006/main">
              <a:ext uri="{FF2B5EF4-FFF2-40B4-BE49-F238E27FC236}">
                <a16:creationId xmlns:a16="http://schemas.microsoft.com/office/drawing/2014/main" id="{E985660D-F831-46E8-97D1-081C34223228}"/>
              </a:ext>
            </a:extLst>
          </p:cNvPr>
          <p:cNvSpPr>
            <a:spLocks xmlns:a="http://schemas.openxmlformats.org/drawingml/2006/main" noGrp="1"/>
          </p:cNvSpPr>
          <p:nvPr/>
        </p:nvSpPr>
        <p:spPr>
          <a:xfrm xmlns:a="http://schemas.openxmlformats.org/drawingml/2006/main">
            <a:off x="8191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D4515D"/>
                </a:solidFill>
                <a:latin typeface="Consolas"/>
                <a:ea typeface="Consolas"/>
                <a:cs typeface="Consolas"/>
              </a:defRPr>
            </a:pPr>
            <a:r>
              <a:t>v0.2.1</a:t>
            </a:r>
          </a:p>
        </p:txBody>
      </p:sp>
      <p:sp>
        <p:nvSpPr>
          <p:cNvPr id="9" name="s11-v021-k">
            <a:extLst xmlns:a="http://schemas.openxmlformats.org/drawingml/2006/main">
              <a:ext uri="{FF2B5EF4-FFF2-40B4-BE49-F238E27FC236}">
                <a16:creationId xmlns:a16="http://schemas.microsoft.com/office/drawing/2014/main" id="{5BC83977-F1DF-409A-ACB1-183EAE9C6B6C}"/>
              </a:ext>
            </a:extLst>
          </p:cNvPr>
          <p:cNvSpPr>
            <a:spLocks xmlns:a="http://schemas.openxmlformats.org/drawingml/2006/main" noGrp="1"/>
          </p:cNvSpPr>
          <p:nvPr/>
        </p:nvSpPr>
        <p:spPr>
          <a:xfrm xmlns:a="http://schemas.openxmlformats.org/drawingml/2006/main">
            <a:off x="8191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D4515D"/>
                </a:solidFill>
                <a:latin typeface="Arial"/>
                <a:ea typeface="Arial"/>
                <a:cs typeface="Arial"/>
              </a:defRPr>
            </a:pPr>
            <a:r>
              <a:t>OBSERVED</a:t>
            </a:r>
          </a:p>
        </p:txBody>
      </p:sp>
      <p:sp>
        <p:nvSpPr>
          <p:cNvPr id="10" name="s11-v021-v">
            <a:extLst xmlns:a="http://schemas.openxmlformats.org/drawingml/2006/main">
              <a:ext uri="{FF2B5EF4-FFF2-40B4-BE49-F238E27FC236}">
                <a16:creationId xmlns:a16="http://schemas.microsoft.com/office/drawing/2014/main" id="{BDE6D066-562D-4B55-8C02-AD0840C05B80}"/>
              </a:ext>
            </a:extLst>
          </p:cNvPr>
          <p:cNvSpPr>
            <a:spLocks xmlns:a="http://schemas.openxmlformats.org/drawingml/2006/main" noGrp="1"/>
          </p:cNvSpPr>
          <p:nvPr/>
        </p:nvSpPr>
        <p:spPr>
          <a:xfrm xmlns:a="http://schemas.openxmlformats.org/drawingml/2006/main">
            <a:off x="8191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Adaptive selected Full Palace but returned zero memory items in all four useful-memory trials.</a:t>
            </a:r>
          </a:p>
        </p:txBody>
      </p:sp>
      <p:sp>
        <p:nvSpPr>
          <p:cNvPr id="11" name="s11-v021-foot">
            <a:extLst xmlns:a="http://schemas.openxmlformats.org/drawingml/2006/main">
              <a:ext uri="{FF2B5EF4-FFF2-40B4-BE49-F238E27FC236}">
                <a16:creationId xmlns:a16="http://schemas.microsoft.com/office/drawing/2014/main" id="{62F262D0-FE07-4896-9ABB-57C7733C94B3}"/>
              </a:ext>
            </a:extLst>
          </p:cNvPr>
          <p:cNvSpPr>
            <a:spLocks xmlns:a="http://schemas.openxmlformats.org/drawingml/2006/main" noGrp="1"/>
          </p:cNvSpPr>
          <p:nvPr/>
        </p:nvSpPr>
        <p:spPr>
          <a:xfrm xmlns:a="http://schemas.openxmlformats.org/drawingml/2006/main">
            <a:off x="819150" y="4400550"/>
            <a:ext cx="26289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Deterministic omission</a:t>
            </a:r>
          </a:p>
        </p:txBody>
      </p:sp>
      <p:sp>
        <p:nvSpPr>
          <p:cNvPr id="12" name="s11-v022">
            <a:extLst xmlns:a="http://schemas.openxmlformats.org/drawingml/2006/main">
              <a:ext uri="{FF2B5EF4-FFF2-40B4-BE49-F238E27FC236}">
                <a16:creationId xmlns:a16="http://schemas.microsoft.com/office/drawing/2014/main" id="{E00F3290-D51B-4D0E-9CA6-BBA329D3E288}"/>
              </a:ext>
            </a:extLst>
          </p:cNvPr>
          <p:cNvSpPr>
            <a:spLocks xmlns:a="http://schemas.openxmlformats.org/drawingml/2006/main" noGrp="1"/>
          </p:cNvSpPr>
          <p:nvPr/>
        </p:nvSpPr>
        <p:spPr>
          <a:xfrm xmlns:a="http://schemas.openxmlformats.org/drawingml/2006/main">
            <a:off x="4514850" y="1885950"/>
            <a:ext cx="3162300" cy="3028950"/>
          </a:xfrm>
          <a:prstGeom xmlns:a="http://schemas.openxmlformats.org/drawingml/2006/main" prst="roundRect">
            <a:avLst>
              <a:gd name="adj" fmla="val 2516"/>
            </a:avLst>
          </a:prstGeom>
          <a:solidFill xmlns:a="http://schemas.openxmlformats.org/drawingml/2006/main">
            <a:srgbClr val="EAF1FF"/>
          </a:solidFill>
          <a:ln xmlns:a="http://schemas.openxmlformats.org/drawingml/2006/main" w="0">
            <a:solidFill>
              <a:srgbClr val="EAF1FF"/>
            </a:solidFill>
            <a:prstDash val="solid"/>
          </a:ln>
        </p:spPr>
      </p:sp>
      <p:sp>
        <p:nvSpPr>
          <p:cNvPr id="13" name="s11-v022-version">
            <a:extLst xmlns:a="http://schemas.openxmlformats.org/drawingml/2006/main">
              <a:ext uri="{FF2B5EF4-FFF2-40B4-BE49-F238E27FC236}">
                <a16:creationId xmlns:a16="http://schemas.microsoft.com/office/drawing/2014/main" id="{301B5014-6009-4E22-97BA-6BC983B613D2}"/>
              </a:ext>
            </a:extLst>
          </p:cNvPr>
          <p:cNvSpPr>
            <a:spLocks xmlns:a="http://schemas.openxmlformats.org/drawingml/2006/main" noGrp="1"/>
          </p:cNvSpPr>
          <p:nvPr/>
        </p:nvSpPr>
        <p:spPr>
          <a:xfrm xmlns:a="http://schemas.openxmlformats.org/drawingml/2006/main">
            <a:off x="47815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677FF"/>
                </a:solidFill>
                <a:latin typeface="Consolas"/>
                <a:ea typeface="Consolas"/>
                <a:cs typeface="Consolas"/>
              </a:defRPr>
            </a:pPr>
            <a:r>
              <a:t>v0.2.2</a:t>
            </a:r>
          </a:p>
        </p:txBody>
      </p:sp>
      <p:sp>
        <p:nvSpPr>
          <p:cNvPr id="14" name="s11-v022-k">
            <a:extLst xmlns:a="http://schemas.openxmlformats.org/drawingml/2006/main">
              <a:ext uri="{FF2B5EF4-FFF2-40B4-BE49-F238E27FC236}">
                <a16:creationId xmlns:a16="http://schemas.microsoft.com/office/drawing/2014/main" id="{28D2FFD9-32A7-4F51-B4FA-6B04B484CE33}"/>
              </a:ext>
            </a:extLst>
          </p:cNvPr>
          <p:cNvSpPr>
            <a:spLocks xmlns:a="http://schemas.openxmlformats.org/drawingml/2006/main" noGrp="1"/>
          </p:cNvSpPr>
          <p:nvPr/>
        </p:nvSpPr>
        <p:spPr>
          <a:xfrm xmlns:a="http://schemas.openxmlformats.org/drawingml/2006/main">
            <a:off x="47815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677FF"/>
                </a:solidFill>
                <a:latin typeface="Arial"/>
                <a:ea typeface="Arial"/>
                <a:cs typeface="Arial"/>
              </a:defRPr>
            </a:pPr>
            <a:r>
              <a:t>FIXED</a:t>
            </a:r>
          </a:p>
        </p:txBody>
      </p:sp>
      <p:sp>
        <p:nvSpPr>
          <p:cNvPr id="15" name="s11-v022-v">
            <a:extLst xmlns:a="http://schemas.openxmlformats.org/drawingml/2006/main">
              <a:ext uri="{FF2B5EF4-FFF2-40B4-BE49-F238E27FC236}">
                <a16:creationId xmlns:a16="http://schemas.microsoft.com/office/drawing/2014/main" id="{7BA6B5C9-BF0D-46DB-8FE1-1642783F4DEA}"/>
              </a:ext>
            </a:extLst>
          </p:cNvPr>
          <p:cNvSpPr>
            <a:spLocks xmlns:a="http://schemas.openxmlformats.org/drawingml/2006/main" noGrp="1"/>
          </p:cNvSpPr>
          <p:nvPr/>
        </p:nvSpPr>
        <p:spPr>
          <a:xfrm xmlns:a="http://schemas.openxmlformats.org/drawingml/2006/main">
            <a:off x="47815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Full Palace gained scoped-summary memory, JSON delivery, guardrails, and a regression contract.</a:t>
            </a:r>
          </a:p>
        </p:txBody>
      </p:sp>
      <p:sp>
        <p:nvSpPr>
          <p:cNvPr id="16" name="s11-v022-foot">
            <a:extLst xmlns:a="http://schemas.openxmlformats.org/drawingml/2006/main">
              <a:ext uri="{FF2B5EF4-FFF2-40B4-BE49-F238E27FC236}">
                <a16:creationId xmlns:a16="http://schemas.microsoft.com/office/drawing/2014/main" id="{39927735-DCD6-4367-8CB9-9FF923E8A294}"/>
              </a:ext>
            </a:extLst>
          </p:cNvPr>
          <p:cNvSpPr>
            <a:spLocks xmlns:a="http://schemas.openxmlformats.org/drawingml/2006/main" noGrp="1"/>
          </p:cNvSpPr>
          <p:nvPr/>
        </p:nvSpPr>
        <p:spPr>
          <a:xfrm xmlns:a="http://schemas.openxmlformats.org/drawingml/2006/main">
            <a:off x="47815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Clean + registry fixtures passed</a:t>
            </a:r>
          </a:p>
        </p:txBody>
      </p:sp>
      <p:sp>
        <p:nvSpPr>
          <p:cNvPr id="17" name="s11-v023">
            <a:extLst xmlns:a="http://schemas.openxmlformats.org/drawingml/2006/main">
              <a:ext uri="{FF2B5EF4-FFF2-40B4-BE49-F238E27FC236}">
                <a16:creationId xmlns:a16="http://schemas.microsoft.com/office/drawing/2014/main" id="{BC882B3D-5B5D-4049-A251-1F48E7B55C7C}"/>
              </a:ext>
            </a:extLst>
          </p:cNvPr>
          <p:cNvSpPr>
            <a:spLocks xmlns:a="http://schemas.openxmlformats.org/drawingml/2006/main" noGrp="1"/>
          </p:cNvSpPr>
          <p:nvPr/>
        </p:nvSpPr>
        <p:spPr>
          <a:xfrm xmlns:a="http://schemas.openxmlformats.org/drawingml/2006/main">
            <a:off x="8477250" y="1885950"/>
            <a:ext cx="3162300" cy="3028950"/>
          </a:xfrm>
          <a:prstGeom xmlns:a="http://schemas.openxmlformats.org/drawingml/2006/main" prst="roundRect">
            <a:avLst>
              <a:gd name="adj" fmla="val 2516"/>
            </a:avLst>
          </a:prstGeom>
          <a:solidFill xmlns:a="http://schemas.openxmlformats.org/drawingml/2006/main">
            <a:srgbClr val="E9F7F2"/>
          </a:solidFill>
          <a:ln xmlns:a="http://schemas.openxmlformats.org/drawingml/2006/main" w="0">
            <a:solidFill>
              <a:srgbClr val="E9F7F2"/>
            </a:solidFill>
            <a:prstDash val="solid"/>
          </a:ln>
        </p:spPr>
      </p:sp>
      <p:sp>
        <p:nvSpPr>
          <p:cNvPr id="18" name="s11-v023-version">
            <a:extLst xmlns:a="http://schemas.openxmlformats.org/drawingml/2006/main">
              <a:ext uri="{FF2B5EF4-FFF2-40B4-BE49-F238E27FC236}">
                <a16:creationId xmlns:a16="http://schemas.microsoft.com/office/drawing/2014/main" id="{9B19DCAF-7D05-464F-8C34-5AB833386043}"/>
              </a:ext>
            </a:extLst>
          </p:cNvPr>
          <p:cNvSpPr>
            <a:spLocks xmlns:a="http://schemas.openxmlformats.org/drawingml/2006/main" noGrp="1"/>
          </p:cNvSpPr>
          <p:nvPr/>
        </p:nvSpPr>
        <p:spPr>
          <a:xfrm xmlns:a="http://schemas.openxmlformats.org/drawingml/2006/main">
            <a:off x="8743950" y="2133600"/>
            <a:ext cx="262890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5A777"/>
                </a:solidFill>
                <a:latin typeface="Consolas"/>
                <a:ea typeface="Consolas"/>
                <a:cs typeface="Consolas"/>
              </a:defRPr>
            </a:pPr>
            <a:r>
              <a:t>v0.2.3</a:t>
            </a:r>
          </a:p>
        </p:txBody>
      </p:sp>
      <p:sp>
        <p:nvSpPr>
          <p:cNvPr id="19" name="s11-v023-k">
            <a:extLst xmlns:a="http://schemas.openxmlformats.org/drawingml/2006/main">
              <a:ext uri="{FF2B5EF4-FFF2-40B4-BE49-F238E27FC236}">
                <a16:creationId xmlns:a16="http://schemas.microsoft.com/office/drawing/2014/main" id="{FF8C25AF-29CC-4C73-ABAE-5C587A2CFEDD}"/>
              </a:ext>
            </a:extLst>
          </p:cNvPr>
          <p:cNvSpPr>
            <a:spLocks xmlns:a="http://schemas.openxmlformats.org/drawingml/2006/main" noGrp="1"/>
          </p:cNvSpPr>
          <p:nvPr/>
        </p:nvSpPr>
        <p:spPr>
          <a:xfrm xmlns:a="http://schemas.openxmlformats.org/drawingml/2006/main">
            <a:off x="8743950" y="2628900"/>
            <a:ext cx="2628900" cy="2095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1">
                <a:solidFill>
                  <a:srgbClr val="15A777"/>
                </a:solidFill>
                <a:latin typeface="Arial"/>
                <a:ea typeface="Arial"/>
                <a:cs typeface="Arial"/>
              </a:defRPr>
            </a:pPr>
            <a:r>
              <a:t>GENERALIZED</a:t>
            </a:r>
          </a:p>
        </p:txBody>
      </p:sp>
      <p:sp>
        <p:nvSpPr>
          <p:cNvPr id="20" name="s11-v023-v">
            <a:extLst xmlns:a="http://schemas.openxmlformats.org/drawingml/2006/main">
              <a:ext uri="{FF2B5EF4-FFF2-40B4-BE49-F238E27FC236}">
                <a16:creationId xmlns:a16="http://schemas.microsoft.com/office/drawing/2014/main" id="{3A7C6C5E-6F05-4789-A5C5-B6921743DFC1}"/>
              </a:ext>
            </a:extLst>
          </p:cNvPr>
          <p:cNvSpPr>
            <a:spLocks xmlns:a="http://schemas.openxmlformats.org/drawingml/2006/main" noGrp="1"/>
          </p:cNvSpPr>
          <p:nvPr/>
        </p:nvSpPr>
        <p:spPr>
          <a:xfrm xmlns:a="http://schemas.openxmlformats.org/drawingml/2006/main">
            <a:off x="8743950" y="2990850"/>
            <a:ext cx="2628900" cy="11239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0A1224"/>
                </a:solidFill>
                <a:latin typeface="Arial"/>
                <a:ea typeface="Arial"/>
                <a:cs typeface="Arial"/>
              </a:defRPr>
            </a:pPr>
            <a:r>
              <a:t>Release routing now covers npm, Codex plugins, PyPI, Chinese intent, negative controls, and CI.</a:t>
            </a:r>
          </a:p>
        </p:txBody>
      </p:sp>
      <p:sp>
        <p:nvSpPr>
          <p:cNvPr id="21" name="s11-v023-foot">
            <a:extLst xmlns:a="http://schemas.openxmlformats.org/drawingml/2006/main">
              <a:ext uri="{FF2B5EF4-FFF2-40B4-BE49-F238E27FC236}">
                <a16:creationId xmlns:a16="http://schemas.microsoft.com/office/drawing/2014/main" id="{676494A3-7074-4C1B-A9FD-305DB8848B8A}"/>
              </a:ext>
            </a:extLst>
          </p:cNvPr>
          <p:cNvSpPr>
            <a:spLocks xmlns:a="http://schemas.openxmlformats.org/drawingml/2006/main" noGrp="1"/>
          </p:cNvSpPr>
          <p:nvPr/>
        </p:nvSpPr>
        <p:spPr>
          <a:xfrm xmlns:a="http://schemas.openxmlformats.org/drawingml/2006/main">
            <a:off x="8743950" y="4400550"/>
            <a:ext cx="2628900" cy="4000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526071"/>
                </a:solidFill>
                <a:latin typeface="Arial"/>
                <a:ea typeface="Arial"/>
                <a:cs typeface="Arial"/>
              </a:defRPr>
            </a:pPr>
            <a:r>
              <a:t>Matrix + distribution gates</a:t>
            </a:r>
          </a:p>
        </p:txBody>
      </p:sp>
      <p:sp>
        <p:nvSpPr>
          <p:cNvPr id="22" name="s11-takeaway">
            <a:extLst xmlns:a="http://schemas.openxmlformats.org/drawingml/2006/main">
              <a:ext uri="{FF2B5EF4-FFF2-40B4-BE49-F238E27FC236}">
                <a16:creationId xmlns:a16="http://schemas.microsoft.com/office/drawing/2014/main" id="{640F00F1-3809-487E-B09E-478BCDBAC9DD}"/>
              </a:ext>
            </a:extLst>
          </p:cNvPr>
          <p:cNvSpPr>
            <a:spLocks xmlns:a="http://schemas.openxmlformats.org/drawingml/2006/main" noGrp="1"/>
          </p:cNvSpPr>
          <p:nvPr/>
        </p:nvSpPr>
        <p:spPr>
          <a:xfrm xmlns:a="http://schemas.openxmlformats.org/drawingml/2006/main">
            <a:off x="552450" y="5181600"/>
            <a:ext cx="11087100" cy="704850"/>
          </a:xfrm>
          <a:prstGeom xmlns:a="http://schemas.openxmlformats.org/drawingml/2006/main" prst="roundRect">
            <a:avLst>
              <a:gd name="adj" fmla="val 10811"/>
            </a:avLst>
          </a:prstGeom>
          <a:solidFill xmlns:a="http://schemas.openxmlformats.org/drawingml/2006/main">
            <a:srgbClr val="061B3D"/>
          </a:solidFill>
          <a:ln xmlns:a="http://schemas.openxmlformats.org/drawingml/2006/main" w="0">
            <a:solidFill>
              <a:srgbClr val="061B3D"/>
            </a:solidFill>
            <a:prstDash val="solid"/>
          </a:ln>
        </p:spPr>
      </p:sp>
      <p:sp>
        <p:nvSpPr>
          <p:cNvPr id="23" name="s11-takeaway-v">
            <a:extLst xmlns:a="http://schemas.openxmlformats.org/drawingml/2006/main">
              <a:ext uri="{FF2B5EF4-FFF2-40B4-BE49-F238E27FC236}">
                <a16:creationId xmlns:a16="http://schemas.microsoft.com/office/drawing/2014/main" id="{5DEA31E3-34DE-4372-9772-62697B544E7C}"/>
              </a:ext>
            </a:extLst>
          </p:cNvPr>
          <p:cNvSpPr>
            <a:spLocks xmlns:a="http://schemas.openxmlformats.org/drawingml/2006/main" noGrp="1"/>
          </p:cNvSpPr>
          <p:nvPr/>
        </p:nvSpPr>
        <p:spPr>
          <a:xfrm xmlns:a="http://schemas.openxmlformats.org/drawingml/2006/main">
            <a:off x="819150" y="5372100"/>
            <a:ext cx="10553700" cy="3238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defRPr sz="1725" b="1">
                <a:solidFill>
                  <a:srgbClr val="FFFFFF"/>
                </a:solidFill>
                <a:latin typeface="Consolas"/>
                <a:ea typeface="Consolas"/>
                <a:cs typeface="Consolas"/>
              </a:defRPr>
            </a:pPr>
            <a:r>
              <a:t>OBSERVE  -&gt;  FIX  -&gt;  REGRESSION TEST  -&gt;  RELEASE GATE</a:t>
            </a:r>
          </a:p>
        </p:txBody>
      </p:sp>
      <p:cxnSp>
        <p:nvCxnSpPr>
          <p:cNvPr id="50" name="footer-rule-12"/>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25" name="footer-source-12">
            <a:extLst xmlns:a="http://schemas.openxmlformats.org/drawingml/2006/main">
              <a:ext uri="{FF2B5EF4-FFF2-40B4-BE49-F238E27FC236}">
                <a16:creationId xmlns:a16="http://schemas.microsoft.com/office/drawing/2014/main" id="{80471AAA-92B0-412A-B3D2-7DD9584F13D5}"/>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ADAPTIVE_MEMORY_FIX_0_2_2.md | RELEASE_ROUTING_MATRIX_RESULT_0_2_3.md</a:t>
            </a:r>
          </a:p>
        </p:txBody>
      </p:sp>
      <p:sp>
        <p:nvSpPr>
          <p:cNvPr id="26" name="footer-number-12">
            <a:extLst xmlns:a="http://schemas.openxmlformats.org/drawingml/2006/main">
              <a:ext uri="{FF2B5EF4-FFF2-40B4-BE49-F238E27FC236}">
                <a16:creationId xmlns:a16="http://schemas.microsoft.com/office/drawing/2014/main" id="{0DC90D4C-00D3-4FF7-9035-6BDAB4374001}"/>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12</a:t>
            </a:r>
          </a:p>
        </p:txBody>
      </p:sp>
    </p:spTree>
    <p:extLst>
      <p:ext uri="{BB962C8B-B14F-4D97-AF65-F5344CB8AC3E}">
        <p14:creationId xmlns:p14="http://schemas.microsoft.com/office/powerpoint/2010/main" val="39325787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12-eyebrow">
            <a:extLst xmlns:a="http://schemas.openxmlformats.org/drawingml/2006/main">
              <a:ext uri="{FF2B5EF4-FFF2-40B4-BE49-F238E27FC236}">
                <a16:creationId xmlns:a16="http://schemas.microsoft.com/office/drawing/2014/main" id="{663FFE71-E2A4-43E1-B4AA-09E829423CBA}"/>
              </a:ext>
            </a:extLst>
          </p:cNvPr>
          <p:cNvSpPr>
            <a:spLocks xmlns:a="http://schemas.openxmlformats.org/drawingml/2006/main" noGrp="1"/>
          </p:cNvSpPr>
          <p:nvPr/>
        </p:nvSpPr>
        <p:spPr>
          <a:xfrm xmlns:a="http://schemas.openxmlformats.org/drawingml/2006/main">
            <a:off x="457200" y="419100"/>
            <a:ext cx="2476500" cy="2857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677FF"/>
                </a:solidFill>
                <a:latin typeface="Arial"/>
                <a:ea typeface="Arial"/>
                <a:cs typeface="Arial"/>
              </a:defRPr>
            </a:pPr>
            <a:r>
              <a:t>READY TO TEST</a:t>
            </a:r>
          </a:p>
        </p:txBody>
      </p:sp>
      <p:sp>
        <p:nvSpPr>
          <p:cNvPr id="2" name="s12-title">
            <a:extLst xmlns:a="http://schemas.openxmlformats.org/drawingml/2006/main">
              <a:ext uri="{FF2B5EF4-FFF2-40B4-BE49-F238E27FC236}">
                <a16:creationId xmlns:a16="http://schemas.microsoft.com/office/drawing/2014/main" id="{DBC85060-8A51-40D0-9D8D-1A82177726A7}"/>
              </a:ext>
            </a:extLst>
          </p:cNvPr>
          <p:cNvSpPr>
            <a:spLocks xmlns:a="http://schemas.openxmlformats.org/drawingml/2006/main" noGrp="1"/>
          </p:cNvSpPr>
          <p:nvPr/>
        </p:nvSpPr>
        <p:spPr>
          <a:xfrm xmlns:a="http://schemas.openxmlformats.org/drawingml/2006/main">
            <a:off x="457200" y="1257300"/>
            <a:ext cx="5143500" cy="28575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1">
                <a:solidFill>
                  <a:srgbClr val="0A1224"/>
                </a:solidFill>
                <a:latin typeface="Arial"/>
                <a:ea typeface="Arial"/>
                <a:cs typeface="Arial"/>
              </a:defRPr>
            </a:pPr>
            <a:r>
              <a:t>Install.
Route.
Verify.</a:t>
            </a:r>
          </a:p>
        </p:txBody>
      </p:sp>
      <p:cxnSp>
        <p:nvCxnSpPr>
          <p:cNvPr id="21" name="s12-accent"/>
          <p:cNvCxnSpPr/>
          <p:nvPr/>
        </p:nvCxnSpPr>
        <p:spPr>
          <a:xfrm xmlns:a="http://schemas.openxmlformats.org/drawingml/2006/main">
            <a:off x="495300" y="4438650"/>
            <a:ext cx="1238250" cy="953"/>
          </a:xfrm>
          <a:prstGeom xmlns:a="http://schemas.openxmlformats.org/drawingml/2006/main" prst="straightConnector1">
            <a:avLst/>
          </a:prstGeom>
          <a:ln xmlns:a="http://schemas.openxmlformats.org/drawingml/2006/main" w="57150">
            <a:solidFill>
              <a:srgbClr val="13B7D5"/>
            </a:solidFill>
            <a:prstDash val="solid"/>
          </a:ln>
        </p:spPr>
      </p:cxnSp>
      <p:sp>
        <p:nvSpPr>
          <p:cNvPr id="4" name="s12-close">
            <a:extLst xmlns:a="http://schemas.openxmlformats.org/drawingml/2006/main">
              <a:ext uri="{FF2B5EF4-FFF2-40B4-BE49-F238E27FC236}">
                <a16:creationId xmlns:a16="http://schemas.microsoft.com/office/drawing/2014/main" id="{B2F89768-D494-4755-8103-0807B03215DF}"/>
              </a:ext>
            </a:extLst>
          </p:cNvPr>
          <p:cNvSpPr>
            <a:spLocks xmlns:a="http://schemas.openxmlformats.org/drawingml/2006/main" noGrp="1"/>
          </p:cNvSpPr>
          <p:nvPr/>
        </p:nvSpPr>
        <p:spPr>
          <a:xfrm xmlns:a="http://schemas.openxmlformats.org/drawingml/2006/main">
            <a:off x="457200" y="4819650"/>
            <a:ext cx="5238750" cy="8572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526071"/>
                </a:solidFill>
                <a:latin typeface="Arial"/>
                <a:ea typeface="Arial"/>
                <a:cs typeface="Arial"/>
              </a:defRPr>
            </a:pPr>
            <a:r>
              <a:t>A map, a route, a memory, and evidence that the selected context was useful.</a:t>
            </a:r>
          </a:p>
        </p:txBody>
      </p:sp>
      <p:sp>
        <p:nvSpPr>
          <p:cNvPr id="5" name="s12-command-box">
            <a:extLst xmlns:a="http://schemas.openxmlformats.org/drawingml/2006/main">
              <a:ext uri="{FF2B5EF4-FFF2-40B4-BE49-F238E27FC236}">
                <a16:creationId xmlns:a16="http://schemas.microsoft.com/office/drawing/2014/main" id="{81553049-596C-4F6B-AD3A-5691A46E431B}"/>
              </a:ext>
            </a:extLst>
          </p:cNvPr>
          <p:cNvSpPr>
            <a:spLocks xmlns:a="http://schemas.openxmlformats.org/drawingml/2006/main" noGrp="1"/>
          </p:cNvSpPr>
          <p:nvPr/>
        </p:nvSpPr>
        <p:spPr>
          <a:xfrm xmlns:a="http://schemas.openxmlformats.org/drawingml/2006/main">
            <a:off x="6477000" y="1352550"/>
            <a:ext cx="4857750" cy="1485900"/>
          </a:xfrm>
          <a:prstGeom xmlns:a="http://schemas.openxmlformats.org/drawingml/2006/main" prst="roundRect">
            <a:avLst>
              <a:gd name="adj" fmla="val 5128"/>
            </a:avLst>
          </a:prstGeom>
          <a:solidFill xmlns:a="http://schemas.openxmlformats.org/drawingml/2006/main">
            <a:srgbClr val="061B3D"/>
          </a:solidFill>
          <a:ln xmlns:a="http://schemas.openxmlformats.org/drawingml/2006/main" w="0">
            <a:solidFill>
              <a:srgbClr val="061B3D"/>
            </a:solidFill>
            <a:prstDash val="solid"/>
          </a:ln>
        </p:spPr>
      </p:sp>
      <p:sp>
        <p:nvSpPr>
          <p:cNvPr id="6" name="s12-command">
            <a:extLst xmlns:a="http://schemas.openxmlformats.org/drawingml/2006/main">
              <a:ext uri="{FF2B5EF4-FFF2-40B4-BE49-F238E27FC236}">
                <a16:creationId xmlns:a16="http://schemas.microsoft.com/office/drawing/2014/main" id="{519A400D-77A9-450D-8E8C-A269BB901203}"/>
              </a:ext>
            </a:extLst>
          </p:cNvPr>
          <p:cNvSpPr>
            <a:spLocks xmlns:a="http://schemas.openxmlformats.org/drawingml/2006/main" noGrp="1"/>
          </p:cNvSpPr>
          <p:nvPr/>
        </p:nvSpPr>
        <p:spPr>
          <a:xfrm xmlns:a="http://schemas.openxmlformats.org/drawingml/2006/main">
            <a:off x="6819900" y="1714500"/>
            <a:ext cx="4171950" cy="81915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FFFFFF"/>
                </a:solidFill>
                <a:latin typeface="Consolas"/>
                <a:ea typeface="Consolas"/>
                <a:cs typeface="Consolas"/>
              </a:defRPr>
            </a:pPr>
            <a:r>
              <a:t>npm install -g
vertex-palace@0.2.3</a:t>
            </a:r>
          </a:p>
        </p:txBody>
      </p:sp>
      <p:sp>
        <p:nvSpPr>
          <p:cNvPr id="7" name="s12-github">
            <a:extLst xmlns:a="http://schemas.openxmlformats.org/drawingml/2006/main">
              <a:ext uri="{FF2B5EF4-FFF2-40B4-BE49-F238E27FC236}">
                <a16:creationId xmlns:a16="http://schemas.microsoft.com/office/drawing/2014/main" id="{449F00D3-6922-490B-A5A3-58C796415F14}"/>
              </a:ext>
            </a:extLst>
          </p:cNvPr>
          <p:cNvSpPr>
            <a:spLocks xmlns:a="http://schemas.openxmlformats.org/drawingml/2006/main" noGrp="1"/>
          </p:cNvSpPr>
          <p:nvPr/>
        </p:nvSpPr>
        <p:spPr>
          <a:xfrm xmlns:a="http://schemas.openxmlformats.org/drawingml/2006/main">
            <a:off x="6477000" y="33528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1">
                <a:solidFill>
                  <a:srgbClr val="0A1224"/>
                </a:solidFill>
                <a:latin typeface="Consolas"/>
                <a:ea typeface="Consolas"/>
                <a:cs typeface="Consolas"/>
              </a:defRPr>
            </a:pPr>
            <a:r>
              <a:t>github.com/lohchanhin/vertex-palace</a:t>
            </a:r>
          </a:p>
        </p:txBody>
      </p:sp>
      <p:sp>
        <p:nvSpPr>
          <p:cNvPr id="8" name="s12-npm">
            <a:extLst xmlns:a="http://schemas.openxmlformats.org/drawingml/2006/main">
              <a:ext uri="{FF2B5EF4-FFF2-40B4-BE49-F238E27FC236}">
                <a16:creationId xmlns:a16="http://schemas.microsoft.com/office/drawing/2014/main" id="{3F66CD35-A143-46DA-87AD-49E98E1D9611}"/>
              </a:ext>
            </a:extLst>
          </p:cNvPr>
          <p:cNvSpPr>
            <a:spLocks xmlns:a="http://schemas.openxmlformats.org/drawingml/2006/main" noGrp="1"/>
          </p:cNvSpPr>
          <p:nvPr/>
        </p:nvSpPr>
        <p:spPr>
          <a:xfrm xmlns:a="http://schemas.openxmlformats.org/drawingml/2006/main">
            <a:off x="6477000" y="3848100"/>
            <a:ext cx="4857750" cy="3429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26071"/>
                </a:solidFill>
                <a:latin typeface="Consolas"/>
                <a:ea typeface="Consolas"/>
                <a:cs typeface="Consolas"/>
              </a:defRPr>
            </a:pPr>
            <a:r>
              <a:t>npmjs.com/package/vertex-palace</a:t>
            </a:r>
          </a:p>
        </p:txBody>
      </p:sp>
      <p:sp>
        <p:nvSpPr>
          <p:cNvPr id="9" name="s12-d1">
            <a:extLst xmlns:a="http://schemas.openxmlformats.org/drawingml/2006/main">
              <a:ext uri="{FF2B5EF4-FFF2-40B4-BE49-F238E27FC236}">
                <a16:creationId xmlns:a16="http://schemas.microsoft.com/office/drawing/2014/main" id="{AD1B936C-16EE-403D-A826-04361EE50358}"/>
              </a:ext>
            </a:extLst>
          </p:cNvPr>
          <p:cNvSpPr>
            <a:spLocks xmlns:a="http://schemas.openxmlformats.org/drawingml/2006/main" noGrp="1"/>
          </p:cNvSpPr>
          <p:nvPr/>
        </p:nvSpPr>
        <p:spPr>
          <a:xfrm xmlns:a="http://schemas.openxmlformats.org/drawingml/2006/main">
            <a:off x="6515100" y="4838700"/>
            <a:ext cx="114300" cy="114300"/>
          </a:xfrm>
          <a:prstGeom xmlns:a="http://schemas.openxmlformats.org/drawingml/2006/main" prst="ellipse">
            <a:avLst/>
          </a:prstGeom>
          <a:solidFill xmlns:a="http://schemas.openxmlformats.org/drawingml/2006/main">
            <a:srgbClr val="13B7D5"/>
          </a:solidFill>
          <a:ln xmlns:a="http://schemas.openxmlformats.org/drawingml/2006/main" w="0">
            <a:solidFill>
              <a:srgbClr val="13B7D5"/>
            </a:solidFill>
            <a:prstDash val="solid"/>
          </a:ln>
        </p:spPr>
      </p:sp>
      <p:sp>
        <p:nvSpPr>
          <p:cNvPr id="10" name="s12-l1">
            <a:extLst xmlns:a="http://schemas.openxmlformats.org/drawingml/2006/main">
              <a:ext uri="{FF2B5EF4-FFF2-40B4-BE49-F238E27FC236}">
                <a16:creationId xmlns:a16="http://schemas.microsoft.com/office/drawing/2014/main" id="{AA11B5EC-5548-44C5-BEE5-05A90EE2AFA2}"/>
              </a:ext>
            </a:extLst>
          </p:cNvPr>
          <p:cNvSpPr>
            <a:spLocks xmlns:a="http://schemas.openxmlformats.org/drawingml/2006/main" noGrp="1"/>
          </p:cNvSpPr>
          <p:nvPr/>
        </p:nvSpPr>
        <p:spPr>
          <a:xfrm xmlns:a="http://schemas.openxmlformats.org/drawingml/2006/main">
            <a:off x="6743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CLI</a:t>
            </a:r>
          </a:p>
        </p:txBody>
      </p:sp>
      <p:sp>
        <p:nvSpPr>
          <p:cNvPr id="11" name="s12-d2">
            <a:extLst xmlns:a="http://schemas.openxmlformats.org/drawingml/2006/main">
              <a:ext uri="{FF2B5EF4-FFF2-40B4-BE49-F238E27FC236}">
                <a16:creationId xmlns:a16="http://schemas.microsoft.com/office/drawing/2014/main" id="{2B11BFAA-58F4-4407-BA50-C9D9423C5FD4}"/>
              </a:ext>
            </a:extLst>
          </p:cNvPr>
          <p:cNvSpPr>
            <a:spLocks xmlns:a="http://schemas.openxmlformats.org/drawingml/2006/main" noGrp="1"/>
          </p:cNvSpPr>
          <p:nvPr/>
        </p:nvSpPr>
        <p:spPr>
          <a:xfrm xmlns:a="http://schemas.openxmlformats.org/drawingml/2006/main">
            <a:off x="7658100" y="4838700"/>
            <a:ext cx="114300" cy="114300"/>
          </a:xfrm>
          <a:prstGeom xmlns:a="http://schemas.openxmlformats.org/drawingml/2006/main" prst="ellipse">
            <a:avLst/>
          </a:prstGeom>
          <a:solidFill xmlns:a="http://schemas.openxmlformats.org/drawingml/2006/main">
            <a:srgbClr val="1677FF"/>
          </a:solidFill>
          <a:ln xmlns:a="http://schemas.openxmlformats.org/drawingml/2006/main" w="0">
            <a:solidFill>
              <a:srgbClr val="1677FF"/>
            </a:solidFill>
            <a:prstDash val="solid"/>
          </a:ln>
        </p:spPr>
      </p:sp>
      <p:sp>
        <p:nvSpPr>
          <p:cNvPr id="12" name="s12-l2">
            <a:extLst xmlns:a="http://schemas.openxmlformats.org/drawingml/2006/main">
              <a:ext uri="{FF2B5EF4-FFF2-40B4-BE49-F238E27FC236}">
                <a16:creationId xmlns:a16="http://schemas.microsoft.com/office/drawing/2014/main" id="{2FFECB24-967E-491D-89FC-1FE6507B96A2}"/>
              </a:ext>
            </a:extLst>
          </p:cNvPr>
          <p:cNvSpPr>
            <a:spLocks xmlns:a="http://schemas.openxmlformats.org/drawingml/2006/main" noGrp="1"/>
          </p:cNvSpPr>
          <p:nvPr/>
        </p:nvSpPr>
        <p:spPr>
          <a:xfrm xmlns:a="http://schemas.openxmlformats.org/drawingml/2006/main">
            <a:off x="7886700" y="4762500"/>
            <a:ext cx="762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MCP</a:t>
            </a:r>
          </a:p>
        </p:txBody>
      </p:sp>
      <p:sp>
        <p:nvSpPr>
          <p:cNvPr id="13" name="s12-d3">
            <a:extLst xmlns:a="http://schemas.openxmlformats.org/drawingml/2006/main">
              <a:ext uri="{FF2B5EF4-FFF2-40B4-BE49-F238E27FC236}">
                <a16:creationId xmlns:a16="http://schemas.microsoft.com/office/drawing/2014/main" id="{DE79D4B0-3A73-49E1-B986-06EDF0513EAE}"/>
              </a:ext>
            </a:extLst>
          </p:cNvPr>
          <p:cNvSpPr>
            <a:spLocks xmlns:a="http://schemas.openxmlformats.org/drawingml/2006/main" noGrp="1"/>
          </p:cNvSpPr>
          <p:nvPr/>
        </p:nvSpPr>
        <p:spPr>
          <a:xfrm xmlns:a="http://schemas.openxmlformats.org/drawingml/2006/main">
            <a:off x="8858250" y="4838700"/>
            <a:ext cx="114300" cy="114300"/>
          </a:xfrm>
          <a:prstGeom xmlns:a="http://schemas.openxmlformats.org/drawingml/2006/main" prst="ellipse">
            <a:avLst/>
          </a:prstGeom>
          <a:solidFill xmlns:a="http://schemas.openxmlformats.org/drawingml/2006/main">
            <a:srgbClr val="7438F5"/>
          </a:solidFill>
          <a:ln xmlns:a="http://schemas.openxmlformats.org/drawingml/2006/main" w="0">
            <a:solidFill>
              <a:srgbClr val="7438F5"/>
            </a:solidFill>
            <a:prstDash val="solid"/>
          </a:ln>
        </p:spPr>
      </p:sp>
      <p:sp>
        <p:nvSpPr>
          <p:cNvPr id="14" name="s12-l3">
            <a:extLst xmlns:a="http://schemas.openxmlformats.org/drawingml/2006/main">
              <a:ext uri="{FF2B5EF4-FFF2-40B4-BE49-F238E27FC236}">
                <a16:creationId xmlns:a16="http://schemas.microsoft.com/office/drawing/2014/main" id="{F630D523-F516-47C6-AB77-800CAFBF4A28}"/>
              </a:ext>
            </a:extLst>
          </p:cNvPr>
          <p:cNvSpPr>
            <a:spLocks xmlns:a="http://schemas.openxmlformats.org/drawingml/2006/main" noGrp="1"/>
          </p:cNvSpPr>
          <p:nvPr/>
        </p:nvSpPr>
        <p:spPr>
          <a:xfrm xmlns:a="http://schemas.openxmlformats.org/drawingml/2006/main">
            <a:off x="9086850" y="4762500"/>
            <a:ext cx="1524000" cy="2667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0A1224"/>
                </a:solidFill>
                <a:latin typeface="Arial"/>
                <a:ea typeface="Arial"/>
                <a:cs typeface="Arial"/>
              </a:defRPr>
            </a:pPr>
            <a:r>
              <a:t>Codex plugin</a:t>
            </a:r>
          </a:p>
        </p:txBody>
      </p:sp>
      <p:sp>
        <p:nvSpPr>
          <p:cNvPr id="15" name="s12-platforms">
            <a:extLst xmlns:a="http://schemas.openxmlformats.org/drawingml/2006/main">
              <a:ext uri="{FF2B5EF4-FFF2-40B4-BE49-F238E27FC236}">
                <a16:creationId xmlns:a16="http://schemas.microsoft.com/office/drawing/2014/main" id="{6C8E9867-77EE-401F-AC7E-1CEC4500CE31}"/>
              </a:ext>
            </a:extLst>
          </p:cNvPr>
          <p:cNvSpPr>
            <a:spLocks xmlns:a="http://schemas.openxmlformats.org/drawingml/2006/main" noGrp="1"/>
          </p:cNvSpPr>
          <p:nvPr/>
        </p:nvSpPr>
        <p:spPr>
          <a:xfrm xmlns:a="http://schemas.openxmlformats.org/drawingml/2006/main">
            <a:off x="6477000" y="5334000"/>
            <a:ext cx="4857750" cy="3048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26071"/>
                </a:solidFill>
                <a:latin typeface="Arial"/>
                <a:ea typeface="Arial"/>
                <a:cs typeface="Arial"/>
              </a:defRPr>
            </a:pPr>
            <a:r>
              <a:t>MIT licensed | Windows, macOS, and Linux</a:t>
            </a:r>
          </a:p>
        </p:txBody>
      </p:sp>
      <p:cxnSp>
        <p:nvCxnSpPr>
          <p:cNvPr id="34" name="footer-rule-13"/>
          <p:cNvCxnSpPr/>
          <p:nvPr/>
        </p:nvCxnSpPr>
        <p:spPr>
          <a:xfrm xmlns:a="http://schemas.openxmlformats.org/drawingml/2006/main">
            <a:off x="400050" y="6162675"/>
            <a:ext cx="11391900" cy="953"/>
          </a:xfrm>
          <a:prstGeom xmlns:a="http://schemas.openxmlformats.org/drawingml/2006/main" prst="straightConnector1">
            <a:avLst/>
          </a:prstGeom>
          <a:ln xmlns:a="http://schemas.openxmlformats.org/drawingml/2006/main" w="9525">
            <a:solidFill>
              <a:srgbClr val="B8BCC4"/>
            </a:solidFill>
            <a:prstDash val="solid"/>
          </a:ln>
        </p:spPr>
      </p:cxnSp>
      <p:sp>
        <p:nvSpPr>
          <p:cNvPr id="17" name="footer-source-13">
            <a:extLst xmlns:a="http://schemas.openxmlformats.org/drawingml/2006/main">
              <a:ext uri="{FF2B5EF4-FFF2-40B4-BE49-F238E27FC236}">
                <a16:creationId xmlns:a16="http://schemas.microsoft.com/office/drawing/2014/main" id="{216B2CEA-EF47-4D6A-8BDF-73ABD3E3C7F5}"/>
              </a:ext>
            </a:extLst>
          </p:cNvPr>
          <p:cNvSpPr>
            <a:spLocks xmlns:a="http://schemas.openxmlformats.org/drawingml/2006/main" noGrp="1"/>
          </p:cNvSpPr>
          <p:nvPr/>
        </p:nvSpPr>
        <p:spPr>
          <a:xfrm xmlns:a="http://schemas.openxmlformats.org/drawingml/2006/main">
            <a:off x="400050" y="6238875"/>
            <a:ext cx="1000125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defRPr sz="863" b="0">
                <a:solidFill>
                  <a:srgbClr val="526071"/>
                </a:solidFill>
                <a:latin typeface="Arial"/>
                <a:ea typeface="Arial"/>
                <a:cs typeface="Arial"/>
              </a:defRPr>
            </a:pPr>
            <a:r>
              <a:t/>
            </a:r>
          </a:p>
        </p:txBody>
      </p:sp>
      <p:sp>
        <p:nvSpPr>
          <p:cNvPr id="18" name="footer-number-13">
            <a:extLst xmlns:a="http://schemas.openxmlformats.org/drawingml/2006/main">
              <a:ext uri="{FF2B5EF4-FFF2-40B4-BE49-F238E27FC236}">
                <a16:creationId xmlns:a16="http://schemas.microsoft.com/office/drawing/2014/main" id="{A61EB881-98A1-4067-95A8-1BDF2564B694}"/>
              </a:ext>
            </a:extLst>
          </p:cNvPr>
          <p:cNvSpPr>
            <a:spLocks xmlns:a="http://schemas.openxmlformats.org/drawingml/2006/main" noGrp="1"/>
          </p:cNvSpPr>
          <p:nvPr/>
        </p:nvSpPr>
        <p:spPr>
          <a:xfrm xmlns:a="http://schemas.openxmlformats.org/drawingml/2006/main">
            <a:off x="11258550" y="6238875"/>
            <a:ext cx="533400" cy="228600"/>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526071"/>
                </a:solidFill>
                <a:latin typeface="Arial"/>
                <a:ea typeface="Arial"/>
                <a:cs typeface="Arial"/>
              </a:defRPr>
            </a:pPr>
            <a:r>
              <a:t>13</a:t>
            </a:r>
          </a:p>
        </p:txBody>
      </p:sp>
    </p:spTree>
    <p:extLst>
      <p:ext uri="{BB962C8B-B14F-4D97-AF65-F5344CB8AC3E}">
        <p14:creationId xmlns:p14="http://schemas.microsoft.com/office/powerpoint/2010/main" val="3608987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2026-07-19T15:00:43.0560000Z</dcterms:created>
  <dcterms:modified xsi:type="dcterms:W3CDTF">2026-07-19T15:00:43.0560000Z</dcterms:modified>
</coreProperties>
</file>