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1.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b92c14b2d9c94c40" /><Relationship Type="http://schemas.openxmlformats.org/officeDocument/2006/relationships/extended-properties" Target="/docProps/app.xml" Id="R00ff8c9336b041ca" /><Relationship Type="http://schemas.openxmlformats.org/officeDocument/2006/relationships/officeDocument" Target="/ppt/presentation.xml" Id="R2c06c2b5eeeb47d4" /></Relationships>
</file>

<file path=ppt/presentation.xml><?xml version="1.0" encoding="utf-8"?>
<p:presentation xmlns:p="http://schemas.openxmlformats.org/presentationml/2006/main">
  <p:sldMasterIdLst>
    <p:sldMasterId xmlns:r="http://schemas.openxmlformats.org/officeDocument/2006/relationships" id="2147483648" r:id="Reb8282f83d674a10"/>
  </p:sldMasterIdLst>
  <p:notesMasterIdLst>
    <p:notesMasterId xmlns:r="http://schemas.openxmlformats.org/officeDocument/2006/relationships" r:id="R9437ae9edd93452a"/>
  </p:notesMasterIdLst>
  <p:sldIdLst>
    <p:sldId xmlns:r="http://schemas.openxmlformats.org/officeDocument/2006/relationships" id="256" r:id="R3c641e24d5184cad"/>
    <p:sldId xmlns:r="http://schemas.openxmlformats.org/officeDocument/2006/relationships" id="257" r:id="Rebd87b9bfaf44cba"/>
    <p:sldId xmlns:r="http://schemas.openxmlformats.org/officeDocument/2006/relationships" id="258" r:id="Rb75204c5f8024002"/>
    <p:sldId xmlns:r="http://schemas.openxmlformats.org/officeDocument/2006/relationships" id="259" r:id="Rc41503c3e6964fe8"/>
    <p:sldId xmlns:r="http://schemas.openxmlformats.org/officeDocument/2006/relationships" id="260" r:id="R79beb5a614d54157"/>
    <p:sldId xmlns:r="http://schemas.openxmlformats.org/officeDocument/2006/relationships" id="261" r:id="R066fb8f798124868"/>
    <p:sldId xmlns:r="http://schemas.openxmlformats.org/officeDocument/2006/relationships" id="262" r:id="R7adf4df1f03b4a8e"/>
    <p:sldId xmlns:r="http://schemas.openxmlformats.org/officeDocument/2006/relationships" id="263" r:id="R58b7807b6abe4f62"/>
    <p:sldId xmlns:r="http://schemas.openxmlformats.org/officeDocument/2006/relationships" id="264" r:id="R8f0180a85e65426c"/>
    <p:sldId xmlns:r="http://schemas.openxmlformats.org/officeDocument/2006/relationships" id="265" r:id="R485edbc5a0e749db"/>
    <p:sldId xmlns:r="http://schemas.openxmlformats.org/officeDocument/2006/relationships" id="266" r:id="R615c2b04d9174079"/>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f8ebcf3bf0f4b3c" /><Relationship Type="http://schemas.openxmlformats.org/officeDocument/2006/relationships/slideMaster" Target="/ppt/slideMasters/slideMaster1.xml" Id="Reb8282f83d674a10" /><Relationship Type="http://schemas.openxmlformats.org/officeDocument/2006/relationships/notesMaster" Target="/ppt/notesMasters/notesMaster1.xml" Id="R9437ae9edd93452a" /><Relationship Type="http://schemas.openxmlformats.org/officeDocument/2006/relationships/presProps" Target="/ppt/presProps.xml" Id="Rf88d949c45284516" /><Relationship Type="http://schemas.openxmlformats.org/officeDocument/2006/relationships/tableStyles" Target="/ppt/tableStyles.xml" Id="R5da9b6c454dd4ecb" /><Relationship Type="http://schemas.openxmlformats.org/officeDocument/2006/relationships/slide" Target="/ppt/slides/slide1.xml" Id="R3c641e24d5184cad" /><Relationship Type="http://schemas.openxmlformats.org/officeDocument/2006/relationships/slide" Target="/ppt/slides/slide2.xml" Id="Rebd87b9bfaf44cba" /><Relationship Type="http://schemas.openxmlformats.org/officeDocument/2006/relationships/slide" Target="/ppt/slides/slide3.xml" Id="Rb75204c5f8024002" /><Relationship Type="http://schemas.openxmlformats.org/officeDocument/2006/relationships/slide" Target="/ppt/slides/slide4.xml" Id="Rc41503c3e6964fe8" /><Relationship Type="http://schemas.openxmlformats.org/officeDocument/2006/relationships/slide" Target="/ppt/slides/slide5.xml" Id="R79beb5a614d54157" /><Relationship Type="http://schemas.openxmlformats.org/officeDocument/2006/relationships/slide" Target="/ppt/slides/slide6.xml" Id="R066fb8f798124868" /><Relationship Type="http://schemas.openxmlformats.org/officeDocument/2006/relationships/slide" Target="/ppt/slides/slide7.xml" Id="R7adf4df1f03b4a8e" /><Relationship Type="http://schemas.openxmlformats.org/officeDocument/2006/relationships/slide" Target="/ppt/slides/slide8.xml" Id="R58b7807b6abe4f62" /><Relationship Type="http://schemas.openxmlformats.org/officeDocument/2006/relationships/slide" Target="/ppt/slides/slide9.xml" Id="R8f0180a85e65426c" /><Relationship Type="http://schemas.openxmlformats.org/officeDocument/2006/relationships/slide" Target="/ppt/slides/slide10.xml" Id="R485edbc5a0e749db" /><Relationship Type="http://schemas.openxmlformats.org/officeDocument/2006/relationships/slide" Target="/ppt/slides/slide11.xml" Id="R615c2b04d917407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4883ff91add412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a3b9a3c2232473f" /><Relationship Type="http://schemas.openxmlformats.org/officeDocument/2006/relationships/notesMaster" Target="/ppt/notesMasters/notesMaster1.xml" Id="R392c99213edd4a2f" /></Relationships>
</file>

<file path=ppt/notesSlides/_rels/notesSlide2.xml.rels>&#65279;<?xml version="1.0" encoding="utf-8"?><Relationships xmlns="http://schemas.openxmlformats.org/package/2006/relationships"><Relationship Type="http://schemas.openxmlformats.org/officeDocument/2006/relationships/slide" Target="/ppt/slides/slide2.xml" Id="Rdb5de53af1054c06" /><Relationship Type="http://schemas.openxmlformats.org/officeDocument/2006/relationships/notesMaster" Target="/ppt/notesMasters/notesMaster1.xml" Id="R8283dd65dbd14850" /></Relationships>
</file>

<file path=ppt/notesSlides/_rels/notesSlide3.xml.rels>&#65279;<?xml version="1.0" encoding="utf-8"?><Relationships xmlns="http://schemas.openxmlformats.org/package/2006/relationships"><Relationship Type="http://schemas.openxmlformats.org/officeDocument/2006/relationships/slide" Target="/ppt/slides/slide3.xml" Id="R82a660c737b143ad" /><Relationship Type="http://schemas.openxmlformats.org/officeDocument/2006/relationships/notesMaster" Target="/ppt/notesMasters/notesMaster1.xml" Id="R55306e38bccf44a2" /></Relationships>
</file>

<file path=ppt/notesSlides/_rels/notesSlide4.xml.rels>&#65279;<?xml version="1.0" encoding="utf-8"?><Relationships xmlns="http://schemas.openxmlformats.org/package/2006/relationships"><Relationship Type="http://schemas.openxmlformats.org/officeDocument/2006/relationships/slide" Target="/ppt/slides/slide4.xml" Id="R330bc0c7932149b9" /><Relationship Type="http://schemas.openxmlformats.org/officeDocument/2006/relationships/notesMaster" Target="/ppt/notesMasters/notesMaster1.xml" Id="R917a2670cd334a8f" /></Relationships>
</file>

<file path=ppt/notesSlides/_rels/notesSlide5.xml.rels>&#65279;<?xml version="1.0" encoding="utf-8"?><Relationships xmlns="http://schemas.openxmlformats.org/package/2006/relationships"><Relationship Type="http://schemas.openxmlformats.org/officeDocument/2006/relationships/slide" Target="/ppt/slides/slide5.xml" Id="R9d36432dd88f4ecc" /><Relationship Type="http://schemas.openxmlformats.org/officeDocument/2006/relationships/notesMaster" Target="/ppt/notesMasters/notesMaster1.xml" Id="R9ce7f7daef5e494b" /></Relationships>
</file>

<file path=ppt/notesSlides/_rels/notesSlide6.xml.rels>&#65279;<?xml version="1.0" encoding="utf-8"?><Relationships xmlns="http://schemas.openxmlformats.org/package/2006/relationships"><Relationship Type="http://schemas.openxmlformats.org/officeDocument/2006/relationships/slide" Target="/ppt/slides/slide6.xml" Id="R18f35ebac26145c1" /><Relationship Type="http://schemas.openxmlformats.org/officeDocument/2006/relationships/notesMaster" Target="/ppt/notesMasters/notesMaster1.xml" Id="Rb4849e3dd5004811" /></Relationships>
</file>

<file path=ppt/notesSlides/_rels/notesSlide7.xml.rels>&#65279;<?xml version="1.0" encoding="utf-8"?><Relationships xmlns="http://schemas.openxmlformats.org/package/2006/relationships"><Relationship Type="http://schemas.openxmlformats.org/officeDocument/2006/relationships/slide" Target="/ppt/slides/slide7.xml" Id="R14ee10e2c3bd4eb4" /><Relationship Type="http://schemas.openxmlformats.org/officeDocument/2006/relationships/notesMaster" Target="/ppt/notesMasters/notesMaster1.xml" Id="R56d6f9b93790405f" /></Relationships>
</file>

<file path=ppt/notesSlides/_rels/notesSlide8.xml.rels>&#65279;<?xml version="1.0" encoding="utf-8"?><Relationships xmlns="http://schemas.openxmlformats.org/package/2006/relationships"><Relationship Type="http://schemas.openxmlformats.org/officeDocument/2006/relationships/slide" Target="/ppt/slides/slide8.xml" Id="Re035ac505fd14cab" /><Relationship Type="http://schemas.openxmlformats.org/officeDocument/2006/relationships/notesMaster" Target="/ppt/notesMasters/notesMaster1.xml" Id="Rcfb7b4115b574638" /></Relationships>
</file>

<file path=ppt/notesSlides/_rels/notesSlide9.xml.rels>&#65279;<?xml version="1.0" encoding="utf-8"?><Relationships xmlns="http://schemas.openxmlformats.org/package/2006/relationships"><Relationship Type="http://schemas.openxmlformats.org/officeDocument/2006/relationships/slide" Target="/ppt/slides/slide9.xml" Id="R5cdd79aba5894f12" /><Relationship Type="http://schemas.openxmlformats.org/officeDocument/2006/relationships/notesMaster" Target="/ppt/notesMasters/notesMaster1.xml" Id="Rb8761f07fb6042e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617692381a1b4b2d" /><Relationship Type="http://schemas.openxmlformats.org/officeDocument/2006/relationships/notesMaster" Target="/ppt/notesMasters/notesMaster1.xml" Id="Rf2dd0ce2bf484cd9"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6961fb60a5874797" /><Relationship Type="http://schemas.openxmlformats.org/officeDocument/2006/relationships/notesMaster" Target="/ppt/notesMasters/notesMaster1.xml" Id="R06ed81b8cf59433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with the product name and one sentence: Vertex Palace gives Codex a structured way to enter a large repository, retrieve focused context, remember relevant pitfalls, and measure whether the route actually helped.</a:t>
            </a:r>
          </a:p>
          <a:p xmlns:a="http://schemas.openxmlformats.org/drawingml/2006/main">
            <a:r>
              <a:t>Keep the opening brief. The next slide introduces the concrete problem.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 in the first person. Vertex Palace began with a recurring problem in my own large projects: a single issue could take more than an hour, while token usage climbed as the agent rediscovered files, relationships, and earlier decisions.</a:t>
            </a:r>
          </a:p>
          <a:p xmlns:a="http://schemas.openxmlformats.org/drawingml/2006/main">
            <a:r>
              <a:t>This was the point where I stopped treating the context cost as an inconvenience and decided to build a task-specific entry path. Do not present this personal experience as a universal benchmark result.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2D-to-3D idea only becomes useful when each axis has a stable meaning. X is the horizontal functional area or module, such as auth, checkout, or blog.</a:t>
            </a:r>
          </a:p>
          <a:p xmlns:a="http://schemas.openxmlformats.org/drawingml/2006/main">
            <a:r>
              <a:t>Y is the vertical architectural floor, such as interface, implementation, data, verification, or runtime. Z is inspection depth: room overview, file cabinet, symbol drawer, then the smallest useful snippet.</a:t>
            </a:r>
          </a:p>
          <a:p xmlns:a="http://schemas.openxmlformats.org/drawingml/2006/main">
            <a:r>
              <a:t>For example, checkout / implementation / shippingQuote() is one address. A task route is a path between addresses; memory, evidence, confidence, and the Pitfall Board attach to places instead of becoming extra axes.</a:t>
            </a:r>
          </a:p>
          <a:p xmlns:a="http://schemas.openxmlformats.org/drawingml/2006/main">
            <a:r>
              <a:t>This keeps the building stable as the repository changes. Current code and tests still outrank remembered guidance.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Recording cue: hold this slide for about two seconds, then cut to a 35 to 45 second screen recording that runs the exact palace context command. Return to the slide before advancing.</a:t>
            </a:r>
          </a:p>
          <a:p xmlns:a="http://schemas.openxmlformats.org/drawingml/2006/main">
            <a:r>
              <a:t>Point out the selected guarded-memory mode, the two primary implementation files, the bounded payload, and the current-code-first guardrail.</a:t>
            </a:r>
          </a:p>
          <a:p xmlns:a="http://schemas.openxmlformats.org/drawingml/2006/main">
            <a:r>
              <a:t>This visible output is from a real local run on Vertex Palace 0.2.3.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Show that Vertex Palace evaluates its own retrieval. The current task reduced an 87,622-token indexed repository estimate to an 8,900-token context pack and still covered all three declared changed files.</a:t>
            </a:r>
          </a:p>
          <a:p xmlns:a="http://schemas.openxmlformats.org/drawingml/2006/main">
            <a:r>
              <a:t>Say the caveat aloud: this is context-pack reduction, not proof of lower end-to-end Codex usage.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Start by defining the baseline. Codex alone is the no-Palace Control: the same Codex searches the repository directly. Sixteen tasks were each run four ways: Codex alone, route metadata only, always-on Full Palace, and Adaptive mode selection.</a:t>
            </a:r>
          </a:p>
          <a:p xmlns:a="http://schemas.openxmlformats.org/drawingml/2006/main">
            <a:r>
              <a:t>The task, generated fixture, model, prompt, public tests, and hidden oracle stayed fixed. Only the repository-context strategy changed, producing 64 paired arms.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Define the comparison before reading the result: Codex alone is the no-Palace Control, not another model or agent. Everything else was held fixed. The displayed numbers are paired Adaptive-minus-Codex-alone differences.</a:t>
            </a:r>
          </a:p>
          <a:p xmlns:a="http://schemas.openxmlformats.org/drawingml/2006/main">
            <a:r>
              <a:t>Say the uncomfortable result plainly: if Vertex Palace were forced on for every task, this benchmark would argue that it was unnecessary for these deterministic synthetic fixtures. Adaptive added 4.5 tool calls, while reported Token and time central estimates were higher but inconclusive.</a:t>
            </a:r>
          </a:p>
          <a:p xmlns:a="http://schemas.openxmlformats.org/drawingml/2006/main">
            <a:r>
              <a:t>The product response is not to hide the result. Current v0.2.3 can bypass packed context for one explicit file, use route-lite for bounded work, and reserve Full or Guarded mode for cross-stack, contract, and memory risk. Bypass still costs one Palace decision call.</a:t>
            </a:r>
          </a:p>
          <a:p xmlns:a="http://schemas.openxmlformats.org/drawingml/2006/main">
            <a:r>
              <a:t>This policy change is not confirmatory performance proof. The next study still needs larger real repositories, hidden memory-dependent traps, and repetitions across models, machines, and long-lived sessions.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Efficiency comparisons only matter if correctness is held constant. All 64 arms were valid and successful, passed public tests and the hidden oracle, achieved full declared scope, and avoided forbidden files.</a:t>
            </a:r>
          </a:p>
          <a:p xmlns:a="http://schemas.openxmlformats.org/drawingml/2006/main">
            <a:r>
              <a:t>All four treatments were correct, so there was no correctness winner. State the research boundary: this frozen exploratory study ran Vertex Palace 0.2.1 and does not prove universal token, time, or correctness improvement.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Separate product engineering from the exploratory benchmark. The current repository passes 55 automated tests: 51 Core, two CLI, and two MCP, plus build, TypeScript lint, and a ten-tool MCP smoke test.</a:t>
            </a:r>
          </a:p>
          <a:p xmlns:a="http://schemas.openxmlformats.org/drawingml/2006/main">
            <a:r>
              <a:t>The verified GitHub Actions run passed five jobs across Ubuntu, Windows, macOS, Node 20, Node 24, and the package dry run.</a:t>
            </a:r>
          </a:p>
          <a:p xmlns:a="http://schemas.openxmlformats.org/drawingml/2006/main">
            <a:r>
              <a:t>Release verification also covered clean tarball and public npm installs, the CLI release route, MCP initialization, registry hash equality, and tag, plugin, marketplace, and MCP version pins.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benchmark exposed a deterministic memory omission in version 0.2.1: Adaptive selected Full Palace but delivered zero memory in every useful-memory trial.</a:t>
            </a:r>
          </a:p>
          <a:p xmlns:a="http://schemas.openxmlformats.org/drawingml/2006/main">
            <a:r>
              <a:t>Version 0.2.2 fixed the memory level, added JSON delivery and guardrails, and turned the bug into a regression contract verified on clean and registry fixtures.</a:t>
            </a:r>
          </a:p>
          <a:p xmlns:a="http://schemas.openxmlformats.org/drawingml/2006/main">
            <a:r>
              <a:t>Version 0.2.3 generalized the lesson with a release-routing matrix across npm, Codex plugins, PyPI, Chinese intent, negative controls, CI, and public distribution. The research became a product feedback loop.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with the judge path: install the public package, run palace context with auto mode, then evaluate the route after the task.</a:t>
            </a:r>
          </a:p>
          <a:p xmlns:a="http://schemas.openxmlformats.org/drawingml/2006/main">
            <a:r>
              <a:t>End on the product promise: Vertex Palace gives coding agents a map, a route, a memory, and measurable evidence about the context they selected.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a2d4936f802478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6533622cba342bb" /><Relationship Type="http://schemas.openxmlformats.org/officeDocument/2006/relationships/slideLayout" Target="/ppt/slideLayouts/slideLayout1.xml" Id="R2d484521689444e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d484521689444e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935d6efb9f364b12" /><Relationship Type="http://schemas.openxmlformats.org/officeDocument/2006/relationships/image" Target="/ppt/media/image.png" Id="R17bb53440f6c4fa6" /><Relationship Type="http://schemas.openxmlformats.org/officeDocument/2006/relationships/notesSlide" Target="/ppt/notesSlides/notesSlide1.xml" Id="R721bf69b782e4aa6"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55684508b73c41d4" /><Relationship Type="http://schemas.openxmlformats.org/officeDocument/2006/relationships/notesSlide" Target="/ppt/notesSlides/notesSlide2.xml" Id="R6c450c2eea3e4369"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0a1f9d2c7c3f472c" /><Relationship Type="http://schemas.openxmlformats.org/officeDocument/2006/relationships/notesSlide" Target="/ppt/notesSlides/notesSlide3.xml" Id="R584145770bd14609"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b80a946aea724169" /><Relationship Type="http://schemas.openxmlformats.org/officeDocument/2006/relationships/notesSlide" Target="/ppt/notesSlides/notesSlide4.xml" Id="R8d21da56d50141f3"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ce9dc3442dbe45ce" /><Relationship Type="http://schemas.openxmlformats.org/officeDocument/2006/relationships/chart" Target="/ppt/slides/charts/chart1.xml" Id="R7e18edf85e6c44ed" /><Relationship Type="http://schemas.openxmlformats.org/officeDocument/2006/relationships/notesSlide" Target="/ppt/notesSlides/notesSlide5.xml" Id="Rd3cad844ffd4462d"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91ab5a4df83a43a1" /><Relationship Type="http://schemas.openxmlformats.org/officeDocument/2006/relationships/notesSlide" Target="/ppt/notesSlides/notesSlide6.xml" Id="Ra4201fffa7954e3c"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fdb3d035506a422f" /><Relationship Type="http://schemas.openxmlformats.org/officeDocument/2006/relationships/notesSlide" Target="/ppt/notesSlides/notesSlide7.xml" Id="R67d1a7bcb4f24258"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5c30392f01ea409c" /><Relationship Type="http://schemas.openxmlformats.org/officeDocument/2006/relationships/notesSlide" Target="/ppt/notesSlides/notesSlide8.xml" Id="R15b5688c7eef4cd8"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9892abe4d36c4131" /><Relationship Type="http://schemas.openxmlformats.org/officeDocument/2006/relationships/notesSlide" Target="/ppt/notesSlides/notesSlide9.xml" Id="R66966941ae32469e"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3682d8af36304994" /><Relationship Type="http://schemas.openxmlformats.org/officeDocument/2006/relationships/notesSlide" Target="/ppt/notesSlides/notesSlide10.xml" Id="Rc9148e99c456476e"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0dcffeab85f1489e" /><Relationship Type="http://schemas.openxmlformats.org/officeDocument/2006/relationships/notesSlide" Target="/ppt/notesSlides/notesSlide11.xml" Id="R747867b412404f6e" /></Relationships>
</file>

<file path=ppt/slides/charts/chart1.xml><?xml version="1.0" encoding="utf-8"?>
<c:chartSpace xmlns:c="http://schemas.openxmlformats.org/drawingml/2006/chart">
  <c:lang val="en-US"/>
  <c:chart>
    <c:plotArea>
      <c:barChart>
        <c:barDir val="bar"/>
        <c:grouping val="clustered"/>
        <c:varyColors val="0"/>
        <c:ser>
          <c:idx val="0"/>
          <c:order val="0"/>
          <c:tx>
            <c:v>Estimated tokens</c:v>
          </c:tx>
          <c:spPr>
            <a:solidFill xmlns:a="http://schemas.openxmlformats.org/drawingml/2006/main">
              <a:srgbClr val="1677FF"/>
            </a:solidFill>
          </c:spPr>
          <c:cat>
            <c:strLit>
              <c:ptCount val="2"/>
              <c:pt idx="0">
                <c:v>​</c:v>
              </c:pt>
              <c:pt idx="1">
                <c:v>‌</c:v>
              </c:pt>
            </c:strLit>
          </c:cat>
          <c:val>
            <c:numLit>
              <c:formatCode>General</c:formatCode>
              <c:ptCount val="2"/>
              <c:pt idx="0">
                <c:v>87622</c:v>
              </c:pt>
              <c:pt idx="1">
                <c:v>8900</c:v>
              </c:pt>
            </c:numLit>
          </c:val>
        </c:ser>
        <c:dLbls>
          <c:dLblPos val="outEnd"/>
          <c:showLegendKey val="0"/>
          <c:showVal val="1"/>
          <c:showCatName val="0"/>
          <c:showSerName val="0"/>
          <c:showPercent val="0"/>
          <c:showBubbleSize val="0"/>
          <c:showLeaderLines val="0"/>
        </c:dLbls>
        <c:gapWidth val="80"/>
        <c:axId val="48650112"/>
        <c:axId val="48672768"/>
      </c:barChart>
      <c:catAx>
        <c:axId val="48650112"/>
        <c:scaling>
          <c:orientation val="minMax"/>
        </c:scaling>
        <c:delete val="0"/>
        <c:axPos val="l"/>
        <c:majorGridlines>
          <c:spPr>
            <a:ln xmlns:a="http://schemas.openxmlformats.org/drawingml/2006/main" w="9525">
              <a:solidFill>
                <a:srgbClr val="EDEFF3"/>
              </a:solidFill>
              <a:prstDash val="solid"/>
            </a:ln>
          </c:spPr>
        </c:majorGridlines>
        <c:numFmt formatCode="General"/>
        <c:majorTickMark val="none"/>
        <c:minorTickMark val="none"/>
        <c:spPr>
          <a:ln xmlns:a="http://schemas.openxmlformats.org/drawingml/2006/main" w="9525">
            <a:solidFill>
              <a:srgbClr val="B8BCC4"/>
            </a:solidFill>
            <a:prstDash val="solid"/>
          </a:ln>
        </c:spPr>
        <c:txPr>
          <a:bodyPr xmlns:a="http://schemas.openxmlformats.org/drawingml/2006/main" anchorCtr="1"/>
          <a:lstStyle xmlns:a="http://schemas.openxmlformats.org/drawingml/2006/main"/>
          <a:p xmlns:a="http://schemas.openxmlformats.org/drawingml/2006/main">
            <a:pPr>
              <a:defRPr sz="975">
                <a:solidFill>
                  <a:srgbClr val="526071"/>
                </a:solidFill>
                <a:latin typeface="Arial"/>
                <a:ea typeface="Arial"/>
                <a:cs typeface="Arial"/>
              </a:defRPr>
            </a:pPr>
          </a:p>
        </c:txPr>
        <c:crossAx val="48672768"/>
        <c:lblAlgn val="ctr"/>
        <c:lblOffset val="100"/>
        <c:noMultiLvlLbl val="0"/>
      </c:catAx>
      <c:valAx>
        <c:axId val="48672768"/>
        <c:scaling>
          <c:orientation val="minMax"/>
        </c:scaling>
        <c:delete val="0"/>
        <c:axPos val="b"/>
        <c:numFmt formatCode="General"/>
        <c:majorTickMark val="none"/>
        <c:minorTickMark val="none"/>
        <c:spPr>
          <a:ln xmlns:a="http://schemas.openxmlformats.org/drawingml/2006/main" w="0">
            <a:solidFill>
              <a:srgbClr val="FFFFFF"/>
            </a:solidFill>
            <a:prstDash val="solid"/>
          </a:ln>
        </c:spPr>
        <c:txPr>
          <a:bodyPr xmlns:a="http://schemas.openxmlformats.org/drawingml/2006/main" anchorCtr="1"/>
          <a:lstStyle xmlns:a="http://schemas.openxmlformats.org/drawingml/2006/main"/>
          <a:p xmlns:a="http://schemas.openxmlformats.org/drawingml/2006/main">
            <a:pPr>
              <a:defRPr sz="1200">
                <a:solidFill>
                  <a:srgbClr val="FFFFFF"/>
                </a:solidFill>
                <a:latin typeface="Arial"/>
                <a:ea typeface="Arial"/>
                <a:cs typeface="Arial"/>
              </a:defRPr>
            </a:pPr>
          </a:p>
        </c:txPr>
        <c:crossAx val="48650112"/>
        <c:crossBetween val="between"/>
      </c:valAx>
      <c:spPr>
        <a:noFill xmlns:a="http://schemas.openxmlformats.org/drawingml/2006/main"/>
        <a:ln xmlns:a="http://schemas.openxmlformats.org/drawingml/2006/main" w="0">
          <a:solidFill>
            <a:srgbClr val="FFFFFF"/>
          </a:solidFill>
          <a:prstDash val="solid"/>
        </a:ln>
      </c:spPr>
    </c:plotArea>
    <c:plotVisOnly val="1"/>
  </c:chart>
  <c:spPr>
    <a:solidFill xmlns:a="http://schemas.openxmlformats.org/drawingml/2006/main">
      <a:srgbClr val="FFFFFF"/>
    </a:solidFill>
    <a:ln xmlns:a="http://schemas.openxmlformats.org/drawingml/2006/main" w="0">
      <a:solidFill>
        <a:srgbClr val="FFFFFF"/>
      </a:solidFill>
      <a:prstDash val="solid"/>
    </a:ln>
  </c:spPr>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s1-eyebrow">
            <a:extLst xmlns:a="http://schemas.openxmlformats.org/drawingml/2006/main">
              <a:ext uri="{FF2B5EF4-FFF2-40B4-BE49-F238E27FC236}">
                <a16:creationId xmlns:a16="http://schemas.microsoft.com/office/drawing/2014/main" id="{E490E303-B7EF-4E85-A832-2FFBE6DE736B}"/>
              </a:ext>
            </a:extLst>
          </p:cNvPr>
          <p:cNvSpPr>
            <a:spLocks xmlns:a="http://schemas.openxmlformats.org/drawingml/2006/main" noGrp="1"/>
          </p:cNvSpPr>
          <p:nvPr/>
        </p:nvSpPr>
        <p:spPr>
          <a:xfrm xmlns:a="http://schemas.openxmlformats.org/drawingml/2006/main">
            <a:off x="495300" y="419100"/>
            <a:ext cx="5334000" cy="2667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1">
                <a:solidFill>
                  <a:srgbClr val="1677FF"/>
                </a:solidFill>
                <a:latin typeface="Arial"/>
                <a:ea typeface="Arial"/>
                <a:cs typeface="Arial"/>
              </a:defRPr>
            </a:pPr>
            <a:r>
              <a:t>OPENAI BUILD WEEK 2026  /  DEVELOPER TOOLS</a:t>
            </a:r>
          </a:p>
        </p:txBody>
      </p:sp>
      <p:sp>
        <p:nvSpPr>
          <p:cNvPr id="2" name="s1-title">
            <a:extLst xmlns:a="http://schemas.openxmlformats.org/drawingml/2006/main">
              <a:ext uri="{FF2B5EF4-FFF2-40B4-BE49-F238E27FC236}">
                <a16:creationId xmlns:a16="http://schemas.microsoft.com/office/drawing/2014/main" id="{10BD4AF0-4CFB-4D28-87E9-85AFC0908C0F}"/>
              </a:ext>
            </a:extLst>
          </p:cNvPr>
          <p:cNvSpPr>
            <a:spLocks xmlns:a="http://schemas.openxmlformats.org/drawingml/2006/main" noGrp="1"/>
          </p:cNvSpPr>
          <p:nvPr/>
        </p:nvSpPr>
        <p:spPr>
          <a:xfrm xmlns:a="http://schemas.openxmlformats.org/drawingml/2006/main">
            <a:off x="495300" y="1428750"/>
            <a:ext cx="5905500" cy="21907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6150" b="1">
                <a:solidFill>
                  <a:srgbClr val="0A1224"/>
                </a:solidFill>
                <a:latin typeface="Arial"/>
                <a:ea typeface="Arial"/>
                <a:cs typeface="Arial"/>
              </a:defRPr>
            </a:pPr>
            <a:r>
              <a:t>Vertex
Palace</a:t>
            </a:r>
          </a:p>
        </p:txBody>
      </p:sp>
      <p:cxnSp>
        <p:nvCxnSpPr>
          <p:cNvPr id="9" name="s1-accent"/>
          <p:cNvCxnSpPr/>
          <p:nvPr/>
        </p:nvCxnSpPr>
        <p:spPr>
          <a:xfrm xmlns:a="http://schemas.openxmlformats.org/drawingml/2006/main">
            <a:off x="514350" y="3895725"/>
            <a:ext cx="1200150" cy="953"/>
          </a:xfrm>
          <a:prstGeom xmlns:a="http://schemas.openxmlformats.org/drawingml/2006/main" prst="straightConnector1">
            <a:avLst/>
          </a:prstGeom>
          <a:ln xmlns:a="http://schemas.openxmlformats.org/drawingml/2006/main" w="57150">
            <a:solidFill>
              <a:srgbClr val="13B7D5"/>
            </a:solidFill>
            <a:prstDash val="solid"/>
          </a:ln>
        </p:spPr>
      </p:cxnSp>
      <p:sp>
        <p:nvSpPr>
          <p:cNvPr id="4" name="s1-subtitle">
            <a:extLst xmlns:a="http://schemas.openxmlformats.org/drawingml/2006/main">
              <a:ext uri="{FF2B5EF4-FFF2-40B4-BE49-F238E27FC236}">
                <a16:creationId xmlns:a16="http://schemas.microsoft.com/office/drawing/2014/main" id="{A1910804-F9C0-41D5-B7CC-EED56D47891B}"/>
              </a:ext>
            </a:extLst>
          </p:cNvPr>
          <p:cNvSpPr>
            <a:spLocks xmlns:a="http://schemas.openxmlformats.org/drawingml/2006/main" noGrp="1"/>
          </p:cNvSpPr>
          <p:nvPr/>
        </p:nvSpPr>
        <p:spPr>
          <a:xfrm xmlns:a="http://schemas.openxmlformats.org/drawingml/2006/main">
            <a:off x="495300" y="4210050"/>
            <a:ext cx="5810250" cy="10287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526071"/>
                </a:solidFill>
                <a:latin typeface="Arial"/>
                <a:ea typeface="Arial"/>
                <a:cs typeface="Arial"/>
              </a:defRPr>
            </a:pPr>
            <a:r>
              <a:t>A local map, route, memory, and evidence layer for Codex.</a:t>
            </a:r>
          </a:p>
        </p:txBody>
      </p:sp>
      <p:sp>
        <p:nvSpPr>
          <p:cNvPr id="5" name="s1-version">
            <a:extLst xmlns:a="http://schemas.openxmlformats.org/drawingml/2006/main">
              <a:ext uri="{FF2B5EF4-FFF2-40B4-BE49-F238E27FC236}">
                <a16:creationId xmlns:a16="http://schemas.microsoft.com/office/drawing/2014/main" id="{87C4C0D9-FFF7-44F6-847F-3D193FA68520}"/>
              </a:ext>
            </a:extLst>
          </p:cNvPr>
          <p:cNvSpPr>
            <a:spLocks xmlns:a="http://schemas.openxmlformats.org/drawingml/2006/main" noGrp="1"/>
          </p:cNvSpPr>
          <p:nvPr/>
        </p:nvSpPr>
        <p:spPr>
          <a:xfrm xmlns:a="http://schemas.openxmlformats.org/drawingml/2006/main">
            <a:off x="495300" y="5600700"/>
            <a:ext cx="3048000" cy="2857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0A1224"/>
                </a:solidFill>
                <a:latin typeface="Consolas"/>
                <a:ea typeface="Consolas"/>
                <a:cs typeface="Consolas"/>
              </a:defRPr>
            </a:pPr>
            <a:r>
              <a:t>vertex-palace@0.2.3</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17bb53440f6c4fa6"/>
          <a:stretch xmlns:a="http://schemas.openxmlformats.org/drawingml/2006/main"/>
        </p:blipFill>
        <p:spPr>
          <a:xfrm xmlns:a="http://schemas.openxmlformats.org/drawingml/2006/main">
            <a:off x="6858000" y="1565275"/>
            <a:ext cx="4476750" cy="2984500"/>
          </a:xfrm>
          <a:prstGeom xmlns:a="http://schemas.openxmlformats.org/drawingml/2006/main" prst="rect">
            <a:avLst/>
          </a:prstGeom>
        </p:spPr>
      </p:pic>
    </p:spTree>
    <p:extLst>
      <p:ext uri="{BB962C8B-B14F-4D97-AF65-F5344CB8AC3E}">
        <p14:creationId xmlns:p14="http://schemas.microsoft.com/office/powerpoint/2010/main" val="1383608297"/>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3" name="s2-title">
            <a:extLst xmlns:a="http://schemas.openxmlformats.org/drawingml/2006/main">
              <a:ext uri="{FF2B5EF4-FFF2-40B4-BE49-F238E27FC236}">
                <a16:creationId xmlns:a16="http://schemas.microsoft.com/office/drawing/2014/main" id="{35B3816E-DE17-484A-B619-BAC6F6E3CCEE}"/>
              </a:ext>
            </a:extLst>
          </p:cNvPr>
          <p:cNvSpPr>
            <a:spLocks xmlns:a="http://schemas.openxmlformats.org/drawingml/2006/main" noGrp="1"/>
          </p:cNvSpPr>
          <p:nvPr/>
        </p:nvSpPr>
        <p:spPr>
          <a:xfrm xmlns:a="http://schemas.openxmlformats.org/drawingml/2006/main">
            <a:off x="400050" y="323850"/>
            <a:ext cx="11391900" cy="7239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0A1224"/>
                </a:solidFill>
                <a:latin typeface="Arial"/>
                <a:ea typeface="Arial"/>
                <a:cs typeface="Arial"/>
              </a:defRPr>
            </a:pPr>
            <a:r>
              <a:t>As my projects grew, one issue could take over an hour.</a:t>
            </a:r>
          </a:p>
        </p:txBody>
      </p:sp>
      <p:sp>
        <p:nvSpPr>
          <p:cNvPr id="2" name="s2-subtitle">
            <a:extLst xmlns:a="http://schemas.openxmlformats.org/drawingml/2006/main">
              <a:ext uri="{FF2B5EF4-FFF2-40B4-BE49-F238E27FC236}">
                <a16:creationId xmlns:a16="http://schemas.microsoft.com/office/drawing/2014/main" id="{E201C5D7-CA41-48A6-9EF2-213F3194EE54}"/>
              </a:ext>
            </a:extLst>
          </p:cNvPr>
          <p:cNvSpPr>
            <a:spLocks xmlns:a="http://schemas.openxmlformats.org/drawingml/2006/main" noGrp="1"/>
          </p:cNvSpPr>
          <p:nvPr/>
        </p:nvSpPr>
        <p:spPr>
          <a:xfrm xmlns:a="http://schemas.openxmlformats.org/drawingml/2006/main">
            <a:off x="400050" y="1066800"/>
            <a:ext cx="11391900" cy="3810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526071"/>
                </a:solidFill>
                <a:latin typeface="Arial"/>
                <a:ea typeface="Arial"/>
                <a:cs typeface="Arial"/>
              </a:defRPr>
            </a:pPr>
            <a:r>
              <a:t>Token use became just as unreasonable as the agent repeatedly rediscovered the same repository.</a:t>
            </a:r>
          </a:p>
        </p:txBody>
      </p:sp>
      <p:cxnSp>
        <p:nvCxnSpPr>
          <p:cNvPr id="35" name="s2-link-a"/>
          <p:cNvCxnSpPr/>
          <p:nvPr/>
        </p:nvCxnSpPr>
        <p:spPr>
          <a:xfrm xmlns:a="http://schemas.openxmlformats.org/drawingml/2006/main">
            <a:off x="1400175" y="1981200"/>
            <a:ext cx="1257300" cy="1495425"/>
          </a:xfrm>
          <a:prstGeom xmlns:a="http://schemas.openxmlformats.org/drawingml/2006/main" prst="straightConnector1">
            <a:avLst/>
          </a:prstGeom>
          <a:ln xmlns:a="http://schemas.openxmlformats.org/drawingml/2006/main" w="19050">
            <a:solidFill>
              <a:srgbClr val="B8BCC4"/>
            </a:solidFill>
            <a:prstDash val="solid"/>
          </a:ln>
        </p:spPr>
      </p:cxnSp>
      <p:cxnSp>
        <p:nvCxnSpPr>
          <p:cNvPr id="36" name="s2-link-b"/>
          <p:cNvCxnSpPr/>
          <p:nvPr/>
        </p:nvCxnSpPr>
        <p:spPr>
          <a:xfrm xmlns:a="http://schemas.openxmlformats.org/drawingml/2006/main">
            <a:off x="2657475" y="1685925"/>
            <a:ext cx="1562100" cy="1790700"/>
          </a:xfrm>
          <a:prstGeom xmlns:a="http://schemas.openxmlformats.org/drawingml/2006/main" prst="straightConnector1">
            <a:avLst/>
          </a:prstGeom>
          <a:ln xmlns:a="http://schemas.openxmlformats.org/drawingml/2006/main" w="19050">
            <a:solidFill>
              <a:srgbClr val="B8BCC4"/>
            </a:solidFill>
            <a:prstDash val="solid"/>
          </a:ln>
        </p:spPr>
      </p:cxnSp>
      <p:cxnSp>
        <p:nvCxnSpPr>
          <p:cNvPr id="37" name="s2-link-c"/>
          <p:cNvCxnSpPr/>
          <p:nvPr/>
        </p:nvCxnSpPr>
        <p:spPr>
          <a:xfrm xmlns:a="http://schemas.openxmlformats.org/drawingml/2006/main">
            <a:off x="2657475" y="3181350"/>
            <a:ext cx="2400300" cy="295275"/>
          </a:xfrm>
          <a:prstGeom xmlns:a="http://schemas.openxmlformats.org/drawingml/2006/main" prst="straightConnector1">
            <a:avLst/>
          </a:prstGeom>
          <a:ln xmlns:a="http://schemas.openxmlformats.org/drawingml/2006/main" w="19050">
            <a:solidFill>
              <a:srgbClr val="B8BCC4"/>
            </a:solidFill>
            <a:prstDash val="solid"/>
          </a:ln>
        </p:spPr>
      </p:cxnSp>
      <p:cxnSp>
        <p:nvCxnSpPr>
          <p:cNvPr id="38" name="s2-link-d"/>
          <p:cNvCxnSpPr/>
          <p:nvPr/>
        </p:nvCxnSpPr>
        <p:spPr>
          <a:xfrm xmlns:a="http://schemas.openxmlformats.org/drawingml/2006/main">
            <a:off x="1533525" y="3476625"/>
            <a:ext cx="1123950" cy="1476375"/>
          </a:xfrm>
          <a:prstGeom xmlns:a="http://schemas.openxmlformats.org/drawingml/2006/main" prst="straightConnector1">
            <a:avLst/>
          </a:prstGeom>
          <a:ln xmlns:a="http://schemas.openxmlformats.org/drawingml/2006/main" w="19050">
            <a:solidFill>
              <a:srgbClr val="B8BCC4"/>
            </a:solidFill>
            <a:prstDash val="solid"/>
          </a:ln>
        </p:spPr>
      </p:cxnSp>
      <p:cxnSp>
        <p:nvCxnSpPr>
          <p:cNvPr id="39" name="s2-link-e"/>
          <p:cNvCxnSpPr/>
          <p:nvPr/>
        </p:nvCxnSpPr>
        <p:spPr>
          <a:xfrm xmlns:a="http://schemas.openxmlformats.org/drawingml/2006/main">
            <a:off x="2657475" y="3476625"/>
            <a:ext cx="1771650" cy="1552575"/>
          </a:xfrm>
          <a:prstGeom xmlns:a="http://schemas.openxmlformats.org/drawingml/2006/main" prst="straightConnector1">
            <a:avLst/>
          </a:prstGeom>
          <a:ln xmlns:a="http://schemas.openxmlformats.org/drawingml/2006/main" w="19050">
            <a:solidFill>
              <a:srgbClr val="B8BCC4"/>
            </a:solidFill>
            <a:prstDash val="solid"/>
          </a:ln>
        </p:spPr>
      </p:cxnSp>
      <p:sp>
        <p:nvSpPr>
          <p:cNvPr id="8" name="s2-agent">
            <a:extLst xmlns:a="http://schemas.openxmlformats.org/drawingml/2006/main">
              <a:ext uri="{FF2B5EF4-FFF2-40B4-BE49-F238E27FC236}">
                <a16:creationId xmlns:a16="http://schemas.microsoft.com/office/drawing/2014/main" id="{EC49FD46-458A-4452-97AE-8C6FCD4A522E}"/>
              </a:ext>
            </a:extLst>
          </p:cNvPr>
          <p:cNvSpPr>
            <a:spLocks xmlns:a="http://schemas.openxmlformats.org/drawingml/2006/main" noGrp="1"/>
          </p:cNvSpPr>
          <p:nvPr/>
        </p:nvSpPr>
        <p:spPr>
          <a:xfrm xmlns:a="http://schemas.openxmlformats.org/drawingml/2006/main">
            <a:off x="2095500" y="2914650"/>
            <a:ext cx="1123950" cy="1123950"/>
          </a:xfrm>
          <a:prstGeom xmlns:a="http://schemas.openxmlformats.org/drawingml/2006/main" prst="ellipse">
            <a:avLst/>
          </a:prstGeom>
          <a:solidFill xmlns:a="http://schemas.openxmlformats.org/drawingml/2006/main">
            <a:srgbClr val="061B3D"/>
          </a:solidFill>
          <a:ln xmlns:a="http://schemas.openxmlformats.org/drawingml/2006/main" w="0">
            <a:solidFill>
              <a:srgbClr val="061B3D"/>
            </a:solidFill>
            <a:prstDash val="solid"/>
          </a:ln>
        </p:spPr>
      </p:sp>
      <p:sp>
        <p:nvSpPr>
          <p:cNvPr id="9" name="s2-agent-label">
            <a:extLst xmlns:a="http://schemas.openxmlformats.org/drawingml/2006/main">
              <a:ext uri="{FF2B5EF4-FFF2-40B4-BE49-F238E27FC236}">
                <a16:creationId xmlns:a16="http://schemas.microsoft.com/office/drawing/2014/main" id="{D21B54D2-03C0-4487-AC51-7A1F5AC69C36}"/>
              </a:ext>
            </a:extLst>
          </p:cNvPr>
          <p:cNvSpPr>
            <a:spLocks xmlns:a="http://schemas.openxmlformats.org/drawingml/2006/main" noGrp="1"/>
          </p:cNvSpPr>
          <p:nvPr/>
        </p:nvSpPr>
        <p:spPr>
          <a:xfrm xmlns:a="http://schemas.openxmlformats.org/drawingml/2006/main">
            <a:off x="2238375" y="3286125"/>
            <a:ext cx="838200" cy="2667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ctr">
              <a:defRPr sz="1500" b="1">
                <a:solidFill>
                  <a:srgbClr val="FFFFFF"/>
                </a:solidFill>
                <a:latin typeface="Arial"/>
                <a:ea typeface="Arial"/>
                <a:cs typeface="Arial"/>
              </a:defRPr>
            </a:pPr>
            <a:r>
              <a:t>AGENT</a:t>
            </a:r>
          </a:p>
        </p:txBody>
      </p:sp>
      <p:sp>
        <p:nvSpPr>
          <p:cNvPr id="10" name="s2-file-a">
            <a:extLst xmlns:a="http://schemas.openxmlformats.org/drawingml/2006/main">
              <a:ext uri="{FF2B5EF4-FFF2-40B4-BE49-F238E27FC236}">
                <a16:creationId xmlns:a16="http://schemas.microsoft.com/office/drawing/2014/main" id="{191E12C0-ECEA-436C-AA37-7C5BB21D5406}"/>
              </a:ext>
            </a:extLst>
          </p:cNvPr>
          <p:cNvSpPr>
            <a:spLocks xmlns:a="http://schemas.openxmlformats.org/drawingml/2006/main" noGrp="1"/>
          </p:cNvSpPr>
          <p:nvPr/>
        </p:nvSpPr>
        <p:spPr>
          <a:xfrm xmlns:a="http://schemas.openxmlformats.org/drawingml/2006/main">
            <a:off x="685800" y="1638300"/>
            <a:ext cx="1428750" cy="685800"/>
          </a:xfrm>
          <a:prstGeom xmlns:a="http://schemas.openxmlformats.org/drawingml/2006/main" prst="rect">
            <a:avLst/>
          </a:prstGeom>
          <a:solidFill xmlns:a="http://schemas.openxmlformats.org/drawingml/2006/main">
            <a:srgbClr val="EDEFF3"/>
          </a:solidFill>
          <a:ln xmlns:a="http://schemas.openxmlformats.org/drawingml/2006/main" w="0">
            <a:solidFill>
              <a:srgbClr val="EDEFF3"/>
            </a:solidFill>
            <a:prstDash val="solid"/>
          </a:ln>
        </p:spPr>
      </p:sp>
      <p:sp>
        <p:nvSpPr>
          <p:cNvPr id="11" name="s2-file-b">
            <a:extLst xmlns:a="http://schemas.openxmlformats.org/drawingml/2006/main">
              <a:ext uri="{FF2B5EF4-FFF2-40B4-BE49-F238E27FC236}">
                <a16:creationId xmlns:a16="http://schemas.microsoft.com/office/drawing/2014/main" id="{78939DB2-ABB9-41E3-B795-328339CC9F37}"/>
              </a:ext>
            </a:extLst>
          </p:cNvPr>
          <p:cNvSpPr>
            <a:spLocks xmlns:a="http://schemas.openxmlformats.org/drawingml/2006/main" noGrp="1"/>
          </p:cNvSpPr>
          <p:nvPr/>
        </p:nvSpPr>
        <p:spPr>
          <a:xfrm xmlns:a="http://schemas.openxmlformats.org/drawingml/2006/main">
            <a:off x="3448050" y="1343025"/>
            <a:ext cx="1543050" cy="685800"/>
          </a:xfrm>
          <a:prstGeom xmlns:a="http://schemas.openxmlformats.org/drawingml/2006/main" prst="rect">
            <a:avLst/>
          </a:prstGeom>
          <a:solidFill xmlns:a="http://schemas.openxmlformats.org/drawingml/2006/main">
            <a:srgbClr val="EDEFF3"/>
          </a:solidFill>
          <a:ln xmlns:a="http://schemas.openxmlformats.org/drawingml/2006/main" w="0">
            <a:solidFill>
              <a:srgbClr val="EDEFF3"/>
            </a:solidFill>
            <a:prstDash val="solid"/>
          </a:ln>
        </p:spPr>
      </p:sp>
      <p:sp>
        <p:nvSpPr>
          <p:cNvPr id="12" name="s2-file-c">
            <a:extLst xmlns:a="http://schemas.openxmlformats.org/drawingml/2006/main">
              <a:ext uri="{FF2B5EF4-FFF2-40B4-BE49-F238E27FC236}">
                <a16:creationId xmlns:a16="http://schemas.microsoft.com/office/drawing/2014/main" id="{C72964A5-4A2F-4ABE-B332-0C26F1E8B17D}"/>
              </a:ext>
            </a:extLst>
          </p:cNvPr>
          <p:cNvSpPr>
            <a:spLocks xmlns:a="http://schemas.openxmlformats.org/drawingml/2006/main" noGrp="1"/>
          </p:cNvSpPr>
          <p:nvPr/>
        </p:nvSpPr>
        <p:spPr>
          <a:xfrm xmlns:a="http://schemas.openxmlformats.org/drawingml/2006/main">
            <a:off x="4305300" y="2838450"/>
            <a:ext cx="1504950" cy="685800"/>
          </a:xfrm>
          <a:prstGeom xmlns:a="http://schemas.openxmlformats.org/drawingml/2006/main" prst="rect">
            <a:avLst/>
          </a:prstGeom>
          <a:solidFill xmlns:a="http://schemas.openxmlformats.org/drawingml/2006/main">
            <a:srgbClr val="EDEFF3"/>
          </a:solidFill>
          <a:ln xmlns:a="http://schemas.openxmlformats.org/drawingml/2006/main" w="0">
            <a:solidFill>
              <a:srgbClr val="EDEFF3"/>
            </a:solidFill>
            <a:prstDash val="solid"/>
          </a:ln>
        </p:spPr>
      </p:sp>
      <p:sp>
        <p:nvSpPr>
          <p:cNvPr id="13" name="s2-file-d">
            <a:extLst xmlns:a="http://schemas.openxmlformats.org/drawingml/2006/main">
              <a:ext uri="{FF2B5EF4-FFF2-40B4-BE49-F238E27FC236}">
                <a16:creationId xmlns:a16="http://schemas.microsoft.com/office/drawing/2014/main" id="{436E79D1-2BA5-4836-A849-31213EFAB5DC}"/>
              </a:ext>
            </a:extLst>
          </p:cNvPr>
          <p:cNvSpPr>
            <a:spLocks xmlns:a="http://schemas.openxmlformats.org/drawingml/2006/main" noGrp="1"/>
          </p:cNvSpPr>
          <p:nvPr/>
        </p:nvSpPr>
        <p:spPr>
          <a:xfrm xmlns:a="http://schemas.openxmlformats.org/drawingml/2006/main">
            <a:off x="742950" y="4610100"/>
            <a:ext cx="1581150" cy="685800"/>
          </a:xfrm>
          <a:prstGeom xmlns:a="http://schemas.openxmlformats.org/drawingml/2006/main" prst="rect">
            <a:avLst/>
          </a:prstGeom>
          <a:solidFill xmlns:a="http://schemas.openxmlformats.org/drawingml/2006/main">
            <a:srgbClr val="EDEFF3"/>
          </a:solidFill>
          <a:ln xmlns:a="http://schemas.openxmlformats.org/drawingml/2006/main" w="0">
            <a:solidFill>
              <a:srgbClr val="EDEFF3"/>
            </a:solidFill>
            <a:prstDash val="solid"/>
          </a:ln>
        </p:spPr>
      </p:sp>
      <p:sp>
        <p:nvSpPr>
          <p:cNvPr id="14" name="s2-file-e">
            <a:extLst xmlns:a="http://schemas.openxmlformats.org/drawingml/2006/main">
              <a:ext uri="{FF2B5EF4-FFF2-40B4-BE49-F238E27FC236}">
                <a16:creationId xmlns:a16="http://schemas.microsoft.com/office/drawing/2014/main" id="{ED3E476B-22E2-46D3-83C7-BF2E751D541C}"/>
              </a:ext>
            </a:extLst>
          </p:cNvPr>
          <p:cNvSpPr>
            <a:spLocks xmlns:a="http://schemas.openxmlformats.org/drawingml/2006/main" noGrp="1"/>
          </p:cNvSpPr>
          <p:nvPr/>
        </p:nvSpPr>
        <p:spPr>
          <a:xfrm xmlns:a="http://schemas.openxmlformats.org/drawingml/2006/main">
            <a:off x="3638550" y="4686300"/>
            <a:ext cx="1581150" cy="685800"/>
          </a:xfrm>
          <a:prstGeom xmlns:a="http://schemas.openxmlformats.org/drawingml/2006/main" prst="rect">
            <a:avLst/>
          </a:prstGeom>
          <a:solidFill xmlns:a="http://schemas.openxmlformats.org/drawingml/2006/main">
            <a:srgbClr val="EDEFF3"/>
          </a:solidFill>
          <a:ln xmlns:a="http://schemas.openxmlformats.org/drawingml/2006/main" w="0">
            <a:solidFill>
              <a:srgbClr val="EDEFF3"/>
            </a:solidFill>
            <a:prstDash val="solid"/>
          </a:ln>
        </p:spPr>
      </p:sp>
      <p:sp>
        <p:nvSpPr>
          <p:cNvPr id="15" name="s2-file-a-label">
            <a:extLst xmlns:a="http://schemas.openxmlformats.org/drawingml/2006/main">
              <a:ext uri="{FF2B5EF4-FFF2-40B4-BE49-F238E27FC236}">
                <a16:creationId xmlns:a16="http://schemas.microsoft.com/office/drawing/2014/main" id="{FA1AF91C-5FA5-4952-B046-3068708947E9}"/>
              </a:ext>
            </a:extLst>
          </p:cNvPr>
          <p:cNvSpPr>
            <a:spLocks xmlns:a="http://schemas.openxmlformats.org/drawingml/2006/main" noGrp="1"/>
          </p:cNvSpPr>
          <p:nvPr/>
        </p:nvSpPr>
        <p:spPr>
          <a:xfrm xmlns:a="http://schemas.openxmlformats.org/drawingml/2006/main">
            <a:off x="800100" y="1857375"/>
            <a:ext cx="1200150" cy="2286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ctr">
              <a:defRPr sz="1275" b="0">
                <a:solidFill>
                  <a:srgbClr val="0A1224"/>
                </a:solidFill>
                <a:latin typeface="Consolas"/>
                <a:ea typeface="Consolas"/>
                <a:cs typeface="Consolas"/>
              </a:defRPr>
            </a:pPr>
            <a:r>
              <a:t>README.md</a:t>
            </a:r>
          </a:p>
        </p:txBody>
      </p:sp>
      <p:sp>
        <p:nvSpPr>
          <p:cNvPr id="16" name="s2-file-b-label">
            <a:extLst xmlns:a="http://schemas.openxmlformats.org/drawingml/2006/main">
              <a:ext uri="{FF2B5EF4-FFF2-40B4-BE49-F238E27FC236}">
                <a16:creationId xmlns:a16="http://schemas.microsoft.com/office/drawing/2014/main" id="{20988C2F-36C3-4329-A6DC-7F5BE8ABB496}"/>
              </a:ext>
            </a:extLst>
          </p:cNvPr>
          <p:cNvSpPr>
            <a:spLocks xmlns:a="http://schemas.openxmlformats.org/drawingml/2006/main" noGrp="1"/>
          </p:cNvSpPr>
          <p:nvPr/>
        </p:nvSpPr>
        <p:spPr>
          <a:xfrm xmlns:a="http://schemas.openxmlformats.org/drawingml/2006/main">
            <a:off x="3571875" y="1562100"/>
            <a:ext cx="1295400" cy="2286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ctr">
              <a:defRPr sz="1275" b="0">
                <a:solidFill>
                  <a:srgbClr val="0A1224"/>
                </a:solidFill>
                <a:latin typeface="Consolas"/>
                <a:ea typeface="Consolas"/>
                <a:cs typeface="Consolas"/>
              </a:defRPr>
            </a:pPr>
            <a:r>
              <a:t>checkout.ts</a:t>
            </a:r>
          </a:p>
        </p:txBody>
      </p:sp>
      <p:sp>
        <p:nvSpPr>
          <p:cNvPr id="17" name="s2-file-c-label">
            <a:extLst xmlns:a="http://schemas.openxmlformats.org/drawingml/2006/main">
              <a:ext uri="{FF2B5EF4-FFF2-40B4-BE49-F238E27FC236}">
                <a16:creationId xmlns:a16="http://schemas.microsoft.com/office/drawing/2014/main" id="{74BED7AE-15E7-4F32-BAD0-46AAFBA7920B}"/>
              </a:ext>
            </a:extLst>
          </p:cNvPr>
          <p:cNvSpPr>
            <a:spLocks xmlns:a="http://schemas.openxmlformats.org/drawingml/2006/main" noGrp="1"/>
          </p:cNvSpPr>
          <p:nvPr/>
        </p:nvSpPr>
        <p:spPr>
          <a:xfrm xmlns:a="http://schemas.openxmlformats.org/drawingml/2006/main">
            <a:off x="4419600" y="3057525"/>
            <a:ext cx="1276350" cy="2286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ctr">
              <a:defRPr sz="1275" b="0">
                <a:solidFill>
                  <a:srgbClr val="0A1224"/>
                </a:solidFill>
                <a:latin typeface="Consolas"/>
                <a:ea typeface="Consolas"/>
                <a:cs typeface="Consolas"/>
              </a:defRPr>
            </a:pPr>
            <a:r>
              <a:t>policy.json</a:t>
            </a:r>
          </a:p>
        </p:txBody>
      </p:sp>
      <p:sp>
        <p:nvSpPr>
          <p:cNvPr id="18" name="s2-file-d-label">
            <a:extLst xmlns:a="http://schemas.openxmlformats.org/drawingml/2006/main">
              <a:ext uri="{FF2B5EF4-FFF2-40B4-BE49-F238E27FC236}">
                <a16:creationId xmlns:a16="http://schemas.microsoft.com/office/drawing/2014/main" id="{33796E4A-77C5-4C21-832D-60E5AFDDC8F7}"/>
              </a:ext>
            </a:extLst>
          </p:cNvPr>
          <p:cNvSpPr>
            <a:spLocks xmlns:a="http://schemas.openxmlformats.org/drawingml/2006/main" noGrp="1"/>
          </p:cNvSpPr>
          <p:nvPr/>
        </p:nvSpPr>
        <p:spPr>
          <a:xfrm xmlns:a="http://schemas.openxmlformats.org/drawingml/2006/main">
            <a:off x="857250" y="4829175"/>
            <a:ext cx="1352550" cy="2286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ctr">
              <a:defRPr sz="1275" b="0">
                <a:solidFill>
                  <a:srgbClr val="0A1224"/>
                </a:solidFill>
                <a:latin typeface="Consolas"/>
                <a:ea typeface="Consolas"/>
                <a:cs typeface="Consolas"/>
              </a:defRPr>
            </a:pPr>
            <a:r>
              <a:t>footer.tsx</a:t>
            </a:r>
          </a:p>
        </p:txBody>
      </p:sp>
      <p:sp>
        <p:nvSpPr>
          <p:cNvPr id="19" name="s2-file-e-label">
            <a:extLst xmlns:a="http://schemas.openxmlformats.org/drawingml/2006/main">
              <a:ext uri="{FF2B5EF4-FFF2-40B4-BE49-F238E27FC236}">
                <a16:creationId xmlns:a16="http://schemas.microsoft.com/office/drawing/2014/main" id="{FBF729C5-4D87-4E83-878C-88FBA85F77AB}"/>
              </a:ext>
            </a:extLst>
          </p:cNvPr>
          <p:cNvSpPr>
            <a:spLocks xmlns:a="http://schemas.openxmlformats.org/drawingml/2006/main" noGrp="1"/>
          </p:cNvSpPr>
          <p:nvPr/>
        </p:nvSpPr>
        <p:spPr>
          <a:xfrm xmlns:a="http://schemas.openxmlformats.org/drawingml/2006/main">
            <a:off x="3762375" y="4905375"/>
            <a:ext cx="1333500" cy="2286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ctr">
              <a:defRPr sz="1275" b="0">
                <a:solidFill>
                  <a:srgbClr val="0A1224"/>
                </a:solidFill>
                <a:latin typeface="Consolas"/>
                <a:ea typeface="Consolas"/>
                <a:cs typeface="Consolas"/>
              </a:defRPr>
            </a:pPr>
            <a:r>
              <a:t>tests/...</a:t>
            </a:r>
          </a:p>
        </p:txBody>
      </p:sp>
      <p:sp>
        <p:nvSpPr>
          <p:cNvPr id="20" name="s2-n1">
            <a:extLst xmlns:a="http://schemas.openxmlformats.org/drawingml/2006/main">
              <a:ext uri="{FF2B5EF4-FFF2-40B4-BE49-F238E27FC236}">
                <a16:creationId xmlns:a16="http://schemas.microsoft.com/office/drawing/2014/main" id="{1112A1BE-4EFB-40E9-9889-73E2BC7B1367}"/>
              </a:ext>
            </a:extLst>
          </p:cNvPr>
          <p:cNvSpPr>
            <a:spLocks xmlns:a="http://schemas.openxmlformats.org/drawingml/2006/main" noGrp="1"/>
          </p:cNvSpPr>
          <p:nvPr/>
        </p:nvSpPr>
        <p:spPr>
          <a:xfrm xmlns:a="http://schemas.openxmlformats.org/drawingml/2006/main">
            <a:off x="6762750" y="1962150"/>
            <a:ext cx="323850" cy="323850"/>
          </a:xfrm>
          <a:prstGeom xmlns:a="http://schemas.openxmlformats.org/drawingml/2006/main" prst="ellipse">
            <a:avLst/>
          </a:prstGeom>
          <a:solidFill xmlns:a="http://schemas.openxmlformats.org/drawingml/2006/main">
            <a:srgbClr val="13B7D5"/>
          </a:solidFill>
          <a:ln xmlns:a="http://schemas.openxmlformats.org/drawingml/2006/main" w="0">
            <a:solidFill>
              <a:srgbClr val="13B7D5"/>
            </a:solidFill>
            <a:prstDash val="solid"/>
          </a:ln>
        </p:spPr>
      </p:sp>
      <p:sp>
        <p:nvSpPr>
          <p:cNvPr id="21" name="s2-n1-label">
            <a:extLst xmlns:a="http://schemas.openxmlformats.org/drawingml/2006/main">
              <a:ext uri="{FF2B5EF4-FFF2-40B4-BE49-F238E27FC236}">
                <a16:creationId xmlns:a16="http://schemas.microsoft.com/office/drawing/2014/main" id="{29A3DD7A-F53A-40D5-B021-5A2A1A41709F}"/>
              </a:ext>
            </a:extLst>
          </p:cNvPr>
          <p:cNvSpPr>
            <a:spLocks xmlns:a="http://schemas.openxmlformats.org/drawingml/2006/main" noGrp="1"/>
          </p:cNvSpPr>
          <p:nvPr/>
        </p:nvSpPr>
        <p:spPr>
          <a:xfrm xmlns:a="http://schemas.openxmlformats.org/drawingml/2006/main">
            <a:off x="6762750" y="2009775"/>
            <a:ext cx="323850" cy="2286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ctr">
              <a:defRPr sz="1350" b="1">
                <a:solidFill>
                  <a:srgbClr val="FFFFFF"/>
                </a:solidFill>
                <a:latin typeface="Arial"/>
                <a:ea typeface="Arial"/>
                <a:cs typeface="Arial"/>
              </a:defRPr>
            </a:pPr>
            <a:r>
              <a:t>1</a:t>
            </a:r>
          </a:p>
        </p:txBody>
      </p:sp>
      <p:sp>
        <p:nvSpPr>
          <p:cNvPr id="22" name="s2-p1">
            <a:extLst xmlns:a="http://schemas.openxmlformats.org/drawingml/2006/main">
              <a:ext uri="{FF2B5EF4-FFF2-40B4-BE49-F238E27FC236}">
                <a16:creationId xmlns:a16="http://schemas.microsoft.com/office/drawing/2014/main" id="{BC7C5369-4341-4D53-B52E-D04C1008EC16}"/>
              </a:ext>
            </a:extLst>
          </p:cNvPr>
          <p:cNvSpPr>
            <a:spLocks xmlns:a="http://schemas.openxmlformats.org/drawingml/2006/main" noGrp="1"/>
          </p:cNvSpPr>
          <p:nvPr/>
        </p:nvSpPr>
        <p:spPr>
          <a:xfrm xmlns:a="http://schemas.openxmlformats.org/drawingml/2006/main">
            <a:off x="7296150" y="1847850"/>
            <a:ext cx="3905250" cy="4572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0A1224"/>
                </a:solidFill>
                <a:latin typeface="Arial"/>
                <a:ea typeface="Arial"/>
                <a:cs typeface="Arial"/>
              </a:defRPr>
            </a:pPr>
            <a:r>
              <a:t>Broad search</a:t>
            </a:r>
          </a:p>
        </p:txBody>
      </p:sp>
      <p:sp>
        <p:nvSpPr>
          <p:cNvPr id="23" name="s2-n2">
            <a:extLst xmlns:a="http://schemas.openxmlformats.org/drawingml/2006/main">
              <a:ext uri="{FF2B5EF4-FFF2-40B4-BE49-F238E27FC236}">
                <a16:creationId xmlns:a16="http://schemas.microsoft.com/office/drawing/2014/main" id="{D848D2B6-0E31-4622-83C2-F8AC9C07C840}"/>
              </a:ext>
            </a:extLst>
          </p:cNvPr>
          <p:cNvSpPr>
            <a:spLocks xmlns:a="http://schemas.openxmlformats.org/drawingml/2006/main" noGrp="1"/>
          </p:cNvSpPr>
          <p:nvPr/>
        </p:nvSpPr>
        <p:spPr>
          <a:xfrm xmlns:a="http://schemas.openxmlformats.org/drawingml/2006/main">
            <a:off x="6762750" y="3143250"/>
            <a:ext cx="323850" cy="323850"/>
          </a:xfrm>
          <a:prstGeom xmlns:a="http://schemas.openxmlformats.org/drawingml/2006/main" prst="ellipse">
            <a:avLst/>
          </a:prstGeom>
          <a:solidFill xmlns:a="http://schemas.openxmlformats.org/drawingml/2006/main">
            <a:srgbClr val="1677FF"/>
          </a:solidFill>
          <a:ln xmlns:a="http://schemas.openxmlformats.org/drawingml/2006/main" w="0">
            <a:solidFill>
              <a:srgbClr val="1677FF"/>
            </a:solidFill>
            <a:prstDash val="solid"/>
          </a:ln>
        </p:spPr>
      </p:sp>
      <p:sp>
        <p:nvSpPr>
          <p:cNvPr id="24" name="s2-n2-label">
            <a:extLst xmlns:a="http://schemas.openxmlformats.org/drawingml/2006/main">
              <a:ext uri="{FF2B5EF4-FFF2-40B4-BE49-F238E27FC236}">
                <a16:creationId xmlns:a16="http://schemas.microsoft.com/office/drawing/2014/main" id="{790C64FA-3C6A-420D-8E3B-A1D8256A4F14}"/>
              </a:ext>
            </a:extLst>
          </p:cNvPr>
          <p:cNvSpPr>
            <a:spLocks xmlns:a="http://schemas.openxmlformats.org/drawingml/2006/main" noGrp="1"/>
          </p:cNvSpPr>
          <p:nvPr/>
        </p:nvSpPr>
        <p:spPr>
          <a:xfrm xmlns:a="http://schemas.openxmlformats.org/drawingml/2006/main">
            <a:off x="6762750" y="3190875"/>
            <a:ext cx="323850" cy="2286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ctr">
              <a:defRPr sz="1350" b="1">
                <a:solidFill>
                  <a:srgbClr val="FFFFFF"/>
                </a:solidFill>
                <a:latin typeface="Arial"/>
                <a:ea typeface="Arial"/>
                <a:cs typeface="Arial"/>
              </a:defRPr>
            </a:pPr>
            <a:r>
              <a:t>2</a:t>
            </a:r>
          </a:p>
        </p:txBody>
      </p:sp>
      <p:sp>
        <p:nvSpPr>
          <p:cNvPr id="25" name="s2-p2">
            <a:extLst xmlns:a="http://schemas.openxmlformats.org/drawingml/2006/main">
              <a:ext uri="{FF2B5EF4-FFF2-40B4-BE49-F238E27FC236}">
                <a16:creationId xmlns:a16="http://schemas.microsoft.com/office/drawing/2014/main" id="{3A8410E9-080E-4A26-AB80-478943323148}"/>
              </a:ext>
            </a:extLst>
          </p:cNvPr>
          <p:cNvSpPr>
            <a:spLocks xmlns:a="http://schemas.openxmlformats.org/drawingml/2006/main" noGrp="1"/>
          </p:cNvSpPr>
          <p:nvPr/>
        </p:nvSpPr>
        <p:spPr>
          <a:xfrm xmlns:a="http://schemas.openxmlformats.org/drawingml/2006/main">
            <a:off x="7296150" y="3028950"/>
            <a:ext cx="3905250" cy="4572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0A1224"/>
                </a:solidFill>
                <a:latin typeface="Arial"/>
                <a:ea typeface="Arial"/>
                <a:cs typeface="Arial"/>
              </a:defRPr>
            </a:pPr>
            <a:r>
              <a:t>Repeated reading</a:t>
            </a:r>
          </a:p>
        </p:txBody>
      </p:sp>
      <p:sp>
        <p:nvSpPr>
          <p:cNvPr id="26" name="s2-n3">
            <a:extLst xmlns:a="http://schemas.openxmlformats.org/drawingml/2006/main">
              <a:ext uri="{FF2B5EF4-FFF2-40B4-BE49-F238E27FC236}">
                <a16:creationId xmlns:a16="http://schemas.microsoft.com/office/drawing/2014/main" id="{CFF29AC1-3D11-45BD-A350-5713EF20D776}"/>
              </a:ext>
            </a:extLst>
          </p:cNvPr>
          <p:cNvSpPr>
            <a:spLocks xmlns:a="http://schemas.openxmlformats.org/drawingml/2006/main" noGrp="1"/>
          </p:cNvSpPr>
          <p:nvPr/>
        </p:nvSpPr>
        <p:spPr>
          <a:xfrm xmlns:a="http://schemas.openxmlformats.org/drawingml/2006/main">
            <a:off x="6762750" y="4324350"/>
            <a:ext cx="323850" cy="323850"/>
          </a:xfrm>
          <a:prstGeom xmlns:a="http://schemas.openxmlformats.org/drawingml/2006/main" prst="ellipse">
            <a:avLst/>
          </a:prstGeom>
          <a:solidFill xmlns:a="http://schemas.openxmlformats.org/drawingml/2006/main">
            <a:srgbClr val="7438F5"/>
          </a:solidFill>
          <a:ln xmlns:a="http://schemas.openxmlformats.org/drawingml/2006/main" w="0">
            <a:solidFill>
              <a:srgbClr val="7438F5"/>
            </a:solidFill>
            <a:prstDash val="solid"/>
          </a:ln>
        </p:spPr>
      </p:sp>
      <p:sp>
        <p:nvSpPr>
          <p:cNvPr id="27" name="s2-n3-label">
            <a:extLst xmlns:a="http://schemas.openxmlformats.org/drawingml/2006/main">
              <a:ext uri="{FF2B5EF4-FFF2-40B4-BE49-F238E27FC236}">
                <a16:creationId xmlns:a16="http://schemas.microsoft.com/office/drawing/2014/main" id="{CB1C90BC-908A-4565-98A3-D790D29A50A6}"/>
              </a:ext>
            </a:extLst>
          </p:cNvPr>
          <p:cNvSpPr>
            <a:spLocks xmlns:a="http://schemas.openxmlformats.org/drawingml/2006/main" noGrp="1"/>
          </p:cNvSpPr>
          <p:nvPr/>
        </p:nvSpPr>
        <p:spPr>
          <a:xfrm xmlns:a="http://schemas.openxmlformats.org/drawingml/2006/main">
            <a:off x="6762750" y="4371975"/>
            <a:ext cx="323850" cy="2286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ctr">
              <a:defRPr sz="1350" b="1">
                <a:solidFill>
                  <a:srgbClr val="FFFFFF"/>
                </a:solidFill>
                <a:latin typeface="Arial"/>
                <a:ea typeface="Arial"/>
                <a:cs typeface="Arial"/>
              </a:defRPr>
            </a:pPr>
            <a:r>
              <a:t>3</a:t>
            </a:r>
          </a:p>
        </p:txBody>
      </p:sp>
      <p:sp>
        <p:nvSpPr>
          <p:cNvPr id="28" name="s2-p3">
            <a:extLst xmlns:a="http://schemas.openxmlformats.org/drawingml/2006/main">
              <a:ext uri="{FF2B5EF4-FFF2-40B4-BE49-F238E27FC236}">
                <a16:creationId xmlns:a16="http://schemas.microsoft.com/office/drawing/2014/main" id="{5307454C-5246-4D0D-AD0F-D2331EE8FA0A}"/>
              </a:ext>
            </a:extLst>
          </p:cNvPr>
          <p:cNvSpPr>
            <a:spLocks xmlns:a="http://schemas.openxmlformats.org/drawingml/2006/main" noGrp="1"/>
          </p:cNvSpPr>
          <p:nvPr/>
        </p:nvSpPr>
        <p:spPr>
          <a:xfrm xmlns:a="http://schemas.openxmlformats.org/drawingml/2006/main">
            <a:off x="7296150" y="4210050"/>
            <a:ext cx="4095750" cy="4572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0A1224"/>
                </a:solidFill>
                <a:latin typeface="Arial"/>
                <a:ea typeface="Arial"/>
                <a:cs typeface="Arial"/>
              </a:defRPr>
            </a:pPr>
            <a:r>
              <a:t>Forgotten decisions</a:t>
            </a:r>
          </a:p>
        </p:txBody>
      </p:sp>
      <p:sp>
        <p:nvSpPr>
          <p:cNvPr id="29" name="s2-takeaway">
            <a:extLst xmlns:a="http://schemas.openxmlformats.org/drawingml/2006/main">
              <a:ext uri="{FF2B5EF4-FFF2-40B4-BE49-F238E27FC236}">
                <a16:creationId xmlns:a16="http://schemas.microsoft.com/office/drawing/2014/main" id="{E8106B25-830B-4084-BEFD-4426639ED14C}"/>
              </a:ext>
            </a:extLst>
          </p:cNvPr>
          <p:cNvSpPr>
            <a:spLocks xmlns:a="http://schemas.openxmlformats.org/drawingml/2006/main" noGrp="1"/>
          </p:cNvSpPr>
          <p:nvPr/>
        </p:nvSpPr>
        <p:spPr>
          <a:xfrm xmlns:a="http://schemas.openxmlformats.org/drawingml/2006/main">
            <a:off x="6762750" y="5162550"/>
            <a:ext cx="4629150" cy="7048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071"/>
                </a:solidFill>
                <a:latin typeface="Arial"/>
                <a:ea typeface="Arial"/>
                <a:cs typeface="Arial"/>
              </a:defRPr>
            </a:pPr>
            <a:r>
              <a:t>That frustration became the reason I built Vertex Palace.</a:t>
            </a:r>
          </a:p>
        </p:txBody>
      </p:sp>
      <p:cxnSp>
        <p:nvCxnSpPr>
          <p:cNvPr id="62" name="footer-rule-2"/>
          <p:cNvCxnSpPr/>
          <p:nvPr/>
        </p:nvCxnSpPr>
        <p:spPr>
          <a:xfrm xmlns:a="http://schemas.openxmlformats.org/drawingml/2006/main">
            <a:off x="400050" y="6162675"/>
            <a:ext cx="11391900" cy="953"/>
          </a:xfrm>
          <a:prstGeom xmlns:a="http://schemas.openxmlformats.org/drawingml/2006/main" prst="straightConnector1">
            <a:avLst/>
          </a:prstGeom>
          <a:ln xmlns:a="http://schemas.openxmlformats.org/drawingml/2006/main" w="9525">
            <a:solidFill>
              <a:srgbClr val="B8BCC4"/>
            </a:solidFill>
            <a:prstDash val="solid"/>
          </a:ln>
        </p:spPr>
      </p:cxnSp>
      <p:sp>
        <p:nvSpPr>
          <p:cNvPr id="31" name="footer-source-2">
            <a:extLst xmlns:a="http://schemas.openxmlformats.org/drawingml/2006/main">
              <a:ext uri="{FF2B5EF4-FFF2-40B4-BE49-F238E27FC236}">
                <a16:creationId xmlns:a16="http://schemas.microsoft.com/office/drawing/2014/main" id="{81FE535E-C730-482D-A0E1-D0B9B0AB0CFF}"/>
              </a:ext>
            </a:extLst>
          </p:cNvPr>
          <p:cNvSpPr>
            <a:spLocks xmlns:a="http://schemas.openxmlformats.org/drawingml/2006/main" noGrp="1"/>
          </p:cNvSpPr>
          <p:nvPr/>
        </p:nvSpPr>
        <p:spPr>
          <a:xfrm xmlns:a="http://schemas.openxmlformats.org/drawingml/2006/main">
            <a:off x="400050" y="6238875"/>
            <a:ext cx="10001250" cy="2286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863" b="0">
                <a:solidFill>
                  <a:srgbClr val="526071"/>
                </a:solidFill>
                <a:latin typeface="Arial"/>
                <a:ea typeface="Arial"/>
                <a:cs typeface="Arial"/>
              </a:defRPr>
            </a:pPr>
            <a:r>
              <a:t/>
            </a:r>
          </a:p>
        </p:txBody>
      </p:sp>
      <p:sp>
        <p:nvSpPr>
          <p:cNvPr id="32" name="footer-number-2">
            <a:extLst xmlns:a="http://schemas.openxmlformats.org/drawingml/2006/main">
              <a:ext uri="{FF2B5EF4-FFF2-40B4-BE49-F238E27FC236}">
                <a16:creationId xmlns:a16="http://schemas.microsoft.com/office/drawing/2014/main" id="{8E576607-873C-45CC-950B-952CA54EABCD}"/>
              </a:ext>
            </a:extLst>
          </p:cNvPr>
          <p:cNvSpPr>
            <a:spLocks xmlns:a="http://schemas.openxmlformats.org/drawingml/2006/main" noGrp="1"/>
          </p:cNvSpPr>
          <p:nvPr/>
        </p:nvSpPr>
        <p:spPr>
          <a:xfrm xmlns:a="http://schemas.openxmlformats.org/drawingml/2006/main">
            <a:off x="11258550" y="6238875"/>
            <a:ext cx="533400" cy="2286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r">
              <a:defRPr sz="900" b="0">
                <a:solidFill>
                  <a:srgbClr val="526071"/>
                </a:solidFill>
                <a:latin typeface="Arial"/>
                <a:ea typeface="Arial"/>
                <a:cs typeface="Arial"/>
              </a:defRPr>
            </a:pPr>
            <a:r>
              <a:t>2</a:t>
            </a:r>
          </a:p>
        </p:txBody>
      </p:sp>
    </p:spTree>
    <p:extLst>
      <p:ext uri="{BB962C8B-B14F-4D97-AF65-F5344CB8AC3E}">
        <p14:creationId xmlns:p14="http://schemas.microsoft.com/office/powerpoint/2010/main" val="669527695"/>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8" name="s3-title">
            <a:extLst xmlns:a="http://schemas.openxmlformats.org/drawingml/2006/main">
              <a:ext uri="{FF2B5EF4-FFF2-40B4-BE49-F238E27FC236}">
                <a16:creationId xmlns:a16="http://schemas.microsoft.com/office/drawing/2014/main" id="{8E0D4540-FBD5-4E8F-A7FD-4B5F851080FF}"/>
              </a:ext>
            </a:extLst>
          </p:cNvPr>
          <p:cNvSpPr>
            <a:spLocks xmlns:a="http://schemas.openxmlformats.org/drawingml/2006/main" noGrp="1"/>
          </p:cNvSpPr>
          <p:nvPr/>
        </p:nvSpPr>
        <p:spPr>
          <a:xfrm xmlns:a="http://schemas.openxmlformats.org/drawingml/2006/main">
            <a:off x="400050" y="323850"/>
            <a:ext cx="11391900" cy="7239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0A1224"/>
                </a:solidFill>
                <a:latin typeface="Arial"/>
                <a:ea typeface="Arial"/>
                <a:cs typeface="Arial"/>
              </a:defRPr>
            </a:pPr>
            <a:r>
              <a:t>The 3D building gives every context item an address.</a:t>
            </a:r>
          </a:p>
        </p:txBody>
      </p:sp>
      <p:sp>
        <p:nvSpPr>
          <p:cNvPr id="2" name="s3-subtitle">
            <a:extLst xmlns:a="http://schemas.openxmlformats.org/drawingml/2006/main">
              <a:ext uri="{FF2B5EF4-FFF2-40B4-BE49-F238E27FC236}">
                <a16:creationId xmlns:a16="http://schemas.microsoft.com/office/drawing/2014/main" id="{AE4B1998-5700-42D0-B701-32A3C153F37F}"/>
              </a:ext>
            </a:extLst>
          </p:cNvPr>
          <p:cNvSpPr>
            <a:spLocks xmlns:a="http://schemas.openxmlformats.org/drawingml/2006/main" noGrp="1"/>
          </p:cNvSpPr>
          <p:nvPr/>
        </p:nvSpPr>
        <p:spPr>
          <a:xfrm xmlns:a="http://schemas.openxmlformats.org/drawingml/2006/main">
            <a:off x="400050" y="1066800"/>
            <a:ext cx="11391900" cy="3810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526071"/>
                </a:solidFill>
                <a:latin typeface="Arial"/>
                <a:ea typeface="Arial"/>
                <a:cs typeface="Arial"/>
              </a:defRPr>
            </a:pPr>
            <a:r>
              <a:t>X locates the domain. Y selects the architectural floor. Z controls inspection depth.</a:t>
            </a:r>
          </a:p>
        </p:txBody>
      </p:sp>
      <p:cxnSp>
        <p:nvCxnSpPr>
          <p:cNvPr id="40" name="s3-rule-x"/>
          <p:cNvCxnSpPr/>
          <p:nvPr/>
        </p:nvCxnSpPr>
        <p:spPr>
          <a:xfrm xmlns:a="http://schemas.openxmlformats.org/drawingml/2006/main">
            <a:off x="1428750" y="2886075"/>
            <a:ext cx="4762500" cy="953"/>
          </a:xfrm>
          <a:prstGeom xmlns:a="http://schemas.openxmlformats.org/drawingml/2006/main" prst="straightConnector1">
            <a:avLst/>
          </a:prstGeom>
          <a:ln xmlns:a="http://schemas.openxmlformats.org/drawingml/2006/main" w="9525">
            <a:solidFill>
              <a:srgbClr val="B8BCC4"/>
            </a:solidFill>
            <a:prstDash val="solid"/>
          </a:ln>
        </p:spPr>
      </p:cxnSp>
      <p:cxnSp>
        <p:nvCxnSpPr>
          <p:cNvPr id="41" name="s3-rule-y"/>
          <p:cNvCxnSpPr/>
          <p:nvPr/>
        </p:nvCxnSpPr>
        <p:spPr>
          <a:xfrm xmlns:a="http://schemas.openxmlformats.org/drawingml/2006/main">
            <a:off x="1428750" y="4076700"/>
            <a:ext cx="4762500" cy="953"/>
          </a:xfrm>
          <a:prstGeom xmlns:a="http://schemas.openxmlformats.org/drawingml/2006/main" prst="straightConnector1">
            <a:avLst/>
          </a:prstGeom>
          <a:ln xmlns:a="http://schemas.openxmlformats.org/drawingml/2006/main" w="9525">
            <a:solidFill>
              <a:srgbClr val="B8BCC4"/>
            </a:solidFill>
            <a:prstDash val="solid"/>
          </a:ln>
        </p:spPr>
      </p:cxnSp>
      <p:sp>
        <p:nvSpPr>
          <p:cNvPr id="5" name="s3-address-panel">
            <a:extLst xmlns:a="http://schemas.openxmlformats.org/drawingml/2006/main">
              <a:ext uri="{FF2B5EF4-FFF2-40B4-BE49-F238E27FC236}">
                <a16:creationId xmlns:a16="http://schemas.microsoft.com/office/drawing/2014/main" id="{388986F0-7528-4AD0-BE15-DAFC2345ABB4}"/>
              </a:ext>
            </a:extLst>
          </p:cNvPr>
          <p:cNvSpPr>
            <a:spLocks xmlns:a="http://schemas.openxmlformats.org/drawingml/2006/main" noGrp="1"/>
          </p:cNvSpPr>
          <p:nvPr/>
        </p:nvSpPr>
        <p:spPr>
          <a:xfrm xmlns:a="http://schemas.openxmlformats.org/drawingml/2006/main">
            <a:off x="6858000" y="1809750"/>
            <a:ext cx="4762500" cy="3238500"/>
          </a:xfrm>
          <a:prstGeom xmlns:a="http://schemas.openxmlformats.org/drawingml/2006/main" prst="roundRect">
            <a:avLst>
              <a:gd name="adj" fmla="val 2353"/>
            </a:avLst>
          </a:prstGeom>
          <a:solidFill xmlns:a="http://schemas.openxmlformats.org/drawingml/2006/main">
            <a:srgbClr val="061B3D"/>
          </a:solidFill>
          <a:ln xmlns:a="http://schemas.openxmlformats.org/drawingml/2006/main" w="9525">
            <a:solidFill>
              <a:srgbClr val="0B2B56"/>
            </a:solidFill>
            <a:prstDash val="solid"/>
          </a:ln>
        </p:spPr>
      </p:sp>
      <p:cxnSp>
        <p:nvCxnSpPr>
          <p:cNvPr id="43" name="s3-address-rule-1"/>
          <p:cNvCxnSpPr/>
          <p:nvPr/>
        </p:nvCxnSpPr>
        <p:spPr>
          <a:xfrm xmlns:a="http://schemas.openxmlformats.org/drawingml/2006/main">
            <a:off x="7219950" y="2476500"/>
            <a:ext cx="4038600" cy="953"/>
          </a:xfrm>
          <a:prstGeom xmlns:a="http://schemas.openxmlformats.org/drawingml/2006/main" prst="straightConnector1">
            <a:avLst/>
          </a:prstGeom>
          <a:ln xmlns:a="http://schemas.openxmlformats.org/drawingml/2006/main" w="9525">
            <a:solidFill>
              <a:srgbClr val="24466F"/>
            </a:solidFill>
            <a:prstDash val="solid"/>
          </a:ln>
        </p:spPr>
      </p:cxnSp>
      <p:cxnSp>
        <p:nvCxnSpPr>
          <p:cNvPr id="44" name="s3-address-rule-2"/>
          <p:cNvCxnSpPr/>
          <p:nvPr/>
        </p:nvCxnSpPr>
        <p:spPr>
          <a:xfrm xmlns:a="http://schemas.openxmlformats.org/drawingml/2006/main">
            <a:off x="7219950" y="4267200"/>
            <a:ext cx="4038600" cy="953"/>
          </a:xfrm>
          <a:prstGeom xmlns:a="http://schemas.openxmlformats.org/drawingml/2006/main" prst="straightConnector1">
            <a:avLst/>
          </a:prstGeom>
          <a:ln xmlns:a="http://schemas.openxmlformats.org/drawingml/2006/main" w="9525">
            <a:solidFill>
              <a:srgbClr val="24466F"/>
            </a:solidFill>
            <a:prstDash val="solid"/>
          </a:ln>
        </p:spPr>
      </p:cxnSp>
      <p:sp>
        <p:nvSpPr>
          <p:cNvPr id="8" name="s3-x">
            <a:extLst xmlns:a="http://schemas.openxmlformats.org/drawingml/2006/main">
              <a:ext uri="{FF2B5EF4-FFF2-40B4-BE49-F238E27FC236}">
                <a16:creationId xmlns:a16="http://schemas.microsoft.com/office/drawing/2014/main" id="{72146B3D-41A2-454A-AA24-FC21C8EEB635}"/>
              </a:ext>
            </a:extLst>
          </p:cNvPr>
          <p:cNvSpPr>
            <a:spLocks xmlns:a="http://schemas.openxmlformats.org/drawingml/2006/main" noGrp="1"/>
          </p:cNvSpPr>
          <p:nvPr/>
        </p:nvSpPr>
        <p:spPr>
          <a:xfrm xmlns:a="http://schemas.openxmlformats.org/drawingml/2006/main">
            <a:off x="666750" y="2000250"/>
            <a:ext cx="533400" cy="533400"/>
          </a:xfrm>
          <a:prstGeom xmlns:a="http://schemas.openxmlformats.org/drawingml/2006/main" prst="ellipse">
            <a:avLst/>
          </a:prstGeom>
          <a:solidFill xmlns:a="http://schemas.openxmlformats.org/drawingml/2006/main">
            <a:srgbClr val="13B7D5"/>
          </a:solidFill>
          <a:ln xmlns:a="http://schemas.openxmlformats.org/drawingml/2006/main" w="0">
            <a:solidFill>
              <a:srgbClr val="13B7D5"/>
            </a:solidFill>
            <a:prstDash val="solid"/>
          </a:ln>
        </p:spPr>
      </p:sp>
      <p:sp>
        <p:nvSpPr>
          <p:cNvPr id="9" name="s3-x-letter">
            <a:extLst xmlns:a="http://schemas.openxmlformats.org/drawingml/2006/main">
              <a:ext uri="{FF2B5EF4-FFF2-40B4-BE49-F238E27FC236}">
                <a16:creationId xmlns:a16="http://schemas.microsoft.com/office/drawing/2014/main" id="{45129912-3374-4E41-A75A-E507D9504971}"/>
              </a:ext>
            </a:extLst>
          </p:cNvPr>
          <p:cNvSpPr>
            <a:spLocks xmlns:a="http://schemas.openxmlformats.org/drawingml/2006/main" noGrp="1"/>
          </p:cNvSpPr>
          <p:nvPr/>
        </p:nvSpPr>
        <p:spPr>
          <a:xfrm xmlns:a="http://schemas.openxmlformats.org/drawingml/2006/main">
            <a:off x="666750" y="2114550"/>
            <a:ext cx="533400" cy="3048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ctr">
              <a:defRPr sz="1875" b="1">
                <a:solidFill>
                  <a:srgbClr val="FFFFFF"/>
                </a:solidFill>
                <a:latin typeface="Arial"/>
                <a:ea typeface="Arial"/>
                <a:cs typeface="Arial"/>
              </a:defRPr>
            </a:pPr>
            <a:r>
              <a:t>X</a:t>
            </a:r>
          </a:p>
        </p:txBody>
      </p:sp>
      <p:sp>
        <p:nvSpPr>
          <p:cNvPr id="10" name="s3-x-label">
            <a:extLst xmlns:a="http://schemas.openxmlformats.org/drawingml/2006/main">
              <a:ext uri="{FF2B5EF4-FFF2-40B4-BE49-F238E27FC236}">
                <a16:creationId xmlns:a16="http://schemas.microsoft.com/office/drawing/2014/main" id="{E8EC7380-95BA-4606-A16F-B98B58E6811B}"/>
              </a:ext>
            </a:extLst>
          </p:cNvPr>
          <p:cNvSpPr>
            <a:spLocks xmlns:a="http://schemas.openxmlformats.org/drawingml/2006/main" noGrp="1"/>
          </p:cNvSpPr>
          <p:nvPr/>
        </p:nvSpPr>
        <p:spPr>
          <a:xfrm xmlns:a="http://schemas.openxmlformats.org/drawingml/2006/main">
            <a:off x="1428750" y="1933575"/>
            <a:ext cx="4762500" cy="2476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1">
                <a:solidFill>
                  <a:srgbClr val="13B7D5"/>
                </a:solidFill>
                <a:latin typeface="Arial"/>
                <a:ea typeface="Arial"/>
                <a:cs typeface="Arial"/>
              </a:defRPr>
            </a:pPr>
            <a:r>
              <a:t>X / DOMAIN OR MODULE</a:t>
            </a:r>
          </a:p>
        </p:txBody>
      </p:sp>
      <p:sp>
        <p:nvSpPr>
          <p:cNvPr id="11" name="s3-x-main">
            <a:extLst xmlns:a="http://schemas.openxmlformats.org/drawingml/2006/main">
              <a:ext uri="{FF2B5EF4-FFF2-40B4-BE49-F238E27FC236}">
                <a16:creationId xmlns:a16="http://schemas.microsoft.com/office/drawing/2014/main" id="{A3D1BBE5-13FA-42AC-B702-26A3C987B6BB}"/>
              </a:ext>
            </a:extLst>
          </p:cNvPr>
          <p:cNvSpPr>
            <a:spLocks xmlns:a="http://schemas.openxmlformats.org/drawingml/2006/main" noGrp="1"/>
          </p:cNvSpPr>
          <p:nvPr/>
        </p:nvSpPr>
        <p:spPr>
          <a:xfrm xmlns:a="http://schemas.openxmlformats.org/drawingml/2006/main">
            <a:off x="1428750" y="2238375"/>
            <a:ext cx="4762500" cy="3429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0A1224"/>
                </a:solidFill>
                <a:latin typeface="Consolas"/>
                <a:ea typeface="Consolas"/>
                <a:cs typeface="Consolas"/>
              </a:defRPr>
            </a:pPr>
            <a:r>
              <a:t>auth  /  checkout  /  blog</a:t>
            </a:r>
          </a:p>
        </p:txBody>
      </p:sp>
      <p:sp>
        <p:nvSpPr>
          <p:cNvPr id="12" name="s3-x-question">
            <a:extLst xmlns:a="http://schemas.openxmlformats.org/drawingml/2006/main">
              <a:ext uri="{FF2B5EF4-FFF2-40B4-BE49-F238E27FC236}">
                <a16:creationId xmlns:a16="http://schemas.microsoft.com/office/drawing/2014/main" id="{B71E9F80-39E2-4622-8D3D-7CDC5DEA945E}"/>
              </a:ext>
            </a:extLst>
          </p:cNvPr>
          <p:cNvSpPr>
            <a:spLocks xmlns:a="http://schemas.openxmlformats.org/drawingml/2006/main" noGrp="1"/>
          </p:cNvSpPr>
          <p:nvPr/>
        </p:nvSpPr>
        <p:spPr>
          <a:xfrm xmlns:a="http://schemas.openxmlformats.org/drawingml/2006/main">
            <a:off x="1428750" y="2609850"/>
            <a:ext cx="4762500" cy="2286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526071"/>
                </a:solidFill>
                <a:latin typeface="Arial"/>
                <a:ea typeface="Arial"/>
                <a:cs typeface="Arial"/>
              </a:defRPr>
            </a:pPr>
            <a:r>
              <a:t>Which product area?</a:t>
            </a:r>
          </a:p>
        </p:txBody>
      </p:sp>
      <p:sp>
        <p:nvSpPr>
          <p:cNvPr id="13" name="s3-y">
            <a:extLst xmlns:a="http://schemas.openxmlformats.org/drawingml/2006/main">
              <a:ext uri="{FF2B5EF4-FFF2-40B4-BE49-F238E27FC236}">
                <a16:creationId xmlns:a16="http://schemas.microsoft.com/office/drawing/2014/main" id="{EF667AED-7F0A-4F49-A9AE-2D00DF607B51}"/>
              </a:ext>
            </a:extLst>
          </p:cNvPr>
          <p:cNvSpPr>
            <a:spLocks xmlns:a="http://schemas.openxmlformats.org/drawingml/2006/main" noGrp="1"/>
          </p:cNvSpPr>
          <p:nvPr/>
        </p:nvSpPr>
        <p:spPr>
          <a:xfrm xmlns:a="http://schemas.openxmlformats.org/drawingml/2006/main">
            <a:off x="666750" y="3190875"/>
            <a:ext cx="533400" cy="533400"/>
          </a:xfrm>
          <a:prstGeom xmlns:a="http://schemas.openxmlformats.org/drawingml/2006/main" prst="ellipse">
            <a:avLst/>
          </a:prstGeom>
          <a:solidFill xmlns:a="http://schemas.openxmlformats.org/drawingml/2006/main">
            <a:srgbClr val="1677FF"/>
          </a:solidFill>
          <a:ln xmlns:a="http://schemas.openxmlformats.org/drawingml/2006/main" w="0">
            <a:solidFill>
              <a:srgbClr val="1677FF"/>
            </a:solidFill>
            <a:prstDash val="solid"/>
          </a:ln>
        </p:spPr>
      </p:sp>
      <p:sp>
        <p:nvSpPr>
          <p:cNvPr id="14" name="s3-y-letter">
            <a:extLst xmlns:a="http://schemas.openxmlformats.org/drawingml/2006/main">
              <a:ext uri="{FF2B5EF4-FFF2-40B4-BE49-F238E27FC236}">
                <a16:creationId xmlns:a16="http://schemas.microsoft.com/office/drawing/2014/main" id="{84DEB8D7-954A-4FFE-8D0B-D8A7A30C97C9}"/>
              </a:ext>
            </a:extLst>
          </p:cNvPr>
          <p:cNvSpPr>
            <a:spLocks xmlns:a="http://schemas.openxmlformats.org/drawingml/2006/main" noGrp="1"/>
          </p:cNvSpPr>
          <p:nvPr/>
        </p:nvSpPr>
        <p:spPr>
          <a:xfrm xmlns:a="http://schemas.openxmlformats.org/drawingml/2006/main">
            <a:off x="666750" y="3305175"/>
            <a:ext cx="533400" cy="3048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ctr">
              <a:defRPr sz="1875" b="1">
                <a:solidFill>
                  <a:srgbClr val="FFFFFF"/>
                </a:solidFill>
                <a:latin typeface="Arial"/>
                <a:ea typeface="Arial"/>
                <a:cs typeface="Arial"/>
              </a:defRPr>
            </a:pPr>
            <a:r>
              <a:t>Y</a:t>
            </a:r>
          </a:p>
        </p:txBody>
      </p:sp>
      <p:sp>
        <p:nvSpPr>
          <p:cNvPr id="15" name="s3-y-label">
            <a:extLst xmlns:a="http://schemas.openxmlformats.org/drawingml/2006/main">
              <a:ext uri="{FF2B5EF4-FFF2-40B4-BE49-F238E27FC236}">
                <a16:creationId xmlns:a16="http://schemas.microsoft.com/office/drawing/2014/main" id="{AA9B8DFA-58AD-41A4-AE61-F3F68AB10BEB}"/>
              </a:ext>
            </a:extLst>
          </p:cNvPr>
          <p:cNvSpPr>
            <a:spLocks xmlns:a="http://schemas.openxmlformats.org/drawingml/2006/main" noGrp="1"/>
          </p:cNvSpPr>
          <p:nvPr/>
        </p:nvSpPr>
        <p:spPr>
          <a:xfrm xmlns:a="http://schemas.openxmlformats.org/drawingml/2006/main">
            <a:off x="1428750" y="3124200"/>
            <a:ext cx="4762500" cy="2476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1">
                <a:solidFill>
                  <a:srgbClr val="1677FF"/>
                </a:solidFill>
                <a:latin typeface="Arial"/>
                <a:ea typeface="Arial"/>
                <a:cs typeface="Arial"/>
              </a:defRPr>
            </a:pPr>
            <a:r>
              <a:t>Y / ARCHITECTURE FLOOR</a:t>
            </a:r>
          </a:p>
        </p:txBody>
      </p:sp>
      <p:sp>
        <p:nvSpPr>
          <p:cNvPr id="16" name="s3-y-main">
            <a:extLst xmlns:a="http://schemas.openxmlformats.org/drawingml/2006/main">
              <a:ext uri="{FF2B5EF4-FFF2-40B4-BE49-F238E27FC236}">
                <a16:creationId xmlns:a16="http://schemas.microsoft.com/office/drawing/2014/main" id="{99FBF4D7-AE7E-48CC-B056-F22307569E59}"/>
              </a:ext>
            </a:extLst>
          </p:cNvPr>
          <p:cNvSpPr>
            <a:spLocks xmlns:a="http://schemas.openxmlformats.org/drawingml/2006/main" noGrp="1"/>
          </p:cNvSpPr>
          <p:nvPr/>
        </p:nvSpPr>
        <p:spPr>
          <a:xfrm xmlns:a="http://schemas.openxmlformats.org/drawingml/2006/main">
            <a:off x="1428750" y="3429000"/>
            <a:ext cx="4762500" cy="3238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1">
                <a:solidFill>
                  <a:srgbClr val="0A1224"/>
                </a:solidFill>
                <a:latin typeface="Consolas"/>
                <a:ea typeface="Consolas"/>
                <a:cs typeface="Consolas"/>
              </a:defRPr>
            </a:pPr>
            <a:r>
              <a:t>interface  /  implementation  /  data</a:t>
            </a:r>
          </a:p>
        </p:txBody>
      </p:sp>
      <p:sp>
        <p:nvSpPr>
          <p:cNvPr id="17" name="s3-y-question">
            <a:extLst xmlns:a="http://schemas.openxmlformats.org/drawingml/2006/main">
              <a:ext uri="{FF2B5EF4-FFF2-40B4-BE49-F238E27FC236}">
                <a16:creationId xmlns:a16="http://schemas.microsoft.com/office/drawing/2014/main" id="{C8B23671-65DF-4444-93F2-CD292754FBC2}"/>
              </a:ext>
            </a:extLst>
          </p:cNvPr>
          <p:cNvSpPr>
            <a:spLocks xmlns:a="http://schemas.openxmlformats.org/drawingml/2006/main" noGrp="1"/>
          </p:cNvSpPr>
          <p:nvPr/>
        </p:nvSpPr>
        <p:spPr>
          <a:xfrm xmlns:a="http://schemas.openxmlformats.org/drawingml/2006/main">
            <a:off x="1428750" y="3800475"/>
            <a:ext cx="4762500" cy="2286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526071"/>
                </a:solidFill>
                <a:latin typeface="Arial"/>
                <a:ea typeface="Arial"/>
                <a:cs typeface="Arial"/>
              </a:defRPr>
            </a:pPr>
            <a:r>
              <a:t>Which responsibility layer?</a:t>
            </a:r>
          </a:p>
        </p:txBody>
      </p:sp>
      <p:sp>
        <p:nvSpPr>
          <p:cNvPr id="18" name="s3-z">
            <a:extLst xmlns:a="http://schemas.openxmlformats.org/drawingml/2006/main">
              <a:ext uri="{FF2B5EF4-FFF2-40B4-BE49-F238E27FC236}">
                <a16:creationId xmlns:a16="http://schemas.microsoft.com/office/drawing/2014/main" id="{0A329F77-8FE5-43E9-9415-9EAAA1B3A473}"/>
              </a:ext>
            </a:extLst>
          </p:cNvPr>
          <p:cNvSpPr>
            <a:spLocks xmlns:a="http://schemas.openxmlformats.org/drawingml/2006/main" noGrp="1"/>
          </p:cNvSpPr>
          <p:nvPr/>
        </p:nvSpPr>
        <p:spPr>
          <a:xfrm xmlns:a="http://schemas.openxmlformats.org/drawingml/2006/main">
            <a:off x="666750" y="4381500"/>
            <a:ext cx="533400" cy="533400"/>
          </a:xfrm>
          <a:prstGeom xmlns:a="http://schemas.openxmlformats.org/drawingml/2006/main" prst="ellipse">
            <a:avLst/>
          </a:prstGeom>
          <a:solidFill xmlns:a="http://schemas.openxmlformats.org/drawingml/2006/main">
            <a:srgbClr val="7438F5"/>
          </a:solidFill>
          <a:ln xmlns:a="http://schemas.openxmlformats.org/drawingml/2006/main" w="0">
            <a:solidFill>
              <a:srgbClr val="7438F5"/>
            </a:solidFill>
            <a:prstDash val="solid"/>
          </a:ln>
        </p:spPr>
      </p:sp>
      <p:sp>
        <p:nvSpPr>
          <p:cNvPr id="19" name="s3-z-letter">
            <a:extLst xmlns:a="http://schemas.openxmlformats.org/drawingml/2006/main">
              <a:ext uri="{FF2B5EF4-FFF2-40B4-BE49-F238E27FC236}">
                <a16:creationId xmlns:a16="http://schemas.microsoft.com/office/drawing/2014/main" id="{07351311-0120-48A1-A8BC-24D62004E43A}"/>
              </a:ext>
            </a:extLst>
          </p:cNvPr>
          <p:cNvSpPr>
            <a:spLocks xmlns:a="http://schemas.openxmlformats.org/drawingml/2006/main" noGrp="1"/>
          </p:cNvSpPr>
          <p:nvPr/>
        </p:nvSpPr>
        <p:spPr>
          <a:xfrm xmlns:a="http://schemas.openxmlformats.org/drawingml/2006/main">
            <a:off x="666750" y="4495800"/>
            <a:ext cx="533400" cy="3048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ctr">
              <a:defRPr sz="1875" b="1">
                <a:solidFill>
                  <a:srgbClr val="FFFFFF"/>
                </a:solidFill>
                <a:latin typeface="Arial"/>
                <a:ea typeface="Arial"/>
                <a:cs typeface="Arial"/>
              </a:defRPr>
            </a:pPr>
            <a:r>
              <a:t>Z</a:t>
            </a:r>
          </a:p>
        </p:txBody>
      </p:sp>
      <p:sp>
        <p:nvSpPr>
          <p:cNvPr id="20" name="s3-z-label">
            <a:extLst xmlns:a="http://schemas.openxmlformats.org/drawingml/2006/main">
              <a:ext uri="{FF2B5EF4-FFF2-40B4-BE49-F238E27FC236}">
                <a16:creationId xmlns:a16="http://schemas.microsoft.com/office/drawing/2014/main" id="{F6B4B2D7-A197-4796-9422-B490431B7037}"/>
              </a:ext>
            </a:extLst>
          </p:cNvPr>
          <p:cNvSpPr>
            <a:spLocks xmlns:a="http://schemas.openxmlformats.org/drawingml/2006/main" noGrp="1"/>
          </p:cNvSpPr>
          <p:nvPr/>
        </p:nvSpPr>
        <p:spPr>
          <a:xfrm xmlns:a="http://schemas.openxmlformats.org/drawingml/2006/main">
            <a:off x="1428750" y="4314825"/>
            <a:ext cx="4762500" cy="2476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1">
                <a:solidFill>
                  <a:srgbClr val="7438F5"/>
                </a:solidFill>
                <a:latin typeface="Arial"/>
                <a:ea typeface="Arial"/>
                <a:cs typeface="Arial"/>
              </a:defRPr>
            </a:pPr>
            <a:r>
              <a:t>Z / INSPECTION DEPTH</a:t>
            </a:r>
          </a:p>
        </p:txBody>
      </p:sp>
      <p:sp>
        <p:nvSpPr>
          <p:cNvPr id="21" name="s3-z-main">
            <a:extLst xmlns:a="http://schemas.openxmlformats.org/drawingml/2006/main">
              <a:ext uri="{FF2B5EF4-FFF2-40B4-BE49-F238E27FC236}">
                <a16:creationId xmlns:a16="http://schemas.microsoft.com/office/drawing/2014/main" id="{9D30B6BC-CC75-4421-B4C7-51A6C724EDD5}"/>
              </a:ext>
            </a:extLst>
          </p:cNvPr>
          <p:cNvSpPr>
            <a:spLocks xmlns:a="http://schemas.openxmlformats.org/drawingml/2006/main" noGrp="1"/>
          </p:cNvSpPr>
          <p:nvPr/>
        </p:nvSpPr>
        <p:spPr>
          <a:xfrm xmlns:a="http://schemas.openxmlformats.org/drawingml/2006/main">
            <a:off x="1428750" y="4619625"/>
            <a:ext cx="4762500" cy="3238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1">
                <a:solidFill>
                  <a:srgbClr val="0A1224"/>
                </a:solidFill>
                <a:latin typeface="Consolas"/>
                <a:ea typeface="Consolas"/>
                <a:cs typeface="Consolas"/>
              </a:defRPr>
            </a:pPr>
            <a:r>
              <a:t>room  -&gt;  file  -&gt;  symbol  -&gt;  snippet</a:t>
            </a:r>
          </a:p>
        </p:txBody>
      </p:sp>
      <p:sp>
        <p:nvSpPr>
          <p:cNvPr id="22" name="s3-z-question">
            <a:extLst xmlns:a="http://schemas.openxmlformats.org/drawingml/2006/main">
              <a:ext uri="{FF2B5EF4-FFF2-40B4-BE49-F238E27FC236}">
                <a16:creationId xmlns:a16="http://schemas.microsoft.com/office/drawing/2014/main" id="{61B9903A-76B7-4077-B6FA-BE632692CC84}"/>
              </a:ext>
            </a:extLst>
          </p:cNvPr>
          <p:cNvSpPr>
            <a:spLocks xmlns:a="http://schemas.openxmlformats.org/drawingml/2006/main" noGrp="1"/>
          </p:cNvSpPr>
          <p:nvPr/>
        </p:nvSpPr>
        <p:spPr>
          <a:xfrm xmlns:a="http://schemas.openxmlformats.org/drawingml/2006/main">
            <a:off x="1428750" y="4991100"/>
            <a:ext cx="4762500" cy="2286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526071"/>
                </a:solidFill>
                <a:latin typeface="Arial"/>
                <a:ea typeface="Arial"/>
                <a:cs typeface="Arial"/>
              </a:defRPr>
            </a:pPr>
            <a:r>
              <a:t>How much context is needed?</a:t>
            </a:r>
          </a:p>
        </p:txBody>
      </p:sp>
      <p:sp>
        <p:nvSpPr>
          <p:cNvPr id="23" name="s3-address-label">
            <a:extLst xmlns:a="http://schemas.openxmlformats.org/drawingml/2006/main">
              <a:ext uri="{FF2B5EF4-FFF2-40B4-BE49-F238E27FC236}">
                <a16:creationId xmlns:a16="http://schemas.microsoft.com/office/drawing/2014/main" id="{F2866DF9-FE2B-4D25-82E7-0F54795CDCEE}"/>
              </a:ext>
            </a:extLst>
          </p:cNvPr>
          <p:cNvSpPr>
            <a:spLocks xmlns:a="http://schemas.openxmlformats.org/drawingml/2006/main" noGrp="1"/>
          </p:cNvSpPr>
          <p:nvPr/>
        </p:nvSpPr>
        <p:spPr>
          <a:xfrm xmlns:a="http://schemas.openxmlformats.org/drawingml/2006/main">
            <a:off x="7219950" y="2095500"/>
            <a:ext cx="4038600" cy="2286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1">
                <a:solidFill>
                  <a:srgbClr val="13B7D5"/>
                </a:solidFill>
                <a:latin typeface="Arial"/>
                <a:ea typeface="Arial"/>
                <a:cs typeface="Arial"/>
              </a:defRPr>
            </a:pPr>
            <a:r>
              <a:t>ONE ADDRESS</a:t>
            </a:r>
          </a:p>
        </p:txBody>
      </p:sp>
      <p:sp>
        <p:nvSpPr>
          <p:cNvPr id="24" name="s3-address-x">
            <a:extLst xmlns:a="http://schemas.openxmlformats.org/drawingml/2006/main">
              <a:ext uri="{FF2B5EF4-FFF2-40B4-BE49-F238E27FC236}">
                <a16:creationId xmlns:a16="http://schemas.microsoft.com/office/drawing/2014/main" id="{116B2967-968B-4881-8BC6-19368E65D70D}"/>
              </a:ext>
            </a:extLst>
          </p:cNvPr>
          <p:cNvSpPr>
            <a:spLocks xmlns:a="http://schemas.openxmlformats.org/drawingml/2006/main" noGrp="1"/>
          </p:cNvSpPr>
          <p:nvPr/>
        </p:nvSpPr>
        <p:spPr>
          <a:xfrm xmlns:a="http://schemas.openxmlformats.org/drawingml/2006/main">
            <a:off x="7219950" y="2724150"/>
            <a:ext cx="323850" cy="2857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1">
                <a:solidFill>
                  <a:srgbClr val="13B7D5"/>
                </a:solidFill>
                <a:latin typeface="Arial"/>
                <a:ea typeface="Arial"/>
                <a:cs typeface="Arial"/>
              </a:defRPr>
            </a:pPr>
            <a:r>
              <a:t>X</a:t>
            </a:r>
          </a:p>
        </p:txBody>
      </p:sp>
      <p:sp>
        <p:nvSpPr>
          <p:cNvPr id="25" name="s3-address-x-value">
            <a:extLst xmlns:a="http://schemas.openxmlformats.org/drawingml/2006/main">
              <a:ext uri="{FF2B5EF4-FFF2-40B4-BE49-F238E27FC236}">
                <a16:creationId xmlns:a16="http://schemas.microsoft.com/office/drawing/2014/main" id="{9ED571B3-8206-49D2-A552-E5BC7179BACE}"/>
              </a:ext>
            </a:extLst>
          </p:cNvPr>
          <p:cNvSpPr>
            <a:spLocks xmlns:a="http://schemas.openxmlformats.org/drawingml/2006/main" noGrp="1"/>
          </p:cNvSpPr>
          <p:nvPr/>
        </p:nvSpPr>
        <p:spPr>
          <a:xfrm xmlns:a="http://schemas.openxmlformats.org/drawingml/2006/main">
            <a:off x="7734300" y="2705100"/>
            <a:ext cx="3333750" cy="3048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FFFFFF"/>
                </a:solidFill>
                <a:latin typeface="Consolas"/>
                <a:ea typeface="Consolas"/>
                <a:cs typeface="Consolas"/>
              </a:defRPr>
            </a:pPr>
            <a:r>
              <a:t>checkout</a:t>
            </a:r>
          </a:p>
        </p:txBody>
      </p:sp>
      <p:sp>
        <p:nvSpPr>
          <p:cNvPr id="26" name="s3-address-y">
            <a:extLst xmlns:a="http://schemas.openxmlformats.org/drawingml/2006/main">
              <a:ext uri="{FF2B5EF4-FFF2-40B4-BE49-F238E27FC236}">
                <a16:creationId xmlns:a16="http://schemas.microsoft.com/office/drawing/2014/main" id="{78275B71-1407-4E06-9BC7-5A575CFE1C8D}"/>
              </a:ext>
            </a:extLst>
          </p:cNvPr>
          <p:cNvSpPr>
            <a:spLocks xmlns:a="http://schemas.openxmlformats.org/drawingml/2006/main" noGrp="1"/>
          </p:cNvSpPr>
          <p:nvPr/>
        </p:nvSpPr>
        <p:spPr>
          <a:xfrm xmlns:a="http://schemas.openxmlformats.org/drawingml/2006/main">
            <a:off x="7219950" y="3257550"/>
            <a:ext cx="323850" cy="2857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1">
                <a:solidFill>
                  <a:srgbClr val="1677FF"/>
                </a:solidFill>
                <a:latin typeface="Arial"/>
                <a:ea typeface="Arial"/>
                <a:cs typeface="Arial"/>
              </a:defRPr>
            </a:pPr>
            <a:r>
              <a:t>Y</a:t>
            </a:r>
          </a:p>
        </p:txBody>
      </p:sp>
      <p:sp>
        <p:nvSpPr>
          <p:cNvPr id="27" name="s3-address-y-value">
            <a:extLst xmlns:a="http://schemas.openxmlformats.org/drawingml/2006/main">
              <a:ext uri="{FF2B5EF4-FFF2-40B4-BE49-F238E27FC236}">
                <a16:creationId xmlns:a16="http://schemas.microsoft.com/office/drawing/2014/main" id="{BB061B7B-5D2F-46A1-B639-537A056AE95C}"/>
              </a:ext>
            </a:extLst>
          </p:cNvPr>
          <p:cNvSpPr>
            <a:spLocks xmlns:a="http://schemas.openxmlformats.org/drawingml/2006/main" noGrp="1"/>
          </p:cNvSpPr>
          <p:nvPr/>
        </p:nvSpPr>
        <p:spPr>
          <a:xfrm xmlns:a="http://schemas.openxmlformats.org/drawingml/2006/main">
            <a:off x="7734300" y="3238500"/>
            <a:ext cx="3333750" cy="3048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FFFFFF"/>
                </a:solidFill>
                <a:latin typeface="Consolas"/>
                <a:ea typeface="Consolas"/>
                <a:cs typeface="Consolas"/>
              </a:defRPr>
            </a:pPr>
            <a:r>
              <a:t>implementation</a:t>
            </a:r>
          </a:p>
        </p:txBody>
      </p:sp>
      <p:sp>
        <p:nvSpPr>
          <p:cNvPr id="28" name="s3-address-z">
            <a:extLst xmlns:a="http://schemas.openxmlformats.org/drawingml/2006/main">
              <a:ext uri="{FF2B5EF4-FFF2-40B4-BE49-F238E27FC236}">
                <a16:creationId xmlns:a16="http://schemas.microsoft.com/office/drawing/2014/main" id="{76FFA276-98AE-40E6-9453-88188D84C3A3}"/>
              </a:ext>
            </a:extLst>
          </p:cNvPr>
          <p:cNvSpPr>
            <a:spLocks xmlns:a="http://schemas.openxmlformats.org/drawingml/2006/main" noGrp="1"/>
          </p:cNvSpPr>
          <p:nvPr/>
        </p:nvSpPr>
        <p:spPr>
          <a:xfrm xmlns:a="http://schemas.openxmlformats.org/drawingml/2006/main">
            <a:off x="7219950" y="3790950"/>
            <a:ext cx="323850" cy="2857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1">
                <a:solidFill>
                  <a:srgbClr val="7438F5"/>
                </a:solidFill>
                <a:latin typeface="Arial"/>
                <a:ea typeface="Arial"/>
                <a:cs typeface="Arial"/>
              </a:defRPr>
            </a:pPr>
            <a:r>
              <a:t>Z</a:t>
            </a:r>
          </a:p>
        </p:txBody>
      </p:sp>
      <p:sp>
        <p:nvSpPr>
          <p:cNvPr id="29" name="s3-address-z-value">
            <a:extLst xmlns:a="http://schemas.openxmlformats.org/drawingml/2006/main">
              <a:ext uri="{FF2B5EF4-FFF2-40B4-BE49-F238E27FC236}">
                <a16:creationId xmlns:a16="http://schemas.microsoft.com/office/drawing/2014/main" id="{59EF25E2-62C8-4AA7-B084-49AE3D28BED6}"/>
              </a:ext>
            </a:extLst>
          </p:cNvPr>
          <p:cNvSpPr>
            <a:spLocks xmlns:a="http://schemas.openxmlformats.org/drawingml/2006/main" noGrp="1"/>
          </p:cNvSpPr>
          <p:nvPr/>
        </p:nvSpPr>
        <p:spPr>
          <a:xfrm xmlns:a="http://schemas.openxmlformats.org/drawingml/2006/main">
            <a:off x="7734300" y="3771900"/>
            <a:ext cx="3333750" cy="3048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FFFFFF"/>
                </a:solidFill>
                <a:latin typeface="Consolas"/>
                <a:ea typeface="Consolas"/>
                <a:cs typeface="Consolas"/>
              </a:defRPr>
            </a:pPr>
            <a:r>
              <a:t>shippingQuote()</a:t>
            </a:r>
          </a:p>
        </p:txBody>
      </p:sp>
      <p:sp>
        <p:nvSpPr>
          <p:cNvPr id="30" name="s3-address-note">
            <a:extLst xmlns:a="http://schemas.openxmlformats.org/drawingml/2006/main">
              <a:ext uri="{FF2B5EF4-FFF2-40B4-BE49-F238E27FC236}">
                <a16:creationId xmlns:a16="http://schemas.microsoft.com/office/drawing/2014/main" id="{EF4BE541-E6C0-4C8E-8E09-D9CAD2378ADF}"/>
              </a:ext>
            </a:extLst>
          </p:cNvPr>
          <p:cNvSpPr>
            <a:spLocks xmlns:a="http://schemas.openxmlformats.org/drawingml/2006/main" noGrp="1"/>
          </p:cNvSpPr>
          <p:nvPr/>
        </p:nvSpPr>
        <p:spPr>
          <a:xfrm xmlns:a="http://schemas.openxmlformats.org/drawingml/2006/main">
            <a:off x="7219950" y="4476750"/>
            <a:ext cx="4038600" cy="3238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9CC8FF"/>
                </a:solidFill>
                <a:latin typeface="Arial"/>
                <a:ea typeface="Arial"/>
                <a:cs typeface="Arial"/>
              </a:defRPr>
            </a:pPr>
            <a:r>
              <a:t>One bounded entry point.</a:t>
            </a:r>
          </a:p>
        </p:txBody>
      </p:sp>
      <p:sp>
        <p:nvSpPr>
          <p:cNvPr id="31" name="s3-route-label">
            <a:extLst xmlns:a="http://schemas.openxmlformats.org/drawingml/2006/main">
              <a:ext uri="{FF2B5EF4-FFF2-40B4-BE49-F238E27FC236}">
                <a16:creationId xmlns:a16="http://schemas.microsoft.com/office/drawing/2014/main" id="{EEA92D09-5F0B-4D16-9D74-613C3B009577}"/>
              </a:ext>
            </a:extLst>
          </p:cNvPr>
          <p:cNvSpPr>
            <a:spLocks xmlns:a="http://schemas.openxmlformats.org/drawingml/2006/main" noGrp="1"/>
          </p:cNvSpPr>
          <p:nvPr/>
        </p:nvSpPr>
        <p:spPr>
          <a:xfrm xmlns:a="http://schemas.openxmlformats.org/drawingml/2006/main">
            <a:off x="6858000" y="5276850"/>
            <a:ext cx="742950" cy="2286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1">
                <a:solidFill>
                  <a:srgbClr val="15A777"/>
                </a:solidFill>
                <a:latin typeface="Arial"/>
                <a:ea typeface="Arial"/>
                <a:cs typeface="Arial"/>
              </a:defRPr>
            </a:pPr>
            <a:r>
              <a:t>ROUTE</a:t>
            </a:r>
          </a:p>
        </p:txBody>
      </p:sp>
      <p:sp>
        <p:nvSpPr>
          <p:cNvPr id="32" name="s3-route-main">
            <a:extLst xmlns:a="http://schemas.openxmlformats.org/drawingml/2006/main">
              <a:ext uri="{FF2B5EF4-FFF2-40B4-BE49-F238E27FC236}">
                <a16:creationId xmlns:a16="http://schemas.microsoft.com/office/drawing/2014/main" id="{583323DC-18A4-47EB-83E1-A5226FE26A09}"/>
              </a:ext>
            </a:extLst>
          </p:cNvPr>
          <p:cNvSpPr>
            <a:spLocks xmlns:a="http://schemas.openxmlformats.org/drawingml/2006/main" noGrp="1"/>
          </p:cNvSpPr>
          <p:nvPr/>
        </p:nvSpPr>
        <p:spPr>
          <a:xfrm xmlns:a="http://schemas.openxmlformats.org/drawingml/2006/main">
            <a:off x="7639050" y="5276850"/>
            <a:ext cx="3981450" cy="2286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526071"/>
                </a:solidFill>
                <a:latin typeface="Arial"/>
                <a:ea typeface="Arial"/>
                <a:cs typeface="Arial"/>
              </a:defRPr>
            </a:pPr>
            <a:r>
              <a:t>task-specific path between addresses</a:t>
            </a:r>
          </a:p>
        </p:txBody>
      </p:sp>
      <p:sp>
        <p:nvSpPr>
          <p:cNvPr id="33" name="s3-memory-label">
            <a:extLst xmlns:a="http://schemas.openxmlformats.org/drawingml/2006/main">
              <a:ext uri="{FF2B5EF4-FFF2-40B4-BE49-F238E27FC236}">
                <a16:creationId xmlns:a16="http://schemas.microsoft.com/office/drawing/2014/main" id="{CB76B547-C841-46CD-BC14-AEAC6BEE7009}"/>
              </a:ext>
            </a:extLst>
          </p:cNvPr>
          <p:cNvSpPr>
            <a:spLocks xmlns:a="http://schemas.openxmlformats.org/drawingml/2006/main" noGrp="1"/>
          </p:cNvSpPr>
          <p:nvPr/>
        </p:nvSpPr>
        <p:spPr>
          <a:xfrm xmlns:a="http://schemas.openxmlformats.org/drawingml/2006/main">
            <a:off x="6858000" y="5581650"/>
            <a:ext cx="800100" cy="2286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1">
                <a:solidFill>
                  <a:srgbClr val="13B7D5"/>
                </a:solidFill>
                <a:latin typeface="Arial"/>
                <a:ea typeface="Arial"/>
                <a:cs typeface="Arial"/>
              </a:defRPr>
            </a:pPr>
            <a:r>
              <a:t>MEMORY</a:t>
            </a:r>
          </a:p>
        </p:txBody>
      </p:sp>
      <p:sp>
        <p:nvSpPr>
          <p:cNvPr id="34" name="s3-memory-main">
            <a:extLst xmlns:a="http://schemas.openxmlformats.org/drawingml/2006/main">
              <a:ext uri="{FF2B5EF4-FFF2-40B4-BE49-F238E27FC236}">
                <a16:creationId xmlns:a16="http://schemas.microsoft.com/office/drawing/2014/main" id="{01B28B30-8FBE-4E31-84E7-A080F2B77CF2}"/>
              </a:ext>
            </a:extLst>
          </p:cNvPr>
          <p:cNvSpPr>
            <a:spLocks xmlns:a="http://schemas.openxmlformats.org/drawingml/2006/main" noGrp="1"/>
          </p:cNvSpPr>
          <p:nvPr/>
        </p:nvSpPr>
        <p:spPr>
          <a:xfrm xmlns:a="http://schemas.openxmlformats.org/drawingml/2006/main">
            <a:off x="7696200" y="5581650"/>
            <a:ext cx="3924300" cy="3810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526071"/>
                </a:solidFill>
                <a:latin typeface="Arial"/>
                <a:ea typeface="Arial"/>
                <a:cs typeface="Arial"/>
              </a:defRPr>
            </a:pPr>
            <a:r>
              <a:t>evidence + pitfalls attached to places, not another axis</a:t>
            </a:r>
          </a:p>
        </p:txBody>
      </p:sp>
      <p:cxnSp>
        <p:nvCxnSpPr>
          <p:cNvPr id="72" name="footer-rule-3"/>
          <p:cNvCxnSpPr/>
          <p:nvPr/>
        </p:nvCxnSpPr>
        <p:spPr>
          <a:xfrm xmlns:a="http://schemas.openxmlformats.org/drawingml/2006/main">
            <a:off x="400050" y="6162675"/>
            <a:ext cx="11391900" cy="953"/>
          </a:xfrm>
          <a:prstGeom xmlns:a="http://schemas.openxmlformats.org/drawingml/2006/main" prst="straightConnector1">
            <a:avLst/>
          </a:prstGeom>
          <a:ln xmlns:a="http://schemas.openxmlformats.org/drawingml/2006/main" w="9525">
            <a:solidFill>
              <a:srgbClr val="B8BCC4"/>
            </a:solidFill>
            <a:prstDash val="solid"/>
          </a:ln>
        </p:spPr>
      </p:cxnSp>
      <p:sp>
        <p:nvSpPr>
          <p:cNvPr id="36" name="footer-source-3">
            <a:extLst xmlns:a="http://schemas.openxmlformats.org/drawingml/2006/main">
              <a:ext uri="{FF2B5EF4-FFF2-40B4-BE49-F238E27FC236}">
                <a16:creationId xmlns:a16="http://schemas.microsoft.com/office/drawing/2014/main" id="{57C6703A-8E6F-493C-A3F0-151067FECDFB}"/>
              </a:ext>
            </a:extLst>
          </p:cNvPr>
          <p:cNvSpPr>
            <a:spLocks xmlns:a="http://schemas.openxmlformats.org/drawingml/2006/main" noGrp="1"/>
          </p:cNvSpPr>
          <p:nvPr/>
        </p:nvSpPr>
        <p:spPr>
          <a:xfrm xmlns:a="http://schemas.openxmlformats.org/drawingml/2006/main">
            <a:off x="400050" y="6238875"/>
            <a:ext cx="10001250" cy="2286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863" b="0">
                <a:solidFill>
                  <a:srgbClr val="526071"/>
                </a:solidFill>
                <a:latin typeface="Arial"/>
                <a:ea typeface="Arial"/>
                <a:cs typeface="Arial"/>
              </a:defRPr>
            </a:pPr>
            <a:r>
              <a:t/>
            </a:r>
          </a:p>
        </p:txBody>
      </p:sp>
      <p:sp>
        <p:nvSpPr>
          <p:cNvPr id="37" name="footer-number-3">
            <a:extLst xmlns:a="http://schemas.openxmlformats.org/drawingml/2006/main">
              <a:ext uri="{FF2B5EF4-FFF2-40B4-BE49-F238E27FC236}">
                <a16:creationId xmlns:a16="http://schemas.microsoft.com/office/drawing/2014/main" id="{D3699DAE-C698-4381-A6C5-9282938D86E1}"/>
              </a:ext>
            </a:extLst>
          </p:cNvPr>
          <p:cNvSpPr>
            <a:spLocks xmlns:a="http://schemas.openxmlformats.org/drawingml/2006/main" noGrp="1"/>
          </p:cNvSpPr>
          <p:nvPr/>
        </p:nvSpPr>
        <p:spPr>
          <a:xfrm xmlns:a="http://schemas.openxmlformats.org/drawingml/2006/main">
            <a:off x="11258550" y="6238875"/>
            <a:ext cx="533400" cy="2286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r">
              <a:defRPr sz="900" b="0">
                <a:solidFill>
                  <a:srgbClr val="526071"/>
                </a:solidFill>
                <a:latin typeface="Arial"/>
                <a:ea typeface="Arial"/>
                <a:cs typeface="Arial"/>
              </a:defRPr>
            </a:pPr>
            <a:r>
              <a:t>3</a:t>
            </a:r>
          </a:p>
        </p:txBody>
      </p:sp>
    </p:spTree>
    <p:extLst>
      <p:ext uri="{BB962C8B-B14F-4D97-AF65-F5344CB8AC3E}">
        <p14:creationId xmlns:p14="http://schemas.microsoft.com/office/powerpoint/2010/main" val="90408161"/>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 name="s4-title">
            <a:extLst xmlns:a="http://schemas.openxmlformats.org/drawingml/2006/main">
              <a:ext uri="{FF2B5EF4-FFF2-40B4-BE49-F238E27FC236}">
                <a16:creationId xmlns:a16="http://schemas.microsoft.com/office/drawing/2014/main" id="{0CA9A4B9-912A-4374-A6F5-CB6BBBF45970}"/>
              </a:ext>
            </a:extLst>
          </p:cNvPr>
          <p:cNvSpPr>
            <a:spLocks xmlns:a="http://schemas.openxmlformats.org/drawingml/2006/main" noGrp="1"/>
          </p:cNvSpPr>
          <p:nvPr/>
        </p:nvSpPr>
        <p:spPr>
          <a:xfrm xmlns:a="http://schemas.openxmlformats.org/drawingml/2006/main">
            <a:off x="400050" y="323850"/>
            <a:ext cx="11391900" cy="7239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0A1224"/>
                </a:solidFill>
                <a:latin typeface="Arial"/>
                <a:ea typeface="Arial"/>
                <a:cs typeface="Arial"/>
              </a:defRPr>
            </a:pPr>
            <a:r>
              <a:t>A useful route in one command.</a:t>
            </a:r>
          </a:p>
        </p:txBody>
      </p:sp>
      <p:sp>
        <p:nvSpPr>
          <p:cNvPr id="2" name="s4-subtitle">
            <a:extLst xmlns:a="http://schemas.openxmlformats.org/drawingml/2006/main">
              <a:ext uri="{FF2B5EF4-FFF2-40B4-BE49-F238E27FC236}">
                <a16:creationId xmlns:a16="http://schemas.microsoft.com/office/drawing/2014/main" id="{974007AA-1ABC-410B-8FBC-1BD2DB2397F9}"/>
              </a:ext>
            </a:extLst>
          </p:cNvPr>
          <p:cNvSpPr>
            <a:spLocks xmlns:a="http://schemas.openxmlformats.org/drawingml/2006/main" noGrp="1"/>
          </p:cNvSpPr>
          <p:nvPr/>
        </p:nvSpPr>
        <p:spPr>
          <a:xfrm xmlns:a="http://schemas.openxmlformats.org/drawingml/2006/main">
            <a:off x="400050" y="1066800"/>
            <a:ext cx="9334500" cy="3810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526071"/>
                </a:solidFill>
                <a:latin typeface="Arial"/>
                <a:ea typeface="Arial"/>
                <a:cs typeface="Arial"/>
              </a:defRPr>
            </a:pPr>
            <a:r>
              <a:t>The same call initializes, refreshes, routes, selects a mode, and packs context.</a:t>
            </a:r>
          </a:p>
        </p:txBody>
      </p:sp>
      <p:sp>
        <p:nvSpPr>
          <p:cNvPr id="3" name="s4-terminal">
            <a:extLst xmlns:a="http://schemas.openxmlformats.org/drawingml/2006/main">
              <a:ext uri="{FF2B5EF4-FFF2-40B4-BE49-F238E27FC236}">
                <a16:creationId xmlns:a16="http://schemas.microsoft.com/office/drawing/2014/main" id="{91C9A492-56BA-4EA2-90C5-3619AA1C2654}"/>
              </a:ext>
            </a:extLst>
          </p:cNvPr>
          <p:cNvSpPr>
            <a:spLocks xmlns:a="http://schemas.openxmlformats.org/drawingml/2006/main" noGrp="1"/>
          </p:cNvSpPr>
          <p:nvPr/>
        </p:nvSpPr>
        <p:spPr>
          <a:xfrm xmlns:a="http://schemas.openxmlformats.org/drawingml/2006/main">
            <a:off x="552450" y="1619250"/>
            <a:ext cx="11087100" cy="4267200"/>
          </a:xfrm>
          <a:prstGeom xmlns:a="http://schemas.openxmlformats.org/drawingml/2006/main" prst="roundRect">
            <a:avLst>
              <a:gd name="adj" fmla="val 1786"/>
            </a:avLst>
          </a:prstGeom>
          <a:solidFill xmlns:a="http://schemas.openxmlformats.org/drawingml/2006/main">
            <a:srgbClr val="061B3D"/>
          </a:solidFill>
          <a:ln xmlns:a="http://schemas.openxmlformats.org/drawingml/2006/main" w="9525">
            <a:solidFill>
              <a:srgbClr val="0B2B56"/>
            </a:solidFill>
            <a:prstDash val="solid"/>
          </a:ln>
        </p:spPr>
      </p:sp>
      <p:cxnSp>
        <p:nvCxnSpPr>
          <p:cNvPr id="29" name="s4-terminal-divider"/>
          <p:cNvCxnSpPr/>
          <p:nvPr/>
        </p:nvCxnSpPr>
        <p:spPr>
          <a:xfrm xmlns:a="http://schemas.openxmlformats.org/drawingml/2006/main">
            <a:off x="6334125" y="2038350"/>
            <a:ext cx="953" cy="3352800"/>
          </a:xfrm>
          <a:prstGeom xmlns:a="http://schemas.openxmlformats.org/drawingml/2006/main" prst="straightConnector1">
            <a:avLst/>
          </a:prstGeom>
          <a:ln xmlns:a="http://schemas.openxmlformats.org/drawingml/2006/main" w="9525">
            <a:solidFill>
              <a:srgbClr val="24466F"/>
            </a:solidFill>
            <a:prstDash val="solid"/>
          </a:ln>
        </p:spPr>
      </p:cxnSp>
      <p:sp>
        <p:nvSpPr>
          <p:cNvPr id="5" name="s4-dot1">
            <a:extLst xmlns:a="http://schemas.openxmlformats.org/drawingml/2006/main">
              <a:ext uri="{FF2B5EF4-FFF2-40B4-BE49-F238E27FC236}">
                <a16:creationId xmlns:a16="http://schemas.microsoft.com/office/drawing/2014/main" id="{1B1D2CFB-99C2-4B8F-9BBB-2F5FC046AECD}"/>
              </a:ext>
            </a:extLst>
          </p:cNvPr>
          <p:cNvSpPr>
            <a:spLocks xmlns:a="http://schemas.openxmlformats.org/drawingml/2006/main" noGrp="1"/>
          </p:cNvSpPr>
          <p:nvPr/>
        </p:nvSpPr>
        <p:spPr>
          <a:xfrm xmlns:a="http://schemas.openxmlformats.org/drawingml/2006/main">
            <a:off x="819150" y="1809750"/>
            <a:ext cx="114300" cy="114300"/>
          </a:xfrm>
          <a:prstGeom xmlns:a="http://schemas.openxmlformats.org/drawingml/2006/main" prst="ellipse">
            <a:avLst/>
          </a:prstGeom>
          <a:solidFill xmlns:a="http://schemas.openxmlformats.org/drawingml/2006/main">
            <a:srgbClr val="D4515D"/>
          </a:solidFill>
          <a:ln xmlns:a="http://schemas.openxmlformats.org/drawingml/2006/main" w="0">
            <a:solidFill>
              <a:srgbClr val="D4515D"/>
            </a:solidFill>
            <a:prstDash val="solid"/>
          </a:ln>
        </p:spPr>
      </p:sp>
      <p:sp>
        <p:nvSpPr>
          <p:cNvPr id="6" name="s4-dot2">
            <a:extLst xmlns:a="http://schemas.openxmlformats.org/drawingml/2006/main">
              <a:ext uri="{FF2B5EF4-FFF2-40B4-BE49-F238E27FC236}">
                <a16:creationId xmlns:a16="http://schemas.microsoft.com/office/drawing/2014/main" id="{3C929D9F-1548-477E-8321-A606D8951E46}"/>
              </a:ext>
            </a:extLst>
          </p:cNvPr>
          <p:cNvSpPr>
            <a:spLocks xmlns:a="http://schemas.openxmlformats.org/drawingml/2006/main" noGrp="1"/>
          </p:cNvSpPr>
          <p:nvPr/>
        </p:nvSpPr>
        <p:spPr>
          <a:xfrm xmlns:a="http://schemas.openxmlformats.org/drawingml/2006/main">
            <a:off x="1009650" y="1809750"/>
            <a:ext cx="114300" cy="114300"/>
          </a:xfrm>
          <a:prstGeom xmlns:a="http://schemas.openxmlformats.org/drawingml/2006/main" prst="ellipse">
            <a:avLst/>
          </a:prstGeom>
          <a:solidFill xmlns:a="http://schemas.openxmlformats.org/drawingml/2006/main">
            <a:srgbClr val="B87712"/>
          </a:solidFill>
          <a:ln xmlns:a="http://schemas.openxmlformats.org/drawingml/2006/main" w="0">
            <a:solidFill>
              <a:srgbClr val="B87712"/>
            </a:solidFill>
            <a:prstDash val="solid"/>
          </a:ln>
        </p:spPr>
      </p:sp>
      <p:sp>
        <p:nvSpPr>
          <p:cNvPr id="7" name="s4-dot3">
            <a:extLst xmlns:a="http://schemas.openxmlformats.org/drawingml/2006/main">
              <a:ext uri="{FF2B5EF4-FFF2-40B4-BE49-F238E27FC236}">
                <a16:creationId xmlns:a16="http://schemas.microsoft.com/office/drawing/2014/main" id="{C1C610DC-3F19-49CB-A5CB-9CFEB2D0BC5F}"/>
              </a:ext>
            </a:extLst>
          </p:cNvPr>
          <p:cNvSpPr>
            <a:spLocks xmlns:a="http://schemas.openxmlformats.org/drawingml/2006/main" noGrp="1"/>
          </p:cNvSpPr>
          <p:nvPr/>
        </p:nvSpPr>
        <p:spPr>
          <a:xfrm xmlns:a="http://schemas.openxmlformats.org/drawingml/2006/main">
            <a:off x="1200150" y="1809750"/>
            <a:ext cx="114300" cy="114300"/>
          </a:xfrm>
          <a:prstGeom xmlns:a="http://schemas.openxmlformats.org/drawingml/2006/main" prst="ellipse">
            <a:avLst/>
          </a:prstGeom>
          <a:solidFill xmlns:a="http://schemas.openxmlformats.org/drawingml/2006/main">
            <a:srgbClr val="15A777"/>
          </a:solidFill>
          <a:ln xmlns:a="http://schemas.openxmlformats.org/drawingml/2006/main" w="0">
            <a:solidFill>
              <a:srgbClr val="15A777"/>
            </a:solidFill>
            <a:prstDash val="solid"/>
          </a:ln>
        </p:spPr>
      </p:sp>
      <p:sp>
        <p:nvSpPr>
          <p:cNvPr id="8" name="s4-command-label">
            <a:extLst xmlns:a="http://schemas.openxmlformats.org/drawingml/2006/main">
              <a:ext uri="{FF2B5EF4-FFF2-40B4-BE49-F238E27FC236}">
                <a16:creationId xmlns:a16="http://schemas.microsoft.com/office/drawing/2014/main" id="{EB9635B4-5B0B-4400-8635-4DEC47574CA9}"/>
              </a:ext>
            </a:extLst>
          </p:cNvPr>
          <p:cNvSpPr>
            <a:spLocks xmlns:a="http://schemas.openxmlformats.org/drawingml/2006/main" noGrp="1"/>
          </p:cNvSpPr>
          <p:nvPr/>
        </p:nvSpPr>
        <p:spPr>
          <a:xfrm xmlns:a="http://schemas.openxmlformats.org/drawingml/2006/main">
            <a:off x="819150" y="2171700"/>
            <a:ext cx="1714500" cy="2286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13B7D5"/>
                </a:solidFill>
                <a:latin typeface="Arial"/>
                <a:ea typeface="Arial"/>
                <a:cs typeface="Arial"/>
              </a:defRPr>
            </a:pPr>
            <a:r>
              <a:t>COMMAND</a:t>
            </a:r>
          </a:p>
        </p:txBody>
      </p:sp>
      <p:sp>
        <p:nvSpPr>
          <p:cNvPr id="9" name="s4-command">
            <a:extLst xmlns:a="http://schemas.openxmlformats.org/drawingml/2006/main">
              <a:ext uri="{FF2B5EF4-FFF2-40B4-BE49-F238E27FC236}">
                <a16:creationId xmlns:a16="http://schemas.microsoft.com/office/drawing/2014/main" id="{718E0A2A-48E6-4BA3-8995-3C5C9965977A}"/>
              </a:ext>
            </a:extLst>
          </p:cNvPr>
          <p:cNvSpPr>
            <a:spLocks xmlns:a="http://schemas.openxmlformats.org/drawingml/2006/main" noGrp="1"/>
          </p:cNvSpPr>
          <p:nvPr/>
        </p:nvSpPr>
        <p:spPr>
          <a:xfrm xmlns:a="http://schemas.openxmlformats.org/drawingml/2006/main">
            <a:off x="819150" y="2571750"/>
            <a:ext cx="5000625" cy="21336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FFFFFF"/>
                </a:solidFill>
                <a:latin typeface="Consolas"/>
                <a:ea typeface="Consolas"/>
                <a:cs typeface="Consolas"/>
              </a:defRPr>
            </a:pPr>
            <a:r>
              <a:t>$ palace context
  "Fix adaptive full-palace mode
   so relevant memory is included
   with current-code-first guardrails"
  --auto</a:t>
            </a:r>
          </a:p>
        </p:txBody>
      </p:sp>
      <p:sp>
        <p:nvSpPr>
          <p:cNvPr id="10" name="s4-command-note">
            <a:extLst xmlns:a="http://schemas.openxmlformats.org/drawingml/2006/main">
              <a:ext uri="{FF2B5EF4-FFF2-40B4-BE49-F238E27FC236}">
                <a16:creationId xmlns:a16="http://schemas.microsoft.com/office/drawing/2014/main" id="{4A41D02D-4DC9-4CFD-974C-298444F12F3F}"/>
              </a:ext>
            </a:extLst>
          </p:cNvPr>
          <p:cNvSpPr>
            <a:spLocks xmlns:a="http://schemas.openxmlformats.org/drawingml/2006/main" noGrp="1"/>
          </p:cNvSpPr>
          <p:nvPr/>
        </p:nvSpPr>
        <p:spPr>
          <a:xfrm xmlns:a="http://schemas.openxmlformats.org/drawingml/2006/main">
            <a:off x="819150" y="5048250"/>
            <a:ext cx="4762500" cy="3238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0">
                <a:solidFill>
                  <a:srgbClr val="9CC8FF"/>
                </a:solidFill>
                <a:latin typeface="Arial"/>
                <a:ea typeface="Arial"/>
                <a:cs typeface="Arial"/>
              </a:defRPr>
            </a:pPr>
            <a:r>
              <a:t>One request. No full-repo paste.</a:t>
            </a:r>
          </a:p>
        </p:txBody>
      </p:sp>
      <p:sp>
        <p:nvSpPr>
          <p:cNvPr id="11" name="s4-output-label">
            <a:extLst xmlns:a="http://schemas.openxmlformats.org/drawingml/2006/main">
              <a:ext uri="{FF2B5EF4-FFF2-40B4-BE49-F238E27FC236}">
                <a16:creationId xmlns:a16="http://schemas.microsoft.com/office/drawing/2014/main" id="{99F7AD12-735A-4645-9267-09BEFCA8DF36}"/>
              </a:ext>
            </a:extLst>
          </p:cNvPr>
          <p:cNvSpPr>
            <a:spLocks xmlns:a="http://schemas.openxmlformats.org/drawingml/2006/main" noGrp="1"/>
          </p:cNvSpPr>
          <p:nvPr/>
        </p:nvSpPr>
        <p:spPr>
          <a:xfrm xmlns:a="http://schemas.openxmlformats.org/drawingml/2006/main">
            <a:off x="6705600" y="2171700"/>
            <a:ext cx="1714500" cy="2286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15A777"/>
                </a:solidFill>
                <a:latin typeface="Arial"/>
                <a:ea typeface="Arial"/>
                <a:cs typeface="Arial"/>
              </a:defRPr>
            </a:pPr>
            <a:r>
              <a:t>LIVE OUTPUT</a:t>
            </a:r>
          </a:p>
        </p:txBody>
      </p:sp>
      <p:sp>
        <p:nvSpPr>
          <p:cNvPr id="12" name="s4-o1a">
            <a:extLst xmlns:a="http://schemas.openxmlformats.org/drawingml/2006/main">
              <a:ext uri="{FF2B5EF4-FFF2-40B4-BE49-F238E27FC236}">
                <a16:creationId xmlns:a16="http://schemas.microsoft.com/office/drawing/2014/main" id="{1385C1D3-E490-43EA-AEA0-7DE9FD1593E1}"/>
              </a:ext>
            </a:extLst>
          </p:cNvPr>
          <p:cNvSpPr>
            <a:spLocks xmlns:a="http://schemas.openxmlformats.org/drawingml/2006/main" noGrp="1"/>
          </p:cNvSpPr>
          <p:nvPr/>
        </p:nvSpPr>
        <p:spPr>
          <a:xfrm xmlns:a="http://schemas.openxmlformats.org/drawingml/2006/main">
            <a:off x="6705600" y="2628900"/>
            <a:ext cx="1809750" cy="2286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0">
                <a:solidFill>
                  <a:srgbClr val="9CB0C8"/>
                </a:solidFill>
                <a:latin typeface="Consolas"/>
                <a:ea typeface="Consolas"/>
                <a:cs typeface="Consolas"/>
              </a:defRPr>
            </a:pPr>
            <a:r>
              <a:t>Mode</a:t>
            </a:r>
          </a:p>
        </p:txBody>
      </p:sp>
      <p:sp>
        <p:nvSpPr>
          <p:cNvPr id="13" name="s4-o1b">
            <a:extLst xmlns:a="http://schemas.openxmlformats.org/drawingml/2006/main">
              <a:ext uri="{FF2B5EF4-FFF2-40B4-BE49-F238E27FC236}">
                <a16:creationId xmlns:a16="http://schemas.microsoft.com/office/drawing/2014/main" id="{85AC47E5-3B3B-41EB-8BC2-5DE44E3A9610}"/>
              </a:ext>
            </a:extLst>
          </p:cNvPr>
          <p:cNvSpPr>
            <a:spLocks xmlns:a="http://schemas.openxmlformats.org/drawingml/2006/main" noGrp="1"/>
          </p:cNvSpPr>
          <p:nvPr/>
        </p:nvSpPr>
        <p:spPr>
          <a:xfrm xmlns:a="http://schemas.openxmlformats.org/drawingml/2006/main">
            <a:off x="8420100" y="2628900"/>
            <a:ext cx="2762250" cy="2286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1">
                <a:solidFill>
                  <a:srgbClr val="FFFFFF"/>
                </a:solidFill>
                <a:latin typeface="Consolas"/>
                <a:ea typeface="Consolas"/>
                <a:cs typeface="Consolas"/>
              </a:defRPr>
            </a:pPr>
            <a:r>
              <a:t>guarded-memory-palace</a:t>
            </a:r>
          </a:p>
        </p:txBody>
      </p:sp>
      <p:sp>
        <p:nvSpPr>
          <p:cNvPr id="14" name="s4-o2a">
            <a:extLst xmlns:a="http://schemas.openxmlformats.org/drawingml/2006/main">
              <a:ext uri="{FF2B5EF4-FFF2-40B4-BE49-F238E27FC236}">
                <a16:creationId xmlns:a16="http://schemas.microsoft.com/office/drawing/2014/main" id="{44BD9DDC-2AA9-43E4-BD6D-98FBBAC3FDED}"/>
              </a:ext>
            </a:extLst>
          </p:cNvPr>
          <p:cNvSpPr>
            <a:spLocks xmlns:a="http://schemas.openxmlformats.org/drawingml/2006/main" noGrp="1"/>
          </p:cNvSpPr>
          <p:nvPr/>
        </p:nvSpPr>
        <p:spPr>
          <a:xfrm xmlns:a="http://schemas.openxmlformats.org/drawingml/2006/main">
            <a:off x="6705600" y="3057525"/>
            <a:ext cx="1809750" cy="2286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0">
                <a:solidFill>
                  <a:srgbClr val="9CB0C8"/>
                </a:solidFill>
                <a:latin typeface="Consolas"/>
                <a:ea typeface="Consolas"/>
                <a:cs typeface="Consolas"/>
              </a:defRPr>
            </a:pPr>
            <a:r>
              <a:t>Route confidence</a:t>
            </a:r>
          </a:p>
        </p:txBody>
      </p:sp>
      <p:sp>
        <p:nvSpPr>
          <p:cNvPr id="15" name="s4-o2b">
            <a:extLst xmlns:a="http://schemas.openxmlformats.org/drawingml/2006/main">
              <a:ext uri="{FF2B5EF4-FFF2-40B4-BE49-F238E27FC236}">
                <a16:creationId xmlns:a16="http://schemas.microsoft.com/office/drawing/2014/main" id="{8A4D0A83-2CB0-4C45-9107-82B8CE8CD8E0}"/>
              </a:ext>
            </a:extLst>
          </p:cNvPr>
          <p:cNvSpPr>
            <a:spLocks xmlns:a="http://schemas.openxmlformats.org/drawingml/2006/main" noGrp="1"/>
          </p:cNvSpPr>
          <p:nvPr/>
        </p:nvSpPr>
        <p:spPr>
          <a:xfrm xmlns:a="http://schemas.openxmlformats.org/drawingml/2006/main">
            <a:off x="8420100" y="3057525"/>
            <a:ext cx="2762250" cy="2286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1">
                <a:solidFill>
                  <a:srgbClr val="13B7D5"/>
                </a:solidFill>
                <a:latin typeface="Consolas"/>
                <a:ea typeface="Consolas"/>
                <a:cs typeface="Consolas"/>
              </a:defRPr>
            </a:pPr>
            <a:r>
              <a:t>0.81</a:t>
            </a:r>
          </a:p>
        </p:txBody>
      </p:sp>
      <p:sp>
        <p:nvSpPr>
          <p:cNvPr id="16" name="s4-o3a">
            <a:extLst xmlns:a="http://schemas.openxmlformats.org/drawingml/2006/main">
              <a:ext uri="{FF2B5EF4-FFF2-40B4-BE49-F238E27FC236}">
                <a16:creationId xmlns:a16="http://schemas.microsoft.com/office/drawing/2014/main" id="{E16EF2AE-E733-407F-88FC-D62EE7F6EB21}"/>
              </a:ext>
            </a:extLst>
          </p:cNvPr>
          <p:cNvSpPr>
            <a:spLocks xmlns:a="http://schemas.openxmlformats.org/drawingml/2006/main" noGrp="1"/>
          </p:cNvSpPr>
          <p:nvPr/>
        </p:nvSpPr>
        <p:spPr>
          <a:xfrm xmlns:a="http://schemas.openxmlformats.org/drawingml/2006/main">
            <a:off x="6705600" y="3486150"/>
            <a:ext cx="1809750" cy="2286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0">
                <a:solidFill>
                  <a:srgbClr val="9CB0C8"/>
                </a:solidFill>
                <a:latin typeface="Consolas"/>
                <a:ea typeface="Consolas"/>
                <a:cs typeface="Consolas"/>
              </a:defRPr>
            </a:pPr>
            <a:r>
              <a:t>Payload</a:t>
            </a:r>
          </a:p>
        </p:txBody>
      </p:sp>
      <p:sp>
        <p:nvSpPr>
          <p:cNvPr id="17" name="s4-o3b">
            <a:extLst xmlns:a="http://schemas.openxmlformats.org/drawingml/2006/main">
              <a:ext uri="{FF2B5EF4-FFF2-40B4-BE49-F238E27FC236}">
                <a16:creationId xmlns:a16="http://schemas.microsoft.com/office/drawing/2014/main" id="{0C31E9F3-F904-4BD6-89FC-3F40E6744496}"/>
              </a:ext>
            </a:extLst>
          </p:cNvPr>
          <p:cNvSpPr>
            <a:spLocks xmlns:a="http://schemas.openxmlformats.org/drawingml/2006/main" noGrp="1"/>
          </p:cNvSpPr>
          <p:nvPr/>
        </p:nvSpPr>
        <p:spPr>
          <a:xfrm xmlns:a="http://schemas.openxmlformats.org/drawingml/2006/main">
            <a:off x="8420100" y="3486150"/>
            <a:ext cx="2762250" cy="2286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1">
                <a:solidFill>
                  <a:srgbClr val="FFFFFF"/>
                </a:solidFill>
                <a:latin typeface="Consolas"/>
                <a:ea typeface="Consolas"/>
                <a:cs typeface="Consolas"/>
              </a:defRPr>
            </a:pPr>
            <a:r>
              <a:t>1,165 est. tokens</a:t>
            </a:r>
          </a:p>
        </p:txBody>
      </p:sp>
      <p:sp>
        <p:nvSpPr>
          <p:cNvPr id="18" name="s4-o4a">
            <a:extLst xmlns:a="http://schemas.openxmlformats.org/drawingml/2006/main">
              <a:ext uri="{FF2B5EF4-FFF2-40B4-BE49-F238E27FC236}">
                <a16:creationId xmlns:a16="http://schemas.microsoft.com/office/drawing/2014/main" id="{734D0D96-11CC-47A8-96FA-210E0F66263D}"/>
              </a:ext>
            </a:extLst>
          </p:cNvPr>
          <p:cNvSpPr>
            <a:spLocks xmlns:a="http://schemas.openxmlformats.org/drawingml/2006/main" noGrp="1"/>
          </p:cNvSpPr>
          <p:nvPr/>
        </p:nvSpPr>
        <p:spPr>
          <a:xfrm xmlns:a="http://schemas.openxmlformats.org/drawingml/2006/main">
            <a:off x="6705600" y="3914775"/>
            <a:ext cx="1809750" cy="2286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0">
                <a:solidFill>
                  <a:srgbClr val="9CB0C8"/>
                </a:solidFill>
                <a:latin typeface="Consolas"/>
                <a:ea typeface="Consolas"/>
                <a:cs typeface="Consolas"/>
              </a:defRPr>
            </a:pPr>
            <a:r>
              <a:t>Primary</a:t>
            </a:r>
          </a:p>
        </p:txBody>
      </p:sp>
      <p:sp>
        <p:nvSpPr>
          <p:cNvPr id="19" name="s4-o4b">
            <a:extLst xmlns:a="http://schemas.openxmlformats.org/drawingml/2006/main">
              <a:ext uri="{FF2B5EF4-FFF2-40B4-BE49-F238E27FC236}">
                <a16:creationId xmlns:a16="http://schemas.microsoft.com/office/drawing/2014/main" id="{29994985-6320-408F-AC1F-C759353A8CFA}"/>
              </a:ext>
            </a:extLst>
          </p:cNvPr>
          <p:cNvSpPr>
            <a:spLocks xmlns:a="http://schemas.openxmlformats.org/drawingml/2006/main" noGrp="1"/>
          </p:cNvSpPr>
          <p:nvPr/>
        </p:nvSpPr>
        <p:spPr>
          <a:xfrm xmlns:a="http://schemas.openxmlformats.org/drawingml/2006/main">
            <a:off x="8420100" y="3914775"/>
            <a:ext cx="2762250" cy="5143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1">
                <a:solidFill>
                  <a:srgbClr val="FFFFFF"/>
                </a:solidFill>
                <a:latin typeface="Consolas"/>
                <a:ea typeface="Consolas"/>
                <a:cs typeface="Consolas"/>
              </a:defRPr>
            </a:pPr>
            <a:r>
              <a:t>context-packer.ts
mode-selector.ts</a:t>
            </a:r>
          </a:p>
        </p:txBody>
      </p:sp>
      <p:sp>
        <p:nvSpPr>
          <p:cNvPr id="20" name="s4-o5a">
            <a:extLst xmlns:a="http://schemas.openxmlformats.org/drawingml/2006/main">
              <a:ext uri="{FF2B5EF4-FFF2-40B4-BE49-F238E27FC236}">
                <a16:creationId xmlns:a16="http://schemas.microsoft.com/office/drawing/2014/main" id="{45D8A118-892D-42D3-B8D4-523258F4034D}"/>
              </a:ext>
            </a:extLst>
          </p:cNvPr>
          <p:cNvSpPr>
            <a:spLocks xmlns:a="http://schemas.openxmlformats.org/drawingml/2006/main" noGrp="1"/>
          </p:cNvSpPr>
          <p:nvPr/>
        </p:nvSpPr>
        <p:spPr>
          <a:xfrm xmlns:a="http://schemas.openxmlformats.org/drawingml/2006/main">
            <a:off x="6705600" y="4629150"/>
            <a:ext cx="1809750" cy="2286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0">
                <a:solidFill>
                  <a:srgbClr val="9CB0C8"/>
                </a:solidFill>
                <a:latin typeface="Consolas"/>
                <a:ea typeface="Consolas"/>
                <a:cs typeface="Consolas"/>
              </a:defRPr>
            </a:pPr>
            <a:r>
              <a:t>Memory</a:t>
            </a:r>
          </a:p>
        </p:txBody>
      </p:sp>
      <p:sp>
        <p:nvSpPr>
          <p:cNvPr id="21" name="s4-o5b">
            <a:extLst xmlns:a="http://schemas.openxmlformats.org/drawingml/2006/main">
              <a:ext uri="{FF2B5EF4-FFF2-40B4-BE49-F238E27FC236}">
                <a16:creationId xmlns:a16="http://schemas.microsoft.com/office/drawing/2014/main" id="{270D17C8-1A63-4673-AD39-F4AE6F4E3869}"/>
              </a:ext>
            </a:extLst>
          </p:cNvPr>
          <p:cNvSpPr>
            <a:spLocks xmlns:a="http://schemas.openxmlformats.org/drawingml/2006/main" noGrp="1"/>
          </p:cNvSpPr>
          <p:nvPr/>
        </p:nvSpPr>
        <p:spPr>
          <a:xfrm xmlns:a="http://schemas.openxmlformats.org/drawingml/2006/main">
            <a:off x="8420100" y="4629150"/>
            <a:ext cx="2762250" cy="2286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1">
                <a:solidFill>
                  <a:srgbClr val="15A777"/>
                </a:solidFill>
                <a:latin typeface="Consolas"/>
                <a:ea typeface="Consolas"/>
                <a:cs typeface="Consolas"/>
              </a:defRPr>
            </a:pPr>
            <a:r>
              <a:t>3 items + 1 guardrail</a:t>
            </a:r>
          </a:p>
        </p:txBody>
      </p:sp>
      <p:sp>
        <p:nvSpPr>
          <p:cNvPr id="22" name="s4-output-note">
            <a:extLst xmlns:a="http://schemas.openxmlformats.org/drawingml/2006/main">
              <a:ext uri="{FF2B5EF4-FFF2-40B4-BE49-F238E27FC236}">
                <a16:creationId xmlns:a16="http://schemas.microsoft.com/office/drawing/2014/main" id="{5A824738-1AD0-4517-B049-052F681A2B40}"/>
              </a:ext>
            </a:extLst>
          </p:cNvPr>
          <p:cNvSpPr>
            <a:spLocks xmlns:a="http://schemas.openxmlformats.org/drawingml/2006/main" noGrp="1"/>
          </p:cNvSpPr>
          <p:nvPr/>
        </p:nvSpPr>
        <p:spPr>
          <a:xfrm xmlns:a="http://schemas.openxmlformats.org/drawingml/2006/main">
            <a:off x="6705600" y="5219700"/>
            <a:ext cx="4438650" cy="3048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9CC8FF"/>
                </a:solidFill>
                <a:latin typeface="Arial"/>
                <a:ea typeface="Arial"/>
                <a:cs typeface="Arial"/>
              </a:defRPr>
            </a:pPr>
            <a:r>
              <a:t>Primary files first. Supporting context stays bounded.</a:t>
            </a:r>
          </a:p>
        </p:txBody>
      </p:sp>
      <p:cxnSp>
        <p:nvCxnSpPr>
          <p:cNvPr id="48" name="footer-rule-4"/>
          <p:cNvCxnSpPr/>
          <p:nvPr/>
        </p:nvCxnSpPr>
        <p:spPr>
          <a:xfrm xmlns:a="http://schemas.openxmlformats.org/drawingml/2006/main">
            <a:off x="400050" y="6162675"/>
            <a:ext cx="11391900" cy="953"/>
          </a:xfrm>
          <a:prstGeom xmlns:a="http://schemas.openxmlformats.org/drawingml/2006/main" prst="straightConnector1">
            <a:avLst/>
          </a:prstGeom>
          <a:ln xmlns:a="http://schemas.openxmlformats.org/drawingml/2006/main" w="9525">
            <a:solidFill>
              <a:srgbClr val="B8BCC4"/>
            </a:solidFill>
            <a:prstDash val="solid"/>
          </a:ln>
        </p:spPr>
      </p:cxnSp>
      <p:sp>
        <p:nvSpPr>
          <p:cNvPr id="24" name="footer-source-4">
            <a:extLst xmlns:a="http://schemas.openxmlformats.org/drawingml/2006/main">
              <a:ext uri="{FF2B5EF4-FFF2-40B4-BE49-F238E27FC236}">
                <a16:creationId xmlns:a16="http://schemas.microsoft.com/office/drawing/2014/main" id="{16F12731-7955-4646-85C7-1CFD67C3DBC3}"/>
              </a:ext>
            </a:extLst>
          </p:cNvPr>
          <p:cNvSpPr>
            <a:spLocks xmlns:a="http://schemas.openxmlformats.org/drawingml/2006/main" noGrp="1"/>
          </p:cNvSpPr>
          <p:nvPr/>
        </p:nvSpPr>
        <p:spPr>
          <a:xfrm xmlns:a="http://schemas.openxmlformats.org/drawingml/2006/main">
            <a:off x="400050" y="6238875"/>
            <a:ext cx="10001250" cy="2286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863" b="0">
                <a:solidFill>
                  <a:srgbClr val="526071"/>
                </a:solidFill>
                <a:latin typeface="Arial"/>
                <a:ea typeface="Arial"/>
                <a:cs typeface="Arial"/>
              </a:defRPr>
            </a:pPr>
            <a:r>
              <a:t>Live local CLI output captured 2026-07-19 · vertex-palace@0.2.3</a:t>
            </a:r>
          </a:p>
        </p:txBody>
      </p:sp>
      <p:sp>
        <p:nvSpPr>
          <p:cNvPr id="25" name="footer-number-4">
            <a:extLst xmlns:a="http://schemas.openxmlformats.org/drawingml/2006/main">
              <a:ext uri="{FF2B5EF4-FFF2-40B4-BE49-F238E27FC236}">
                <a16:creationId xmlns:a16="http://schemas.microsoft.com/office/drawing/2014/main" id="{0FB358B4-BE03-4C81-83C8-92E4882AE7D7}"/>
              </a:ext>
            </a:extLst>
          </p:cNvPr>
          <p:cNvSpPr>
            <a:spLocks xmlns:a="http://schemas.openxmlformats.org/drawingml/2006/main" noGrp="1"/>
          </p:cNvSpPr>
          <p:nvPr/>
        </p:nvSpPr>
        <p:spPr>
          <a:xfrm xmlns:a="http://schemas.openxmlformats.org/drawingml/2006/main">
            <a:off x="11258550" y="6238875"/>
            <a:ext cx="533400" cy="2286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r">
              <a:defRPr sz="900" b="0">
                <a:solidFill>
                  <a:srgbClr val="526071"/>
                </a:solidFill>
                <a:latin typeface="Arial"/>
                <a:ea typeface="Arial"/>
                <a:cs typeface="Arial"/>
              </a:defRPr>
            </a:pPr>
            <a:r>
              <a:t>4</a:t>
            </a:r>
          </a:p>
        </p:txBody>
      </p:sp>
    </p:spTree>
    <p:extLst>
      <p:ext uri="{BB962C8B-B14F-4D97-AF65-F5344CB8AC3E}">
        <p14:creationId xmlns:p14="http://schemas.microsoft.com/office/powerpoint/2010/main" val="382803048"/>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s5-title">
            <a:extLst xmlns:a="http://schemas.openxmlformats.org/drawingml/2006/main">
              <a:ext uri="{FF2B5EF4-FFF2-40B4-BE49-F238E27FC236}">
                <a16:creationId xmlns:a16="http://schemas.microsoft.com/office/drawing/2014/main" id="{FC90FF64-333B-404C-A899-3D3C9DF0F3A3}"/>
              </a:ext>
            </a:extLst>
          </p:cNvPr>
          <p:cNvSpPr>
            <a:spLocks xmlns:a="http://schemas.openxmlformats.org/drawingml/2006/main" noGrp="1"/>
          </p:cNvSpPr>
          <p:nvPr/>
        </p:nvSpPr>
        <p:spPr>
          <a:xfrm xmlns:a="http://schemas.openxmlformats.org/drawingml/2006/main">
            <a:off x="400050" y="323850"/>
            <a:ext cx="11391900" cy="7239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0A1224"/>
                </a:solidFill>
                <a:latin typeface="Arial"/>
                <a:ea typeface="Arial"/>
                <a:cs typeface="Arial"/>
              </a:defRPr>
            </a:pPr>
            <a:r>
              <a:t>The route is measured after the task, not trusted blindly.</a:t>
            </a:r>
          </a:p>
        </p:txBody>
      </p:sp>
      <p:sp>
        <p:nvSpPr>
          <p:cNvPr id="2" name="s5-subtitle">
            <a:extLst xmlns:a="http://schemas.openxmlformats.org/drawingml/2006/main">
              <a:ext uri="{FF2B5EF4-FFF2-40B4-BE49-F238E27FC236}">
                <a16:creationId xmlns:a16="http://schemas.microsoft.com/office/drawing/2014/main" id="{BD67343F-F2EE-4348-B228-0E582867DC6C}"/>
              </a:ext>
            </a:extLst>
          </p:cNvPr>
          <p:cNvSpPr>
            <a:spLocks xmlns:a="http://schemas.openxmlformats.org/drawingml/2006/main" noGrp="1"/>
          </p:cNvSpPr>
          <p:nvPr/>
        </p:nvSpPr>
        <p:spPr>
          <a:xfrm xmlns:a="http://schemas.openxmlformats.org/drawingml/2006/main">
            <a:off x="400050" y="1066800"/>
            <a:ext cx="9334500" cy="3810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526071"/>
                </a:solidFill>
                <a:latin typeface="Arial"/>
                <a:ea typeface="Arial"/>
                <a:cs typeface="Arial"/>
              </a:defRPr>
            </a:pPr>
            <a:r>
              <a:t>palace evaluate compares the selected context with the files that actually changed.</a:t>
            </a:r>
          </a:p>
        </p:txBody>
      </p:sp>
      <p:sp>
        <p:nvSpPr>
          <p:cNvPr id="3" name="s5-chart-label-pack">
            <a:extLst xmlns:a="http://schemas.openxmlformats.org/drawingml/2006/main">
              <a:ext uri="{FF2B5EF4-FFF2-40B4-BE49-F238E27FC236}">
                <a16:creationId xmlns:a16="http://schemas.microsoft.com/office/drawing/2014/main" id="{A8864722-3E51-47FC-BD30-6F461ACD4CE7}"/>
              </a:ext>
            </a:extLst>
          </p:cNvPr>
          <p:cNvSpPr>
            <a:spLocks xmlns:a="http://schemas.openxmlformats.org/drawingml/2006/main" noGrp="1"/>
          </p:cNvSpPr>
          <p:nvPr/>
        </p:nvSpPr>
        <p:spPr>
          <a:xfrm xmlns:a="http://schemas.openxmlformats.org/drawingml/2006/main">
            <a:off x="400050" y="2724150"/>
            <a:ext cx="1028700" cy="323850"/>
          </a:xfrm>
          <a:prstGeom xmlns:a="http://schemas.openxmlformats.org/drawingml/2006/main" prst="rect">
            <a:avLst/>
          </a:prstGeom>
        </p:spPr>
        <p:txBody>
          <a:bodyPr xmlns:a="http://schemas.openxmlformats.org/drawingml/2006/main" wrap="square" lIns="0" tIns="0" rIns="0" bIns="0" anchor="ctr">
            <a:noAutofit/>
          </a:bodyPr>
          <a:lstStyle xmlns:a="http://schemas.openxmlformats.org/drawingml/2006/main"/>
          <a:p xmlns:a="http://schemas.openxmlformats.org/drawingml/2006/main">
            <a:pPr algn="r">
              <a:defRPr sz="1200" b="0">
                <a:solidFill>
                  <a:srgbClr val="526071"/>
                </a:solidFill>
                <a:latin typeface="Arial"/>
                <a:ea typeface="Arial"/>
                <a:cs typeface="Arial"/>
              </a:defRPr>
            </a:pPr>
            <a:r>
              <a:t>Context pack</a:t>
            </a:r>
          </a:p>
        </p:txBody>
      </p:sp>
      <p:sp>
        <p:nvSpPr>
          <p:cNvPr id="4" name="s5-chart-label-repo">
            <a:extLst xmlns:a="http://schemas.openxmlformats.org/drawingml/2006/main">
              <a:ext uri="{FF2B5EF4-FFF2-40B4-BE49-F238E27FC236}">
                <a16:creationId xmlns:a16="http://schemas.microsoft.com/office/drawing/2014/main" id="{90F2706A-6467-475F-8CEC-56F86D7779EF}"/>
              </a:ext>
            </a:extLst>
          </p:cNvPr>
          <p:cNvSpPr>
            <a:spLocks xmlns:a="http://schemas.openxmlformats.org/drawingml/2006/main" noGrp="1"/>
          </p:cNvSpPr>
          <p:nvPr/>
        </p:nvSpPr>
        <p:spPr>
          <a:xfrm xmlns:a="http://schemas.openxmlformats.org/drawingml/2006/main">
            <a:off x="400050" y="4362450"/>
            <a:ext cx="1028700" cy="323850"/>
          </a:xfrm>
          <a:prstGeom xmlns:a="http://schemas.openxmlformats.org/drawingml/2006/main" prst="rect">
            <a:avLst/>
          </a:prstGeom>
        </p:spPr>
        <p:txBody>
          <a:bodyPr xmlns:a="http://schemas.openxmlformats.org/drawingml/2006/main" wrap="square" lIns="0" tIns="0" rIns="0" bIns="0" anchor="ctr">
            <a:noAutofit/>
          </a:bodyPr>
          <a:lstStyle xmlns:a="http://schemas.openxmlformats.org/drawingml/2006/main"/>
          <a:p xmlns:a="http://schemas.openxmlformats.org/drawingml/2006/main">
            <a:pPr algn="r">
              <a:defRPr sz="1200" b="0">
                <a:solidFill>
                  <a:srgbClr val="526071"/>
                </a:solidFill>
                <a:latin typeface="Arial"/>
                <a:ea typeface="Arial"/>
                <a:cs typeface="Arial"/>
              </a:defRPr>
            </a:pPr>
            <a:r>
              <a:t>Indexed repo</a:t>
            </a:r>
          </a:p>
        </p:txBody>
      </p:sp>
      <p:sp>
        <p:nvSpPr>
          <p:cNvPr id="5" name="s5-stat1">
            <a:extLst xmlns:a="http://schemas.openxmlformats.org/drawingml/2006/main">
              <a:ext uri="{FF2B5EF4-FFF2-40B4-BE49-F238E27FC236}">
                <a16:creationId xmlns:a16="http://schemas.microsoft.com/office/drawing/2014/main" id="{970E3FEB-9EA9-4778-870B-7C9A39CFC4E2}"/>
              </a:ext>
            </a:extLst>
          </p:cNvPr>
          <p:cNvSpPr>
            <a:spLocks xmlns:a="http://schemas.openxmlformats.org/drawingml/2006/main" noGrp="1"/>
          </p:cNvSpPr>
          <p:nvPr/>
        </p:nvSpPr>
        <p:spPr>
          <a:xfrm xmlns:a="http://schemas.openxmlformats.org/drawingml/2006/main">
            <a:off x="7867650" y="1943100"/>
            <a:ext cx="3333750" cy="8953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4950" b="1">
                <a:solidFill>
                  <a:srgbClr val="15A777"/>
                </a:solidFill>
                <a:latin typeface="Arial"/>
                <a:ea typeface="Arial"/>
                <a:cs typeface="Arial"/>
              </a:defRPr>
            </a:pPr>
            <a:r>
              <a:t>100%</a:t>
            </a:r>
          </a:p>
        </p:txBody>
      </p:sp>
      <p:sp>
        <p:nvSpPr>
          <p:cNvPr id="6" name="s5-stat1-label">
            <a:extLst xmlns:a="http://schemas.openxmlformats.org/drawingml/2006/main">
              <a:ext uri="{FF2B5EF4-FFF2-40B4-BE49-F238E27FC236}">
                <a16:creationId xmlns:a16="http://schemas.microsoft.com/office/drawing/2014/main" id="{59E322EE-D8EA-41FC-B105-272328AED5D6}"/>
              </a:ext>
            </a:extLst>
          </p:cNvPr>
          <p:cNvSpPr>
            <a:spLocks xmlns:a="http://schemas.openxmlformats.org/drawingml/2006/main" noGrp="1"/>
          </p:cNvSpPr>
          <p:nvPr/>
        </p:nvSpPr>
        <p:spPr>
          <a:xfrm xmlns:a="http://schemas.openxmlformats.org/drawingml/2006/main">
            <a:off x="7905750" y="2838450"/>
            <a:ext cx="3333750" cy="3048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1">
                <a:solidFill>
                  <a:srgbClr val="0A1224"/>
                </a:solidFill>
                <a:latin typeface="Arial"/>
                <a:ea typeface="Arial"/>
                <a:cs typeface="Arial"/>
              </a:defRPr>
            </a:pPr>
            <a:r>
              <a:t>changed-file coverage</a:t>
            </a:r>
          </a:p>
        </p:txBody>
      </p:sp>
      <p:cxnSp>
        <p:nvCxnSpPr>
          <p:cNvPr id="23" name="s5-r1"/>
          <p:cNvCxnSpPr/>
          <p:nvPr/>
        </p:nvCxnSpPr>
        <p:spPr>
          <a:xfrm xmlns:a="http://schemas.openxmlformats.org/drawingml/2006/main">
            <a:off x="7867650" y="3371850"/>
            <a:ext cx="3314700" cy="953"/>
          </a:xfrm>
          <a:prstGeom xmlns:a="http://schemas.openxmlformats.org/drawingml/2006/main" prst="straightConnector1">
            <a:avLst/>
          </a:prstGeom>
          <a:ln xmlns:a="http://schemas.openxmlformats.org/drawingml/2006/main" w="9525">
            <a:solidFill>
              <a:srgbClr val="B8BCC4"/>
            </a:solidFill>
            <a:prstDash val="solid"/>
          </a:ln>
        </p:spPr>
      </p:cxnSp>
      <p:sp>
        <p:nvSpPr>
          <p:cNvPr id="8" name="s5-stat2">
            <a:extLst xmlns:a="http://schemas.openxmlformats.org/drawingml/2006/main">
              <a:ext uri="{FF2B5EF4-FFF2-40B4-BE49-F238E27FC236}">
                <a16:creationId xmlns:a16="http://schemas.microsoft.com/office/drawing/2014/main" id="{806AA556-4981-4576-A392-2482C562CDEB}"/>
              </a:ext>
            </a:extLst>
          </p:cNvPr>
          <p:cNvSpPr>
            <a:spLocks xmlns:a="http://schemas.openxmlformats.org/drawingml/2006/main" noGrp="1"/>
          </p:cNvSpPr>
          <p:nvPr/>
        </p:nvSpPr>
        <p:spPr>
          <a:xfrm xmlns:a="http://schemas.openxmlformats.org/drawingml/2006/main">
            <a:off x="7867650" y="3638550"/>
            <a:ext cx="1524000" cy="6477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677FF"/>
                </a:solidFill>
                <a:latin typeface="Arial"/>
                <a:ea typeface="Arial"/>
                <a:cs typeface="Arial"/>
              </a:defRPr>
            </a:pPr>
            <a:r>
              <a:t>30%</a:t>
            </a:r>
          </a:p>
        </p:txBody>
      </p:sp>
      <p:sp>
        <p:nvSpPr>
          <p:cNvPr id="9" name="s5-stat2-label">
            <a:extLst xmlns:a="http://schemas.openxmlformats.org/drawingml/2006/main">
              <a:ext uri="{FF2B5EF4-FFF2-40B4-BE49-F238E27FC236}">
                <a16:creationId xmlns:a16="http://schemas.microsoft.com/office/drawing/2014/main" id="{C00C417F-814A-4314-9788-B0EAEC6D46FC}"/>
              </a:ext>
            </a:extLst>
          </p:cNvPr>
          <p:cNvSpPr>
            <a:spLocks xmlns:a="http://schemas.openxmlformats.org/drawingml/2006/main" noGrp="1"/>
          </p:cNvSpPr>
          <p:nvPr/>
        </p:nvSpPr>
        <p:spPr>
          <a:xfrm xmlns:a="http://schemas.openxmlformats.org/drawingml/2006/main">
            <a:off x="7867650" y="4295775"/>
            <a:ext cx="1619250" cy="2476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526071"/>
                </a:solidFill>
                <a:latin typeface="Arial"/>
                <a:ea typeface="Arial"/>
                <a:cs typeface="Arial"/>
              </a:defRPr>
            </a:pPr>
            <a:r>
              <a:t>route focus</a:t>
            </a:r>
          </a:p>
        </p:txBody>
      </p:sp>
      <p:sp>
        <p:nvSpPr>
          <p:cNvPr id="10" name="s5-stat3">
            <a:extLst xmlns:a="http://schemas.openxmlformats.org/drawingml/2006/main">
              <a:ext uri="{FF2B5EF4-FFF2-40B4-BE49-F238E27FC236}">
                <a16:creationId xmlns:a16="http://schemas.microsoft.com/office/drawing/2014/main" id="{F8999C0B-A282-453A-85C0-3E8C9BB8A318}"/>
              </a:ext>
            </a:extLst>
          </p:cNvPr>
          <p:cNvSpPr>
            <a:spLocks xmlns:a="http://schemas.openxmlformats.org/drawingml/2006/main" noGrp="1"/>
          </p:cNvSpPr>
          <p:nvPr/>
        </p:nvSpPr>
        <p:spPr>
          <a:xfrm xmlns:a="http://schemas.openxmlformats.org/drawingml/2006/main">
            <a:off x="9620250" y="3638550"/>
            <a:ext cx="1524000" cy="6477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7438F5"/>
                </a:solidFill>
                <a:latin typeface="Arial"/>
                <a:ea typeface="Arial"/>
                <a:cs typeface="Arial"/>
              </a:defRPr>
            </a:pPr>
            <a:r>
              <a:t>0.81</a:t>
            </a:r>
          </a:p>
        </p:txBody>
      </p:sp>
      <p:sp>
        <p:nvSpPr>
          <p:cNvPr id="11" name="s5-stat3-label">
            <a:extLst xmlns:a="http://schemas.openxmlformats.org/drawingml/2006/main">
              <a:ext uri="{FF2B5EF4-FFF2-40B4-BE49-F238E27FC236}">
                <a16:creationId xmlns:a16="http://schemas.microsoft.com/office/drawing/2014/main" id="{295EF636-869E-45E8-BDDE-3967E09F7B24}"/>
              </a:ext>
            </a:extLst>
          </p:cNvPr>
          <p:cNvSpPr>
            <a:spLocks xmlns:a="http://schemas.openxmlformats.org/drawingml/2006/main" noGrp="1"/>
          </p:cNvSpPr>
          <p:nvPr/>
        </p:nvSpPr>
        <p:spPr>
          <a:xfrm xmlns:a="http://schemas.openxmlformats.org/drawingml/2006/main">
            <a:off x="9620250" y="4295775"/>
            <a:ext cx="1619250" cy="2476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526071"/>
                </a:solidFill>
                <a:latin typeface="Arial"/>
                <a:ea typeface="Arial"/>
                <a:cs typeface="Arial"/>
              </a:defRPr>
            </a:pPr>
            <a:r>
              <a:t>confidence</a:t>
            </a:r>
          </a:p>
        </p:txBody>
      </p:sp>
      <p:sp>
        <p:nvSpPr>
          <p:cNvPr id="12" name="s5-explain">
            <a:extLst xmlns:a="http://schemas.openxmlformats.org/drawingml/2006/main">
              <a:ext uri="{FF2B5EF4-FFF2-40B4-BE49-F238E27FC236}">
                <a16:creationId xmlns:a16="http://schemas.microsoft.com/office/drawing/2014/main" id="{561991B1-4460-4C7D-A761-E1F93D48F4FC}"/>
              </a:ext>
            </a:extLst>
          </p:cNvPr>
          <p:cNvSpPr>
            <a:spLocks xmlns:a="http://schemas.openxmlformats.org/drawingml/2006/main" noGrp="1"/>
          </p:cNvSpPr>
          <p:nvPr/>
        </p:nvSpPr>
        <p:spPr>
          <a:xfrm xmlns:a="http://schemas.openxmlformats.org/drawingml/2006/main">
            <a:off x="7867650" y="4838700"/>
            <a:ext cx="3333750" cy="6858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526071"/>
                </a:solidFill>
                <a:latin typeface="Arial"/>
                <a:ea typeface="Arial"/>
                <a:cs typeface="Arial"/>
              </a:defRPr>
            </a:pPr>
            <a:r>
              <a:t>Observed coverage was stronger than predicted, so the route was labeled underconfident.</a:t>
            </a:r>
          </a:p>
        </p:txBody>
      </p:sp>
      <p:cxnSp>
        <p:nvCxnSpPr>
          <p:cNvPr id="29" name="footer-rule-5"/>
          <p:cNvCxnSpPr/>
          <p:nvPr/>
        </p:nvCxnSpPr>
        <p:spPr>
          <a:xfrm xmlns:a="http://schemas.openxmlformats.org/drawingml/2006/main">
            <a:off x="400050" y="6162675"/>
            <a:ext cx="11391900" cy="953"/>
          </a:xfrm>
          <a:prstGeom xmlns:a="http://schemas.openxmlformats.org/drawingml/2006/main" prst="straightConnector1">
            <a:avLst/>
          </a:prstGeom>
          <a:ln xmlns:a="http://schemas.openxmlformats.org/drawingml/2006/main" w="9525">
            <a:solidFill>
              <a:srgbClr val="B8BCC4"/>
            </a:solidFill>
            <a:prstDash val="solid"/>
          </a:ln>
        </p:spPr>
      </p:cxnSp>
      <p:sp>
        <p:nvSpPr>
          <p:cNvPr id="14" name="footer-source-5">
            <a:extLst xmlns:a="http://schemas.openxmlformats.org/drawingml/2006/main">
              <a:ext uri="{FF2B5EF4-FFF2-40B4-BE49-F238E27FC236}">
                <a16:creationId xmlns:a16="http://schemas.microsoft.com/office/drawing/2014/main" id="{A81A8E01-8924-433A-AC37-CC90878FC689}"/>
              </a:ext>
            </a:extLst>
          </p:cNvPr>
          <p:cNvSpPr>
            <a:spLocks xmlns:a="http://schemas.openxmlformats.org/drawingml/2006/main" noGrp="1"/>
          </p:cNvSpPr>
          <p:nvPr/>
        </p:nvSpPr>
        <p:spPr>
          <a:xfrm xmlns:a="http://schemas.openxmlformats.org/drawingml/2006/main">
            <a:off x="400050" y="6238875"/>
            <a:ext cx="10001250" cy="2286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863" b="0">
                <a:solidFill>
                  <a:srgbClr val="526071"/>
                </a:solidFill>
                <a:latin typeface="Arial"/>
                <a:ea typeface="Arial"/>
                <a:cs typeface="Arial"/>
              </a:defRPr>
            </a:pPr>
            <a:r>
              <a:t>Current self-evaluation · 87,622 indexed estimated tokens · Context-pack reduction is not total Codex session-token savings</a:t>
            </a:r>
          </a:p>
        </p:txBody>
      </p:sp>
      <p:sp>
        <p:nvSpPr>
          <p:cNvPr id="15" name="footer-number-5">
            <a:extLst xmlns:a="http://schemas.openxmlformats.org/drawingml/2006/main">
              <a:ext uri="{FF2B5EF4-FFF2-40B4-BE49-F238E27FC236}">
                <a16:creationId xmlns:a16="http://schemas.microsoft.com/office/drawing/2014/main" id="{490BC097-E67D-471D-AD8B-4CFFD8E05D92}"/>
              </a:ext>
            </a:extLst>
          </p:cNvPr>
          <p:cNvSpPr>
            <a:spLocks xmlns:a="http://schemas.openxmlformats.org/drawingml/2006/main" noGrp="1"/>
          </p:cNvSpPr>
          <p:nvPr/>
        </p:nvSpPr>
        <p:spPr>
          <a:xfrm xmlns:a="http://schemas.openxmlformats.org/drawingml/2006/main">
            <a:off x="11258550" y="6238875"/>
            <a:ext cx="533400" cy="2286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r">
              <a:defRPr sz="900" b="0">
                <a:solidFill>
                  <a:srgbClr val="526071"/>
                </a:solidFill>
                <a:latin typeface="Arial"/>
                <a:ea typeface="Arial"/>
                <a:cs typeface="Arial"/>
              </a:defRPr>
            </a:pPr>
            <a:r>
              <a:t>5</a:t>
            </a:r>
          </a:p>
        </p:txBody>
      </p:sp>
      <p:graphicFrame>
        <p:nvGraphicFramePr>
          <p:cNvPr id="32" name="Chart"/>
          <p:cNvGraphicFramePr/>
          <p:nvPr/>
        </p:nvGraphicFramePr>
        <p:xfrm>
          <a:off xmlns:a="http://schemas.openxmlformats.org/drawingml/2006/main" x="1714500" y="1771650"/>
          <a:ext xmlns:a="http://schemas.openxmlformats.org/drawingml/2006/main" cx="5410200" cy="3924300"/>
        </p:xfrm>
        <a:graphic xmlns:a="http://schemas.openxmlformats.org/drawingml/2006/main">
          <a:graphicData uri="http://schemas.openxmlformats.org/drawingml/2006/chart">
            <c:chart xmlns:r="http://schemas.openxmlformats.org/officeDocument/2006/relationships" xmlns:c="http://schemas.openxmlformats.org/drawingml/2006/chart" r:id="R7e18edf85e6c44ed"/>
          </a:graphicData>
        </a:graphic>
      </p:graphicFrame>
    </p:spTree>
    <p:extLst>
      <p:ext uri="{BB962C8B-B14F-4D97-AF65-F5344CB8AC3E}">
        <p14:creationId xmlns:p14="http://schemas.microsoft.com/office/powerpoint/2010/main" val="1234599859"/>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0" name="s6-title-new">
            <a:extLst xmlns:a="http://schemas.openxmlformats.org/drawingml/2006/main">
              <a:ext uri="{FF2B5EF4-FFF2-40B4-BE49-F238E27FC236}">
                <a16:creationId xmlns:a16="http://schemas.microsoft.com/office/drawing/2014/main" id="{2E4A6261-3D4E-47C6-ADDB-A78534CFFB59}"/>
              </a:ext>
            </a:extLst>
          </p:cNvPr>
          <p:cNvSpPr>
            <a:spLocks xmlns:a="http://schemas.openxmlformats.org/drawingml/2006/main" noGrp="1"/>
          </p:cNvSpPr>
          <p:nvPr/>
        </p:nvSpPr>
        <p:spPr>
          <a:xfrm xmlns:a="http://schemas.openxmlformats.org/drawingml/2006/main">
            <a:off x="400050" y="323850"/>
            <a:ext cx="11391900" cy="7239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0A1224"/>
                </a:solidFill>
                <a:latin typeface="Arial"/>
                <a:ea typeface="Arial"/>
                <a:cs typeface="Arial"/>
              </a:defRPr>
            </a:pPr>
            <a:r>
              <a:t>One task, four repository-context strategies.</a:t>
            </a:r>
          </a:p>
        </p:txBody>
      </p:sp>
      <p:sp>
        <p:nvSpPr>
          <p:cNvPr id="2" name="s6-subtitle-new">
            <a:extLst xmlns:a="http://schemas.openxmlformats.org/drawingml/2006/main">
              <a:ext uri="{FF2B5EF4-FFF2-40B4-BE49-F238E27FC236}">
                <a16:creationId xmlns:a16="http://schemas.microsoft.com/office/drawing/2014/main" id="{AC6A6EA7-68D9-4461-A6DC-A4BB08E60C6B}"/>
              </a:ext>
            </a:extLst>
          </p:cNvPr>
          <p:cNvSpPr>
            <a:spLocks xmlns:a="http://schemas.openxmlformats.org/drawingml/2006/main" noGrp="1"/>
          </p:cNvSpPr>
          <p:nvPr/>
        </p:nvSpPr>
        <p:spPr>
          <a:xfrm xmlns:a="http://schemas.openxmlformats.org/drawingml/2006/main">
            <a:off x="400050" y="1066800"/>
            <a:ext cx="11049000" cy="3810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526071"/>
                </a:solidFill>
                <a:latin typeface="Arial"/>
                <a:ea typeface="Arial"/>
                <a:cs typeface="Arial"/>
              </a:defRPr>
            </a:pPr>
            <a:r>
              <a:t>Same Codex, model, task, fixture, prompt, tests, and hidden oracle; only Palace context changed.</a:t>
            </a:r>
          </a:p>
        </p:txBody>
      </p:sp>
      <p:sp>
        <p:nvSpPr>
          <p:cNvPr id="3" name="s6-task-new">
            <a:extLst xmlns:a="http://schemas.openxmlformats.org/drawingml/2006/main">
              <a:ext uri="{FF2B5EF4-FFF2-40B4-BE49-F238E27FC236}">
                <a16:creationId xmlns:a16="http://schemas.microsoft.com/office/drawing/2014/main" id="{4DB216DC-78A9-48FA-A165-F17FB2E9C46A}"/>
              </a:ext>
            </a:extLst>
          </p:cNvPr>
          <p:cNvSpPr>
            <a:spLocks xmlns:a="http://schemas.openxmlformats.org/drawingml/2006/main" noGrp="1"/>
          </p:cNvSpPr>
          <p:nvPr/>
        </p:nvSpPr>
        <p:spPr>
          <a:xfrm xmlns:a="http://schemas.openxmlformats.org/drawingml/2006/main">
            <a:off x="4762500" y="1562100"/>
            <a:ext cx="2667000" cy="838200"/>
          </a:xfrm>
          <a:prstGeom xmlns:a="http://schemas.openxmlformats.org/drawingml/2006/main" prst="roundRect">
            <a:avLst>
              <a:gd name="adj" fmla="val 9091"/>
            </a:avLst>
          </a:prstGeom>
          <a:solidFill xmlns:a="http://schemas.openxmlformats.org/drawingml/2006/main">
            <a:srgbClr val="061B3D"/>
          </a:solidFill>
          <a:ln xmlns:a="http://schemas.openxmlformats.org/drawingml/2006/main" w="0">
            <a:solidFill>
              <a:srgbClr val="061B3D"/>
            </a:solidFill>
            <a:prstDash val="solid"/>
          </a:ln>
        </p:spPr>
      </p:sp>
      <p:sp>
        <p:nvSpPr>
          <p:cNvPr id="4" name="s6-task-k-new">
            <a:extLst xmlns:a="http://schemas.openxmlformats.org/drawingml/2006/main">
              <a:ext uri="{FF2B5EF4-FFF2-40B4-BE49-F238E27FC236}">
                <a16:creationId xmlns:a16="http://schemas.microsoft.com/office/drawing/2014/main" id="{F33B085B-FB47-4737-820B-27A8D2488536}"/>
              </a:ext>
            </a:extLst>
          </p:cNvPr>
          <p:cNvSpPr>
            <a:spLocks xmlns:a="http://schemas.openxmlformats.org/drawingml/2006/main" noGrp="1"/>
          </p:cNvSpPr>
          <p:nvPr/>
        </p:nvSpPr>
        <p:spPr>
          <a:xfrm xmlns:a="http://schemas.openxmlformats.org/drawingml/2006/main">
            <a:off x="4953000" y="1724025"/>
            <a:ext cx="2286000" cy="2095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ctr">
              <a:defRPr sz="1050" b="1">
                <a:solidFill>
                  <a:srgbClr val="13B7D5"/>
                </a:solidFill>
                <a:latin typeface="Arial"/>
                <a:ea typeface="Arial"/>
                <a:cs typeface="Arial"/>
              </a:defRPr>
            </a:pPr>
            <a:r>
              <a:t>SAME CODEX + TASK</a:t>
            </a:r>
          </a:p>
        </p:txBody>
      </p:sp>
      <p:sp>
        <p:nvSpPr>
          <p:cNvPr id="5" name="s6-task-v-new">
            <a:extLst xmlns:a="http://schemas.openxmlformats.org/drawingml/2006/main">
              <a:ext uri="{FF2B5EF4-FFF2-40B4-BE49-F238E27FC236}">
                <a16:creationId xmlns:a16="http://schemas.microsoft.com/office/drawing/2014/main" id="{A977FFCF-027F-4CF4-8794-57363BBF9DDA}"/>
              </a:ext>
            </a:extLst>
          </p:cNvPr>
          <p:cNvSpPr>
            <a:spLocks xmlns:a="http://schemas.openxmlformats.org/drawingml/2006/main" noGrp="1"/>
          </p:cNvSpPr>
          <p:nvPr/>
        </p:nvSpPr>
        <p:spPr>
          <a:xfrm xmlns:a="http://schemas.openxmlformats.org/drawingml/2006/main">
            <a:off x="4953000" y="2009775"/>
            <a:ext cx="2286000" cy="2667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ctr">
              <a:defRPr sz="1650" b="1">
                <a:solidFill>
                  <a:srgbClr val="FFFFFF"/>
                </a:solidFill>
                <a:latin typeface="Arial"/>
                <a:ea typeface="Arial"/>
                <a:cs typeface="Arial"/>
              </a:defRPr>
            </a:pPr>
            <a:r>
              <a:t>Fix the target issue</a:t>
            </a:r>
          </a:p>
        </p:txBody>
      </p:sp>
      <p:cxnSp>
        <p:nvCxnSpPr>
          <p:cNvPr id="45" name="s6-stem-new"/>
          <p:cNvCxnSpPr/>
          <p:nvPr/>
        </p:nvCxnSpPr>
        <p:spPr>
          <a:xfrm xmlns:a="http://schemas.openxmlformats.org/drawingml/2006/main">
            <a:off x="6096000" y="2400300"/>
            <a:ext cx="953" cy="457200"/>
          </a:xfrm>
          <a:prstGeom xmlns:a="http://schemas.openxmlformats.org/drawingml/2006/main" prst="straightConnector1">
            <a:avLst/>
          </a:prstGeom>
          <a:ln xmlns:a="http://schemas.openxmlformats.org/drawingml/2006/main" w="19050">
            <a:solidFill>
              <a:srgbClr val="B8BCC4"/>
            </a:solidFill>
            <a:prstDash val="solid"/>
          </a:ln>
        </p:spPr>
      </p:cxnSp>
      <p:cxnSp>
        <p:nvCxnSpPr>
          <p:cNvPr id="46" name="s6-branch-new"/>
          <p:cNvCxnSpPr/>
          <p:nvPr/>
        </p:nvCxnSpPr>
        <p:spPr>
          <a:xfrm xmlns:a="http://schemas.openxmlformats.org/drawingml/2006/main">
            <a:off x="1809750" y="2857500"/>
            <a:ext cx="8572500" cy="953"/>
          </a:xfrm>
          <a:prstGeom xmlns:a="http://schemas.openxmlformats.org/drawingml/2006/main" prst="straightConnector1">
            <a:avLst/>
          </a:prstGeom>
          <a:ln xmlns:a="http://schemas.openxmlformats.org/drawingml/2006/main" w="19050">
            <a:solidFill>
              <a:srgbClr val="B8BCC4"/>
            </a:solidFill>
            <a:prstDash val="solid"/>
          </a:ln>
        </p:spPr>
      </p:cxnSp>
      <p:cxnSp>
        <p:nvCxnSpPr>
          <p:cNvPr id="47" name="s6-control-link-new"/>
          <p:cNvCxnSpPr/>
          <p:nvPr/>
        </p:nvCxnSpPr>
        <p:spPr>
          <a:xfrm xmlns:a="http://schemas.openxmlformats.org/drawingml/2006/main">
            <a:off x="1809750" y="2857500"/>
            <a:ext cx="953" cy="361950"/>
          </a:xfrm>
          <a:prstGeom xmlns:a="http://schemas.openxmlformats.org/drawingml/2006/main" prst="straightConnector1">
            <a:avLst/>
          </a:prstGeom>
          <a:ln xmlns:a="http://schemas.openxmlformats.org/drawingml/2006/main" w="19050">
            <a:solidFill>
              <a:srgbClr val="B8BCC4"/>
            </a:solidFill>
            <a:prstDash val="solid"/>
          </a:ln>
        </p:spPr>
      </p:cxnSp>
      <p:cxnSp>
        <p:nvCxnSpPr>
          <p:cNvPr id="48" name="s6-route-link-new"/>
          <p:cNvCxnSpPr/>
          <p:nvPr/>
        </p:nvCxnSpPr>
        <p:spPr>
          <a:xfrm xmlns:a="http://schemas.openxmlformats.org/drawingml/2006/main">
            <a:off x="4667250" y="2857500"/>
            <a:ext cx="953" cy="361950"/>
          </a:xfrm>
          <a:prstGeom xmlns:a="http://schemas.openxmlformats.org/drawingml/2006/main" prst="straightConnector1">
            <a:avLst/>
          </a:prstGeom>
          <a:ln xmlns:a="http://schemas.openxmlformats.org/drawingml/2006/main" w="19050">
            <a:solidFill>
              <a:srgbClr val="B8BCC4"/>
            </a:solidFill>
            <a:prstDash val="solid"/>
          </a:ln>
        </p:spPr>
      </p:cxnSp>
      <p:cxnSp>
        <p:nvCxnSpPr>
          <p:cNvPr id="49" name="s6-full-link-new"/>
          <p:cNvCxnSpPr/>
          <p:nvPr/>
        </p:nvCxnSpPr>
        <p:spPr>
          <a:xfrm xmlns:a="http://schemas.openxmlformats.org/drawingml/2006/main">
            <a:off x="7524750" y="2857500"/>
            <a:ext cx="953" cy="361950"/>
          </a:xfrm>
          <a:prstGeom xmlns:a="http://schemas.openxmlformats.org/drawingml/2006/main" prst="straightConnector1">
            <a:avLst/>
          </a:prstGeom>
          <a:ln xmlns:a="http://schemas.openxmlformats.org/drawingml/2006/main" w="19050">
            <a:solidFill>
              <a:srgbClr val="B8BCC4"/>
            </a:solidFill>
            <a:prstDash val="solid"/>
          </a:ln>
        </p:spPr>
      </p:cxnSp>
      <p:cxnSp>
        <p:nvCxnSpPr>
          <p:cNvPr id="50" name="s6-adaptive-link-new"/>
          <p:cNvCxnSpPr/>
          <p:nvPr/>
        </p:nvCxnSpPr>
        <p:spPr>
          <a:xfrm xmlns:a="http://schemas.openxmlformats.org/drawingml/2006/main">
            <a:off x="10382250" y="2857500"/>
            <a:ext cx="953" cy="361950"/>
          </a:xfrm>
          <a:prstGeom xmlns:a="http://schemas.openxmlformats.org/drawingml/2006/main" prst="straightConnector1">
            <a:avLst/>
          </a:prstGeom>
          <a:ln xmlns:a="http://schemas.openxmlformats.org/drawingml/2006/main" w="19050">
            <a:solidFill>
              <a:srgbClr val="B8BCC4"/>
            </a:solidFill>
            <a:prstDash val="solid"/>
          </a:ln>
        </p:spPr>
      </p:cxnSp>
      <p:sp>
        <p:nvSpPr>
          <p:cNvPr id="12" name="s6-control-new">
            <a:extLst xmlns:a="http://schemas.openxmlformats.org/drawingml/2006/main">
              <a:ext uri="{FF2B5EF4-FFF2-40B4-BE49-F238E27FC236}">
                <a16:creationId xmlns:a16="http://schemas.microsoft.com/office/drawing/2014/main" id="{A517B6A7-3621-401C-A9B9-8097119DE603}"/>
              </a:ext>
            </a:extLst>
          </p:cNvPr>
          <p:cNvSpPr>
            <a:spLocks xmlns:a="http://schemas.openxmlformats.org/drawingml/2006/main" noGrp="1"/>
          </p:cNvSpPr>
          <p:nvPr/>
        </p:nvSpPr>
        <p:spPr>
          <a:xfrm xmlns:a="http://schemas.openxmlformats.org/drawingml/2006/main">
            <a:off x="571500" y="3219450"/>
            <a:ext cx="2476500" cy="1581150"/>
          </a:xfrm>
          <a:prstGeom xmlns:a="http://schemas.openxmlformats.org/drawingml/2006/main" prst="roundRect">
            <a:avLst>
              <a:gd name="adj" fmla="val 4819"/>
            </a:avLst>
          </a:prstGeom>
          <a:solidFill xmlns:a="http://schemas.openxmlformats.org/drawingml/2006/main">
            <a:srgbClr val="EDEFF3"/>
          </a:solidFill>
          <a:ln xmlns:a="http://schemas.openxmlformats.org/drawingml/2006/main" w="0">
            <a:solidFill>
              <a:srgbClr val="EDEFF3"/>
            </a:solidFill>
            <a:prstDash val="solid"/>
          </a:ln>
        </p:spPr>
      </p:sp>
      <p:sp>
        <p:nvSpPr>
          <p:cNvPr id="13" name="s6-route-new">
            <a:extLst xmlns:a="http://schemas.openxmlformats.org/drawingml/2006/main">
              <a:ext uri="{FF2B5EF4-FFF2-40B4-BE49-F238E27FC236}">
                <a16:creationId xmlns:a16="http://schemas.microsoft.com/office/drawing/2014/main" id="{752E5BCA-FAE6-4D19-973B-20CCFB2D0D85}"/>
              </a:ext>
            </a:extLst>
          </p:cNvPr>
          <p:cNvSpPr>
            <a:spLocks xmlns:a="http://schemas.openxmlformats.org/drawingml/2006/main" noGrp="1"/>
          </p:cNvSpPr>
          <p:nvPr/>
        </p:nvSpPr>
        <p:spPr>
          <a:xfrm xmlns:a="http://schemas.openxmlformats.org/drawingml/2006/main">
            <a:off x="3429000" y="3219450"/>
            <a:ext cx="2476500" cy="1581150"/>
          </a:xfrm>
          <a:prstGeom xmlns:a="http://schemas.openxmlformats.org/drawingml/2006/main" prst="roundRect">
            <a:avLst>
              <a:gd name="adj" fmla="val 4819"/>
            </a:avLst>
          </a:prstGeom>
          <a:solidFill xmlns:a="http://schemas.openxmlformats.org/drawingml/2006/main">
            <a:srgbClr val="E8F7FB"/>
          </a:solidFill>
          <a:ln xmlns:a="http://schemas.openxmlformats.org/drawingml/2006/main" w="0">
            <a:solidFill>
              <a:srgbClr val="E8F7FB"/>
            </a:solidFill>
            <a:prstDash val="solid"/>
          </a:ln>
        </p:spPr>
      </p:sp>
      <p:sp>
        <p:nvSpPr>
          <p:cNvPr id="14" name="s6-full-new">
            <a:extLst xmlns:a="http://schemas.openxmlformats.org/drawingml/2006/main">
              <a:ext uri="{FF2B5EF4-FFF2-40B4-BE49-F238E27FC236}">
                <a16:creationId xmlns:a16="http://schemas.microsoft.com/office/drawing/2014/main" id="{104BEF20-D88A-4429-AD08-989C9B01990A}"/>
              </a:ext>
            </a:extLst>
          </p:cNvPr>
          <p:cNvSpPr>
            <a:spLocks xmlns:a="http://schemas.openxmlformats.org/drawingml/2006/main" noGrp="1"/>
          </p:cNvSpPr>
          <p:nvPr/>
        </p:nvSpPr>
        <p:spPr>
          <a:xfrm xmlns:a="http://schemas.openxmlformats.org/drawingml/2006/main">
            <a:off x="6286500" y="3219450"/>
            <a:ext cx="2476500" cy="1581150"/>
          </a:xfrm>
          <a:prstGeom xmlns:a="http://schemas.openxmlformats.org/drawingml/2006/main" prst="roundRect">
            <a:avLst>
              <a:gd name="adj" fmla="val 4819"/>
            </a:avLst>
          </a:prstGeom>
          <a:solidFill xmlns:a="http://schemas.openxmlformats.org/drawingml/2006/main">
            <a:srgbClr val="EAF1FF"/>
          </a:solidFill>
          <a:ln xmlns:a="http://schemas.openxmlformats.org/drawingml/2006/main" w="0">
            <a:solidFill>
              <a:srgbClr val="EAF1FF"/>
            </a:solidFill>
            <a:prstDash val="solid"/>
          </a:ln>
        </p:spPr>
      </p:sp>
      <p:sp>
        <p:nvSpPr>
          <p:cNvPr id="15" name="s6-adaptive-new">
            <a:extLst xmlns:a="http://schemas.openxmlformats.org/drawingml/2006/main">
              <a:ext uri="{FF2B5EF4-FFF2-40B4-BE49-F238E27FC236}">
                <a16:creationId xmlns:a16="http://schemas.microsoft.com/office/drawing/2014/main" id="{0D18A00F-8FC6-4E2C-AD7C-D60FAFFF9D2D}"/>
              </a:ext>
            </a:extLst>
          </p:cNvPr>
          <p:cNvSpPr>
            <a:spLocks xmlns:a="http://schemas.openxmlformats.org/drawingml/2006/main" noGrp="1"/>
          </p:cNvSpPr>
          <p:nvPr/>
        </p:nvSpPr>
        <p:spPr>
          <a:xfrm xmlns:a="http://schemas.openxmlformats.org/drawingml/2006/main">
            <a:off x="9144000" y="3219450"/>
            <a:ext cx="2476500" cy="1581150"/>
          </a:xfrm>
          <a:prstGeom xmlns:a="http://schemas.openxmlformats.org/drawingml/2006/main" prst="roundRect">
            <a:avLst>
              <a:gd name="adj" fmla="val 4819"/>
            </a:avLst>
          </a:prstGeom>
          <a:solidFill xmlns:a="http://schemas.openxmlformats.org/drawingml/2006/main">
            <a:srgbClr val="F1EBFF"/>
          </a:solidFill>
          <a:ln xmlns:a="http://schemas.openxmlformats.org/drawingml/2006/main" w="0">
            <a:solidFill>
              <a:srgbClr val="F1EBFF"/>
            </a:solidFill>
            <a:prstDash val="solid"/>
          </a:ln>
        </p:spPr>
      </p:sp>
      <p:sp>
        <p:nvSpPr>
          <p:cNvPr id="16" name="s6-control-k-new">
            <a:extLst xmlns:a="http://schemas.openxmlformats.org/drawingml/2006/main">
              <a:ext uri="{FF2B5EF4-FFF2-40B4-BE49-F238E27FC236}">
                <a16:creationId xmlns:a16="http://schemas.microsoft.com/office/drawing/2014/main" id="{5652324D-CEA2-41FB-93B1-D8F67E439B9F}"/>
              </a:ext>
            </a:extLst>
          </p:cNvPr>
          <p:cNvSpPr>
            <a:spLocks xmlns:a="http://schemas.openxmlformats.org/drawingml/2006/main" noGrp="1"/>
          </p:cNvSpPr>
          <p:nvPr/>
        </p:nvSpPr>
        <p:spPr>
          <a:xfrm xmlns:a="http://schemas.openxmlformats.org/drawingml/2006/main">
            <a:off x="800100" y="3429000"/>
            <a:ext cx="2019300" cy="2095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1">
                <a:solidFill>
                  <a:srgbClr val="526071"/>
                </a:solidFill>
                <a:latin typeface="Arial"/>
                <a:ea typeface="Arial"/>
                <a:cs typeface="Arial"/>
              </a:defRPr>
            </a:pPr>
            <a:r>
              <a:t>CODEX ALONE</a:t>
            </a:r>
          </a:p>
        </p:txBody>
      </p:sp>
      <p:sp>
        <p:nvSpPr>
          <p:cNvPr id="17" name="s6-control-v-new">
            <a:extLst xmlns:a="http://schemas.openxmlformats.org/drawingml/2006/main">
              <a:ext uri="{FF2B5EF4-FFF2-40B4-BE49-F238E27FC236}">
                <a16:creationId xmlns:a16="http://schemas.microsoft.com/office/drawing/2014/main" id="{A6BB4466-6958-4E8C-B859-EFD83D3A9053}"/>
              </a:ext>
            </a:extLst>
          </p:cNvPr>
          <p:cNvSpPr>
            <a:spLocks xmlns:a="http://schemas.openxmlformats.org/drawingml/2006/main" noGrp="1"/>
          </p:cNvSpPr>
          <p:nvPr/>
        </p:nvSpPr>
        <p:spPr>
          <a:xfrm xmlns:a="http://schemas.openxmlformats.org/drawingml/2006/main">
            <a:off x="800100" y="3752850"/>
            <a:ext cx="2019300" cy="3048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0A1224"/>
                </a:solidFill>
                <a:latin typeface="Arial"/>
                <a:ea typeface="Arial"/>
                <a:cs typeface="Arial"/>
              </a:defRPr>
            </a:pPr>
            <a:r>
              <a:t>No Palace</a:t>
            </a:r>
          </a:p>
        </p:txBody>
      </p:sp>
      <p:sp>
        <p:nvSpPr>
          <p:cNvPr id="18" name="s6-control-d-new">
            <a:extLst xmlns:a="http://schemas.openxmlformats.org/drawingml/2006/main">
              <a:ext uri="{FF2B5EF4-FFF2-40B4-BE49-F238E27FC236}">
                <a16:creationId xmlns:a16="http://schemas.microsoft.com/office/drawing/2014/main" id="{3426D113-22AE-417C-9E3F-CC5421FF5BC3}"/>
              </a:ext>
            </a:extLst>
          </p:cNvPr>
          <p:cNvSpPr>
            <a:spLocks xmlns:a="http://schemas.openxmlformats.org/drawingml/2006/main" noGrp="1"/>
          </p:cNvSpPr>
          <p:nvPr/>
        </p:nvSpPr>
        <p:spPr>
          <a:xfrm xmlns:a="http://schemas.openxmlformats.org/drawingml/2006/main">
            <a:off x="800100" y="4229100"/>
            <a:ext cx="2019300" cy="4000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0">
                <a:solidFill>
                  <a:srgbClr val="526071"/>
                </a:solidFill>
                <a:latin typeface="Arial"/>
                <a:ea typeface="Arial"/>
                <a:cs typeface="Arial"/>
              </a:defRPr>
            </a:pPr>
            <a:r>
              <a:t>Codex searches the repo directly</a:t>
            </a:r>
          </a:p>
        </p:txBody>
      </p:sp>
      <p:sp>
        <p:nvSpPr>
          <p:cNvPr id="19" name="s6-route-k-new">
            <a:extLst xmlns:a="http://schemas.openxmlformats.org/drawingml/2006/main">
              <a:ext uri="{FF2B5EF4-FFF2-40B4-BE49-F238E27FC236}">
                <a16:creationId xmlns:a16="http://schemas.microsoft.com/office/drawing/2014/main" id="{40E39F9D-6035-4904-837B-510AAB2364EC}"/>
              </a:ext>
            </a:extLst>
          </p:cNvPr>
          <p:cNvSpPr>
            <a:spLocks xmlns:a="http://schemas.openxmlformats.org/drawingml/2006/main" noGrp="1"/>
          </p:cNvSpPr>
          <p:nvPr/>
        </p:nvSpPr>
        <p:spPr>
          <a:xfrm xmlns:a="http://schemas.openxmlformats.org/drawingml/2006/main">
            <a:off x="3657600" y="3429000"/>
            <a:ext cx="2019300" cy="2095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1">
                <a:solidFill>
                  <a:srgbClr val="13B7D5"/>
                </a:solidFill>
                <a:latin typeface="Arial"/>
                <a:ea typeface="Arial"/>
                <a:cs typeface="Arial"/>
              </a:defRPr>
            </a:pPr>
            <a:r>
              <a:t>ROUTE-ONLY</a:t>
            </a:r>
          </a:p>
        </p:txBody>
      </p:sp>
      <p:sp>
        <p:nvSpPr>
          <p:cNvPr id="20" name="s6-route-v-new">
            <a:extLst xmlns:a="http://schemas.openxmlformats.org/drawingml/2006/main">
              <a:ext uri="{FF2B5EF4-FFF2-40B4-BE49-F238E27FC236}">
                <a16:creationId xmlns:a16="http://schemas.microsoft.com/office/drawing/2014/main" id="{AE3A329C-A6AC-418F-9A79-44BDFE07E35D}"/>
              </a:ext>
            </a:extLst>
          </p:cNvPr>
          <p:cNvSpPr>
            <a:spLocks xmlns:a="http://schemas.openxmlformats.org/drawingml/2006/main" noGrp="1"/>
          </p:cNvSpPr>
          <p:nvPr/>
        </p:nvSpPr>
        <p:spPr>
          <a:xfrm xmlns:a="http://schemas.openxmlformats.org/drawingml/2006/main">
            <a:off x="3657600" y="3752850"/>
            <a:ext cx="2019300" cy="3048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1">
                <a:solidFill>
                  <a:srgbClr val="0A1224"/>
                </a:solidFill>
                <a:latin typeface="Arial"/>
                <a:ea typeface="Arial"/>
                <a:cs typeface="Arial"/>
              </a:defRPr>
            </a:pPr>
            <a:r>
              <a:t>Route metadata</a:t>
            </a:r>
          </a:p>
        </p:txBody>
      </p:sp>
      <p:sp>
        <p:nvSpPr>
          <p:cNvPr id="21" name="s6-route-d-new">
            <a:extLst xmlns:a="http://schemas.openxmlformats.org/drawingml/2006/main">
              <a:ext uri="{FF2B5EF4-FFF2-40B4-BE49-F238E27FC236}">
                <a16:creationId xmlns:a16="http://schemas.microsoft.com/office/drawing/2014/main" id="{48F45A76-8494-4AC8-AF6A-598F26827CA5}"/>
              </a:ext>
            </a:extLst>
          </p:cNvPr>
          <p:cNvSpPr>
            <a:spLocks xmlns:a="http://schemas.openxmlformats.org/drawingml/2006/main" noGrp="1"/>
          </p:cNvSpPr>
          <p:nvPr/>
        </p:nvSpPr>
        <p:spPr>
          <a:xfrm xmlns:a="http://schemas.openxmlformats.org/drawingml/2006/main">
            <a:off x="3657600" y="4229100"/>
            <a:ext cx="2019300" cy="4000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0">
                <a:solidFill>
                  <a:srgbClr val="526071"/>
                </a:solidFill>
                <a:latin typeface="Arial"/>
                <a:ea typeface="Arial"/>
                <a:cs typeface="Arial"/>
              </a:defRPr>
            </a:pPr>
            <a:r>
              <a:t>No packed source</a:t>
            </a:r>
          </a:p>
        </p:txBody>
      </p:sp>
      <p:sp>
        <p:nvSpPr>
          <p:cNvPr id="22" name="s6-full-k-new">
            <a:extLst xmlns:a="http://schemas.openxmlformats.org/drawingml/2006/main">
              <a:ext uri="{FF2B5EF4-FFF2-40B4-BE49-F238E27FC236}">
                <a16:creationId xmlns:a16="http://schemas.microsoft.com/office/drawing/2014/main" id="{6090E55D-CF56-45A9-B565-DA106EE1B944}"/>
              </a:ext>
            </a:extLst>
          </p:cNvPr>
          <p:cNvSpPr>
            <a:spLocks xmlns:a="http://schemas.openxmlformats.org/drawingml/2006/main" noGrp="1"/>
          </p:cNvSpPr>
          <p:nvPr/>
        </p:nvSpPr>
        <p:spPr>
          <a:xfrm xmlns:a="http://schemas.openxmlformats.org/drawingml/2006/main">
            <a:off x="6515100" y="3429000"/>
            <a:ext cx="2019300" cy="2095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1">
                <a:solidFill>
                  <a:srgbClr val="1677FF"/>
                </a:solidFill>
                <a:latin typeface="Arial"/>
                <a:ea typeface="Arial"/>
                <a:cs typeface="Arial"/>
              </a:defRPr>
            </a:pPr>
            <a:r>
              <a:t>FULL PALACE</a:t>
            </a:r>
          </a:p>
        </p:txBody>
      </p:sp>
      <p:sp>
        <p:nvSpPr>
          <p:cNvPr id="23" name="s6-full-v-new">
            <a:extLst xmlns:a="http://schemas.openxmlformats.org/drawingml/2006/main">
              <a:ext uri="{FF2B5EF4-FFF2-40B4-BE49-F238E27FC236}">
                <a16:creationId xmlns:a16="http://schemas.microsoft.com/office/drawing/2014/main" id="{5E27BE0D-E876-43D9-AC75-05E3E2FBC0AC}"/>
              </a:ext>
            </a:extLst>
          </p:cNvPr>
          <p:cNvSpPr>
            <a:spLocks xmlns:a="http://schemas.openxmlformats.org/drawingml/2006/main" noGrp="1"/>
          </p:cNvSpPr>
          <p:nvPr/>
        </p:nvSpPr>
        <p:spPr>
          <a:xfrm xmlns:a="http://schemas.openxmlformats.org/drawingml/2006/main">
            <a:off x="6515100" y="3752850"/>
            <a:ext cx="2019300" cy="5143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1">
                <a:solidFill>
                  <a:srgbClr val="0A1224"/>
                </a:solidFill>
                <a:latin typeface="Arial"/>
                <a:ea typeface="Arial"/>
                <a:cs typeface="Arial"/>
              </a:defRPr>
            </a:pPr>
            <a:r>
              <a:t>Always-on full pack</a:t>
            </a:r>
          </a:p>
        </p:txBody>
      </p:sp>
      <p:sp>
        <p:nvSpPr>
          <p:cNvPr id="24" name="s6-full-d-new">
            <a:extLst xmlns:a="http://schemas.openxmlformats.org/drawingml/2006/main">
              <a:ext uri="{FF2B5EF4-FFF2-40B4-BE49-F238E27FC236}">
                <a16:creationId xmlns:a16="http://schemas.microsoft.com/office/drawing/2014/main" id="{C17E23C0-CABC-4962-BBBE-50D837FC10EC}"/>
              </a:ext>
            </a:extLst>
          </p:cNvPr>
          <p:cNvSpPr>
            <a:spLocks xmlns:a="http://schemas.openxmlformats.org/drawingml/2006/main" noGrp="1"/>
          </p:cNvSpPr>
          <p:nvPr/>
        </p:nvSpPr>
        <p:spPr>
          <a:xfrm xmlns:a="http://schemas.openxmlformats.org/drawingml/2006/main">
            <a:off x="6515100" y="4324350"/>
            <a:ext cx="2019300" cy="3048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0">
                <a:solidFill>
                  <a:srgbClr val="526071"/>
                </a:solidFill>
                <a:latin typeface="Arial"/>
                <a:ea typeface="Arial"/>
                <a:cs typeface="Arial"/>
              </a:defRPr>
            </a:pPr>
            <a:r>
              <a:t>Source + memory</a:t>
            </a:r>
          </a:p>
        </p:txBody>
      </p:sp>
      <p:sp>
        <p:nvSpPr>
          <p:cNvPr id="25" name="s6-adaptive-k-new">
            <a:extLst xmlns:a="http://schemas.openxmlformats.org/drawingml/2006/main">
              <a:ext uri="{FF2B5EF4-FFF2-40B4-BE49-F238E27FC236}">
                <a16:creationId xmlns:a16="http://schemas.microsoft.com/office/drawing/2014/main" id="{AC893686-8058-484F-BA85-68D7F9251879}"/>
              </a:ext>
            </a:extLst>
          </p:cNvPr>
          <p:cNvSpPr>
            <a:spLocks xmlns:a="http://schemas.openxmlformats.org/drawingml/2006/main" noGrp="1"/>
          </p:cNvSpPr>
          <p:nvPr/>
        </p:nvSpPr>
        <p:spPr>
          <a:xfrm xmlns:a="http://schemas.openxmlformats.org/drawingml/2006/main">
            <a:off x="9372600" y="3429000"/>
            <a:ext cx="2019300" cy="2095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1">
                <a:solidFill>
                  <a:srgbClr val="7438F5"/>
                </a:solidFill>
                <a:latin typeface="Arial"/>
                <a:ea typeface="Arial"/>
                <a:cs typeface="Arial"/>
              </a:defRPr>
            </a:pPr>
            <a:r>
              <a:t>ADAPTIVE</a:t>
            </a:r>
          </a:p>
        </p:txBody>
      </p:sp>
      <p:sp>
        <p:nvSpPr>
          <p:cNvPr id="26" name="s6-adaptive-v-new">
            <a:extLst xmlns:a="http://schemas.openxmlformats.org/drawingml/2006/main">
              <a:ext uri="{FF2B5EF4-FFF2-40B4-BE49-F238E27FC236}">
                <a16:creationId xmlns:a16="http://schemas.microsoft.com/office/drawing/2014/main" id="{9191295F-5AB1-4877-8F9F-28A580B760B8}"/>
              </a:ext>
            </a:extLst>
          </p:cNvPr>
          <p:cNvSpPr>
            <a:spLocks xmlns:a="http://schemas.openxmlformats.org/drawingml/2006/main" noGrp="1"/>
          </p:cNvSpPr>
          <p:nvPr/>
        </p:nvSpPr>
        <p:spPr>
          <a:xfrm xmlns:a="http://schemas.openxmlformats.org/drawingml/2006/main">
            <a:off x="9372600" y="3752850"/>
            <a:ext cx="2019300" cy="3048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1">
                <a:solidFill>
                  <a:srgbClr val="0A1224"/>
                </a:solidFill>
                <a:latin typeface="Arial"/>
                <a:ea typeface="Arial"/>
                <a:cs typeface="Arial"/>
              </a:defRPr>
            </a:pPr>
            <a:r>
              <a:t>Mode per task</a:t>
            </a:r>
          </a:p>
        </p:txBody>
      </p:sp>
      <p:sp>
        <p:nvSpPr>
          <p:cNvPr id="27" name="s6-adaptive-d-new">
            <a:extLst xmlns:a="http://schemas.openxmlformats.org/drawingml/2006/main">
              <a:ext uri="{FF2B5EF4-FFF2-40B4-BE49-F238E27FC236}">
                <a16:creationId xmlns:a16="http://schemas.microsoft.com/office/drawing/2014/main" id="{899502A0-6ADD-428C-AD8A-17289F3B0A9D}"/>
              </a:ext>
            </a:extLst>
          </p:cNvPr>
          <p:cNvSpPr>
            <a:spLocks xmlns:a="http://schemas.openxmlformats.org/drawingml/2006/main" noGrp="1"/>
          </p:cNvSpPr>
          <p:nvPr/>
        </p:nvSpPr>
        <p:spPr>
          <a:xfrm xmlns:a="http://schemas.openxmlformats.org/drawingml/2006/main">
            <a:off x="9372600" y="4229100"/>
            <a:ext cx="2019300" cy="4000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0">
                <a:solidFill>
                  <a:srgbClr val="526071"/>
                </a:solidFill>
                <a:latin typeface="Arial"/>
                <a:ea typeface="Arial"/>
                <a:cs typeface="Arial"/>
              </a:defRPr>
            </a:pPr>
            <a:r>
              <a:t>Bypass / lite / full</a:t>
            </a:r>
          </a:p>
        </p:txBody>
      </p:sp>
      <p:sp>
        <p:nvSpPr>
          <p:cNvPr id="28" name="s6-summary-new">
            <a:extLst xmlns:a="http://schemas.openxmlformats.org/drawingml/2006/main">
              <a:ext uri="{FF2B5EF4-FFF2-40B4-BE49-F238E27FC236}">
                <a16:creationId xmlns:a16="http://schemas.microsoft.com/office/drawing/2014/main" id="{3A825044-FA23-417D-9D16-7BC2829D4CEF}"/>
              </a:ext>
            </a:extLst>
          </p:cNvPr>
          <p:cNvSpPr>
            <a:spLocks xmlns:a="http://schemas.openxmlformats.org/drawingml/2006/main" noGrp="1"/>
          </p:cNvSpPr>
          <p:nvPr/>
        </p:nvSpPr>
        <p:spPr>
          <a:xfrm xmlns:a="http://schemas.openxmlformats.org/drawingml/2006/main">
            <a:off x="571500" y="5029200"/>
            <a:ext cx="11049000" cy="857250"/>
          </a:xfrm>
          <a:prstGeom xmlns:a="http://schemas.openxmlformats.org/drawingml/2006/main" prst="roundRect">
            <a:avLst>
              <a:gd name="adj" fmla="val 8889"/>
            </a:avLst>
          </a:prstGeom>
          <a:solidFill xmlns:a="http://schemas.openxmlformats.org/drawingml/2006/main">
            <a:srgbClr val="061B3D"/>
          </a:solidFill>
          <a:ln xmlns:a="http://schemas.openxmlformats.org/drawingml/2006/main" w="0">
            <a:solidFill>
              <a:srgbClr val="061B3D"/>
            </a:solidFill>
            <a:prstDash val="solid"/>
          </a:ln>
        </p:spPr>
      </p:sp>
      <p:sp>
        <p:nvSpPr>
          <p:cNvPr id="29" name="s6-n-trials-new">
            <a:extLst xmlns:a="http://schemas.openxmlformats.org/drawingml/2006/main">
              <a:ext uri="{FF2B5EF4-FFF2-40B4-BE49-F238E27FC236}">
                <a16:creationId xmlns:a16="http://schemas.microsoft.com/office/drawing/2014/main" id="{F4DC0782-D935-450E-84E9-FDB82D02FB16}"/>
              </a:ext>
            </a:extLst>
          </p:cNvPr>
          <p:cNvSpPr>
            <a:spLocks xmlns:a="http://schemas.openxmlformats.org/drawingml/2006/main" noGrp="1"/>
          </p:cNvSpPr>
          <p:nvPr/>
        </p:nvSpPr>
        <p:spPr>
          <a:xfrm xmlns:a="http://schemas.openxmlformats.org/drawingml/2006/main">
            <a:off x="819150" y="5181600"/>
            <a:ext cx="762000" cy="4381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13B7D5"/>
                </a:solidFill>
                <a:latin typeface="Arial"/>
                <a:ea typeface="Arial"/>
                <a:cs typeface="Arial"/>
              </a:defRPr>
            </a:pPr>
            <a:r>
              <a:t>16</a:t>
            </a:r>
          </a:p>
        </p:txBody>
      </p:sp>
      <p:sp>
        <p:nvSpPr>
          <p:cNvPr id="30" name="s6-l-trials-new">
            <a:extLst xmlns:a="http://schemas.openxmlformats.org/drawingml/2006/main">
              <a:ext uri="{FF2B5EF4-FFF2-40B4-BE49-F238E27FC236}">
                <a16:creationId xmlns:a16="http://schemas.microsoft.com/office/drawing/2014/main" id="{31EDC964-316A-458F-82DD-483E36D0EAC0}"/>
              </a:ext>
            </a:extLst>
          </p:cNvPr>
          <p:cNvSpPr>
            <a:spLocks xmlns:a="http://schemas.openxmlformats.org/drawingml/2006/main" noGrp="1"/>
          </p:cNvSpPr>
          <p:nvPr/>
        </p:nvSpPr>
        <p:spPr>
          <a:xfrm xmlns:a="http://schemas.openxmlformats.org/drawingml/2006/main">
            <a:off x="819150" y="5562600"/>
            <a:ext cx="1428750" cy="2095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0">
                <a:solidFill>
                  <a:srgbClr val="FFFFFF"/>
                </a:solidFill>
                <a:latin typeface="Arial"/>
                <a:ea typeface="Arial"/>
                <a:cs typeface="Arial"/>
              </a:defRPr>
            </a:pPr>
            <a:r>
              <a:t>paired trials</a:t>
            </a:r>
          </a:p>
        </p:txBody>
      </p:sp>
      <p:sp>
        <p:nvSpPr>
          <p:cNvPr id="31" name="s6-n-arms-new">
            <a:extLst xmlns:a="http://schemas.openxmlformats.org/drawingml/2006/main">
              <a:ext uri="{FF2B5EF4-FFF2-40B4-BE49-F238E27FC236}">
                <a16:creationId xmlns:a16="http://schemas.microsoft.com/office/drawing/2014/main" id="{EEFA84F6-D4FF-4EAD-AE71-42D13865513B}"/>
              </a:ext>
            </a:extLst>
          </p:cNvPr>
          <p:cNvSpPr>
            <a:spLocks xmlns:a="http://schemas.openxmlformats.org/drawingml/2006/main" noGrp="1"/>
          </p:cNvSpPr>
          <p:nvPr/>
        </p:nvSpPr>
        <p:spPr>
          <a:xfrm xmlns:a="http://schemas.openxmlformats.org/drawingml/2006/main">
            <a:off x="2667000" y="5181600"/>
            <a:ext cx="762000" cy="4381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1677FF"/>
                </a:solidFill>
                <a:latin typeface="Arial"/>
                <a:ea typeface="Arial"/>
                <a:cs typeface="Arial"/>
              </a:defRPr>
            </a:pPr>
            <a:r>
              <a:t>64</a:t>
            </a:r>
          </a:p>
        </p:txBody>
      </p:sp>
      <p:sp>
        <p:nvSpPr>
          <p:cNvPr id="32" name="s6-l-arms-new">
            <a:extLst xmlns:a="http://schemas.openxmlformats.org/drawingml/2006/main">
              <a:ext uri="{FF2B5EF4-FFF2-40B4-BE49-F238E27FC236}">
                <a16:creationId xmlns:a16="http://schemas.microsoft.com/office/drawing/2014/main" id="{7A3BC64F-45ED-463E-A331-CA28B23EB1FA}"/>
              </a:ext>
            </a:extLst>
          </p:cNvPr>
          <p:cNvSpPr>
            <a:spLocks xmlns:a="http://schemas.openxmlformats.org/drawingml/2006/main" noGrp="1"/>
          </p:cNvSpPr>
          <p:nvPr/>
        </p:nvSpPr>
        <p:spPr>
          <a:xfrm xmlns:a="http://schemas.openxmlformats.org/drawingml/2006/main">
            <a:off x="2667000" y="5562600"/>
            <a:ext cx="1428750" cy="2095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0">
                <a:solidFill>
                  <a:srgbClr val="FFFFFF"/>
                </a:solidFill>
                <a:latin typeface="Arial"/>
                <a:ea typeface="Arial"/>
                <a:cs typeface="Arial"/>
              </a:defRPr>
            </a:pPr>
            <a:r>
              <a:t>total arms</a:t>
            </a:r>
          </a:p>
        </p:txBody>
      </p:sp>
      <p:sp>
        <p:nvSpPr>
          <p:cNvPr id="33" name="s6-n-fixed-new">
            <a:extLst xmlns:a="http://schemas.openxmlformats.org/drawingml/2006/main">
              <a:ext uri="{FF2B5EF4-FFF2-40B4-BE49-F238E27FC236}">
                <a16:creationId xmlns:a16="http://schemas.microsoft.com/office/drawing/2014/main" id="{2E2576A7-2ADF-427A-8F43-21830738A800}"/>
              </a:ext>
            </a:extLst>
          </p:cNvPr>
          <p:cNvSpPr>
            <a:spLocks xmlns:a="http://schemas.openxmlformats.org/drawingml/2006/main" noGrp="1"/>
          </p:cNvSpPr>
          <p:nvPr/>
        </p:nvSpPr>
        <p:spPr>
          <a:xfrm xmlns:a="http://schemas.openxmlformats.org/drawingml/2006/main">
            <a:off x="4762500" y="5229225"/>
            <a:ext cx="1143000" cy="3238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15A777"/>
                </a:solidFill>
                <a:latin typeface="Arial"/>
                <a:ea typeface="Arial"/>
                <a:cs typeface="Arial"/>
              </a:defRPr>
            </a:pPr>
            <a:r>
              <a:t>FIXED</a:t>
            </a:r>
          </a:p>
        </p:txBody>
      </p:sp>
      <p:sp>
        <p:nvSpPr>
          <p:cNvPr id="34" name="s6-l-fixed-new">
            <a:extLst xmlns:a="http://schemas.openxmlformats.org/drawingml/2006/main">
              <a:ext uri="{FF2B5EF4-FFF2-40B4-BE49-F238E27FC236}">
                <a16:creationId xmlns:a16="http://schemas.microsoft.com/office/drawing/2014/main" id="{C813F437-C4E7-40B4-B120-F5BC7D469CA5}"/>
              </a:ext>
            </a:extLst>
          </p:cNvPr>
          <p:cNvSpPr>
            <a:spLocks xmlns:a="http://schemas.openxmlformats.org/drawingml/2006/main" noGrp="1"/>
          </p:cNvSpPr>
          <p:nvPr/>
        </p:nvSpPr>
        <p:spPr>
          <a:xfrm xmlns:a="http://schemas.openxmlformats.org/drawingml/2006/main">
            <a:off x="4762500" y="5562600"/>
            <a:ext cx="3143250" cy="2095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0">
                <a:solidFill>
                  <a:srgbClr val="FFFFFF"/>
                </a:solidFill>
                <a:latin typeface="Consolas"/>
                <a:ea typeface="Consolas"/>
                <a:cs typeface="Consolas"/>
              </a:defRPr>
            </a:pPr>
            <a:r>
              <a:t>Codex | task | fixture | model | tests</a:t>
            </a:r>
          </a:p>
        </p:txBody>
      </p:sp>
      <p:sp>
        <p:nvSpPr>
          <p:cNvPr id="35" name="s6-n-variable-new">
            <a:extLst xmlns:a="http://schemas.openxmlformats.org/drawingml/2006/main">
              <a:ext uri="{FF2B5EF4-FFF2-40B4-BE49-F238E27FC236}">
                <a16:creationId xmlns:a16="http://schemas.microsoft.com/office/drawing/2014/main" id="{9E72BBBE-329A-48C6-8B9E-97AD0B36374C}"/>
              </a:ext>
            </a:extLst>
          </p:cNvPr>
          <p:cNvSpPr>
            <a:spLocks xmlns:a="http://schemas.openxmlformats.org/drawingml/2006/main" noGrp="1"/>
          </p:cNvSpPr>
          <p:nvPr/>
        </p:nvSpPr>
        <p:spPr>
          <a:xfrm xmlns:a="http://schemas.openxmlformats.org/drawingml/2006/main">
            <a:off x="8382000" y="5229225"/>
            <a:ext cx="2095500" cy="3238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7438F5"/>
                </a:solidFill>
                <a:latin typeface="Arial"/>
                <a:ea typeface="Arial"/>
                <a:cs typeface="Arial"/>
              </a:defRPr>
            </a:pPr>
            <a:r>
              <a:t>ONE VARIABLE</a:t>
            </a:r>
          </a:p>
        </p:txBody>
      </p:sp>
      <p:sp>
        <p:nvSpPr>
          <p:cNvPr id="36" name="s6-l-variable-new">
            <a:extLst xmlns:a="http://schemas.openxmlformats.org/drawingml/2006/main">
              <a:ext uri="{FF2B5EF4-FFF2-40B4-BE49-F238E27FC236}">
                <a16:creationId xmlns:a16="http://schemas.microsoft.com/office/drawing/2014/main" id="{8B726AE8-27ED-4F86-9C29-4C99BB5E0FA5}"/>
              </a:ext>
            </a:extLst>
          </p:cNvPr>
          <p:cNvSpPr>
            <a:spLocks xmlns:a="http://schemas.openxmlformats.org/drawingml/2006/main" noGrp="1"/>
          </p:cNvSpPr>
          <p:nvPr/>
        </p:nvSpPr>
        <p:spPr>
          <a:xfrm xmlns:a="http://schemas.openxmlformats.org/drawingml/2006/main">
            <a:off x="8382000" y="5562600"/>
            <a:ext cx="2857500" cy="2095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0">
                <a:solidFill>
                  <a:srgbClr val="FFFFFF"/>
                </a:solidFill>
                <a:latin typeface="Arial"/>
                <a:ea typeface="Arial"/>
                <a:cs typeface="Arial"/>
              </a:defRPr>
            </a:pPr>
            <a:r>
              <a:t>repository-context strategy</a:t>
            </a:r>
          </a:p>
        </p:txBody>
      </p:sp>
      <p:cxnSp>
        <p:nvCxnSpPr>
          <p:cNvPr id="76" name="footer-rule-6"/>
          <p:cNvCxnSpPr/>
          <p:nvPr/>
        </p:nvCxnSpPr>
        <p:spPr>
          <a:xfrm xmlns:a="http://schemas.openxmlformats.org/drawingml/2006/main">
            <a:off x="400050" y="6162675"/>
            <a:ext cx="11391900" cy="953"/>
          </a:xfrm>
          <a:prstGeom xmlns:a="http://schemas.openxmlformats.org/drawingml/2006/main" prst="straightConnector1">
            <a:avLst/>
          </a:prstGeom>
          <a:ln xmlns:a="http://schemas.openxmlformats.org/drawingml/2006/main" w="9525">
            <a:solidFill>
              <a:srgbClr val="B8BCC4"/>
            </a:solidFill>
            <a:prstDash val="solid"/>
          </a:ln>
        </p:spPr>
      </p:cxnSp>
      <p:sp>
        <p:nvSpPr>
          <p:cNvPr id="38" name="footer-source-6">
            <a:extLst xmlns:a="http://schemas.openxmlformats.org/drawingml/2006/main">
              <a:ext uri="{FF2B5EF4-FFF2-40B4-BE49-F238E27FC236}">
                <a16:creationId xmlns:a16="http://schemas.microsoft.com/office/drawing/2014/main" id="{3788549A-885A-4789-A7A4-1C9E82ED1EBE}"/>
              </a:ext>
            </a:extLst>
          </p:cNvPr>
          <p:cNvSpPr>
            <a:spLocks xmlns:a="http://schemas.openxmlformats.org/drawingml/2006/main" noGrp="1"/>
          </p:cNvSpPr>
          <p:nvPr/>
        </p:nvSpPr>
        <p:spPr>
          <a:xfrm xmlns:a="http://schemas.openxmlformats.org/drawingml/2006/main">
            <a:off x="400050" y="6238875"/>
            <a:ext cx="10001250" cy="2286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863" b="0">
                <a:solidFill>
                  <a:srgbClr val="526071"/>
                </a:solidFill>
                <a:latin typeface="Arial"/>
                <a:ea typeface="Arial"/>
                <a:cs typeface="Arial"/>
              </a:defRPr>
            </a:pPr>
            <a:r>
              <a:t>Frozen preregistered exploratory design | 16 trials x 4 arms | github.com/lohchanhin/benchmarks-ab-demo</a:t>
            </a:r>
          </a:p>
        </p:txBody>
      </p:sp>
      <p:sp>
        <p:nvSpPr>
          <p:cNvPr id="39" name="footer-number-6">
            <a:extLst xmlns:a="http://schemas.openxmlformats.org/drawingml/2006/main">
              <a:ext uri="{FF2B5EF4-FFF2-40B4-BE49-F238E27FC236}">
                <a16:creationId xmlns:a16="http://schemas.microsoft.com/office/drawing/2014/main" id="{23C1093C-EF06-4BC6-BB34-022287368125}"/>
              </a:ext>
            </a:extLst>
          </p:cNvPr>
          <p:cNvSpPr>
            <a:spLocks xmlns:a="http://schemas.openxmlformats.org/drawingml/2006/main" noGrp="1"/>
          </p:cNvSpPr>
          <p:nvPr/>
        </p:nvSpPr>
        <p:spPr>
          <a:xfrm xmlns:a="http://schemas.openxmlformats.org/drawingml/2006/main">
            <a:off x="11258550" y="6238875"/>
            <a:ext cx="533400" cy="2286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r">
              <a:defRPr sz="900" b="0">
                <a:solidFill>
                  <a:srgbClr val="526071"/>
                </a:solidFill>
                <a:latin typeface="Arial"/>
                <a:ea typeface="Arial"/>
                <a:cs typeface="Arial"/>
              </a:defRPr>
            </a:pPr>
            <a:r>
              <a:t>6</a:t>
            </a:r>
          </a:p>
        </p:txBody>
      </p:sp>
    </p:spTree>
    <p:extLst>
      <p:ext uri="{BB962C8B-B14F-4D97-AF65-F5344CB8AC3E}">
        <p14:creationId xmlns:p14="http://schemas.microsoft.com/office/powerpoint/2010/main" val="1802228071"/>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7" name="s7-title-new">
            <a:extLst xmlns:a="http://schemas.openxmlformats.org/drawingml/2006/main">
              <a:ext uri="{FF2B5EF4-FFF2-40B4-BE49-F238E27FC236}">
                <a16:creationId xmlns:a16="http://schemas.microsoft.com/office/drawing/2014/main" id="{7009CBCD-C94C-4CE0-ACD0-3A490BF9F551}"/>
              </a:ext>
            </a:extLst>
          </p:cNvPr>
          <p:cNvSpPr>
            <a:spLocks xmlns:a="http://schemas.openxmlformats.org/drawingml/2006/main" noGrp="1"/>
          </p:cNvSpPr>
          <p:nvPr/>
        </p:nvSpPr>
        <p:spPr>
          <a:xfrm xmlns:a="http://schemas.openxmlformats.org/drawingml/2006/main">
            <a:off x="400050" y="323850"/>
            <a:ext cx="11391900" cy="7239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0A1224"/>
                </a:solidFill>
                <a:latin typeface="Arial"/>
                <a:ea typeface="Arial"/>
                <a:cs typeface="Arial"/>
              </a:defRPr>
            </a:pPr>
            <a:r>
              <a:t>Adaptive Palace vs Codex alone</a:t>
            </a:r>
          </a:p>
        </p:txBody>
      </p:sp>
      <p:sp>
        <p:nvSpPr>
          <p:cNvPr id="2" name="s7-subtitle-new">
            <a:extLst xmlns:a="http://schemas.openxmlformats.org/drawingml/2006/main">
              <a:ext uri="{FF2B5EF4-FFF2-40B4-BE49-F238E27FC236}">
                <a16:creationId xmlns:a16="http://schemas.microsoft.com/office/drawing/2014/main" id="{2B34F348-92A3-45A4-AF0F-280781B6BA93}"/>
              </a:ext>
            </a:extLst>
          </p:cNvPr>
          <p:cNvSpPr>
            <a:spLocks xmlns:a="http://schemas.openxmlformats.org/drawingml/2006/main" noGrp="1"/>
          </p:cNvSpPr>
          <p:nvPr/>
        </p:nvSpPr>
        <p:spPr>
          <a:xfrm xmlns:a="http://schemas.openxmlformats.org/drawingml/2006/main">
            <a:off x="495300" y="1066800"/>
            <a:ext cx="10953750" cy="3810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526071"/>
                </a:solidFill>
                <a:latin typeface="Arial"/>
                <a:ea typeface="Arial"/>
                <a:cs typeface="Arial"/>
              </a:defRPr>
            </a:pPr>
            <a:r>
              <a:t>Same Codex and tests; only Palace context changed. Always-on was not justified here.</a:t>
            </a:r>
          </a:p>
        </p:txBody>
      </p:sp>
      <p:sp>
        <p:nvSpPr>
          <p:cNvPr id="3" name="s7-result-panel">
            <a:extLst xmlns:a="http://schemas.openxmlformats.org/drawingml/2006/main">
              <a:ext uri="{FF2B5EF4-FFF2-40B4-BE49-F238E27FC236}">
                <a16:creationId xmlns:a16="http://schemas.microsoft.com/office/drawing/2014/main" id="{244C1CCA-D366-42C9-83AE-C762E26019DB}"/>
              </a:ext>
            </a:extLst>
          </p:cNvPr>
          <p:cNvSpPr>
            <a:spLocks xmlns:a="http://schemas.openxmlformats.org/drawingml/2006/main" noGrp="1"/>
          </p:cNvSpPr>
          <p:nvPr/>
        </p:nvSpPr>
        <p:spPr>
          <a:xfrm xmlns:a="http://schemas.openxmlformats.org/drawingml/2006/main">
            <a:off x="552450" y="1752600"/>
            <a:ext cx="4248150" cy="3562350"/>
          </a:xfrm>
          <a:prstGeom xmlns:a="http://schemas.openxmlformats.org/drawingml/2006/main" prst="roundRect">
            <a:avLst>
              <a:gd name="adj" fmla="val 2139"/>
            </a:avLst>
          </a:prstGeom>
          <a:solidFill xmlns:a="http://schemas.openxmlformats.org/drawingml/2006/main">
            <a:srgbClr val="FFF1F3"/>
          </a:solidFill>
          <a:ln xmlns:a="http://schemas.openxmlformats.org/drawingml/2006/main" w="0">
            <a:solidFill>
              <a:srgbClr val="FFF1F3"/>
            </a:solidFill>
            <a:prstDash val="solid"/>
          </a:ln>
        </p:spPr>
      </p:sp>
      <p:sp>
        <p:nvSpPr>
          <p:cNvPr id="4" name="s7-result-k">
            <a:extLst xmlns:a="http://schemas.openxmlformats.org/drawingml/2006/main">
              <a:ext uri="{FF2B5EF4-FFF2-40B4-BE49-F238E27FC236}">
                <a16:creationId xmlns:a16="http://schemas.microsoft.com/office/drawing/2014/main" id="{A941D6C4-FF81-4741-B630-BACAB6E6C7B2}"/>
              </a:ext>
            </a:extLst>
          </p:cNvPr>
          <p:cNvSpPr>
            <a:spLocks xmlns:a="http://schemas.openxmlformats.org/drawingml/2006/main" noGrp="1"/>
          </p:cNvSpPr>
          <p:nvPr/>
        </p:nvSpPr>
        <p:spPr>
          <a:xfrm xmlns:a="http://schemas.openxmlformats.org/drawingml/2006/main">
            <a:off x="819150" y="2019300"/>
            <a:ext cx="3524250" cy="2286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D4515D"/>
                </a:solidFill>
                <a:latin typeface="Arial"/>
                <a:ea typeface="Arial"/>
                <a:cs typeface="Arial"/>
              </a:defRPr>
            </a:pPr>
            <a:r>
              <a:t>PAIRED DIFFERENCE: ADAPTIVE - CODEX ALONE</a:t>
            </a:r>
          </a:p>
        </p:txBody>
      </p:sp>
      <p:sp>
        <p:nvSpPr>
          <p:cNvPr id="5" name="s7-tools-stat">
            <a:extLst xmlns:a="http://schemas.openxmlformats.org/drawingml/2006/main">
              <a:ext uri="{FF2B5EF4-FFF2-40B4-BE49-F238E27FC236}">
                <a16:creationId xmlns:a16="http://schemas.microsoft.com/office/drawing/2014/main" id="{FEF1624A-D7BD-4291-853C-6356ACF50672}"/>
              </a:ext>
            </a:extLst>
          </p:cNvPr>
          <p:cNvSpPr>
            <a:spLocks xmlns:a="http://schemas.openxmlformats.org/drawingml/2006/main" noGrp="1"/>
          </p:cNvSpPr>
          <p:nvPr/>
        </p:nvSpPr>
        <p:spPr>
          <a:xfrm xmlns:a="http://schemas.openxmlformats.org/drawingml/2006/main">
            <a:off x="819150" y="2400300"/>
            <a:ext cx="1619250" cy="6096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D4515D"/>
                </a:solidFill>
                <a:latin typeface="Arial"/>
                <a:ea typeface="Arial"/>
                <a:cs typeface="Arial"/>
              </a:defRPr>
            </a:pPr>
            <a:r>
              <a:t>+4.5</a:t>
            </a:r>
          </a:p>
        </p:txBody>
      </p:sp>
      <p:sp>
        <p:nvSpPr>
          <p:cNvPr id="6" name="s7-tools-label">
            <a:extLst xmlns:a="http://schemas.openxmlformats.org/drawingml/2006/main">
              <a:ext uri="{FF2B5EF4-FFF2-40B4-BE49-F238E27FC236}">
                <a16:creationId xmlns:a16="http://schemas.microsoft.com/office/drawing/2014/main" id="{251397A4-0DA9-44E4-ADD1-156EAF0CEC6C}"/>
              </a:ext>
            </a:extLst>
          </p:cNvPr>
          <p:cNvSpPr>
            <a:spLocks xmlns:a="http://schemas.openxmlformats.org/drawingml/2006/main" noGrp="1"/>
          </p:cNvSpPr>
          <p:nvPr/>
        </p:nvSpPr>
        <p:spPr>
          <a:xfrm xmlns:a="http://schemas.openxmlformats.org/drawingml/2006/main">
            <a:off x="2095500" y="2600325"/>
            <a:ext cx="1714500" cy="3048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1">
                <a:solidFill>
                  <a:srgbClr val="0A1224"/>
                </a:solidFill>
                <a:latin typeface="Arial"/>
                <a:ea typeface="Arial"/>
                <a:cs typeface="Arial"/>
              </a:defRPr>
            </a:pPr>
            <a:r>
              <a:t>tool calls</a:t>
            </a:r>
          </a:p>
        </p:txBody>
      </p:sp>
      <p:sp>
        <p:nvSpPr>
          <p:cNvPr id="7" name="s7-tools-ci">
            <a:extLst xmlns:a="http://schemas.openxmlformats.org/drawingml/2006/main">
              <a:ext uri="{FF2B5EF4-FFF2-40B4-BE49-F238E27FC236}">
                <a16:creationId xmlns:a16="http://schemas.microsoft.com/office/drawing/2014/main" id="{70CC89A8-0F17-4800-8D10-D7759327B3A6}"/>
              </a:ext>
            </a:extLst>
          </p:cNvPr>
          <p:cNvSpPr>
            <a:spLocks xmlns:a="http://schemas.openxmlformats.org/drawingml/2006/main" noGrp="1"/>
          </p:cNvSpPr>
          <p:nvPr/>
        </p:nvSpPr>
        <p:spPr>
          <a:xfrm xmlns:a="http://schemas.openxmlformats.org/drawingml/2006/main">
            <a:off x="819150" y="3028950"/>
            <a:ext cx="3143250" cy="2286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526071"/>
                </a:solidFill>
                <a:latin typeface="Arial"/>
                <a:ea typeface="Arial"/>
                <a:cs typeface="Arial"/>
              </a:defRPr>
            </a:pPr>
            <a:r>
              <a:t>95% CI: +2.5 to +6.5</a:t>
            </a:r>
          </a:p>
        </p:txBody>
      </p:sp>
      <p:cxnSp>
        <p:nvCxnSpPr>
          <p:cNvPr id="44" name="s7-result-rule"/>
          <p:cNvCxnSpPr/>
          <p:nvPr/>
        </p:nvCxnSpPr>
        <p:spPr>
          <a:xfrm xmlns:a="http://schemas.openxmlformats.org/drawingml/2006/main">
            <a:off x="819150" y="3409950"/>
            <a:ext cx="3524250" cy="953"/>
          </a:xfrm>
          <a:prstGeom xmlns:a="http://schemas.openxmlformats.org/drawingml/2006/main" prst="straightConnector1">
            <a:avLst/>
          </a:prstGeom>
          <a:ln xmlns:a="http://schemas.openxmlformats.org/drawingml/2006/main" w="9525">
            <a:solidFill>
              <a:srgbClr val="E8BCC2"/>
            </a:solidFill>
            <a:prstDash val="solid"/>
          </a:ln>
        </p:spPr>
      </p:cxnSp>
      <p:sp>
        <p:nvSpPr>
          <p:cNvPr id="9" name="s7-token-stat">
            <a:extLst xmlns:a="http://schemas.openxmlformats.org/drawingml/2006/main">
              <a:ext uri="{FF2B5EF4-FFF2-40B4-BE49-F238E27FC236}">
                <a16:creationId xmlns:a16="http://schemas.microsoft.com/office/drawing/2014/main" id="{65CF77C1-3110-459D-85AA-496E53D31642}"/>
              </a:ext>
            </a:extLst>
          </p:cNvPr>
          <p:cNvSpPr>
            <a:spLocks xmlns:a="http://schemas.openxmlformats.org/drawingml/2006/main" noGrp="1"/>
          </p:cNvSpPr>
          <p:nvPr/>
        </p:nvSpPr>
        <p:spPr>
          <a:xfrm xmlns:a="http://schemas.openxmlformats.org/drawingml/2006/main">
            <a:off x="819150" y="3638550"/>
            <a:ext cx="1619250" cy="3619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B87712"/>
                </a:solidFill>
                <a:latin typeface="Arial"/>
                <a:ea typeface="Arial"/>
                <a:cs typeface="Arial"/>
              </a:defRPr>
            </a:pPr>
            <a:r>
              <a:t>+30,147</a:t>
            </a:r>
          </a:p>
        </p:txBody>
      </p:sp>
      <p:sp>
        <p:nvSpPr>
          <p:cNvPr id="10" name="s7-token-label">
            <a:extLst xmlns:a="http://schemas.openxmlformats.org/drawingml/2006/main">
              <a:ext uri="{FF2B5EF4-FFF2-40B4-BE49-F238E27FC236}">
                <a16:creationId xmlns:a16="http://schemas.microsoft.com/office/drawing/2014/main" id="{83101176-E715-407D-B156-8DB57BB27F29}"/>
              </a:ext>
            </a:extLst>
          </p:cNvPr>
          <p:cNvSpPr>
            <a:spLocks xmlns:a="http://schemas.openxmlformats.org/drawingml/2006/main" noGrp="1"/>
          </p:cNvSpPr>
          <p:nvPr/>
        </p:nvSpPr>
        <p:spPr>
          <a:xfrm xmlns:a="http://schemas.openxmlformats.org/drawingml/2006/main">
            <a:off x="2381250" y="3676650"/>
            <a:ext cx="1714500" cy="2286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1">
                <a:solidFill>
                  <a:srgbClr val="0A1224"/>
                </a:solidFill>
                <a:latin typeface="Arial"/>
                <a:ea typeface="Arial"/>
                <a:cs typeface="Arial"/>
              </a:defRPr>
            </a:pPr>
            <a:r>
              <a:t>reported tokens</a:t>
            </a:r>
          </a:p>
        </p:txBody>
      </p:sp>
      <p:sp>
        <p:nvSpPr>
          <p:cNvPr id="11" name="s7-token-note">
            <a:extLst xmlns:a="http://schemas.openxmlformats.org/drawingml/2006/main">
              <a:ext uri="{FF2B5EF4-FFF2-40B4-BE49-F238E27FC236}">
                <a16:creationId xmlns:a16="http://schemas.microsoft.com/office/drawing/2014/main" id="{759BCA31-F516-483F-B4A1-0CB71C23001A}"/>
              </a:ext>
            </a:extLst>
          </p:cNvPr>
          <p:cNvSpPr>
            <a:spLocks xmlns:a="http://schemas.openxmlformats.org/drawingml/2006/main" noGrp="1"/>
          </p:cNvSpPr>
          <p:nvPr/>
        </p:nvSpPr>
        <p:spPr>
          <a:xfrm xmlns:a="http://schemas.openxmlformats.org/drawingml/2006/main">
            <a:off x="2381250" y="3943350"/>
            <a:ext cx="1714500" cy="1905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B87712"/>
                </a:solidFill>
                <a:latin typeface="Arial"/>
                <a:ea typeface="Arial"/>
                <a:cs typeface="Arial"/>
              </a:defRPr>
            </a:pPr>
            <a:r>
              <a:t>interval crosses zero</a:t>
            </a:r>
          </a:p>
        </p:txBody>
      </p:sp>
      <p:sp>
        <p:nvSpPr>
          <p:cNvPr id="12" name="s7-time-stat">
            <a:extLst xmlns:a="http://schemas.openxmlformats.org/drawingml/2006/main">
              <a:ext uri="{FF2B5EF4-FFF2-40B4-BE49-F238E27FC236}">
                <a16:creationId xmlns:a16="http://schemas.microsoft.com/office/drawing/2014/main" id="{2D2E95E8-E2E1-4C13-B982-4F0130610A5F}"/>
              </a:ext>
            </a:extLst>
          </p:cNvPr>
          <p:cNvSpPr>
            <a:spLocks xmlns:a="http://schemas.openxmlformats.org/drawingml/2006/main" noGrp="1"/>
          </p:cNvSpPr>
          <p:nvPr/>
        </p:nvSpPr>
        <p:spPr>
          <a:xfrm xmlns:a="http://schemas.openxmlformats.org/drawingml/2006/main">
            <a:off x="819150" y="4305300"/>
            <a:ext cx="1619250" cy="3619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B87712"/>
                </a:solidFill>
                <a:latin typeface="Arial"/>
                <a:ea typeface="Arial"/>
                <a:cs typeface="Arial"/>
              </a:defRPr>
            </a:pPr>
            <a:r>
              <a:t>+10.919s</a:t>
            </a:r>
          </a:p>
        </p:txBody>
      </p:sp>
      <p:sp>
        <p:nvSpPr>
          <p:cNvPr id="13" name="s7-time-label">
            <a:extLst xmlns:a="http://schemas.openxmlformats.org/drawingml/2006/main">
              <a:ext uri="{FF2B5EF4-FFF2-40B4-BE49-F238E27FC236}">
                <a16:creationId xmlns:a16="http://schemas.microsoft.com/office/drawing/2014/main" id="{6F08ED04-DA5E-4F3C-8A34-193C88957A74}"/>
              </a:ext>
            </a:extLst>
          </p:cNvPr>
          <p:cNvSpPr>
            <a:spLocks xmlns:a="http://schemas.openxmlformats.org/drawingml/2006/main" noGrp="1"/>
          </p:cNvSpPr>
          <p:nvPr/>
        </p:nvSpPr>
        <p:spPr>
          <a:xfrm xmlns:a="http://schemas.openxmlformats.org/drawingml/2006/main">
            <a:off x="2381250" y="4343400"/>
            <a:ext cx="1714500" cy="2286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1">
                <a:solidFill>
                  <a:srgbClr val="0A1224"/>
                </a:solidFill>
                <a:latin typeface="Arial"/>
                <a:ea typeface="Arial"/>
                <a:cs typeface="Arial"/>
              </a:defRPr>
            </a:pPr>
            <a:r>
              <a:t>wall time</a:t>
            </a:r>
          </a:p>
        </p:txBody>
      </p:sp>
      <p:sp>
        <p:nvSpPr>
          <p:cNvPr id="14" name="s7-time-note">
            <a:extLst xmlns:a="http://schemas.openxmlformats.org/drawingml/2006/main">
              <a:ext uri="{FF2B5EF4-FFF2-40B4-BE49-F238E27FC236}">
                <a16:creationId xmlns:a16="http://schemas.microsoft.com/office/drawing/2014/main" id="{9196A887-CE3A-412E-A784-C87DBB017692}"/>
              </a:ext>
            </a:extLst>
          </p:cNvPr>
          <p:cNvSpPr>
            <a:spLocks xmlns:a="http://schemas.openxmlformats.org/drawingml/2006/main" noGrp="1"/>
          </p:cNvSpPr>
          <p:nvPr/>
        </p:nvSpPr>
        <p:spPr>
          <a:xfrm xmlns:a="http://schemas.openxmlformats.org/drawingml/2006/main">
            <a:off x="2381250" y="4610100"/>
            <a:ext cx="1714500" cy="1905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B87712"/>
                </a:solidFill>
                <a:latin typeface="Arial"/>
                <a:ea typeface="Arial"/>
                <a:cs typeface="Arial"/>
              </a:defRPr>
            </a:pPr>
            <a:r>
              <a:t>interval crosses zero</a:t>
            </a:r>
          </a:p>
        </p:txBody>
      </p:sp>
      <p:sp>
        <p:nvSpPr>
          <p:cNvPr id="15" name="s7-correct">
            <a:extLst xmlns:a="http://schemas.openxmlformats.org/drawingml/2006/main">
              <a:ext uri="{FF2B5EF4-FFF2-40B4-BE49-F238E27FC236}">
                <a16:creationId xmlns:a16="http://schemas.microsoft.com/office/drawing/2014/main" id="{914FDEA7-5649-47C6-BE0B-A1C448CE4F82}"/>
              </a:ext>
            </a:extLst>
          </p:cNvPr>
          <p:cNvSpPr>
            <a:spLocks xmlns:a="http://schemas.openxmlformats.org/drawingml/2006/main" noGrp="1"/>
          </p:cNvSpPr>
          <p:nvPr/>
        </p:nvSpPr>
        <p:spPr>
          <a:xfrm xmlns:a="http://schemas.openxmlformats.org/drawingml/2006/main">
            <a:off x="819150" y="4991100"/>
            <a:ext cx="3524250" cy="2286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1">
                <a:solidFill>
                  <a:srgbClr val="15A777"/>
                </a:solidFill>
                <a:latin typeface="Arial"/>
                <a:ea typeface="Arial"/>
                <a:cs typeface="Arial"/>
              </a:defRPr>
            </a:pPr>
            <a:r>
              <a:t>64/64 correct | no correctness winner</a:t>
            </a:r>
          </a:p>
        </p:txBody>
      </p:sp>
      <p:sp>
        <p:nvSpPr>
          <p:cNvPr id="16" name="s7-policy-panel">
            <a:extLst xmlns:a="http://schemas.openxmlformats.org/drawingml/2006/main">
              <a:ext uri="{FF2B5EF4-FFF2-40B4-BE49-F238E27FC236}">
                <a16:creationId xmlns:a16="http://schemas.microsoft.com/office/drawing/2014/main" id="{627E387B-5358-416A-A68C-1209B70212B2}"/>
              </a:ext>
            </a:extLst>
          </p:cNvPr>
          <p:cNvSpPr>
            <a:spLocks xmlns:a="http://schemas.openxmlformats.org/drawingml/2006/main" noGrp="1"/>
          </p:cNvSpPr>
          <p:nvPr/>
        </p:nvSpPr>
        <p:spPr>
          <a:xfrm xmlns:a="http://schemas.openxmlformats.org/drawingml/2006/main">
            <a:off x="5143500" y="1752600"/>
            <a:ext cx="6496050" cy="3562350"/>
          </a:xfrm>
          <a:prstGeom xmlns:a="http://schemas.openxmlformats.org/drawingml/2006/main" prst="roundRect">
            <a:avLst>
              <a:gd name="adj" fmla="val 2139"/>
            </a:avLst>
          </a:prstGeom>
          <a:solidFill xmlns:a="http://schemas.openxmlformats.org/drawingml/2006/main">
            <a:srgbClr val="F7F9FC"/>
          </a:solidFill>
          <a:ln xmlns:a="http://schemas.openxmlformats.org/drawingml/2006/main" w="9525">
            <a:solidFill>
              <a:srgbClr val="B8BCC4"/>
            </a:solidFill>
            <a:prstDash val="solid"/>
          </a:ln>
        </p:spPr>
      </p:sp>
      <p:sp>
        <p:nvSpPr>
          <p:cNvPr id="17" name="s7-policy-k">
            <a:extLst xmlns:a="http://schemas.openxmlformats.org/drawingml/2006/main">
              <a:ext uri="{FF2B5EF4-FFF2-40B4-BE49-F238E27FC236}">
                <a16:creationId xmlns:a16="http://schemas.microsoft.com/office/drawing/2014/main" id="{A7E720BC-40B3-42F7-956D-5216202AD51C}"/>
              </a:ext>
            </a:extLst>
          </p:cNvPr>
          <p:cNvSpPr>
            <a:spLocks xmlns:a="http://schemas.openxmlformats.org/drawingml/2006/main" noGrp="1"/>
          </p:cNvSpPr>
          <p:nvPr/>
        </p:nvSpPr>
        <p:spPr>
          <a:xfrm xmlns:a="http://schemas.openxmlformats.org/drawingml/2006/main">
            <a:off x="5429250" y="2019300"/>
            <a:ext cx="5715000" cy="2286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1">
                <a:solidFill>
                  <a:srgbClr val="1677FF"/>
                </a:solidFill>
                <a:latin typeface="Arial"/>
                <a:ea typeface="Arial"/>
                <a:cs typeface="Arial"/>
              </a:defRPr>
            </a:pPr>
            <a:r>
              <a:t>CURRENT v0.2.3 MODE POLICY</a:t>
            </a:r>
          </a:p>
        </p:txBody>
      </p:sp>
      <p:sp>
        <p:nvSpPr>
          <p:cNvPr id="18" name="s7-policy-v">
            <a:extLst xmlns:a="http://schemas.openxmlformats.org/drawingml/2006/main">
              <a:ext uri="{FF2B5EF4-FFF2-40B4-BE49-F238E27FC236}">
                <a16:creationId xmlns:a16="http://schemas.microsoft.com/office/drawing/2014/main" id="{4B68F582-FD5A-4C8D-A0C7-C5292CE61AFA}"/>
              </a:ext>
            </a:extLst>
          </p:cNvPr>
          <p:cNvSpPr>
            <a:spLocks xmlns:a="http://schemas.openxmlformats.org/drawingml/2006/main" noGrp="1"/>
          </p:cNvSpPr>
          <p:nvPr/>
        </p:nvSpPr>
        <p:spPr>
          <a:xfrm xmlns:a="http://schemas.openxmlformats.org/drawingml/2006/main">
            <a:off x="5429250" y="2324100"/>
            <a:ext cx="5715000" cy="2857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1">
                <a:solidFill>
                  <a:srgbClr val="0A1224"/>
                </a:solidFill>
                <a:latin typeface="Arial"/>
                <a:ea typeface="Arial"/>
                <a:cs typeface="Arial"/>
              </a:defRPr>
            </a:pPr>
            <a:r>
              <a:t>Use less Palace unless risk justifies more.</a:t>
            </a:r>
          </a:p>
        </p:txBody>
      </p:sp>
      <p:sp>
        <p:nvSpPr>
          <p:cNvPr id="19" name="s7-bypass">
            <a:extLst xmlns:a="http://schemas.openxmlformats.org/drawingml/2006/main">
              <a:ext uri="{FF2B5EF4-FFF2-40B4-BE49-F238E27FC236}">
                <a16:creationId xmlns:a16="http://schemas.microsoft.com/office/drawing/2014/main" id="{34676390-83FA-495F-8DA3-800EC0BD16BE}"/>
              </a:ext>
            </a:extLst>
          </p:cNvPr>
          <p:cNvSpPr>
            <a:spLocks xmlns:a="http://schemas.openxmlformats.org/drawingml/2006/main" noGrp="1"/>
          </p:cNvSpPr>
          <p:nvPr/>
        </p:nvSpPr>
        <p:spPr>
          <a:xfrm xmlns:a="http://schemas.openxmlformats.org/drawingml/2006/main">
            <a:off x="5429250" y="2743200"/>
            <a:ext cx="5924550" cy="666750"/>
          </a:xfrm>
          <a:prstGeom xmlns:a="http://schemas.openxmlformats.org/drawingml/2006/main" prst="roundRect">
            <a:avLst>
              <a:gd name="adj" fmla="val 11429"/>
            </a:avLst>
          </a:prstGeom>
          <a:solidFill xmlns:a="http://schemas.openxmlformats.org/drawingml/2006/main">
            <a:srgbClr val="EDEFF3"/>
          </a:solidFill>
          <a:ln xmlns:a="http://schemas.openxmlformats.org/drawingml/2006/main" w="0">
            <a:solidFill>
              <a:srgbClr val="EDEFF3"/>
            </a:solidFill>
            <a:prstDash val="solid"/>
          </a:ln>
        </p:spPr>
      </p:sp>
      <p:sp>
        <p:nvSpPr>
          <p:cNvPr id="20" name="s7-bypass-k">
            <a:extLst xmlns:a="http://schemas.openxmlformats.org/drawingml/2006/main">
              <a:ext uri="{FF2B5EF4-FFF2-40B4-BE49-F238E27FC236}">
                <a16:creationId xmlns:a16="http://schemas.microsoft.com/office/drawing/2014/main" id="{7FA98A56-4507-414A-8F2E-17AF3CA17D6E}"/>
              </a:ext>
            </a:extLst>
          </p:cNvPr>
          <p:cNvSpPr>
            <a:spLocks xmlns:a="http://schemas.openxmlformats.org/drawingml/2006/main" noGrp="1"/>
          </p:cNvSpPr>
          <p:nvPr/>
        </p:nvSpPr>
        <p:spPr>
          <a:xfrm xmlns:a="http://schemas.openxmlformats.org/drawingml/2006/main">
            <a:off x="5619750" y="2895600"/>
            <a:ext cx="1162050" cy="2095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1">
                <a:solidFill>
                  <a:srgbClr val="526071"/>
                </a:solidFill>
                <a:latin typeface="Arial"/>
                <a:ea typeface="Arial"/>
                <a:cs typeface="Arial"/>
              </a:defRPr>
            </a:pPr>
            <a:r>
              <a:t>BYPASS</a:t>
            </a:r>
          </a:p>
        </p:txBody>
      </p:sp>
      <p:sp>
        <p:nvSpPr>
          <p:cNvPr id="21" name="s7-bypass-v">
            <a:extLst xmlns:a="http://schemas.openxmlformats.org/drawingml/2006/main">
              <a:ext uri="{FF2B5EF4-FFF2-40B4-BE49-F238E27FC236}">
                <a16:creationId xmlns:a16="http://schemas.microsoft.com/office/drawing/2014/main" id="{BA3EB9A1-49AE-4B9E-9FE0-BC4468D63EB6}"/>
              </a:ext>
            </a:extLst>
          </p:cNvPr>
          <p:cNvSpPr>
            <a:spLocks xmlns:a="http://schemas.openxmlformats.org/drawingml/2006/main" noGrp="1"/>
          </p:cNvSpPr>
          <p:nvPr/>
        </p:nvSpPr>
        <p:spPr>
          <a:xfrm xmlns:a="http://schemas.openxmlformats.org/drawingml/2006/main">
            <a:off x="6858000" y="2857500"/>
            <a:ext cx="4171950" cy="2286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1">
                <a:solidFill>
                  <a:srgbClr val="0A1224"/>
                </a:solidFill>
                <a:latin typeface="Arial"/>
                <a:ea typeface="Arial"/>
                <a:cs typeface="Arial"/>
              </a:defRPr>
            </a:pPr>
            <a:r>
              <a:t>one explicit file in a small repo</a:t>
            </a:r>
          </a:p>
        </p:txBody>
      </p:sp>
      <p:sp>
        <p:nvSpPr>
          <p:cNvPr id="22" name="s7-bypass-d">
            <a:extLst xmlns:a="http://schemas.openxmlformats.org/drawingml/2006/main">
              <a:ext uri="{FF2B5EF4-FFF2-40B4-BE49-F238E27FC236}">
                <a16:creationId xmlns:a16="http://schemas.microsoft.com/office/drawing/2014/main" id="{5E4BF952-B4EA-4D34-AB73-7F9F0190EF4E}"/>
              </a:ext>
            </a:extLst>
          </p:cNvPr>
          <p:cNvSpPr>
            <a:spLocks xmlns:a="http://schemas.openxmlformats.org/drawingml/2006/main" noGrp="1"/>
          </p:cNvSpPr>
          <p:nvPr/>
        </p:nvSpPr>
        <p:spPr>
          <a:xfrm xmlns:a="http://schemas.openxmlformats.org/drawingml/2006/main">
            <a:off x="6858000" y="3133725"/>
            <a:ext cx="4171950" cy="1905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0">
                <a:solidFill>
                  <a:srgbClr val="526071"/>
                </a:solidFill>
                <a:latin typeface="Arial"/>
                <a:ea typeface="Arial"/>
                <a:cs typeface="Arial"/>
              </a:defRPr>
            </a:pPr>
            <a:r>
              <a:t>no packed source; one decision call remains</a:t>
            </a:r>
          </a:p>
        </p:txBody>
      </p:sp>
      <p:sp>
        <p:nvSpPr>
          <p:cNvPr id="23" name="s7-lite">
            <a:extLst xmlns:a="http://schemas.openxmlformats.org/drawingml/2006/main">
              <a:ext uri="{FF2B5EF4-FFF2-40B4-BE49-F238E27FC236}">
                <a16:creationId xmlns:a16="http://schemas.microsoft.com/office/drawing/2014/main" id="{618A3DE2-1C5A-4EAC-A6FC-8E0F3FB7092F}"/>
              </a:ext>
            </a:extLst>
          </p:cNvPr>
          <p:cNvSpPr>
            <a:spLocks xmlns:a="http://schemas.openxmlformats.org/drawingml/2006/main" noGrp="1"/>
          </p:cNvSpPr>
          <p:nvPr/>
        </p:nvSpPr>
        <p:spPr>
          <a:xfrm xmlns:a="http://schemas.openxmlformats.org/drawingml/2006/main">
            <a:off x="5429250" y="3505200"/>
            <a:ext cx="5924550" cy="666750"/>
          </a:xfrm>
          <a:prstGeom xmlns:a="http://schemas.openxmlformats.org/drawingml/2006/main" prst="roundRect">
            <a:avLst>
              <a:gd name="adj" fmla="val 11429"/>
            </a:avLst>
          </a:prstGeom>
          <a:solidFill xmlns:a="http://schemas.openxmlformats.org/drawingml/2006/main">
            <a:srgbClr val="E8F7FB"/>
          </a:solidFill>
          <a:ln xmlns:a="http://schemas.openxmlformats.org/drawingml/2006/main" w="0">
            <a:solidFill>
              <a:srgbClr val="E8F7FB"/>
            </a:solidFill>
            <a:prstDash val="solid"/>
          </a:ln>
        </p:spPr>
      </p:sp>
      <p:sp>
        <p:nvSpPr>
          <p:cNvPr id="24" name="s7-lite-k">
            <a:extLst xmlns:a="http://schemas.openxmlformats.org/drawingml/2006/main">
              <a:ext uri="{FF2B5EF4-FFF2-40B4-BE49-F238E27FC236}">
                <a16:creationId xmlns:a16="http://schemas.microsoft.com/office/drawing/2014/main" id="{09D52010-C4A1-41E1-B841-4D07C2C90FE5}"/>
              </a:ext>
            </a:extLst>
          </p:cNvPr>
          <p:cNvSpPr>
            <a:spLocks xmlns:a="http://schemas.openxmlformats.org/drawingml/2006/main" noGrp="1"/>
          </p:cNvSpPr>
          <p:nvPr/>
        </p:nvSpPr>
        <p:spPr>
          <a:xfrm xmlns:a="http://schemas.openxmlformats.org/drawingml/2006/main">
            <a:off x="5619750" y="3657600"/>
            <a:ext cx="1162050" cy="2095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1">
                <a:solidFill>
                  <a:srgbClr val="13B7D5"/>
                </a:solidFill>
                <a:latin typeface="Arial"/>
                <a:ea typeface="Arial"/>
                <a:cs typeface="Arial"/>
              </a:defRPr>
            </a:pPr>
            <a:r>
              <a:t>ROUTE-LITE</a:t>
            </a:r>
          </a:p>
        </p:txBody>
      </p:sp>
      <p:sp>
        <p:nvSpPr>
          <p:cNvPr id="25" name="s7-lite-v">
            <a:extLst xmlns:a="http://schemas.openxmlformats.org/drawingml/2006/main">
              <a:ext uri="{FF2B5EF4-FFF2-40B4-BE49-F238E27FC236}">
                <a16:creationId xmlns:a16="http://schemas.microsoft.com/office/drawing/2014/main" id="{89AE73F9-6D53-4DD0-9CE1-D05F86596830}"/>
              </a:ext>
            </a:extLst>
          </p:cNvPr>
          <p:cNvSpPr>
            <a:spLocks xmlns:a="http://schemas.openxmlformats.org/drawingml/2006/main" noGrp="1"/>
          </p:cNvSpPr>
          <p:nvPr/>
        </p:nvSpPr>
        <p:spPr>
          <a:xfrm xmlns:a="http://schemas.openxmlformats.org/drawingml/2006/main">
            <a:off x="6858000" y="3619500"/>
            <a:ext cx="4171950" cy="2286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1">
                <a:solidFill>
                  <a:srgbClr val="0A1224"/>
                </a:solidFill>
                <a:latin typeface="Arial"/>
                <a:ea typeface="Arial"/>
                <a:cs typeface="Arial"/>
              </a:defRPr>
            </a:pPr>
            <a:r>
              <a:t>bounded task + focused route</a:t>
            </a:r>
          </a:p>
        </p:txBody>
      </p:sp>
      <p:sp>
        <p:nvSpPr>
          <p:cNvPr id="26" name="s7-lite-d">
            <a:extLst xmlns:a="http://schemas.openxmlformats.org/drawingml/2006/main">
              <a:ext uri="{FF2B5EF4-FFF2-40B4-BE49-F238E27FC236}">
                <a16:creationId xmlns:a16="http://schemas.microsoft.com/office/drawing/2014/main" id="{F0DB716F-36B6-419E-95EA-1692086E36EC}"/>
              </a:ext>
            </a:extLst>
          </p:cNvPr>
          <p:cNvSpPr>
            <a:spLocks xmlns:a="http://schemas.openxmlformats.org/drawingml/2006/main" noGrp="1"/>
          </p:cNvSpPr>
          <p:nvPr/>
        </p:nvSpPr>
        <p:spPr>
          <a:xfrm xmlns:a="http://schemas.openxmlformats.org/drawingml/2006/main">
            <a:off x="6858000" y="3895725"/>
            <a:ext cx="4171950" cy="1905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0">
                <a:solidFill>
                  <a:srgbClr val="526071"/>
                </a:solidFill>
                <a:latin typeface="Arial"/>
                <a:ea typeface="Arial"/>
                <a:cs typeface="Arial"/>
              </a:defRPr>
            </a:pPr>
            <a:r>
              <a:t>primary route only</a:t>
            </a:r>
          </a:p>
        </p:txBody>
      </p:sp>
      <p:sp>
        <p:nvSpPr>
          <p:cNvPr id="27" name="s7-full">
            <a:extLst xmlns:a="http://schemas.openxmlformats.org/drawingml/2006/main">
              <a:ext uri="{FF2B5EF4-FFF2-40B4-BE49-F238E27FC236}">
                <a16:creationId xmlns:a16="http://schemas.microsoft.com/office/drawing/2014/main" id="{0E464BCE-497B-4CCD-950F-083CDA2B9CB3}"/>
              </a:ext>
            </a:extLst>
          </p:cNvPr>
          <p:cNvSpPr>
            <a:spLocks xmlns:a="http://schemas.openxmlformats.org/drawingml/2006/main" noGrp="1"/>
          </p:cNvSpPr>
          <p:nvPr/>
        </p:nvSpPr>
        <p:spPr>
          <a:xfrm xmlns:a="http://schemas.openxmlformats.org/drawingml/2006/main">
            <a:off x="5429250" y="4267200"/>
            <a:ext cx="5924550" cy="838200"/>
          </a:xfrm>
          <a:prstGeom xmlns:a="http://schemas.openxmlformats.org/drawingml/2006/main" prst="roundRect">
            <a:avLst>
              <a:gd name="adj" fmla="val 9091"/>
            </a:avLst>
          </a:prstGeom>
          <a:solidFill xmlns:a="http://schemas.openxmlformats.org/drawingml/2006/main">
            <a:srgbClr val="E9F7F2"/>
          </a:solidFill>
          <a:ln xmlns:a="http://schemas.openxmlformats.org/drawingml/2006/main" w="0">
            <a:solidFill>
              <a:srgbClr val="E9F7F2"/>
            </a:solidFill>
            <a:prstDash val="solid"/>
          </a:ln>
        </p:spPr>
      </p:sp>
      <p:sp>
        <p:nvSpPr>
          <p:cNvPr id="28" name="s7-full-k">
            <a:extLst xmlns:a="http://schemas.openxmlformats.org/drawingml/2006/main">
              <a:ext uri="{FF2B5EF4-FFF2-40B4-BE49-F238E27FC236}">
                <a16:creationId xmlns:a16="http://schemas.microsoft.com/office/drawing/2014/main" id="{C585D106-264A-4686-B52D-61F4F4E57441}"/>
              </a:ext>
            </a:extLst>
          </p:cNvPr>
          <p:cNvSpPr>
            <a:spLocks xmlns:a="http://schemas.openxmlformats.org/drawingml/2006/main" noGrp="1"/>
          </p:cNvSpPr>
          <p:nvPr/>
        </p:nvSpPr>
        <p:spPr>
          <a:xfrm xmlns:a="http://schemas.openxmlformats.org/drawingml/2006/main">
            <a:off x="5619750" y="4438650"/>
            <a:ext cx="1333500" cy="2095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1">
                <a:solidFill>
                  <a:srgbClr val="15A777"/>
                </a:solidFill>
                <a:latin typeface="Arial"/>
                <a:ea typeface="Arial"/>
                <a:cs typeface="Arial"/>
              </a:defRPr>
            </a:pPr>
            <a:r>
              <a:t>FULL / GUARDED</a:t>
            </a:r>
          </a:p>
        </p:txBody>
      </p:sp>
      <p:sp>
        <p:nvSpPr>
          <p:cNvPr id="29" name="s7-full-v">
            <a:extLst xmlns:a="http://schemas.openxmlformats.org/drawingml/2006/main">
              <a:ext uri="{FF2B5EF4-FFF2-40B4-BE49-F238E27FC236}">
                <a16:creationId xmlns:a16="http://schemas.microsoft.com/office/drawing/2014/main" id="{3757FB6D-DAB2-447E-9791-5D80B080F98A}"/>
              </a:ext>
            </a:extLst>
          </p:cNvPr>
          <p:cNvSpPr>
            <a:spLocks xmlns:a="http://schemas.openxmlformats.org/drawingml/2006/main" noGrp="1"/>
          </p:cNvSpPr>
          <p:nvPr/>
        </p:nvSpPr>
        <p:spPr>
          <a:xfrm xmlns:a="http://schemas.openxmlformats.org/drawingml/2006/main">
            <a:off x="7048500" y="4400550"/>
            <a:ext cx="3981450" cy="2286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1">
                <a:solidFill>
                  <a:srgbClr val="0A1224"/>
                </a:solidFill>
                <a:latin typeface="Arial"/>
                <a:ea typeface="Arial"/>
                <a:cs typeface="Arial"/>
              </a:defRPr>
            </a:pPr>
            <a:r>
              <a:t>cross-stack, contract, or memory risk</a:t>
            </a:r>
          </a:p>
        </p:txBody>
      </p:sp>
      <p:sp>
        <p:nvSpPr>
          <p:cNvPr id="30" name="s7-full-d">
            <a:extLst xmlns:a="http://schemas.openxmlformats.org/drawingml/2006/main">
              <a:ext uri="{FF2B5EF4-FFF2-40B4-BE49-F238E27FC236}">
                <a16:creationId xmlns:a16="http://schemas.microsoft.com/office/drawing/2014/main" id="{BC1958D9-2501-47C2-903E-BADDDF58F281}"/>
              </a:ext>
            </a:extLst>
          </p:cNvPr>
          <p:cNvSpPr>
            <a:spLocks xmlns:a="http://schemas.openxmlformats.org/drawingml/2006/main" noGrp="1"/>
          </p:cNvSpPr>
          <p:nvPr/>
        </p:nvSpPr>
        <p:spPr>
          <a:xfrm xmlns:a="http://schemas.openxmlformats.org/drawingml/2006/main">
            <a:off x="7048500" y="4695825"/>
            <a:ext cx="3981450" cy="2095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0">
                <a:solidFill>
                  <a:srgbClr val="526071"/>
                </a:solidFill>
                <a:latin typeface="Arial"/>
                <a:ea typeface="Arial"/>
                <a:cs typeface="Arial"/>
              </a:defRPr>
            </a:pPr>
            <a:r>
              <a:t>source + scoped memory + guardrails</a:t>
            </a:r>
          </a:p>
        </p:txBody>
      </p:sp>
      <p:sp>
        <p:nvSpPr>
          <p:cNvPr id="31" name="s7-next">
            <a:extLst xmlns:a="http://schemas.openxmlformats.org/drawingml/2006/main">
              <a:ext uri="{FF2B5EF4-FFF2-40B4-BE49-F238E27FC236}">
                <a16:creationId xmlns:a16="http://schemas.microsoft.com/office/drawing/2014/main" id="{01F586C4-A9E9-45AC-B61B-61E3BAA0AF45}"/>
              </a:ext>
            </a:extLst>
          </p:cNvPr>
          <p:cNvSpPr>
            <a:spLocks xmlns:a="http://schemas.openxmlformats.org/drawingml/2006/main" noGrp="1"/>
          </p:cNvSpPr>
          <p:nvPr/>
        </p:nvSpPr>
        <p:spPr>
          <a:xfrm xmlns:a="http://schemas.openxmlformats.org/drawingml/2006/main">
            <a:off x="552450" y="5524500"/>
            <a:ext cx="11087100" cy="533400"/>
          </a:xfrm>
          <a:prstGeom xmlns:a="http://schemas.openxmlformats.org/drawingml/2006/main" prst="roundRect">
            <a:avLst>
              <a:gd name="adj" fmla="val 14286"/>
            </a:avLst>
          </a:prstGeom>
          <a:solidFill xmlns:a="http://schemas.openxmlformats.org/drawingml/2006/main">
            <a:srgbClr val="061B3D"/>
          </a:solidFill>
          <a:ln xmlns:a="http://schemas.openxmlformats.org/drawingml/2006/main" w="0">
            <a:solidFill>
              <a:srgbClr val="061B3D"/>
            </a:solidFill>
            <a:prstDash val="solid"/>
          </a:ln>
        </p:spPr>
      </p:sp>
      <p:sp>
        <p:nvSpPr>
          <p:cNvPr id="32" name="s7-next-k">
            <a:extLst xmlns:a="http://schemas.openxmlformats.org/drawingml/2006/main">
              <a:ext uri="{FF2B5EF4-FFF2-40B4-BE49-F238E27FC236}">
                <a16:creationId xmlns:a16="http://schemas.microsoft.com/office/drawing/2014/main" id="{52AE6A7A-2E6D-4605-91B0-8A3E7993D6F4}"/>
              </a:ext>
            </a:extLst>
          </p:cNvPr>
          <p:cNvSpPr>
            <a:spLocks xmlns:a="http://schemas.openxmlformats.org/drawingml/2006/main" noGrp="1"/>
          </p:cNvSpPr>
          <p:nvPr/>
        </p:nvSpPr>
        <p:spPr>
          <a:xfrm xmlns:a="http://schemas.openxmlformats.org/drawingml/2006/main">
            <a:off x="781050" y="5676900"/>
            <a:ext cx="2095500" cy="2095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975" b="1">
                <a:solidFill>
                  <a:srgbClr val="13B7D5"/>
                </a:solidFill>
                <a:latin typeface="Arial"/>
                <a:ea typeface="Arial"/>
                <a:cs typeface="Arial"/>
              </a:defRPr>
            </a:pPr>
            <a:r>
              <a:t>NEXT v0.2.3 TEST</a:t>
            </a:r>
          </a:p>
        </p:txBody>
      </p:sp>
      <p:sp>
        <p:nvSpPr>
          <p:cNvPr id="33" name="s7-next-v">
            <a:extLst xmlns:a="http://schemas.openxmlformats.org/drawingml/2006/main">
              <a:ext uri="{FF2B5EF4-FFF2-40B4-BE49-F238E27FC236}">
                <a16:creationId xmlns:a16="http://schemas.microsoft.com/office/drawing/2014/main" id="{A9C04524-5C74-4103-9F81-D293978F0FE7}"/>
              </a:ext>
            </a:extLst>
          </p:cNvPr>
          <p:cNvSpPr>
            <a:spLocks xmlns:a="http://schemas.openxmlformats.org/drawingml/2006/main" noGrp="1"/>
          </p:cNvSpPr>
          <p:nvPr/>
        </p:nvSpPr>
        <p:spPr>
          <a:xfrm xmlns:a="http://schemas.openxmlformats.org/drawingml/2006/main">
            <a:off x="2857500" y="5657850"/>
            <a:ext cx="8477250" cy="2476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FFFFFF"/>
                </a:solidFill>
                <a:latin typeface="Arial"/>
                <a:ea typeface="Arial"/>
                <a:cs typeface="Arial"/>
              </a:defRPr>
            </a:pPr>
            <a:r>
              <a:t>larger real repos | hidden memory-dependent traps | repeated models, machines, and long-lived sessions</a:t>
            </a:r>
          </a:p>
        </p:txBody>
      </p:sp>
      <p:cxnSp>
        <p:nvCxnSpPr>
          <p:cNvPr id="70" name="footer-rule-7"/>
          <p:cNvCxnSpPr/>
          <p:nvPr/>
        </p:nvCxnSpPr>
        <p:spPr>
          <a:xfrm xmlns:a="http://schemas.openxmlformats.org/drawingml/2006/main">
            <a:off x="400050" y="6162675"/>
            <a:ext cx="11391900" cy="953"/>
          </a:xfrm>
          <a:prstGeom xmlns:a="http://schemas.openxmlformats.org/drawingml/2006/main" prst="straightConnector1">
            <a:avLst/>
          </a:prstGeom>
          <a:ln xmlns:a="http://schemas.openxmlformats.org/drawingml/2006/main" w="9525">
            <a:solidFill>
              <a:srgbClr val="B8BCC4"/>
            </a:solidFill>
            <a:prstDash val="solid"/>
          </a:ln>
        </p:spPr>
      </p:cxnSp>
      <p:sp>
        <p:nvSpPr>
          <p:cNvPr id="35" name="footer-source-7">
            <a:extLst xmlns:a="http://schemas.openxmlformats.org/drawingml/2006/main">
              <a:ext uri="{FF2B5EF4-FFF2-40B4-BE49-F238E27FC236}">
                <a16:creationId xmlns:a16="http://schemas.microsoft.com/office/drawing/2014/main" id="{E1F073E0-8D3F-4691-A296-136380F07518}"/>
              </a:ext>
            </a:extLst>
          </p:cNvPr>
          <p:cNvSpPr>
            <a:spLocks xmlns:a="http://schemas.openxmlformats.org/drawingml/2006/main" noGrp="1"/>
          </p:cNvSpPr>
          <p:nvPr/>
        </p:nvSpPr>
        <p:spPr>
          <a:xfrm xmlns:a="http://schemas.openxmlformats.org/drawingml/2006/main">
            <a:off x="400050" y="6238875"/>
            <a:ext cx="10001250" cy="2286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863" b="0">
                <a:solidFill>
                  <a:srgbClr val="526071"/>
                </a:solidFill>
                <a:latin typeface="Arial"/>
                <a:ea typeface="Arial"/>
                <a:cs typeface="Arial"/>
              </a:defRPr>
            </a:pPr>
            <a:r>
              <a:t>Codex alone = no-Palace Control | Adaptive - Codex paired differences | synthetic repositories | Vertex Palace 0.2.1</a:t>
            </a:r>
          </a:p>
        </p:txBody>
      </p:sp>
      <p:sp>
        <p:nvSpPr>
          <p:cNvPr id="36" name="footer-number-7">
            <a:extLst xmlns:a="http://schemas.openxmlformats.org/drawingml/2006/main">
              <a:ext uri="{FF2B5EF4-FFF2-40B4-BE49-F238E27FC236}">
                <a16:creationId xmlns:a16="http://schemas.microsoft.com/office/drawing/2014/main" id="{DAB0B09A-D16B-40D6-9753-1FF46C3D1254}"/>
              </a:ext>
            </a:extLst>
          </p:cNvPr>
          <p:cNvSpPr>
            <a:spLocks xmlns:a="http://schemas.openxmlformats.org/drawingml/2006/main" noGrp="1"/>
          </p:cNvSpPr>
          <p:nvPr/>
        </p:nvSpPr>
        <p:spPr>
          <a:xfrm xmlns:a="http://schemas.openxmlformats.org/drawingml/2006/main">
            <a:off x="11258550" y="6238875"/>
            <a:ext cx="533400" cy="2286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r">
              <a:defRPr sz="900" b="0">
                <a:solidFill>
                  <a:srgbClr val="526071"/>
                </a:solidFill>
                <a:latin typeface="Arial"/>
                <a:ea typeface="Arial"/>
                <a:cs typeface="Arial"/>
              </a:defRPr>
            </a:pPr>
            <a:r>
              <a:t>7</a:t>
            </a:r>
          </a:p>
        </p:txBody>
      </p:sp>
    </p:spTree>
    <p:extLst>
      <p:ext uri="{BB962C8B-B14F-4D97-AF65-F5344CB8AC3E}">
        <p14:creationId xmlns:p14="http://schemas.microsoft.com/office/powerpoint/2010/main" val="411809908"/>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3" name="s9-title">
            <a:extLst xmlns:a="http://schemas.openxmlformats.org/drawingml/2006/main">
              <a:ext uri="{FF2B5EF4-FFF2-40B4-BE49-F238E27FC236}">
                <a16:creationId xmlns:a16="http://schemas.microsoft.com/office/drawing/2014/main" id="{3F6A80DB-3BA3-43F9-A774-EE16B5AEA619}"/>
              </a:ext>
            </a:extLst>
          </p:cNvPr>
          <p:cNvSpPr>
            <a:spLocks xmlns:a="http://schemas.openxmlformats.org/drawingml/2006/main" noGrp="1"/>
          </p:cNvSpPr>
          <p:nvPr/>
        </p:nvSpPr>
        <p:spPr>
          <a:xfrm xmlns:a="http://schemas.openxmlformats.org/drawingml/2006/main">
            <a:off x="400050" y="323850"/>
            <a:ext cx="11391900" cy="7239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0A1224"/>
                </a:solidFill>
                <a:latin typeface="Arial"/>
                <a:ea typeface="Arial"/>
                <a:cs typeface="Arial"/>
              </a:defRPr>
            </a:pPr>
            <a:r>
              <a:t>Correctness was held constant before efficiency.</a:t>
            </a:r>
          </a:p>
        </p:txBody>
      </p:sp>
      <p:sp>
        <p:nvSpPr>
          <p:cNvPr id="2" name="s9-subtitle">
            <a:extLst xmlns:a="http://schemas.openxmlformats.org/drawingml/2006/main">
              <a:ext uri="{FF2B5EF4-FFF2-40B4-BE49-F238E27FC236}">
                <a16:creationId xmlns:a16="http://schemas.microsoft.com/office/drawing/2014/main" id="{7A477C61-ECC1-4AFC-A3BD-F8328130C7FF}"/>
              </a:ext>
            </a:extLst>
          </p:cNvPr>
          <p:cNvSpPr>
            <a:spLocks xmlns:a="http://schemas.openxmlformats.org/drawingml/2006/main" noGrp="1"/>
          </p:cNvSpPr>
          <p:nvPr/>
        </p:nvSpPr>
        <p:spPr>
          <a:xfrm xmlns:a="http://schemas.openxmlformats.org/drawingml/2006/main">
            <a:off x="400050" y="1066800"/>
            <a:ext cx="10668000" cy="3810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526071"/>
                </a:solidFill>
                <a:latin typeface="Arial"/>
                <a:ea typeface="Arial"/>
                <a:cs typeface="Arial"/>
              </a:defRPr>
            </a:pPr>
            <a:r>
              <a:t>Every arm had to clear the same validity, oracle, and scope gates.</a:t>
            </a:r>
          </a:p>
        </p:txBody>
      </p:sp>
      <p:sp>
        <p:nvSpPr>
          <p:cNvPr id="3" name="s9-gate-h">
            <a:extLst xmlns:a="http://schemas.openxmlformats.org/drawingml/2006/main">
              <a:ext uri="{FF2B5EF4-FFF2-40B4-BE49-F238E27FC236}">
                <a16:creationId xmlns:a16="http://schemas.microsoft.com/office/drawing/2014/main" id="{69656CF1-5088-4DED-9B69-DC1AC9EB1EC2}"/>
              </a:ext>
            </a:extLst>
          </p:cNvPr>
          <p:cNvSpPr>
            <a:spLocks xmlns:a="http://schemas.openxmlformats.org/drawingml/2006/main" noGrp="1"/>
          </p:cNvSpPr>
          <p:nvPr/>
        </p:nvSpPr>
        <p:spPr>
          <a:xfrm xmlns:a="http://schemas.openxmlformats.org/drawingml/2006/main">
            <a:off x="685800" y="1714500"/>
            <a:ext cx="3429000" cy="2095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526071"/>
                </a:solidFill>
                <a:latin typeface="Arial"/>
                <a:ea typeface="Arial"/>
                <a:cs typeface="Arial"/>
              </a:defRPr>
            </a:pPr>
            <a:r>
              <a:t>GATE</a:t>
            </a:r>
          </a:p>
        </p:txBody>
      </p:sp>
      <p:sp>
        <p:nvSpPr>
          <p:cNvPr id="4" name="s9-result-h">
            <a:extLst xmlns:a="http://schemas.openxmlformats.org/drawingml/2006/main">
              <a:ext uri="{FF2B5EF4-FFF2-40B4-BE49-F238E27FC236}">
                <a16:creationId xmlns:a16="http://schemas.microsoft.com/office/drawing/2014/main" id="{AA115A8F-8DF3-41E8-BC7D-18282885308D}"/>
              </a:ext>
            </a:extLst>
          </p:cNvPr>
          <p:cNvSpPr>
            <a:spLocks xmlns:a="http://schemas.openxmlformats.org/drawingml/2006/main" noGrp="1"/>
          </p:cNvSpPr>
          <p:nvPr/>
        </p:nvSpPr>
        <p:spPr>
          <a:xfrm xmlns:a="http://schemas.openxmlformats.org/drawingml/2006/main">
            <a:off x="5619750" y="1714500"/>
            <a:ext cx="1428750" cy="2095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1">
                <a:solidFill>
                  <a:srgbClr val="526071"/>
                </a:solidFill>
                <a:latin typeface="Arial"/>
                <a:ea typeface="Arial"/>
                <a:cs typeface="Arial"/>
              </a:defRPr>
            </a:pPr>
            <a:r>
              <a:t>RESULT</a:t>
            </a:r>
          </a:p>
        </p:txBody>
      </p:sp>
      <p:sp>
        <p:nvSpPr>
          <p:cNvPr id="5" name="s9-row1">
            <a:extLst xmlns:a="http://schemas.openxmlformats.org/drawingml/2006/main">
              <a:ext uri="{FF2B5EF4-FFF2-40B4-BE49-F238E27FC236}">
                <a16:creationId xmlns:a16="http://schemas.microsoft.com/office/drawing/2014/main" id="{C66966DA-90F5-43E8-84AA-4DF2F997B195}"/>
              </a:ext>
            </a:extLst>
          </p:cNvPr>
          <p:cNvSpPr>
            <a:spLocks xmlns:a="http://schemas.openxmlformats.org/drawingml/2006/main" noGrp="1"/>
          </p:cNvSpPr>
          <p:nvPr/>
        </p:nvSpPr>
        <p:spPr>
          <a:xfrm xmlns:a="http://schemas.openxmlformats.org/drawingml/2006/main">
            <a:off x="552450" y="2000250"/>
            <a:ext cx="6667500" cy="571500"/>
          </a:xfrm>
          <a:prstGeom xmlns:a="http://schemas.openxmlformats.org/drawingml/2006/main" prst="roundRect">
            <a:avLst>
              <a:gd name="adj" fmla="val 13333"/>
            </a:avLst>
          </a:prstGeom>
          <a:solidFill xmlns:a="http://schemas.openxmlformats.org/drawingml/2006/main">
            <a:srgbClr val="EDEFF3"/>
          </a:solidFill>
          <a:ln xmlns:a="http://schemas.openxmlformats.org/drawingml/2006/main" w="0">
            <a:solidFill>
              <a:srgbClr val="EDEFF3"/>
            </a:solidFill>
            <a:prstDash val="solid"/>
          </a:ln>
        </p:spPr>
      </p:sp>
      <p:sp>
        <p:nvSpPr>
          <p:cNvPr id="6" name="s9-row2">
            <a:extLst xmlns:a="http://schemas.openxmlformats.org/drawingml/2006/main">
              <a:ext uri="{FF2B5EF4-FFF2-40B4-BE49-F238E27FC236}">
                <a16:creationId xmlns:a16="http://schemas.microsoft.com/office/drawing/2014/main" id="{6B35B86A-2BA0-4E84-9742-1C55EB99FB07}"/>
              </a:ext>
            </a:extLst>
          </p:cNvPr>
          <p:cNvSpPr>
            <a:spLocks xmlns:a="http://schemas.openxmlformats.org/drawingml/2006/main" noGrp="1"/>
          </p:cNvSpPr>
          <p:nvPr/>
        </p:nvSpPr>
        <p:spPr>
          <a:xfrm xmlns:a="http://schemas.openxmlformats.org/drawingml/2006/main">
            <a:off x="552450" y="2647950"/>
            <a:ext cx="6667500" cy="571500"/>
          </a:xfrm>
          <a:prstGeom xmlns:a="http://schemas.openxmlformats.org/drawingml/2006/main" prst="roundRect">
            <a:avLst>
              <a:gd name="adj" fmla="val 13333"/>
            </a:avLst>
          </a:prstGeom>
          <a:solidFill xmlns:a="http://schemas.openxmlformats.org/drawingml/2006/main">
            <a:srgbClr val="FFFFFF"/>
          </a:solidFill>
          <a:ln xmlns:a="http://schemas.openxmlformats.org/drawingml/2006/main" w="9525">
            <a:solidFill>
              <a:srgbClr val="B8BCC4"/>
            </a:solidFill>
            <a:prstDash val="solid"/>
          </a:ln>
        </p:spPr>
      </p:sp>
      <p:sp>
        <p:nvSpPr>
          <p:cNvPr id="7" name="s9-row3">
            <a:extLst xmlns:a="http://schemas.openxmlformats.org/drawingml/2006/main">
              <a:ext uri="{FF2B5EF4-FFF2-40B4-BE49-F238E27FC236}">
                <a16:creationId xmlns:a16="http://schemas.microsoft.com/office/drawing/2014/main" id="{8824FA46-41E8-4B3D-9FBC-CFB958FF536C}"/>
              </a:ext>
            </a:extLst>
          </p:cNvPr>
          <p:cNvSpPr>
            <a:spLocks xmlns:a="http://schemas.openxmlformats.org/drawingml/2006/main" noGrp="1"/>
          </p:cNvSpPr>
          <p:nvPr/>
        </p:nvSpPr>
        <p:spPr>
          <a:xfrm xmlns:a="http://schemas.openxmlformats.org/drawingml/2006/main">
            <a:off x="552450" y="3295650"/>
            <a:ext cx="6667500" cy="571500"/>
          </a:xfrm>
          <a:prstGeom xmlns:a="http://schemas.openxmlformats.org/drawingml/2006/main" prst="roundRect">
            <a:avLst>
              <a:gd name="adj" fmla="val 13333"/>
            </a:avLst>
          </a:prstGeom>
          <a:solidFill xmlns:a="http://schemas.openxmlformats.org/drawingml/2006/main">
            <a:srgbClr val="EDEFF3"/>
          </a:solidFill>
          <a:ln xmlns:a="http://schemas.openxmlformats.org/drawingml/2006/main" w="0">
            <a:solidFill>
              <a:srgbClr val="EDEFF3"/>
            </a:solidFill>
            <a:prstDash val="solid"/>
          </a:ln>
        </p:spPr>
      </p:sp>
      <p:sp>
        <p:nvSpPr>
          <p:cNvPr id="8" name="s9-row4">
            <a:extLst xmlns:a="http://schemas.openxmlformats.org/drawingml/2006/main">
              <a:ext uri="{FF2B5EF4-FFF2-40B4-BE49-F238E27FC236}">
                <a16:creationId xmlns:a16="http://schemas.microsoft.com/office/drawing/2014/main" id="{89877017-BA5D-439D-9388-B6B97F6AE57B}"/>
              </a:ext>
            </a:extLst>
          </p:cNvPr>
          <p:cNvSpPr>
            <a:spLocks xmlns:a="http://schemas.openxmlformats.org/drawingml/2006/main" noGrp="1"/>
          </p:cNvSpPr>
          <p:nvPr/>
        </p:nvSpPr>
        <p:spPr>
          <a:xfrm xmlns:a="http://schemas.openxmlformats.org/drawingml/2006/main">
            <a:off x="552450" y="3943350"/>
            <a:ext cx="6667500" cy="571500"/>
          </a:xfrm>
          <a:prstGeom xmlns:a="http://schemas.openxmlformats.org/drawingml/2006/main" prst="roundRect">
            <a:avLst>
              <a:gd name="adj" fmla="val 13333"/>
            </a:avLst>
          </a:prstGeom>
          <a:solidFill xmlns:a="http://schemas.openxmlformats.org/drawingml/2006/main">
            <a:srgbClr val="FFFFFF"/>
          </a:solidFill>
          <a:ln xmlns:a="http://schemas.openxmlformats.org/drawingml/2006/main" w="9525">
            <a:solidFill>
              <a:srgbClr val="B8BCC4"/>
            </a:solidFill>
            <a:prstDash val="solid"/>
          </a:ln>
        </p:spPr>
      </p:sp>
      <p:sp>
        <p:nvSpPr>
          <p:cNvPr id="9" name="s9-row5">
            <a:extLst xmlns:a="http://schemas.openxmlformats.org/drawingml/2006/main">
              <a:ext uri="{FF2B5EF4-FFF2-40B4-BE49-F238E27FC236}">
                <a16:creationId xmlns:a16="http://schemas.microsoft.com/office/drawing/2014/main" id="{8DA0763B-5092-4329-9968-2D2587151C85}"/>
              </a:ext>
            </a:extLst>
          </p:cNvPr>
          <p:cNvSpPr>
            <a:spLocks xmlns:a="http://schemas.openxmlformats.org/drawingml/2006/main" noGrp="1"/>
          </p:cNvSpPr>
          <p:nvPr/>
        </p:nvSpPr>
        <p:spPr>
          <a:xfrm xmlns:a="http://schemas.openxmlformats.org/drawingml/2006/main">
            <a:off x="552450" y="4591050"/>
            <a:ext cx="6667500" cy="571500"/>
          </a:xfrm>
          <a:prstGeom xmlns:a="http://schemas.openxmlformats.org/drawingml/2006/main" prst="roundRect">
            <a:avLst>
              <a:gd name="adj" fmla="val 13333"/>
            </a:avLst>
          </a:prstGeom>
          <a:solidFill xmlns:a="http://schemas.openxmlformats.org/drawingml/2006/main">
            <a:srgbClr val="EDEFF3"/>
          </a:solidFill>
          <a:ln xmlns:a="http://schemas.openxmlformats.org/drawingml/2006/main" w="0">
            <a:solidFill>
              <a:srgbClr val="EDEFF3"/>
            </a:solidFill>
            <a:prstDash val="solid"/>
          </a:ln>
        </p:spPr>
      </p:sp>
      <p:sp>
        <p:nvSpPr>
          <p:cNvPr id="10" name="s9-row1-k">
            <a:extLst xmlns:a="http://schemas.openxmlformats.org/drawingml/2006/main">
              <a:ext uri="{FF2B5EF4-FFF2-40B4-BE49-F238E27FC236}">
                <a16:creationId xmlns:a16="http://schemas.microsoft.com/office/drawing/2014/main" id="{C4092B44-912C-4EB6-B7F2-CBBA4F18F89B}"/>
              </a:ext>
            </a:extLst>
          </p:cNvPr>
          <p:cNvSpPr>
            <a:spLocks xmlns:a="http://schemas.openxmlformats.org/drawingml/2006/main" noGrp="1"/>
          </p:cNvSpPr>
          <p:nvPr/>
        </p:nvSpPr>
        <p:spPr>
          <a:xfrm xmlns:a="http://schemas.openxmlformats.org/drawingml/2006/main">
            <a:off x="781050" y="2171700"/>
            <a:ext cx="4095750" cy="2476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1">
                <a:solidFill>
                  <a:srgbClr val="0A1224"/>
                </a:solidFill>
                <a:latin typeface="Arial"/>
                <a:ea typeface="Arial"/>
                <a:cs typeface="Arial"/>
              </a:defRPr>
            </a:pPr>
            <a:r>
              <a:t>Valid and successful arms</a:t>
            </a:r>
          </a:p>
        </p:txBody>
      </p:sp>
      <p:sp>
        <p:nvSpPr>
          <p:cNvPr id="11" name="s9-row1-v">
            <a:extLst xmlns:a="http://schemas.openxmlformats.org/drawingml/2006/main">
              <a:ext uri="{FF2B5EF4-FFF2-40B4-BE49-F238E27FC236}">
                <a16:creationId xmlns:a16="http://schemas.microsoft.com/office/drawing/2014/main" id="{74B86EAF-FD21-435D-B9FA-0099137109AD}"/>
              </a:ext>
            </a:extLst>
          </p:cNvPr>
          <p:cNvSpPr>
            <a:spLocks xmlns:a="http://schemas.openxmlformats.org/drawingml/2006/main" noGrp="1"/>
          </p:cNvSpPr>
          <p:nvPr/>
        </p:nvSpPr>
        <p:spPr>
          <a:xfrm xmlns:a="http://schemas.openxmlformats.org/drawingml/2006/main">
            <a:off x="5619750" y="2114550"/>
            <a:ext cx="1238250" cy="3238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r">
              <a:defRPr sz="1875" b="1">
                <a:solidFill>
                  <a:srgbClr val="15A777"/>
                </a:solidFill>
                <a:latin typeface="Arial"/>
                <a:ea typeface="Arial"/>
                <a:cs typeface="Arial"/>
              </a:defRPr>
            </a:pPr>
            <a:r>
              <a:t>64/64</a:t>
            </a:r>
          </a:p>
        </p:txBody>
      </p:sp>
      <p:sp>
        <p:nvSpPr>
          <p:cNvPr id="12" name="s9-row2-k">
            <a:extLst xmlns:a="http://schemas.openxmlformats.org/drawingml/2006/main">
              <a:ext uri="{FF2B5EF4-FFF2-40B4-BE49-F238E27FC236}">
                <a16:creationId xmlns:a16="http://schemas.microsoft.com/office/drawing/2014/main" id="{DFBF44CE-E3B7-4FF5-A02E-E8AAEDBA22A4}"/>
              </a:ext>
            </a:extLst>
          </p:cNvPr>
          <p:cNvSpPr>
            <a:spLocks xmlns:a="http://schemas.openxmlformats.org/drawingml/2006/main" noGrp="1"/>
          </p:cNvSpPr>
          <p:nvPr/>
        </p:nvSpPr>
        <p:spPr>
          <a:xfrm xmlns:a="http://schemas.openxmlformats.org/drawingml/2006/main">
            <a:off x="781050" y="2819400"/>
            <a:ext cx="4095750" cy="2476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1">
                <a:solidFill>
                  <a:srgbClr val="0A1224"/>
                </a:solidFill>
                <a:latin typeface="Arial"/>
                <a:ea typeface="Arial"/>
                <a:cs typeface="Arial"/>
              </a:defRPr>
            </a:pPr>
            <a:r>
              <a:t>Public tests</a:t>
            </a:r>
          </a:p>
        </p:txBody>
      </p:sp>
      <p:sp>
        <p:nvSpPr>
          <p:cNvPr id="13" name="s9-row2-v">
            <a:extLst xmlns:a="http://schemas.openxmlformats.org/drawingml/2006/main">
              <a:ext uri="{FF2B5EF4-FFF2-40B4-BE49-F238E27FC236}">
                <a16:creationId xmlns:a16="http://schemas.microsoft.com/office/drawing/2014/main" id="{D77B0055-AF80-442B-98C1-1B4549799408}"/>
              </a:ext>
            </a:extLst>
          </p:cNvPr>
          <p:cNvSpPr>
            <a:spLocks xmlns:a="http://schemas.openxmlformats.org/drawingml/2006/main" noGrp="1"/>
          </p:cNvSpPr>
          <p:nvPr/>
        </p:nvSpPr>
        <p:spPr>
          <a:xfrm xmlns:a="http://schemas.openxmlformats.org/drawingml/2006/main">
            <a:off x="5619750" y="2762250"/>
            <a:ext cx="1238250" cy="3238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r">
              <a:defRPr sz="1875" b="1">
                <a:solidFill>
                  <a:srgbClr val="15A777"/>
                </a:solidFill>
                <a:latin typeface="Arial"/>
                <a:ea typeface="Arial"/>
                <a:cs typeface="Arial"/>
              </a:defRPr>
            </a:pPr>
            <a:r>
              <a:t>64/64</a:t>
            </a:r>
          </a:p>
        </p:txBody>
      </p:sp>
      <p:sp>
        <p:nvSpPr>
          <p:cNvPr id="14" name="s9-row3-k">
            <a:extLst xmlns:a="http://schemas.openxmlformats.org/drawingml/2006/main">
              <a:ext uri="{FF2B5EF4-FFF2-40B4-BE49-F238E27FC236}">
                <a16:creationId xmlns:a16="http://schemas.microsoft.com/office/drawing/2014/main" id="{AD16C852-4627-45AB-8AEE-23DDDEC6C675}"/>
              </a:ext>
            </a:extLst>
          </p:cNvPr>
          <p:cNvSpPr>
            <a:spLocks xmlns:a="http://schemas.openxmlformats.org/drawingml/2006/main" noGrp="1"/>
          </p:cNvSpPr>
          <p:nvPr/>
        </p:nvSpPr>
        <p:spPr>
          <a:xfrm xmlns:a="http://schemas.openxmlformats.org/drawingml/2006/main">
            <a:off x="781050" y="3467100"/>
            <a:ext cx="4095750" cy="2476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1">
                <a:solidFill>
                  <a:srgbClr val="0A1224"/>
                </a:solidFill>
                <a:latin typeface="Arial"/>
                <a:ea typeface="Arial"/>
                <a:cs typeface="Arial"/>
              </a:defRPr>
            </a:pPr>
            <a:r>
              <a:t>Hidden oracle</a:t>
            </a:r>
          </a:p>
        </p:txBody>
      </p:sp>
      <p:sp>
        <p:nvSpPr>
          <p:cNvPr id="15" name="s9-row3-v">
            <a:extLst xmlns:a="http://schemas.openxmlformats.org/drawingml/2006/main">
              <a:ext uri="{FF2B5EF4-FFF2-40B4-BE49-F238E27FC236}">
                <a16:creationId xmlns:a16="http://schemas.microsoft.com/office/drawing/2014/main" id="{3CF4A2F1-B849-4A4D-A7C8-B636B52B019F}"/>
              </a:ext>
            </a:extLst>
          </p:cNvPr>
          <p:cNvSpPr>
            <a:spLocks xmlns:a="http://schemas.openxmlformats.org/drawingml/2006/main" noGrp="1"/>
          </p:cNvSpPr>
          <p:nvPr/>
        </p:nvSpPr>
        <p:spPr>
          <a:xfrm xmlns:a="http://schemas.openxmlformats.org/drawingml/2006/main">
            <a:off x="5619750" y="3409950"/>
            <a:ext cx="1238250" cy="3238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r">
              <a:defRPr sz="1875" b="1">
                <a:solidFill>
                  <a:srgbClr val="15A777"/>
                </a:solidFill>
                <a:latin typeface="Arial"/>
                <a:ea typeface="Arial"/>
                <a:cs typeface="Arial"/>
              </a:defRPr>
            </a:pPr>
            <a:r>
              <a:t>64/64</a:t>
            </a:r>
          </a:p>
        </p:txBody>
      </p:sp>
      <p:sp>
        <p:nvSpPr>
          <p:cNvPr id="16" name="s9-row4-k">
            <a:extLst xmlns:a="http://schemas.openxmlformats.org/drawingml/2006/main">
              <a:ext uri="{FF2B5EF4-FFF2-40B4-BE49-F238E27FC236}">
                <a16:creationId xmlns:a16="http://schemas.microsoft.com/office/drawing/2014/main" id="{4D3653E7-B0BB-4462-A17E-7015CC7A63A7}"/>
              </a:ext>
            </a:extLst>
          </p:cNvPr>
          <p:cNvSpPr>
            <a:spLocks xmlns:a="http://schemas.openxmlformats.org/drawingml/2006/main" noGrp="1"/>
          </p:cNvSpPr>
          <p:nvPr/>
        </p:nvSpPr>
        <p:spPr>
          <a:xfrm xmlns:a="http://schemas.openxmlformats.org/drawingml/2006/main">
            <a:off x="781050" y="4114800"/>
            <a:ext cx="4095750" cy="2476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1">
                <a:solidFill>
                  <a:srgbClr val="0A1224"/>
                </a:solidFill>
                <a:latin typeface="Arial"/>
                <a:ea typeface="Arial"/>
                <a:cs typeface="Arial"/>
              </a:defRPr>
            </a:pPr>
            <a:r>
              <a:t>Declared scope score</a:t>
            </a:r>
          </a:p>
        </p:txBody>
      </p:sp>
      <p:sp>
        <p:nvSpPr>
          <p:cNvPr id="17" name="s9-row4-v">
            <a:extLst xmlns:a="http://schemas.openxmlformats.org/drawingml/2006/main">
              <a:ext uri="{FF2B5EF4-FFF2-40B4-BE49-F238E27FC236}">
                <a16:creationId xmlns:a16="http://schemas.microsoft.com/office/drawing/2014/main" id="{553D62FE-9EB0-4A46-B262-5E5B19D8449F}"/>
              </a:ext>
            </a:extLst>
          </p:cNvPr>
          <p:cNvSpPr>
            <a:spLocks xmlns:a="http://schemas.openxmlformats.org/drawingml/2006/main" noGrp="1"/>
          </p:cNvSpPr>
          <p:nvPr/>
        </p:nvSpPr>
        <p:spPr>
          <a:xfrm xmlns:a="http://schemas.openxmlformats.org/drawingml/2006/main">
            <a:off x="5334000" y="4057650"/>
            <a:ext cx="1524000" cy="3238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r">
              <a:defRPr sz="1875" b="1">
                <a:solidFill>
                  <a:srgbClr val="15A777"/>
                </a:solidFill>
                <a:latin typeface="Arial"/>
                <a:ea typeface="Arial"/>
                <a:cs typeface="Arial"/>
              </a:defRPr>
            </a:pPr>
            <a:r>
              <a:t>100/100</a:t>
            </a:r>
          </a:p>
        </p:txBody>
      </p:sp>
      <p:sp>
        <p:nvSpPr>
          <p:cNvPr id="18" name="s9-row5-k">
            <a:extLst xmlns:a="http://schemas.openxmlformats.org/drawingml/2006/main">
              <a:ext uri="{FF2B5EF4-FFF2-40B4-BE49-F238E27FC236}">
                <a16:creationId xmlns:a16="http://schemas.microsoft.com/office/drawing/2014/main" id="{390962D8-B81A-47E5-97E5-3D4CEFAB133C}"/>
              </a:ext>
            </a:extLst>
          </p:cNvPr>
          <p:cNvSpPr>
            <a:spLocks xmlns:a="http://schemas.openxmlformats.org/drawingml/2006/main" noGrp="1"/>
          </p:cNvSpPr>
          <p:nvPr/>
        </p:nvSpPr>
        <p:spPr>
          <a:xfrm xmlns:a="http://schemas.openxmlformats.org/drawingml/2006/main">
            <a:off x="781050" y="4762500"/>
            <a:ext cx="4095750" cy="2476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1">
                <a:solidFill>
                  <a:srgbClr val="0A1224"/>
                </a:solidFill>
                <a:latin typeface="Arial"/>
                <a:ea typeface="Arial"/>
                <a:cs typeface="Arial"/>
              </a:defRPr>
            </a:pPr>
            <a:r>
              <a:t>Forbidden-file violations</a:t>
            </a:r>
          </a:p>
        </p:txBody>
      </p:sp>
      <p:sp>
        <p:nvSpPr>
          <p:cNvPr id="19" name="s9-row5-v">
            <a:extLst xmlns:a="http://schemas.openxmlformats.org/drawingml/2006/main">
              <a:ext uri="{FF2B5EF4-FFF2-40B4-BE49-F238E27FC236}">
                <a16:creationId xmlns:a16="http://schemas.microsoft.com/office/drawing/2014/main" id="{DE6E6035-A6BB-4C79-AF11-612BAC637D3F}"/>
              </a:ext>
            </a:extLst>
          </p:cNvPr>
          <p:cNvSpPr>
            <a:spLocks xmlns:a="http://schemas.openxmlformats.org/drawingml/2006/main" noGrp="1"/>
          </p:cNvSpPr>
          <p:nvPr/>
        </p:nvSpPr>
        <p:spPr>
          <a:xfrm xmlns:a="http://schemas.openxmlformats.org/drawingml/2006/main">
            <a:off x="5619750" y="4705350"/>
            <a:ext cx="1238250" cy="3238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r">
              <a:defRPr sz="1875" b="1">
                <a:solidFill>
                  <a:srgbClr val="15A777"/>
                </a:solidFill>
                <a:latin typeface="Arial"/>
                <a:ea typeface="Arial"/>
                <a:cs typeface="Arial"/>
              </a:defRPr>
            </a:pPr>
            <a:r>
              <a:t>0</a:t>
            </a:r>
          </a:p>
        </p:txBody>
      </p:sp>
      <p:sp>
        <p:nvSpPr>
          <p:cNvPr id="20" name="s9-boundary">
            <a:extLst xmlns:a="http://schemas.openxmlformats.org/drawingml/2006/main">
              <a:ext uri="{FF2B5EF4-FFF2-40B4-BE49-F238E27FC236}">
                <a16:creationId xmlns:a16="http://schemas.microsoft.com/office/drawing/2014/main" id="{24C8E19D-1CA2-4195-B599-CBCECA8835C6}"/>
              </a:ext>
            </a:extLst>
          </p:cNvPr>
          <p:cNvSpPr>
            <a:spLocks xmlns:a="http://schemas.openxmlformats.org/drawingml/2006/main" noGrp="1"/>
          </p:cNvSpPr>
          <p:nvPr/>
        </p:nvSpPr>
        <p:spPr>
          <a:xfrm xmlns:a="http://schemas.openxmlformats.org/drawingml/2006/main">
            <a:off x="7677150" y="1695450"/>
            <a:ext cx="3962400" cy="3467100"/>
          </a:xfrm>
          <a:prstGeom xmlns:a="http://schemas.openxmlformats.org/drawingml/2006/main" prst="roundRect">
            <a:avLst>
              <a:gd name="adj" fmla="val 2198"/>
            </a:avLst>
          </a:prstGeom>
          <a:solidFill xmlns:a="http://schemas.openxmlformats.org/drawingml/2006/main">
            <a:srgbClr val="061B3D"/>
          </a:solidFill>
          <a:ln xmlns:a="http://schemas.openxmlformats.org/drawingml/2006/main" w="0">
            <a:solidFill>
              <a:srgbClr val="061B3D"/>
            </a:solidFill>
            <a:prstDash val="solid"/>
          </a:ln>
        </p:spPr>
      </p:sp>
      <p:sp>
        <p:nvSpPr>
          <p:cNvPr id="21" name="s9-boundary-k">
            <a:extLst xmlns:a="http://schemas.openxmlformats.org/drawingml/2006/main">
              <a:ext uri="{FF2B5EF4-FFF2-40B4-BE49-F238E27FC236}">
                <a16:creationId xmlns:a16="http://schemas.microsoft.com/office/drawing/2014/main" id="{75D60422-5BBB-423A-A400-2E43C654607D}"/>
              </a:ext>
            </a:extLst>
          </p:cNvPr>
          <p:cNvSpPr>
            <a:spLocks xmlns:a="http://schemas.openxmlformats.org/drawingml/2006/main" noGrp="1"/>
          </p:cNvSpPr>
          <p:nvPr/>
        </p:nvSpPr>
        <p:spPr>
          <a:xfrm xmlns:a="http://schemas.openxmlformats.org/drawingml/2006/main">
            <a:off x="7981950" y="2000250"/>
            <a:ext cx="3352800" cy="2857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1">
                <a:solidFill>
                  <a:srgbClr val="13B7D5"/>
                </a:solidFill>
                <a:latin typeface="Arial"/>
                <a:ea typeface="Arial"/>
                <a:cs typeface="Arial"/>
              </a:defRPr>
            </a:pPr>
            <a:r>
              <a:t>NO CORRECTNESS WINNER</a:t>
            </a:r>
          </a:p>
        </p:txBody>
      </p:sp>
      <p:sp>
        <p:nvSpPr>
          <p:cNvPr id="22" name="s9-boundary-stat">
            <a:extLst xmlns:a="http://schemas.openxmlformats.org/drawingml/2006/main">
              <a:ext uri="{FF2B5EF4-FFF2-40B4-BE49-F238E27FC236}">
                <a16:creationId xmlns:a16="http://schemas.microsoft.com/office/drawing/2014/main" id="{F083B957-5FFD-4DC6-9395-D6E099EF9F60}"/>
              </a:ext>
            </a:extLst>
          </p:cNvPr>
          <p:cNvSpPr>
            <a:spLocks xmlns:a="http://schemas.openxmlformats.org/drawingml/2006/main" noGrp="1"/>
          </p:cNvSpPr>
          <p:nvPr/>
        </p:nvSpPr>
        <p:spPr>
          <a:xfrm xmlns:a="http://schemas.openxmlformats.org/drawingml/2006/main">
            <a:off x="7981950" y="2400300"/>
            <a:ext cx="1714500" cy="6858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4050" b="1">
                <a:solidFill>
                  <a:srgbClr val="FFFFFF"/>
                </a:solidFill>
                <a:latin typeface="Arial"/>
                <a:ea typeface="Arial"/>
                <a:cs typeface="Arial"/>
              </a:defRPr>
            </a:pPr>
            <a:r>
              <a:t>4/4</a:t>
            </a:r>
          </a:p>
        </p:txBody>
      </p:sp>
      <p:sp>
        <p:nvSpPr>
          <p:cNvPr id="23" name="s9-boundary-label">
            <a:extLst xmlns:a="http://schemas.openxmlformats.org/drawingml/2006/main">
              <a:ext uri="{FF2B5EF4-FFF2-40B4-BE49-F238E27FC236}">
                <a16:creationId xmlns:a16="http://schemas.microsoft.com/office/drawing/2014/main" id="{42D9EB00-D4A1-400A-8CE5-0B7ABD0099E6}"/>
              </a:ext>
            </a:extLst>
          </p:cNvPr>
          <p:cNvSpPr>
            <a:spLocks xmlns:a="http://schemas.openxmlformats.org/drawingml/2006/main" noGrp="1"/>
          </p:cNvSpPr>
          <p:nvPr/>
        </p:nvSpPr>
        <p:spPr>
          <a:xfrm xmlns:a="http://schemas.openxmlformats.org/drawingml/2006/main">
            <a:off x="7981950" y="3009900"/>
            <a:ext cx="2952750" cy="2857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1">
                <a:solidFill>
                  <a:srgbClr val="FFFFFF"/>
                </a:solidFill>
                <a:latin typeface="Arial"/>
                <a:ea typeface="Arial"/>
                <a:cs typeface="Arial"/>
              </a:defRPr>
            </a:pPr>
            <a:r>
              <a:t>treatments correct</a:t>
            </a:r>
          </a:p>
        </p:txBody>
      </p:sp>
      <p:cxnSp>
        <p:nvCxnSpPr>
          <p:cNvPr id="56" name="s9-boundary-rule"/>
          <p:cNvCxnSpPr/>
          <p:nvPr/>
        </p:nvCxnSpPr>
        <p:spPr>
          <a:xfrm xmlns:a="http://schemas.openxmlformats.org/drawingml/2006/main">
            <a:off x="7981950" y="3486150"/>
            <a:ext cx="3352800" cy="953"/>
          </a:xfrm>
          <a:prstGeom xmlns:a="http://schemas.openxmlformats.org/drawingml/2006/main" prst="straightConnector1">
            <a:avLst/>
          </a:prstGeom>
          <a:ln xmlns:a="http://schemas.openxmlformats.org/drawingml/2006/main" w="19050">
            <a:solidFill>
              <a:srgbClr val="0B2B56"/>
            </a:solidFill>
            <a:prstDash val="solid"/>
          </a:ln>
        </p:spPr>
      </p:cxnSp>
      <p:sp>
        <p:nvSpPr>
          <p:cNvPr id="25" name="s9-supported-k">
            <a:extLst xmlns:a="http://schemas.openxmlformats.org/drawingml/2006/main">
              <a:ext uri="{FF2B5EF4-FFF2-40B4-BE49-F238E27FC236}">
                <a16:creationId xmlns:a16="http://schemas.microsoft.com/office/drawing/2014/main" id="{2292CAC9-F3C4-4A53-8FBB-BD6E9D5F2565}"/>
              </a:ext>
            </a:extLst>
          </p:cNvPr>
          <p:cNvSpPr>
            <a:spLocks xmlns:a="http://schemas.openxmlformats.org/drawingml/2006/main" noGrp="1"/>
          </p:cNvSpPr>
          <p:nvPr/>
        </p:nvSpPr>
        <p:spPr>
          <a:xfrm xmlns:a="http://schemas.openxmlformats.org/drawingml/2006/main">
            <a:off x="7981950" y="3714750"/>
            <a:ext cx="1333500" cy="2095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15A777"/>
                </a:solidFill>
                <a:latin typeface="Arial"/>
                <a:ea typeface="Arial"/>
                <a:cs typeface="Arial"/>
              </a:defRPr>
            </a:pPr>
            <a:r>
              <a:t>SUPPORTED</a:t>
            </a:r>
          </a:p>
        </p:txBody>
      </p:sp>
      <p:sp>
        <p:nvSpPr>
          <p:cNvPr id="26" name="s9-supported-v">
            <a:extLst xmlns:a="http://schemas.openxmlformats.org/drawingml/2006/main">
              <a:ext uri="{FF2B5EF4-FFF2-40B4-BE49-F238E27FC236}">
                <a16:creationId xmlns:a16="http://schemas.microsoft.com/office/drawing/2014/main" id="{D3A1E56E-206C-42B4-B0E2-AC63152DC81A}"/>
              </a:ext>
            </a:extLst>
          </p:cNvPr>
          <p:cNvSpPr>
            <a:spLocks xmlns:a="http://schemas.openxmlformats.org/drawingml/2006/main" noGrp="1"/>
          </p:cNvSpPr>
          <p:nvPr/>
        </p:nvSpPr>
        <p:spPr>
          <a:xfrm xmlns:a="http://schemas.openxmlformats.org/drawingml/2006/main">
            <a:off x="7981950" y="3981450"/>
            <a:ext cx="3352800" cy="4953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FFFFFF"/>
                </a:solidFill>
                <a:latin typeface="Arial"/>
                <a:ea typeface="Arial"/>
                <a:cs typeface="Arial"/>
              </a:defRPr>
            </a:pPr>
            <a:r>
              <a:t>Adaptive reduces Palace-owned payload versus Full.</a:t>
            </a:r>
          </a:p>
        </p:txBody>
      </p:sp>
      <p:sp>
        <p:nvSpPr>
          <p:cNvPr id="27" name="s9-limit-k">
            <a:extLst xmlns:a="http://schemas.openxmlformats.org/drawingml/2006/main">
              <a:ext uri="{FF2B5EF4-FFF2-40B4-BE49-F238E27FC236}">
                <a16:creationId xmlns:a16="http://schemas.microsoft.com/office/drawing/2014/main" id="{5A06B989-8A7A-4130-9C57-28A5FF05B64E}"/>
              </a:ext>
            </a:extLst>
          </p:cNvPr>
          <p:cNvSpPr>
            <a:spLocks xmlns:a="http://schemas.openxmlformats.org/drawingml/2006/main" noGrp="1"/>
          </p:cNvSpPr>
          <p:nvPr/>
        </p:nvSpPr>
        <p:spPr>
          <a:xfrm xmlns:a="http://schemas.openxmlformats.org/drawingml/2006/main">
            <a:off x="7981950" y="4610100"/>
            <a:ext cx="1333500" cy="2095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D4515D"/>
                </a:solidFill>
                <a:latin typeface="Arial"/>
                <a:ea typeface="Arial"/>
                <a:cs typeface="Arial"/>
              </a:defRPr>
            </a:pPr>
            <a:r>
              <a:t>NOT PROVEN</a:t>
            </a:r>
          </a:p>
        </p:txBody>
      </p:sp>
      <p:sp>
        <p:nvSpPr>
          <p:cNvPr id="28" name="s9-limit-v">
            <a:extLst xmlns:a="http://schemas.openxmlformats.org/drawingml/2006/main">
              <a:ext uri="{FF2B5EF4-FFF2-40B4-BE49-F238E27FC236}">
                <a16:creationId xmlns:a16="http://schemas.microsoft.com/office/drawing/2014/main" id="{0F1A54A2-77B0-4748-AE35-E495BBD757B1}"/>
              </a:ext>
            </a:extLst>
          </p:cNvPr>
          <p:cNvSpPr>
            <a:spLocks xmlns:a="http://schemas.openxmlformats.org/drawingml/2006/main" noGrp="1"/>
          </p:cNvSpPr>
          <p:nvPr/>
        </p:nvSpPr>
        <p:spPr>
          <a:xfrm xmlns:a="http://schemas.openxmlformats.org/drawingml/2006/main">
            <a:off x="7981950" y="4857750"/>
            <a:ext cx="3352800" cy="4762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FFFFFF"/>
                </a:solidFill>
                <a:latin typeface="Arial"/>
                <a:ea typeface="Arial"/>
                <a:cs typeface="Arial"/>
              </a:defRPr>
            </a:pPr>
            <a:r>
              <a:t>Universal token, time, or correctness gains.</a:t>
            </a:r>
          </a:p>
        </p:txBody>
      </p:sp>
      <p:sp>
        <p:nvSpPr>
          <p:cNvPr id="29" name="s9-study-note">
            <a:extLst xmlns:a="http://schemas.openxmlformats.org/drawingml/2006/main">
              <a:ext uri="{FF2B5EF4-FFF2-40B4-BE49-F238E27FC236}">
                <a16:creationId xmlns:a16="http://schemas.microsoft.com/office/drawing/2014/main" id="{4FC15107-7626-4E8A-A0EA-7E76A9A9505F}"/>
              </a:ext>
            </a:extLst>
          </p:cNvPr>
          <p:cNvSpPr>
            <a:spLocks xmlns:a="http://schemas.openxmlformats.org/drawingml/2006/main" noGrp="1"/>
          </p:cNvSpPr>
          <p:nvPr/>
        </p:nvSpPr>
        <p:spPr>
          <a:xfrm xmlns:a="http://schemas.openxmlformats.org/drawingml/2006/main">
            <a:off x="552450" y="5448300"/>
            <a:ext cx="6667500" cy="2667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0">
                <a:solidFill>
                  <a:srgbClr val="526071"/>
                </a:solidFill>
                <a:latin typeface="Consolas"/>
                <a:ea typeface="Consolas"/>
                <a:cs typeface="Consolas"/>
              </a:defRPr>
            </a:pPr>
            <a:r>
              <a:t>Frozen exploratory study | Vertex Palace 0.2.1</a:t>
            </a:r>
          </a:p>
        </p:txBody>
      </p:sp>
      <p:cxnSp>
        <p:nvCxnSpPr>
          <p:cNvPr id="62" name="footer-rule-8"/>
          <p:cNvCxnSpPr/>
          <p:nvPr/>
        </p:nvCxnSpPr>
        <p:spPr>
          <a:xfrm xmlns:a="http://schemas.openxmlformats.org/drawingml/2006/main">
            <a:off x="400050" y="6162675"/>
            <a:ext cx="11391900" cy="953"/>
          </a:xfrm>
          <a:prstGeom xmlns:a="http://schemas.openxmlformats.org/drawingml/2006/main" prst="straightConnector1">
            <a:avLst/>
          </a:prstGeom>
          <a:ln xmlns:a="http://schemas.openxmlformats.org/drawingml/2006/main" w="9525">
            <a:solidFill>
              <a:srgbClr val="B8BCC4"/>
            </a:solidFill>
            <a:prstDash val="solid"/>
          </a:ln>
        </p:spPr>
      </p:cxnSp>
      <p:sp>
        <p:nvSpPr>
          <p:cNvPr id="31" name="footer-source-8">
            <a:extLst xmlns:a="http://schemas.openxmlformats.org/drawingml/2006/main">
              <a:ext uri="{FF2B5EF4-FFF2-40B4-BE49-F238E27FC236}">
                <a16:creationId xmlns:a16="http://schemas.microsoft.com/office/drawing/2014/main" id="{7DA01D05-4D04-4E73-9A9B-D876788E60EC}"/>
              </a:ext>
            </a:extLst>
          </p:cNvPr>
          <p:cNvSpPr>
            <a:spLocks xmlns:a="http://schemas.openxmlformats.org/drawingml/2006/main" noGrp="1"/>
          </p:cNvSpPr>
          <p:nvPr/>
        </p:nvSpPr>
        <p:spPr>
          <a:xfrm xmlns:a="http://schemas.openxmlformats.org/drawingml/2006/main">
            <a:off x="400050" y="6238875"/>
            <a:ext cx="10001250" cy="2286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863" b="0">
                <a:solidFill>
                  <a:srgbClr val="526071"/>
                </a:solidFill>
                <a:latin typeface="Arial"/>
                <a:ea typeface="Arial"/>
                <a:cs typeface="Arial"/>
              </a:defRPr>
            </a:pPr>
            <a:r>
              <a:t>Public benchmark final report: docs/research/ADAPTIVE_V2_2_FINAL.md in benchmarks-ab-demo</a:t>
            </a:r>
          </a:p>
        </p:txBody>
      </p:sp>
      <p:sp>
        <p:nvSpPr>
          <p:cNvPr id="32" name="footer-number-8">
            <a:extLst xmlns:a="http://schemas.openxmlformats.org/drawingml/2006/main">
              <a:ext uri="{FF2B5EF4-FFF2-40B4-BE49-F238E27FC236}">
                <a16:creationId xmlns:a16="http://schemas.microsoft.com/office/drawing/2014/main" id="{EF470030-DDD1-4544-967E-C184E2578270}"/>
              </a:ext>
            </a:extLst>
          </p:cNvPr>
          <p:cNvSpPr>
            <a:spLocks xmlns:a="http://schemas.openxmlformats.org/drawingml/2006/main" noGrp="1"/>
          </p:cNvSpPr>
          <p:nvPr/>
        </p:nvSpPr>
        <p:spPr>
          <a:xfrm xmlns:a="http://schemas.openxmlformats.org/drawingml/2006/main">
            <a:off x="11258550" y="6238875"/>
            <a:ext cx="533400" cy="2286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r">
              <a:defRPr sz="900" b="0">
                <a:solidFill>
                  <a:srgbClr val="526071"/>
                </a:solidFill>
                <a:latin typeface="Arial"/>
                <a:ea typeface="Arial"/>
                <a:cs typeface="Arial"/>
              </a:defRPr>
            </a:pPr>
            <a:r>
              <a:t>8</a:t>
            </a:r>
          </a:p>
        </p:txBody>
      </p:sp>
    </p:spTree>
    <p:extLst>
      <p:ext uri="{BB962C8B-B14F-4D97-AF65-F5344CB8AC3E}">
        <p14:creationId xmlns:p14="http://schemas.microsoft.com/office/powerpoint/2010/main" val="852191105"/>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9" name="s10-title">
            <a:extLst xmlns:a="http://schemas.openxmlformats.org/drawingml/2006/main">
              <a:ext uri="{FF2B5EF4-FFF2-40B4-BE49-F238E27FC236}">
                <a16:creationId xmlns:a16="http://schemas.microsoft.com/office/drawing/2014/main" id="{4388A738-8025-4E47-94A0-BD6BC43A9B48}"/>
              </a:ext>
            </a:extLst>
          </p:cNvPr>
          <p:cNvSpPr>
            <a:spLocks xmlns:a="http://schemas.openxmlformats.org/drawingml/2006/main" noGrp="1"/>
          </p:cNvSpPr>
          <p:nvPr/>
        </p:nvSpPr>
        <p:spPr>
          <a:xfrm xmlns:a="http://schemas.openxmlformats.org/drawingml/2006/main">
            <a:off x="495300" y="323850"/>
            <a:ext cx="10953750" cy="7239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1">
                <a:solidFill>
                  <a:srgbClr val="0A1224"/>
                </a:solidFill>
                <a:latin typeface="Arial"/>
                <a:ea typeface="Arial"/>
                <a:cs typeface="Arial"/>
              </a:defRPr>
            </a:pPr>
            <a:r>
              <a:t>Independent gates verify the product.</a:t>
            </a:r>
          </a:p>
        </p:txBody>
      </p:sp>
      <p:sp>
        <p:nvSpPr>
          <p:cNvPr id="2" name="s10-subtitle">
            <a:extLst xmlns:a="http://schemas.openxmlformats.org/drawingml/2006/main">
              <a:ext uri="{FF2B5EF4-FFF2-40B4-BE49-F238E27FC236}">
                <a16:creationId xmlns:a16="http://schemas.microsoft.com/office/drawing/2014/main" id="{8299B9CB-8B86-4435-BBC5-5F8BB8B0C548}"/>
              </a:ext>
            </a:extLst>
          </p:cNvPr>
          <p:cNvSpPr>
            <a:spLocks xmlns:a="http://schemas.openxmlformats.org/drawingml/2006/main" noGrp="1"/>
          </p:cNvSpPr>
          <p:nvPr/>
        </p:nvSpPr>
        <p:spPr>
          <a:xfrm xmlns:a="http://schemas.openxmlformats.org/drawingml/2006/main">
            <a:off x="400050" y="1066800"/>
            <a:ext cx="11049000" cy="3810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526071"/>
                </a:solidFill>
                <a:latin typeface="Arial"/>
                <a:ea typeface="Arial"/>
                <a:cs typeface="Arial"/>
              </a:defRPr>
            </a:pPr>
            <a:r>
              <a:t>Repository tests, cross-platform CI, and public-distribution checks verify different failure modes.</a:t>
            </a:r>
          </a:p>
        </p:txBody>
      </p:sp>
      <p:sp>
        <p:nvSpPr>
          <p:cNvPr id="3" name="s10-tests">
            <a:extLst xmlns:a="http://schemas.openxmlformats.org/drawingml/2006/main">
              <a:ext uri="{FF2B5EF4-FFF2-40B4-BE49-F238E27FC236}">
                <a16:creationId xmlns:a16="http://schemas.microsoft.com/office/drawing/2014/main" id="{57CCB5A4-94F9-4D82-BC98-7AF4762BDF01}"/>
              </a:ext>
            </a:extLst>
          </p:cNvPr>
          <p:cNvSpPr>
            <a:spLocks xmlns:a="http://schemas.openxmlformats.org/drawingml/2006/main" noGrp="1"/>
          </p:cNvSpPr>
          <p:nvPr/>
        </p:nvSpPr>
        <p:spPr>
          <a:xfrm xmlns:a="http://schemas.openxmlformats.org/drawingml/2006/main">
            <a:off x="552450" y="1695450"/>
            <a:ext cx="3295650" cy="3771900"/>
          </a:xfrm>
          <a:prstGeom xmlns:a="http://schemas.openxmlformats.org/drawingml/2006/main" prst="roundRect">
            <a:avLst>
              <a:gd name="adj" fmla="val 2312"/>
            </a:avLst>
          </a:prstGeom>
          <a:solidFill xmlns:a="http://schemas.openxmlformats.org/drawingml/2006/main">
            <a:srgbClr val="EAF1FF"/>
          </a:solidFill>
          <a:ln xmlns:a="http://schemas.openxmlformats.org/drawingml/2006/main" w="0">
            <a:solidFill>
              <a:srgbClr val="EAF1FF"/>
            </a:solidFill>
            <a:prstDash val="solid"/>
          </a:ln>
        </p:spPr>
      </p:sp>
      <p:sp>
        <p:nvSpPr>
          <p:cNvPr id="4" name="s10-tests-k">
            <a:extLst xmlns:a="http://schemas.openxmlformats.org/drawingml/2006/main">
              <a:ext uri="{FF2B5EF4-FFF2-40B4-BE49-F238E27FC236}">
                <a16:creationId xmlns:a16="http://schemas.microsoft.com/office/drawing/2014/main" id="{B270F319-9BD2-4A13-BB9C-C1F7E82F4159}"/>
              </a:ext>
            </a:extLst>
          </p:cNvPr>
          <p:cNvSpPr>
            <a:spLocks xmlns:a="http://schemas.openxmlformats.org/drawingml/2006/main" noGrp="1"/>
          </p:cNvSpPr>
          <p:nvPr/>
        </p:nvSpPr>
        <p:spPr>
          <a:xfrm xmlns:a="http://schemas.openxmlformats.org/drawingml/2006/main">
            <a:off x="819150" y="1981200"/>
            <a:ext cx="2762250" cy="2286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1">
                <a:solidFill>
                  <a:srgbClr val="1677FF"/>
                </a:solidFill>
                <a:latin typeface="Arial"/>
                <a:ea typeface="Arial"/>
                <a:cs typeface="Arial"/>
              </a:defRPr>
            </a:pPr>
            <a:r>
              <a:t>PRODUCT TESTS</a:t>
            </a:r>
          </a:p>
        </p:txBody>
      </p:sp>
      <p:sp>
        <p:nvSpPr>
          <p:cNvPr id="5" name="s10-tests-stat">
            <a:extLst xmlns:a="http://schemas.openxmlformats.org/drawingml/2006/main">
              <a:ext uri="{FF2B5EF4-FFF2-40B4-BE49-F238E27FC236}">
                <a16:creationId xmlns:a16="http://schemas.microsoft.com/office/drawing/2014/main" id="{597CEC35-B32A-4070-9860-3023075DBC92}"/>
              </a:ext>
            </a:extLst>
          </p:cNvPr>
          <p:cNvSpPr>
            <a:spLocks xmlns:a="http://schemas.openxmlformats.org/drawingml/2006/main" noGrp="1"/>
          </p:cNvSpPr>
          <p:nvPr/>
        </p:nvSpPr>
        <p:spPr>
          <a:xfrm xmlns:a="http://schemas.openxmlformats.org/drawingml/2006/main">
            <a:off x="819150" y="2324100"/>
            <a:ext cx="1714500" cy="6858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4200" b="1">
                <a:solidFill>
                  <a:srgbClr val="1677FF"/>
                </a:solidFill>
                <a:latin typeface="Arial"/>
                <a:ea typeface="Arial"/>
                <a:cs typeface="Arial"/>
              </a:defRPr>
            </a:pPr>
            <a:r>
              <a:t>55</a:t>
            </a:r>
          </a:p>
        </p:txBody>
      </p:sp>
      <p:sp>
        <p:nvSpPr>
          <p:cNvPr id="6" name="s10-tests-label">
            <a:extLst xmlns:a="http://schemas.openxmlformats.org/drawingml/2006/main">
              <a:ext uri="{FF2B5EF4-FFF2-40B4-BE49-F238E27FC236}">
                <a16:creationId xmlns:a16="http://schemas.microsoft.com/office/drawing/2014/main" id="{7AFA9665-DE21-4184-90AC-C100D511CEEE}"/>
              </a:ext>
            </a:extLst>
          </p:cNvPr>
          <p:cNvSpPr>
            <a:spLocks xmlns:a="http://schemas.openxmlformats.org/drawingml/2006/main" noGrp="1"/>
          </p:cNvSpPr>
          <p:nvPr/>
        </p:nvSpPr>
        <p:spPr>
          <a:xfrm xmlns:a="http://schemas.openxmlformats.org/drawingml/2006/main">
            <a:off x="819150" y="2990850"/>
            <a:ext cx="2476500" cy="2857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1">
                <a:solidFill>
                  <a:srgbClr val="0A1224"/>
                </a:solidFill>
                <a:latin typeface="Arial"/>
                <a:ea typeface="Arial"/>
                <a:cs typeface="Arial"/>
              </a:defRPr>
            </a:pPr>
            <a:r>
              <a:t>automated tests</a:t>
            </a:r>
          </a:p>
        </p:txBody>
      </p:sp>
      <p:cxnSp>
        <p:nvCxnSpPr>
          <p:cNvPr id="45" name="s10-tests-rule"/>
          <p:cNvCxnSpPr/>
          <p:nvPr/>
        </p:nvCxnSpPr>
        <p:spPr>
          <a:xfrm xmlns:a="http://schemas.openxmlformats.org/drawingml/2006/main">
            <a:off x="819150" y="3429000"/>
            <a:ext cx="2762250" cy="953"/>
          </a:xfrm>
          <a:prstGeom xmlns:a="http://schemas.openxmlformats.org/drawingml/2006/main" prst="straightConnector1">
            <a:avLst/>
          </a:prstGeom>
          <a:ln xmlns:a="http://schemas.openxmlformats.org/drawingml/2006/main" w="9525">
            <a:solidFill>
              <a:srgbClr val="B8BCC4"/>
            </a:solidFill>
            <a:prstDash val="solid"/>
          </a:ln>
        </p:spPr>
      </p:cxnSp>
      <p:sp>
        <p:nvSpPr>
          <p:cNvPr id="8" name="s10-tests-body">
            <a:extLst xmlns:a="http://schemas.openxmlformats.org/drawingml/2006/main">
              <a:ext uri="{FF2B5EF4-FFF2-40B4-BE49-F238E27FC236}">
                <a16:creationId xmlns:a16="http://schemas.microsoft.com/office/drawing/2014/main" id="{AEA8F7A9-6320-4C0F-823D-E401C3A9CD99}"/>
              </a:ext>
            </a:extLst>
          </p:cNvPr>
          <p:cNvSpPr>
            <a:spLocks xmlns:a="http://schemas.openxmlformats.org/drawingml/2006/main" noGrp="1"/>
          </p:cNvSpPr>
          <p:nvPr/>
        </p:nvSpPr>
        <p:spPr>
          <a:xfrm xmlns:a="http://schemas.openxmlformats.org/drawingml/2006/main">
            <a:off x="819150" y="3638550"/>
            <a:ext cx="1200150" cy="9906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0A1224"/>
                </a:solidFill>
                <a:latin typeface="Consolas"/>
                <a:ea typeface="Consolas"/>
                <a:cs typeface="Consolas"/>
              </a:defRPr>
            </a:pPr>
            <a:r>
              <a:t>51  Core
 2  CLI
 2  MCP</a:t>
            </a:r>
          </a:p>
        </p:txBody>
      </p:sp>
      <p:sp>
        <p:nvSpPr>
          <p:cNvPr id="9" name="s10-test-d1">
            <a:extLst xmlns:a="http://schemas.openxmlformats.org/drawingml/2006/main">
              <a:ext uri="{FF2B5EF4-FFF2-40B4-BE49-F238E27FC236}">
                <a16:creationId xmlns:a16="http://schemas.microsoft.com/office/drawing/2014/main" id="{ED9FB193-9E08-4041-8078-F932AB1AB46E}"/>
              </a:ext>
            </a:extLst>
          </p:cNvPr>
          <p:cNvSpPr>
            <a:spLocks xmlns:a="http://schemas.openxmlformats.org/drawingml/2006/main" noGrp="1"/>
          </p:cNvSpPr>
          <p:nvPr/>
        </p:nvSpPr>
        <p:spPr>
          <a:xfrm xmlns:a="http://schemas.openxmlformats.org/drawingml/2006/main">
            <a:off x="2152650" y="3705225"/>
            <a:ext cx="95250" cy="95250"/>
          </a:xfrm>
          <a:prstGeom xmlns:a="http://schemas.openxmlformats.org/drawingml/2006/main" prst="ellipse">
            <a:avLst/>
          </a:prstGeom>
          <a:solidFill xmlns:a="http://schemas.openxmlformats.org/drawingml/2006/main">
            <a:srgbClr val="15A777"/>
          </a:solidFill>
          <a:ln xmlns:a="http://schemas.openxmlformats.org/drawingml/2006/main" w="0">
            <a:solidFill>
              <a:srgbClr val="15A777"/>
            </a:solidFill>
            <a:prstDash val="solid"/>
          </a:ln>
        </p:spPr>
      </p:sp>
      <p:sp>
        <p:nvSpPr>
          <p:cNvPr id="10" name="s10-test-d2">
            <a:extLst xmlns:a="http://schemas.openxmlformats.org/drawingml/2006/main">
              <a:ext uri="{FF2B5EF4-FFF2-40B4-BE49-F238E27FC236}">
                <a16:creationId xmlns:a16="http://schemas.microsoft.com/office/drawing/2014/main" id="{C122B02F-2372-407F-BAF3-50556E515FCB}"/>
              </a:ext>
            </a:extLst>
          </p:cNvPr>
          <p:cNvSpPr>
            <a:spLocks xmlns:a="http://schemas.openxmlformats.org/drawingml/2006/main" noGrp="1"/>
          </p:cNvSpPr>
          <p:nvPr/>
        </p:nvSpPr>
        <p:spPr>
          <a:xfrm xmlns:a="http://schemas.openxmlformats.org/drawingml/2006/main">
            <a:off x="2152650" y="4067175"/>
            <a:ext cx="95250" cy="95250"/>
          </a:xfrm>
          <a:prstGeom xmlns:a="http://schemas.openxmlformats.org/drawingml/2006/main" prst="ellipse">
            <a:avLst/>
          </a:prstGeom>
          <a:solidFill xmlns:a="http://schemas.openxmlformats.org/drawingml/2006/main">
            <a:srgbClr val="15A777"/>
          </a:solidFill>
          <a:ln xmlns:a="http://schemas.openxmlformats.org/drawingml/2006/main" w="0">
            <a:solidFill>
              <a:srgbClr val="15A777"/>
            </a:solidFill>
            <a:prstDash val="solid"/>
          </a:ln>
        </p:spPr>
      </p:sp>
      <p:sp>
        <p:nvSpPr>
          <p:cNvPr id="11" name="s10-test-d3">
            <a:extLst xmlns:a="http://schemas.openxmlformats.org/drawingml/2006/main">
              <a:ext uri="{FF2B5EF4-FFF2-40B4-BE49-F238E27FC236}">
                <a16:creationId xmlns:a16="http://schemas.microsoft.com/office/drawing/2014/main" id="{E06BABE4-FC26-4D49-A665-1E7B9898AF11}"/>
              </a:ext>
            </a:extLst>
          </p:cNvPr>
          <p:cNvSpPr>
            <a:spLocks xmlns:a="http://schemas.openxmlformats.org/drawingml/2006/main" noGrp="1"/>
          </p:cNvSpPr>
          <p:nvPr/>
        </p:nvSpPr>
        <p:spPr>
          <a:xfrm xmlns:a="http://schemas.openxmlformats.org/drawingml/2006/main">
            <a:off x="2152650" y="4429125"/>
            <a:ext cx="95250" cy="95250"/>
          </a:xfrm>
          <a:prstGeom xmlns:a="http://schemas.openxmlformats.org/drawingml/2006/main" prst="ellipse">
            <a:avLst/>
          </a:prstGeom>
          <a:solidFill xmlns:a="http://schemas.openxmlformats.org/drawingml/2006/main">
            <a:srgbClr val="15A777"/>
          </a:solidFill>
          <a:ln xmlns:a="http://schemas.openxmlformats.org/drawingml/2006/main" w="0">
            <a:solidFill>
              <a:srgbClr val="15A777"/>
            </a:solidFill>
            <a:prstDash val="solid"/>
          </a:ln>
        </p:spPr>
      </p:sp>
      <p:sp>
        <p:nvSpPr>
          <p:cNvPr id="12" name="s10-test-g1">
            <a:extLst xmlns:a="http://schemas.openxmlformats.org/drawingml/2006/main">
              <a:ext uri="{FF2B5EF4-FFF2-40B4-BE49-F238E27FC236}">
                <a16:creationId xmlns:a16="http://schemas.microsoft.com/office/drawing/2014/main" id="{04D091E8-BA5D-4CC6-89C9-2E65531F1799}"/>
              </a:ext>
            </a:extLst>
          </p:cNvPr>
          <p:cNvSpPr>
            <a:spLocks xmlns:a="http://schemas.openxmlformats.org/drawingml/2006/main" noGrp="1"/>
          </p:cNvSpPr>
          <p:nvPr/>
        </p:nvSpPr>
        <p:spPr>
          <a:xfrm xmlns:a="http://schemas.openxmlformats.org/drawingml/2006/main">
            <a:off x="2343150" y="3648075"/>
            <a:ext cx="1238250" cy="2476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1">
                <a:solidFill>
                  <a:srgbClr val="15A777"/>
                </a:solidFill>
                <a:latin typeface="Consolas"/>
                <a:ea typeface="Consolas"/>
                <a:cs typeface="Consolas"/>
              </a:defRPr>
            </a:pPr>
            <a:r>
              <a:t>Build</a:t>
            </a:r>
          </a:p>
        </p:txBody>
      </p:sp>
      <p:sp>
        <p:nvSpPr>
          <p:cNvPr id="13" name="s10-test-g2">
            <a:extLst xmlns:a="http://schemas.openxmlformats.org/drawingml/2006/main">
              <a:ext uri="{FF2B5EF4-FFF2-40B4-BE49-F238E27FC236}">
                <a16:creationId xmlns:a16="http://schemas.microsoft.com/office/drawing/2014/main" id="{5AB2D51D-6490-4028-A25B-5D08A743AD01}"/>
              </a:ext>
            </a:extLst>
          </p:cNvPr>
          <p:cNvSpPr>
            <a:spLocks xmlns:a="http://schemas.openxmlformats.org/drawingml/2006/main" noGrp="1"/>
          </p:cNvSpPr>
          <p:nvPr/>
        </p:nvSpPr>
        <p:spPr>
          <a:xfrm xmlns:a="http://schemas.openxmlformats.org/drawingml/2006/main">
            <a:off x="2343150" y="4010025"/>
            <a:ext cx="1238250" cy="2476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1">
                <a:solidFill>
                  <a:srgbClr val="15A777"/>
                </a:solidFill>
                <a:latin typeface="Consolas"/>
                <a:ea typeface="Consolas"/>
                <a:cs typeface="Consolas"/>
              </a:defRPr>
            </a:pPr>
            <a:r>
              <a:t>TS lint</a:t>
            </a:r>
          </a:p>
        </p:txBody>
      </p:sp>
      <p:sp>
        <p:nvSpPr>
          <p:cNvPr id="14" name="s10-test-g3">
            <a:extLst xmlns:a="http://schemas.openxmlformats.org/drawingml/2006/main">
              <a:ext uri="{FF2B5EF4-FFF2-40B4-BE49-F238E27FC236}">
                <a16:creationId xmlns:a16="http://schemas.microsoft.com/office/drawing/2014/main" id="{EC31A1A9-BE35-4B94-8FDF-7F27A374E6E4}"/>
              </a:ext>
            </a:extLst>
          </p:cNvPr>
          <p:cNvSpPr>
            <a:spLocks xmlns:a="http://schemas.openxmlformats.org/drawingml/2006/main" noGrp="1"/>
          </p:cNvSpPr>
          <p:nvPr/>
        </p:nvSpPr>
        <p:spPr>
          <a:xfrm xmlns:a="http://schemas.openxmlformats.org/drawingml/2006/main">
            <a:off x="2343150" y="4371975"/>
            <a:ext cx="1409700" cy="2476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15A777"/>
                </a:solidFill>
                <a:latin typeface="Consolas"/>
                <a:ea typeface="Consolas"/>
                <a:cs typeface="Consolas"/>
              </a:defRPr>
            </a:pPr>
            <a:r>
              <a:t>MCP smoke: 10 tools</a:t>
            </a:r>
          </a:p>
        </p:txBody>
      </p:sp>
      <p:sp>
        <p:nvSpPr>
          <p:cNvPr id="15" name="s10-tests-foot">
            <a:extLst xmlns:a="http://schemas.openxmlformats.org/drawingml/2006/main">
              <a:ext uri="{FF2B5EF4-FFF2-40B4-BE49-F238E27FC236}">
                <a16:creationId xmlns:a16="http://schemas.microsoft.com/office/drawing/2014/main" id="{48EC62D2-8E95-4636-9937-7322181452C3}"/>
              </a:ext>
            </a:extLst>
          </p:cNvPr>
          <p:cNvSpPr>
            <a:spLocks xmlns:a="http://schemas.openxmlformats.org/drawingml/2006/main" noGrp="1"/>
          </p:cNvSpPr>
          <p:nvPr/>
        </p:nvSpPr>
        <p:spPr>
          <a:xfrm xmlns:a="http://schemas.openxmlformats.org/drawingml/2006/main">
            <a:off x="819150" y="4914900"/>
            <a:ext cx="2762250" cy="2857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1">
                <a:solidFill>
                  <a:srgbClr val="0A1224"/>
                </a:solidFill>
                <a:latin typeface="Arial"/>
                <a:ea typeface="Arial"/>
                <a:cs typeface="Arial"/>
              </a:defRPr>
            </a:pPr>
            <a:r>
              <a:t>Release-routing matrix passed</a:t>
            </a:r>
          </a:p>
        </p:txBody>
      </p:sp>
      <p:sp>
        <p:nvSpPr>
          <p:cNvPr id="16" name="s10-ci">
            <a:extLst xmlns:a="http://schemas.openxmlformats.org/drawingml/2006/main">
              <a:ext uri="{FF2B5EF4-FFF2-40B4-BE49-F238E27FC236}">
                <a16:creationId xmlns:a16="http://schemas.microsoft.com/office/drawing/2014/main" id="{03F71229-53C4-4B6B-A2DD-4C2938639270}"/>
              </a:ext>
            </a:extLst>
          </p:cNvPr>
          <p:cNvSpPr>
            <a:spLocks xmlns:a="http://schemas.openxmlformats.org/drawingml/2006/main" noGrp="1"/>
          </p:cNvSpPr>
          <p:nvPr/>
        </p:nvSpPr>
        <p:spPr>
          <a:xfrm xmlns:a="http://schemas.openxmlformats.org/drawingml/2006/main">
            <a:off x="4114800" y="1695450"/>
            <a:ext cx="3543300" cy="3771900"/>
          </a:xfrm>
          <a:prstGeom xmlns:a="http://schemas.openxmlformats.org/drawingml/2006/main" prst="roundRect">
            <a:avLst>
              <a:gd name="adj" fmla="val 2151"/>
            </a:avLst>
          </a:prstGeom>
          <a:solidFill xmlns:a="http://schemas.openxmlformats.org/drawingml/2006/main">
            <a:srgbClr val="EDEFF3"/>
          </a:solidFill>
          <a:ln xmlns:a="http://schemas.openxmlformats.org/drawingml/2006/main" w="0">
            <a:solidFill>
              <a:srgbClr val="EDEFF3"/>
            </a:solidFill>
            <a:prstDash val="solid"/>
          </a:ln>
        </p:spPr>
      </p:sp>
      <p:sp>
        <p:nvSpPr>
          <p:cNvPr id="17" name="s10-ci-k">
            <a:extLst xmlns:a="http://schemas.openxmlformats.org/drawingml/2006/main">
              <a:ext uri="{FF2B5EF4-FFF2-40B4-BE49-F238E27FC236}">
                <a16:creationId xmlns:a16="http://schemas.microsoft.com/office/drawing/2014/main" id="{2E2BE53D-EFFA-42CB-A161-8AAB6A0EADA2}"/>
              </a:ext>
            </a:extLst>
          </p:cNvPr>
          <p:cNvSpPr>
            <a:spLocks xmlns:a="http://schemas.openxmlformats.org/drawingml/2006/main" noGrp="1"/>
          </p:cNvSpPr>
          <p:nvPr/>
        </p:nvSpPr>
        <p:spPr>
          <a:xfrm xmlns:a="http://schemas.openxmlformats.org/drawingml/2006/main">
            <a:off x="4381500" y="1981200"/>
            <a:ext cx="3009900" cy="2286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1">
                <a:solidFill>
                  <a:srgbClr val="526071"/>
                </a:solidFill>
                <a:latin typeface="Arial"/>
                <a:ea typeface="Arial"/>
                <a:cs typeface="Arial"/>
              </a:defRPr>
            </a:pPr>
            <a:r>
              <a:t>GITHUB ACTIONS</a:t>
            </a:r>
          </a:p>
        </p:txBody>
      </p:sp>
      <p:sp>
        <p:nvSpPr>
          <p:cNvPr id="18" name="s10-ci-stat">
            <a:extLst xmlns:a="http://schemas.openxmlformats.org/drawingml/2006/main">
              <a:ext uri="{FF2B5EF4-FFF2-40B4-BE49-F238E27FC236}">
                <a16:creationId xmlns:a16="http://schemas.microsoft.com/office/drawing/2014/main" id="{B8126291-850C-41D3-8CBC-F9216C865621}"/>
              </a:ext>
            </a:extLst>
          </p:cNvPr>
          <p:cNvSpPr>
            <a:spLocks xmlns:a="http://schemas.openxmlformats.org/drawingml/2006/main" noGrp="1"/>
          </p:cNvSpPr>
          <p:nvPr/>
        </p:nvSpPr>
        <p:spPr>
          <a:xfrm xmlns:a="http://schemas.openxmlformats.org/drawingml/2006/main">
            <a:off x="4381500" y="2324100"/>
            <a:ext cx="1714500" cy="6858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4200" b="1">
                <a:solidFill>
                  <a:srgbClr val="15A777"/>
                </a:solidFill>
                <a:latin typeface="Arial"/>
                <a:ea typeface="Arial"/>
                <a:cs typeface="Arial"/>
              </a:defRPr>
            </a:pPr>
            <a:r>
              <a:t>5/5</a:t>
            </a:r>
          </a:p>
        </p:txBody>
      </p:sp>
      <p:sp>
        <p:nvSpPr>
          <p:cNvPr id="19" name="s10-ci-label">
            <a:extLst xmlns:a="http://schemas.openxmlformats.org/drawingml/2006/main">
              <a:ext uri="{FF2B5EF4-FFF2-40B4-BE49-F238E27FC236}">
                <a16:creationId xmlns:a16="http://schemas.microsoft.com/office/drawing/2014/main" id="{BC19E259-80F8-46D8-83E6-41DCAA4BB566}"/>
              </a:ext>
            </a:extLst>
          </p:cNvPr>
          <p:cNvSpPr>
            <a:spLocks xmlns:a="http://schemas.openxmlformats.org/drawingml/2006/main" noGrp="1"/>
          </p:cNvSpPr>
          <p:nvPr/>
        </p:nvSpPr>
        <p:spPr>
          <a:xfrm xmlns:a="http://schemas.openxmlformats.org/drawingml/2006/main">
            <a:off x="4381500" y="2990850"/>
            <a:ext cx="2476500" cy="2857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1">
                <a:solidFill>
                  <a:srgbClr val="0A1224"/>
                </a:solidFill>
                <a:latin typeface="Arial"/>
                <a:ea typeface="Arial"/>
                <a:cs typeface="Arial"/>
              </a:defRPr>
            </a:pPr>
            <a:r>
              <a:t>jobs passed</a:t>
            </a:r>
          </a:p>
        </p:txBody>
      </p:sp>
      <p:cxnSp>
        <p:nvCxnSpPr>
          <p:cNvPr id="58" name="s10-ci-rule"/>
          <p:cNvCxnSpPr/>
          <p:nvPr/>
        </p:nvCxnSpPr>
        <p:spPr>
          <a:xfrm xmlns:a="http://schemas.openxmlformats.org/drawingml/2006/main">
            <a:off x="4381500" y="3429000"/>
            <a:ext cx="3009900" cy="953"/>
          </a:xfrm>
          <a:prstGeom xmlns:a="http://schemas.openxmlformats.org/drawingml/2006/main" prst="straightConnector1">
            <a:avLst/>
          </a:prstGeom>
          <a:ln xmlns:a="http://schemas.openxmlformats.org/drawingml/2006/main" w="9525">
            <a:solidFill>
              <a:srgbClr val="B8BCC4"/>
            </a:solidFill>
            <a:prstDash val="solid"/>
          </a:ln>
        </p:spPr>
      </p:cxnSp>
      <p:sp>
        <p:nvSpPr>
          <p:cNvPr id="21" name="s10-ci-d1">
            <a:extLst xmlns:a="http://schemas.openxmlformats.org/drawingml/2006/main">
              <a:ext uri="{FF2B5EF4-FFF2-40B4-BE49-F238E27FC236}">
                <a16:creationId xmlns:a16="http://schemas.microsoft.com/office/drawing/2014/main" id="{B583FD30-6F3D-470C-8D23-16066D1A61B3}"/>
              </a:ext>
            </a:extLst>
          </p:cNvPr>
          <p:cNvSpPr>
            <a:spLocks xmlns:a="http://schemas.openxmlformats.org/drawingml/2006/main" noGrp="1"/>
          </p:cNvSpPr>
          <p:nvPr/>
        </p:nvSpPr>
        <p:spPr>
          <a:xfrm xmlns:a="http://schemas.openxmlformats.org/drawingml/2006/main">
            <a:off x="4400550" y="3714750"/>
            <a:ext cx="114300" cy="114300"/>
          </a:xfrm>
          <a:prstGeom xmlns:a="http://schemas.openxmlformats.org/drawingml/2006/main" prst="ellipse">
            <a:avLst/>
          </a:prstGeom>
          <a:solidFill xmlns:a="http://schemas.openxmlformats.org/drawingml/2006/main">
            <a:srgbClr val="15A777"/>
          </a:solidFill>
          <a:ln xmlns:a="http://schemas.openxmlformats.org/drawingml/2006/main" w="0">
            <a:solidFill>
              <a:srgbClr val="15A777"/>
            </a:solidFill>
            <a:prstDash val="solid"/>
          </a:ln>
        </p:spPr>
      </p:sp>
      <p:sp>
        <p:nvSpPr>
          <p:cNvPr id="22" name="s10-ci-d2">
            <a:extLst xmlns:a="http://schemas.openxmlformats.org/drawingml/2006/main">
              <a:ext uri="{FF2B5EF4-FFF2-40B4-BE49-F238E27FC236}">
                <a16:creationId xmlns:a16="http://schemas.microsoft.com/office/drawing/2014/main" id="{9926152C-E07E-4CF0-A432-8CC06B547698}"/>
              </a:ext>
            </a:extLst>
          </p:cNvPr>
          <p:cNvSpPr>
            <a:spLocks xmlns:a="http://schemas.openxmlformats.org/drawingml/2006/main" noGrp="1"/>
          </p:cNvSpPr>
          <p:nvPr/>
        </p:nvSpPr>
        <p:spPr>
          <a:xfrm xmlns:a="http://schemas.openxmlformats.org/drawingml/2006/main">
            <a:off x="4400550" y="4057650"/>
            <a:ext cx="114300" cy="114300"/>
          </a:xfrm>
          <a:prstGeom xmlns:a="http://schemas.openxmlformats.org/drawingml/2006/main" prst="ellipse">
            <a:avLst/>
          </a:prstGeom>
          <a:solidFill xmlns:a="http://schemas.openxmlformats.org/drawingml/2006/main">
            <a:srgbClr val="15A777"/>
          </a:solidFill>
          <a:ln xmlns:a="http://schemas.openxmlformats.org/drawingml/2006/main" w="0">
            <a:solidFill>
              <a:srgbClr val="15A777"/>
            </a:solidFill>
            <a:prstDash val="solid"/>
          </a:ln>
        </p:spPr>
      </p:sp>
      <p:sp>
        <p:nvSpPr>
          <p:cNvPr id="23" name="s10-ci-d3">
            <a:extLst xmlns:a="http://schemas.openxmlformats.org/drawingml/2006/main">
              <a:ext uri="{FF2B5EF4-FFF2-40B4-BE49-F238E27FC236}">
                <a16:creationId xmlns:a16="http://schemas.microsoft.com/office/drawing/2014/main" id="{4491E4F0-35EE-4558-9503-8A9CBFE4B92B}"/>
              </a:ext>
            </a:extLst>
          </p:cNvPr>
          <p:cNvSpPr>
            <a:spLocks xmlns:a="http://schemas.openxmlformats.org/drawingml/2006/main" noGrp="1"/>
          </p:cNvSpPr>
          <p:nvPr/>
        </p:nvSpPr>
        <p:spPr>
          <a:xfrm xmlns:a="http://schemas.openxmlformats.org/drawingml/2006/main">
            <a:off x="4400550" y="4400550"/>
            <a:ext cx="114300" cy="114300"/>
          </a:xfrm>
          <a:prstGeom xmlns:a="http://schemas.openxmlformats.org/drawingml/2006/main" prst="ellipse">
            <a:avLst/>
          </a:prstGeom>
          <a:solidFill xmlns:a="http://schemas.openxmlformats.org/drawingml/2006/main">
            <a:srgbClr val="15A777"/>
          </a:solidFill>
          <a:ln xmlns:a="http://schemas.openxmlformats.org/drawingml/2006/main" w="0">
            <a:solidFill>
              <a:srgbClr val="15A777"/>
            </a:solidFill>
            <a:prstDash val="solid"/>
          </a:ln>
        </p:spPr>
      </p:sp>
      <p:sp>
        <p:nvSpPr>
          <p:cNvPr id="24" name="s10-ci-d4">
            <a:extLst xmlns:a="http://schemas.openxmlformats.org/drawingml/2006/main">
              <a:ext uri="{FF2B5EF4-FFF2-40B4-BE49-F238E27FC236}">
                <a16:creationId xmlns:a16="http://schemas.microsoft.com/office/drawing/2014/main" id="{16EC0B64-EDD0-4849-964C-BAF155480881}"/>
              </a:ext>
            </a:extLst>
          </p:cNvPr>
          <p:cNvSpPr>
            <a:spLocks xmlns:a="http://schemas.openxmlformats.org/drawingml/2006/main" noGrp="1"/>
          </p:cNvSpPr>
          <p:nvPr/>
        </p:nvSpPr>
        <p:spPr>
          <a:xfrm xmlns:a="http://schemas.openxmlformats.org/drawingml/2006/main">
            <a:off x="4400550" y="4743450"/>
            <a:ext cx="114300" cy="114300"/>
          </a:xfrm>
          <a:prstGeom xmlns:a="http://schemas.openxmlformats.org/drawingml/2006/main" prst="ellipse">
            <a:avLst/>
          </a:prstGeom>
          <a:solidFill xmlns:a="http://schemas.openxmlformats.org/drawingml/2006/main">
            <a:srgbClr val="15A777"/>
          </a:solidFill>
          <a:ln xmlns:a="http://schemas.openxmlformats.org/drawingml/2006/main" w="0">
            <a:solidFill>
              <a:srgbClr val="15A777"/>
            </a:solidFill>
            <a:prstDash val="solid"/>
          </a:ln>
        </p:spPr>
      </p:sp>
      <p:sp>
        <p:nvSpPr>
          <p:cNvPr id="25" name="s10-ci-d5">
            <a:extLst xmlns:a="http://schemas.openxmlformats.org/drawingml/2006/main">
              <a:ext uri="{FF2B5EF4-FFF2-40B4-BE49-F238E27FC236}">
                <a16:creationId xmlns:a16="http://schemas.microsoft.com/office/drawing/2014/main" id="{50F031A8-5B11-4799-9148-2451CAE9A0EF}"/>
              </a:ext>
            </a:extLst>
          </p:cNvPr>
          <p:cNvSpPr>
            <a:spLocks xmlns:a="http://schemas.openxmlformats.org/drawingml/2006/main" noGrp="1"/>
          </p:cNvSpPr>
          <p:nvPr/>
        </p:nvSpPr>
        <p:spPr>
          <a:xfrm xmlns:a="http://schemas.openxmlformats.org/drawingml/2006/main">
            <a:off x="4400550" y="5086350"/>
            <a:ext cx="114300" cy="114300"/>
          </a:xfrm>
          <a:prstGeom xmlns:a="http://schemas.openxmlformats.org/drawingml/2006/main" prst="ellipse">
            <a:avLst/>
          </a:prstGeom>
          <a:solidFill xmlns:a="http://schemas.openxmlformats.org/drawingml/2006/main">
            <a:srgbClr val="15A777"/>
          </a:solidFill>
          <a:ln xmlns:a="http://schemas.openxmlformats.org/drawingml/2006/main" w="0">
            <a:solidFill>
              <a:srgbClr val="15A777"/>
            </a:solidFill>
            <a:prstDash val="solid"/>
          </a:ln>
        </p:spPr>
      </p:sp>
      <p:sp>
        <p:nvSpPr>
          <p:cNvPr id="26" name="s10-ci-r1">
            <a:extLst xmlns:a="http://schemas.openxmlformats.org/drawingml/2006/main">
              <a:ext uri="{FF2B5EF4-FFF2-40B4-BE49-F238E27FC236}">
                <a16:creationId xmlns:a16="http://schemas.microsoft.com/office/drawing/2014/main" id="{4EDF8FE1-C0F9-4ABE-90DD-4ABAD38150FE}"/>
              </a:ext>
            </a:extLst>
          </p:cNvPr>
          <p:cNvSpPr>
            <a:spLocks xmlns:a="http://schemas.openxmlformats.org/drawingml/2006/main" noGrp="1"/>
          </p:cNvSpPr>
          <p:nvPr/>
        </p:nvSpPr>
        <p:spPr>
          <a:xfrm xmlns:a="http://schemas.openxmlformats.org/drawingml/2006/main">
            <a:off x="4629150" y="3648075"/>
            <a:ext cx="2724150" cy="2667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0">
                <a:solidFill>
                  <a:srgbClr val="0A1224"/>
                </a:solidFill>
                <a:latin typeface="Consolas"/>
                <a:ea typeface="Consolas"/>
                <a:cs typeface="Consolas"/>
              </a:defRPr>
            </a:pPr>
            <a:r>
              <a:t>Ubuntu / Node 20</a:t>
            </a:r>
          </a:p>
        </p:txBody>
      </p:sp>
      <p:sp>
        <p:nvSpPr>
          <p:cNvPr id="27" name="s10-ci-r2">
            <a:extLst xmlns:a="http://schemas.openxmlformats.org/drawingml/2006/main">
              <a:ext uri="{FF2B5EF4-FFF2-40B4-BE49-F238E27FC236}">
                <a16:creationId xmlns:a16="http://schemas.microsoft.com/office/drawing/2014/main" id="{4A714FE7-A40A-48EE-A473-9BDC462919CA}"/>
              </a:ext>
            </a:extLst>
          </p:cNvPr>
          <p:cNvSpPr>
            <a:spLocks xmlns:a="http://schemas.openxmlformats.org/drawingml/2006/main" noGrp="1"/>
          </p:cNvSpPr>
          <p:nvPr/>
        </p:nvSpPr>
        <p:spPr>
          <a:xfrm xmlns:a="http://schemas.openxmlformats.org/drawingml/2006/main">
            <a:off x="4629150" y="3990975"/>
            <a:ext cx="2724150" cy="2667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0">
                <a:solidFill>
                  <a:srgbClr val="0A1224"/>
                </a:solidFill>
                <a:latin typeface="Consolas"/>
                <a:ea typeface="Consolas"/>
                <a:cs typeface="Consolas"/>
              </a:defRPr>
            </a:pPr>
            <a:r>
              <a:t>Windows / Node 20</a:t>
            </a:r>
          </a:p>
        </p:txBody>
      </p:sp>
      <p:sp>
        <p:nvSpPr>
          <p:cNvPr id="28" name="s10-ci-r3">
            <a:extLst xmlns:a="http://schemas.openxmlformats.org/drawingml/2006/main">
              <a:ext uri="{FF2B5EF4-FFF2-40B4-BE49-F238E27FC236}">
                <a16:creationId xmlns:a16="http://schemas.microsoft.com/office/drawing/2014/main" id="{765F4633-E853-4945-9D25-1363250B9FA2}"/>
              </a:ext>
            </a:extLst>
          </p:cNvPr>
          <p:cNvSpPr>
            <a:spLocks xmlns:a="http://schemas.openxmlformats.org/drawingml/2006/main" noGrp="1"/>
          </p:cNvSpPr>
          <p:nvPr/>
        </p:nvSpPr>
        <p:spPr>
          <a:xfrm xmlns:a="http://schemas.openxmlformats.org/drawingml/2006/main">
            <a:off x="4629150" y="4333875"/>
            <a:ext cx="2724150" cy="2667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0">
                <a:solidFill>
                  <a:srgbClr val="0A1224"/>
                </a:solidFill>
                <a:latin typeface="Consolas"/>
                <a:ea typeface="Consolas"/>
                <a:cs typeface="Consolas"/>
              </a:defRPr>
            </a:pPr>
            <a:r>
              <a:t>macOS / Node 20</a:t>
            </a:r>
          </a:p>
        </p:txBody>
      </p:sp>
      <p:sp>
        <p:nvSpPr>
          <p:cNvPr id="29" name="s10-ci-r4">
            <a:extLst xmlns:a="http://schemas.openxmlformats.org/drawingml/2006/main">
              <a:ext uri="{FF2B5EF4-FFF2-40B4-BE49-F238E27FC236}">
                <a16:creationId xmlns:a16="http://schemas.microsoft.com/office/drawing/2014/main" id="{F75B6211-AD4A-43C8-A5E3-F1374B95996A}"/>
              </a:ext>
            </a:extLst>
          </p:cNvPr>
          <p:cNvSpPr>
            <a:spLocks xmlns:a="http://schemas.openxmlformats.org/drawingml/2006/main" noGrp="1"/>
          </p:cNvSpPr>
          <p:nvPr/>
        </p:nvSpPr>
        <p:spPr>
          <a:xfrm xmlns:a="http://schemas.openxmlformats.org/drawingml/2006/main">
            <a:off x="4629150" y="4676775"/>
            <a:ext cx="2724150" cy="2667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0">
                <a:solidFill>
                  <a:srgbClr val="0A1224"/>
                </a:solidFill>
                <a:latin typeface="Consolas"/>
                <a:ea typeface="Consolas"/>
                <a:cs typeface="Consolas"/>
              </a:defRPr>
            </a:pPr>
            <a:r>
              <a:t>Ubuntu / Node 24</a:t>
            </a:r>
          </a:p>
        </p:txBody>
      </p:sp>
      <p:sp>
        <p:nvSpPr>
          <p:cNvPr id="30" name="s10-ci-r5">
            <a:extLst xmlns:a="http://schemas.openxmlformats.org/drawingml/2006/main">
              <a:ext uri="{FF2B5EF4-FFF2-40B4-BE49-F238E27FC236}">
                <a16:creationId xmlns:a16="http://schemas.microsoft.com/office/drawing/2014/main" id="{510A6884-D316-42ED-B069-BDB4CD38FDC1}"/>
              </a:ext>
            </a:extLst>
          </p:cNvPr>
          <p:cNvSpPr>
            <a:spLocks xmlns:a="http://schemas.openxmlformats.org/drawingml/2006/main" noGrp="1"/>
          </p:cNvSpPr>
          <p:nvPr/>
        </p:nvSpPr>
        <p:spPr>
          <a:xfrm xmlns:a="http://schemas.openxmlformats.org/drawingml/2006/main">
            <a:off x="4629150" y="5019675"/>
            <a:ext cx="2724150" cy="2667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0">
                <a:solidFill>
                  <a:srgbClr val="0A1224"/>
                </a:solidFill>
                <a:latin typeface="Consolas"/>
                <a:ea typeface="Consolas"/>
                <a:cs typeface="Consolas"/>
              </a:defRPr>
            </a:pPr>
            <a:r>
              <a:t>npm package dry run</a:t>
            </a:r>
          </a:p>
        </p:txBody>
      </p:sp>
      <p:sp>
        <p:nvSpPr>
          <p:cNvPr id="31" name="s10-release">
            <a:extLst xmlns:a="http://schemas.openxmlformats.org/drawingml/2006/main">
              <a:ext uri="{FF2B5EF4-FFF2-40B4-BE49-F238E27FC236}">
                <a16:creationId xmlns:a16="http://schemas.microsoft.com/office/drawing/2014/main" id="{470C1F90-71B3-4DB7-95CA-733F6DDD16CE}"/>
              </a:ext>
            </a:extLst>
          </p:cNvPr>
          <p:cNvSpPr>
            <a:spLocks xmlns:a="http://schemas.openxmlformats.org/drawingml/2006/main" noGrp="1"/>
          </p:cNvSpPr>
          <p:nvPr/>
        </p:nvSpPr>
        <p:spPr>
          <a:xfrm xmlns:a="http://schemas.openxmlformats.org/drawingml/2006/main">
            <a:off x="7924800" y="1695450"/>
            <a:ext cx="3714750" cy="3771900"/>
          </a:xfrm>
          <a:prstGeom xmlns:a="http://schemas.openxmlformats.org/drawingml/2006/main" prst="roundRect">
            <a:avLst>
              <a:gd name="adj" fmla="val 2051"/>
            </a:avLst>
          </a:prstGeom>
          <a:solidFill xmlns:a="http://schemas.openxmlformats.org/drawingml/2006/main">
            <a:srgbClr val="E9F7F2"/>
          </a:solidFill>
          <a:ln xmlns:a="http://schemas.openxmlformats.org/drawingml/2006/main" w="0">
            <a:solidFill>
              <a:srgbClr val="E9F7F2"/>
            </a:solidFill>
            <a:prstDash val="solid"/>
          </a:ln>
        </p:spPr>
      </p:sp>
      <p:sp>
        <p:nvSpPr>
          <p:cNvPr id="32" name="s10-release-k">
            <a:extLst xmlns:a="http://schemas.openxmlformats.org/drawingml/2006/main">
              <a:ext uri="{FF2B5EF4-FFF2-40B4-BE49-F238E27FC236}">
                <a16:creationId xmlns:a16="http://schemas.microsoft.com/office/drawing/2014/main" id="{6A27AFA7-96B1-43E8-9488-2007762E9A95}"/>
              </a:ext>
            </a:extLst>
          </p:cNvPr>
          <p:cNvSpPr>
            <a:spLocks xmlns:a="http://schemas.openxmlformats.org/drawingml/2006/main" noGrp="1"/>
          </p:cNvSpPr>
          <p:nvPr/>
        </p:nvSpPr>
        <p:spPr>
          <a:xfrm xmlns:a="http://schemas.openxmlformats.org/drawingml/2006/main">
            <a:off x="8191500" y="1981200"/>
            <a:ext cx="3181350" cy="2286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1">
                <a:solidFill>
                  <a:srgbClr val="15A777"/>
                </a:solidFill>
                <a:latin typeface="Arial"/>
                <a:ea typeface="Arial"/>
                <a:cs typeface="Arial"/>
              </a:defRPr>
            </a:pPr>
            <a:r>
              <a:t>PUBLIC DISTRIBUTION</a:t>
            </a:r>
          </a:p>
        </p:txBody>
      </p:sp>
      <p:sp>
        <p:nvSpPr>
          <p:cNvPr id="33" name="s10-release-stat">
            <a:extLst xmlns:a="http://schemas.openxmlformats.org/drawingml/2006/main">
              <a:ext uri="{FF2B5EF4-FFF2-40B4-BE49-F238E27FC236}">
                <a16:creationId xmlns:a16="http://schemas.microsoft.com/office/drawing/2014/main" id="{37062D6A-F18A-48AF-9476-91902F3DC497}"/>
              </a:ext>
            </a:extLst>
          </p:cNvPr>
          <p:cNvSpPr>
            <a:spLocks xmlns:a="http://schemas.openxmlformats.org/drawingml/2006/main" noGrp="1"/>
          </p:cNvSpPr>
          <p:nvPr/>
        </p:nvSpPr>
        <p:spPr>
          <a:xfrm xmlns:a="http://schemas.openxmlformats.org/drawingml/2006/main">
            <a:off x="8191500" y="2400300"/>
            <a:ext cx="3181350" cy="5143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15A777"/>
                </a:solidFill>
                <a:latin typeface="Arial"/>
                <a:ea typeface="Arial"/>
                <a:cs typeface="Arial"/>
              </a:defRPr>
            </a:pPr>
            <a:r>
              <a:t>VERIFIED</a:t>
            </a:r>
          </a:p>
        </p:txBody>
      </p:sp>
      <p:sp>
        <p:nvSpPr>
          <p:cNvPr id="34" name="s10-release-list">
            <a:extLst xmlns:a="http://schemas.openxmlformats.org/drawingml/2006/main">
              <a:ext uri="{FF2B5EF4-FFF2-40B4-BE49-F238E27FC236}">
                <a16:creationId xmlns:a16="http://schemas.microsoft.com/office/drawing/2014/main" id="{0E3D3247-CA8C-47BB-8C1B-3284E3401485}"/>
              </a:ext>
            </a:extLst>
          </p:cNvPr>
          <p:cNvSpPr>
            <a:spLocks xmlns:a="http://schemas.openxmlformats.org/drawingml/2006/main" noGrp="1"/>
          </p:cNvSpPr>
          <p:nvPr/>
        </p:nvSpPr>
        <p:spPr>
          <a:xfrm xmlns:a="http://schemas.openxmlformats.org/drawingml/2006/main">
            <a:off x="8191500" y="3181350"/>
            <a:ext cx="3181350" cy="17526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0A1224"/>
                </a:solidFill>
                <a:latin typeface="Consolas"/>
                <a:ea typeface="Consolas"/>
                <a:cs typeface="Consolas"/>
              </a:defRPr>
            </a:pPr>
            <a:r>
              <a:t>clean tarball install
public npm install
CLI release route
MCP init + 10 tools
candidate SHA = registry
tag / version / ref / pin</a:t>
            </a:r>
          </a:p>
        </p:txBody>
      </p:sp>
      <p:sp>
        <p:nvSpPr>
          <p:cNvPr id="35" name="s10-release-platforms">
            <a:extLst xmlns:a="http://schemas.openxmlformats.org/drawingml/2006/main">
              <a:ext uri="{FF2B5EF4-FFF2-40B4-BE49-F238E27FC236}">
                <a16:creationId xmlns:a16="http://schemas.microsoft.com/office/drawing/2014/main" id="{7112D68D-8453-4585-A528-0749F3342D2A}"/>
              </a:ext>
            </a:extLst>
          </p:cNvPr>
          <p:cNvSpPr>
            <a:spLocks xmlns:a="http://schemas.openxmlformats.org/drawingml/2006/main" noGrp="1"/>
          </p:cNvSpPr>
          <p:nvPr/>
        </p:nvSpPr>
        <p:spPr>
          <a:xfrm xmlns:a="http://schemas.openxmlformats.org/drawingml/2006/main">
            <a:off x="8191500" y="5010150"/>
            <a:ext cx="3181350" cy="2667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1">
                <a:solidFill>
                  <a:srgbClr val="526071"/>
                </a:solidFill>
                <a:latin typeface="Arial"/>
                <a:ea typeface="Arial"/>
                <a:cs typeface="Arial"/>
              </a:defRPr>
            </a:pPr>
            <a:r>
              <a:t>Windows | macOS | Linux</a:t>
            </a:r>
          </a:p>
        </p:txBody>
      </p:sp>
      <p:cxnSp>
        <p:nvCxnSpPr>
          <p:cNvPr id="74" name="footer-rule-9"/>
          <p:cNvCxnSpPr/>
          <p:nvPr/>
        </p:nvCxnSpPr>
        <p:spPr>
          <a:xfrm xmlns:a="http://schemas.openxmlformats.org/drawingml/2006/main">
            <a:off x="400050" y="6162675"/>
            <a:ext cx="11391900" cy="953"/>
          </a:xfrm>
          <a:prstGeom xmlns:a="http://schemas.openxmlformats.org/drawingml/2006/main" prst="straightConnector1">
            <a:avLst/>
          </a:prstGeom>
          <a:ln xmlns:a="http://schemas.openxmlformats.org/drawingml/2006/main" w="9525">
            <a:solidFill>
              <a:srgbClr val="B8BCC4"/>
            </a:solidFill>
            <a:prstDash val="solid"/>
          </a:ln>
        </p:spPr>
      </p:cxnSp>
      <p:sp>
        <p:nvSpPr>
          <p:cNvPr id="37" name="footer-source-9">
            <a:extLst xmlns:a="http://schemas.openxmlformats.org/drawingml/2006/main">
              <a:ext uri="{FF2B5EF4-FFF2-40B4-BE49-F238E27FC236}">
                <a16:creationId xmlns:a16="http://schemas.microsoft.com/office/drawing/2014/main" id="{C7C007B4-AB11-449C-983F-418D3AD3055C}"/>
              </a:ext>
            </a:extLst>
          </p:cNvPr>
          <p:cNvSpPr>
            <a:spLocks xmlns:a="http://schemas.openxmlformats.org/drawingml/2006/main" noGrp="1"/>
          </p:cNvSpPr>
          <p:nvPr/>
        </p:nvSpPr>
        <p:spPr>
          <a:xfrm xmlns:a="http://schemas.openxmlformats.org/drawingml/2006/main">
            <a:off x="400050" y="6238875"/>
            <a:ext cx="10001250" cy="2286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863" b="0">
                <a:solidFill>
                  <a:srgbClr val="526071"/>
                </a:solidFill>
                <a:latin typeface="Arial"/>
                <a:ea typeface="Arial"/>
                <a:cs typeface="Arial"/>
              </a:defRPr>
            </a:pPr>
            <a:r>
              <a:t>CI run 29687844288 | Vertex Palace 0.2.3 release verification | all listed gates passed</a:t>
            </a:r>
          </a:p>
        </p:txBody>
      </p:sp>
      <p:sp>
        <p:nvSpPr>
          <p:cNvPr id="38" name="footer-number-9">
            <a:extLst xmlns:a="http://schemas.openxmlformats.org/drawingml/2006/main">
              <a:ext uri="{FF2B5EF4-FFF2-40B4-BE49-F238E27FC236}">
                <a16:creationId xmlns:a16="http://schemas.microsoft.com/office/drawing/2014/main" id="{4258EF4E-67C4-4423-B3F9-8D472F37D4F3}"/>
              </a:ext>
            </a:extLst>
          </p:cNvPr>
          <p:cNvSpPr>
            <a:spLocks xmlns:a="http://schemas.openxmlformats.org/drawingml/2006/main" noGrp="1"/>
          </p:cNvSpPr>
          <p:nvPr/>
        </p:nvSpPr>
        <p:spPr>
          <a:xfrm xmlns:a="http://schemas.openxmlformats.org/drawingml/2006/main">
            <a:off x="11258550" y="6238875"/>
            <a:ext cx="533400" cy="2286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r">
              <a:defRPr sz="900" b="0">
                <a:solidFill>
                  <a:srgbClr val="526071"/>
                </a:solidFill>
                <a:latin typeface="Arial"/>
                <a:ea typeface="Arial"/>
                <a:cs typeface="Arial"/>
              </a:defRPr>
            </a:pPr>
            <a:r>
              <a:t>9</a:t>
            </a:r>
          </a:p>
        </p:txBody>
      </p:sp>
    </p:spTree>
    <p:extLst>
      <p:ext uri="{BB962C8B-B14F-4D97-AF65-F5344CB8AC3E}">
        <p14:creationId xmlns:p14="http://schemas.microsoft.com/office/powerpoint/2010/main" val="551673877"/>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7" name="s11-title">
            <a:extLst xmlns:a="http://schemas.openxmlformats.org/drawingml/2006/main">
              <a:ext uri="{FF2B5EF4-FFF2-40B4-BE49-F238E27FC236}">
                <a16:creationId xmlns:a16="http://schemas.microsoft.com/office/drawing/2014/main" id="{DD78E695-88A1-4C44-8238-73B9AA0076A6}"/>
              </a:ext>
            </a:extLst>
          </p:cNvPr>
          <p:cNvSpPr>
            <a:spLocks xmlns:a="http://schemas.openxmlformats.org/drawingml/2006/main" noGrp="1"/>
          </p:cNvSpPr>
          <p:nvPr/>
        </p:nvSpPr>
        <p:spPr>
          <a:xfrm xmlns:a="http://schemas.openxmlformats.org/drawingml/2006/main">
            <a:off x="400050" y="323850"/>
            <a:ext cx="11391900" cy="7239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0A1224"/>
                </a:solidFill>
                <a:latin typeface="Arial"/>
                <a:ea typeface="Arial"/>
                <a:cs typeface="Arial"/>
              </a:defRPr>
            </a:pPr>
            <a:r>
              <a:t>Failures became versioned regression gates.</a:t>
            </a:r>
          </a:p>
        </p:txBody>
      </p:sp>
      <p:sp>
        <p:nvSpPr>
          <p:cNvPr id="2" name="s11-subtitle">
            <a:extLst xmlns:a="http://schemas.openxmlformats.org/drawingml/2006/main">
              <a:ext uri="{FF2B5EF4-FFF2-40B4-BE49-F238E27FC236}">
                <a16:creationId xmlns:a16="http://schemas.microsoft.com/office/drawing/2014/main" id="{AC71D59C-FCA0-4FC2-BDF5-8637E57E263E}"/>
              </a:ext>
            </a:extLst>
          </p:cNvPr>
          <p:cNvSpPr>
            <a:spLocks xmlns:a="http://schemas.openxmlformats.org/drawingml/2006/main" noGrp="1"/>
          </p:cNvSpPr>
          <p:nvPr/>
        </p:nvSpPr>
        <p:spPr>
          <a:xfrm xmlns:a="http://schemas.openxmlformats.org/drawingml/2006/main">
            <a:off x="400050" y="1066800"/>
            <a:ext cx="11049000" cy="3810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526071"/>
                </a:solidFill>
                <a:latin typeface="Arial"/>
                <a:ea typeface="Arial"/>
                <a:cs typeface="Arial"/>
              </a:defRPr>
            </a:pPr>
            <a:r>
              <a:t>The benchmark did not just score Vertex Palace; it changed the implementation and release process.</a:t>
            </a:r>
          </a:p>
        </p:txBody>
      </p:sp>
      <p:cxnSp>
        <p:nvCxnSpPr>
          <p:cNvPr id="29" name="s11-link1"/>
          <p:cNvCxnSpPr/>
          <p:nvPr/>
        </p:nvCxnSpPr>
        <p:spPr>
          <a:xfrm xmlns:a="http://schemas.openxmlformats.org/drawingml/2006/main">
            <a:off x="3714750" y="3333750"/>
            <a:ext cx="762000" cy="953"/>
          </a:xfrm>
          <a:prstGeom xmlns:a="http://schemas.openxmlformats.org/drawingml/2006/main" prst="straightConnector1">
            <a:avLst/>
          </a:prstGeom>
          <a:ln xmlns:a="http://schemas.openxmlformats.org/drawingml/2006/main" w="38100">
            <a:solidFill>
              <a:srgbClr val="B8BCC4"/>
            </a:solidFill>
            <a:prstDash val="solid"/>
          </a:ln>
        </p:spPr>
      </p:cxnSp>
      <p:cxnSp>
        <p:nvCxnSpPr>
          <p:cNvPr id="30" name="s11-link2"/>
          <p:cNvCxnSpPr/>
          <p:nvPr/>
        </p:nvCxnSpPr>
        <p:spPr>
          <a:xfrm xmlns:a="http://schemas.openxmlformats.org/drawingml/2006/main">
            <a:off x="7715250" y="3333750"/>
            <a:ext cx="762000" cy="953"/>
          </a:xfrm>
          <a:prstGeom xmlns:a="http://schemas.openxmlformats.org/drawingml/2006/main" prst="straightConnector1">
            <a:avLst/>
          </a:prstGeom>
          <a:ln xmlns:a="http://schemas.openxmlformats.org/drawingml/2006/main" w="38100">
            <a:solidFill>
              <a:srgbClr val="B8BCC4"/>
            </a:solidFill>
            <a:prstDash val="solid"/>
          </a:ln>
        </p:spPr>
      </p:cxnSp>
      <p:sp>
        <p:nvSpPr>
          <p:cNvPr id="5" name="s11-arrow1">
            <a:extLst xmlns:a="http://schemas.openxmlformats.org/drawingml/2006/main">
              <a:ext uri="{FF2B5EF4-FFF2-40B4-BE49-F238E27FC236}">
                <a16:creationId xmlns:a16="http://schemas.microsoft.com/office/drawing/2014/main" id="{4310B3BF-DA52-4D01-9619-A47E4D994D39}"/>
              </a:ext>
            </a:extLst>
          </p:cNvPr>
          <p:cNvSpPr>
            <a:spLocks xmlns:a="http://schemas.openxmlformats.org/drawingml/2006/main" noGrp="1"/>
          </p:cNvSpPr>
          <p:nvPr/>
        </p:nvSpPr>
        <p:spPr>
          <a:xfrm xmlns:a="http://schemas.openxmlformats.org/drawingml/2006/main">
            <a:off x="4095750" y="3152775"/>
            <a:ext cx="342900" cy="3429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ctr">
              <a:defRPr sz="2100" b="1">
                <a:solidFill>
                  <a:srgbClr val="B8BCC4"/>
                </a:solidFill>
                <a:latin typeface="Arial"/>
                <a:ea typeface="Arial"/>
                <a:cs typeface="Arial"/>
              </a:defRPr>
            </a:pPr>
            <a:r>
              <a:t>&gt;</a:t>
            </a:r>
          </a:p>
        </p:txBody>
      </p:sp>
      <p:sp>
        <p:nvSpPr>
          <p:cNvPr id="6" name="s11-arrow2">
            <a:extLst xmlns:a="http://schemas.openxmlformats.org/drawingml/2006/main">
              <a:ext uri="{FF2B5EF4-FFF2-40B4-BE49-F238E27FC236}">
                <a16:creationId xmlns:a16="http://schemas.microsoft.com/office/drawing/2014/main" id="{56A5B2A9-7F6B-4B15-AAC3-759A374DA368}"/>
              </a:ext>
            </a:extLst>
          </p:cNvPr>
          <p:cNvSpPr>
            <a:spLocks xmlns:a="http://schemas.openxmlformats.org/drawingml/2006/main" noGrp="1"/>
          </p:cNvSpPr>
          <p:nvPr/>
        </p:nvSpPr>
        <p:spPr>
          <a:xfrm xmlns:a="http://schemas.openxmlformats.org/drawingml/2006/main">
            <a:off x="8096250" y="3152775"/>
            <a:ext cx="342900" cy="3429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ctr">
              <a:defRPr sz="2100" b="1">
                <a:solidFill>
                  <a:srgbClr val="B8BCC4"/>
                </a:solidFill>
                <a:latin typeface="Arial"/>
                <a:ea typeface="Arial"/>
                <a:cs typeface="Arial"/>
              </a:defRPr>
            </a:pPr>
            <a:r>
              <a:t>&gt;</a:t>
            </a:r>
          </a:p>
        </p:txBody>
      </p:sp>
      <p:sp>
        <p:nvSpPr>
          <p:cNvPr id="7" name="s11-v021">
            <a:extLst xmlns:a="http://schemas.openxmlformats.org/drawingml/2006/main">
              <a:ext uri="{FF2B5EF4-FFF2-40B4-BE49-F238E27FC236}">
                <a16:creationId xmlns:a16="http://schemas.microsoft.com/office/drawing/2014/main" id="{6B1DC8D4-BB70-4DD9-A459-340A16BC5C44}"/>
              </a:ext>
            </a:extLst>
          </p:cNvPr>
          <p:cNvSpPr>
            <a:spLocks xmlns:a="http://schemas.openxmlformats.org/drawingml/2006/main" noGrp="1"/>
          </p:cNvSpPr>
          <p:nvPr/>
        </p:nvSpPr>
        <p:spPr>
          <a:xfrm xmlns:a="http://schemas.openxmlformats.org/drawingml/2006/main">
            <a:off x="552450" y="1885950"/>
            <a:ext cx="3162300" cy="3028950"/>
          </a:xfrm>
          <a:prstGeom xmlns:a="http://schemas.openxmlformats.org/drawingml/2006/main" prst="roundRect">
            <a:avLst>
              <a:gd name="adj" fmla="val 2516"/>
            </a:avLst>
          </a:prstGeom>
          <a:solidFill xmlns:a="http://schemas.openxmlformats.org/drawingml/2006/main">
            <a:srgbClr val="FFF1F3"/>
          </a:solidFill>
          <a:ln xmlns:a="http://schemas.openxmlformats.org/drawingml/2006/main" w="0">
            <a:solidFill>
              <a:srgbClr val="FFF1F3"/>
            </a:solidFill>
            <a:prstDash val="solid"/>
          </a:ln>
        </p:spPr>
      </p:sp>
      <p:sp>
        <p:nvSpPr>
          <p:cNvPr id="8" name="s11-v021-version">
            <a:extLst xmlns:a="http://schemas.openxmlformats.org/drawingml/2006/main">
              <a:ext uri="{FF2B5EF4-FFF2-40B4-BE49-F238E27FC236}">
                <a16:creationId xmlns:a16="http://schemas.microsoft.com/office/drawing/2014/main" id="{2BEBF6C9-F953-43B0-990C-CE2D34548F3A}"/>
              </a:ext>
            </a:extLst>
          </p:cNvPr>
          <p:cNvSpPr>
            <a:spLocks xmlns:a="http://schemas.openxmlformats.org/drawingml/2006/main" noGrp="1"/>
          </p:cNvSpPr>
          <p:nvPr/>
        </p:nvSpPr>
        <p:spPr>
          <a:xfrm xmlns:a="http://schemas.openxmlformats.org/drawingml/2006/main">
            <a:off x="819150" y="2133600"/>
            <a:ext cx="2628900" cy="3429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D4515D"/>
                </a:solidFill>
                <a:latin typeface="Consolas"/>
                <a:ea typeface="Consolas"/>
                <a:cs typeface="Consolas"/>
              </a:defRPr>
            </a:pPr>
            <a:r>
              <a:t>v0.2.1</a:t>
            </a:r>
          </a:p>
        </p:txBody>
      </p:sp>
      <p:sp>
        <p:nvSpPr>
          <p:cNvPr id="9" name="s11-v021-k">
            <a:extLst xmlns:a="http://schemas.openxmlformats.org/drawingml/2006/main">
              <a:ext uri="{FF2B5EF4-FFF2-40B4-BE49-F238E27FC236}">
                <a16:creationId xmlns:a16="http://schemas.microsoft.com/office/drawing/2014/main" id="{BA5D94C6-E97E-4B3F-A3F7-33DA3D268055}"/>
              </a:ext>
            </a:extLst>
          </p:cNvPr>
          <p:cNvSpPr>
            <a:spLocks xmlns:a="http://schemas.openxmlformats.org/drawingml/2006/main" noGrp="1"/>
          </p:cNvSpPr>
          <p:nvPr/>
        </p:nvSpPr>
        <p:spPr>
          <a:xfrm xmlns:a="http://schemas.openxmlformats.org/drawingml/2006/main">
            <a:off x="819150" y="2628900"/>
            <a:ext cx="2628900" cy="2095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D4515D"/>
                </a:solidFill>
                <a:latin typeface="Arial"/>
                <a:ea typeface="Arial"/>
                <a:cs typeface="Arial"/>
              </a:defRPr>
            </a:pPr>
            <a:r>
              <a:t>OBSERVED</a:t>
            </a:r>
          </a:p>
        </p:txBody>
      </p:sp>
      <p:sp>
        <p:nvSpPr>
          <p:cNvPr id="10" name="s11-v021-v">
            <a:extLst xmlns:a="http://schemas.openxmlformats.org/drawingml/2006/main">
              <a:ext uri="{FF2B5EF4-FFF2-40B4-BE49-F238E27FC236}">
                <a16:creationId xmlns:a16="http://schemas.microsoft.com/office/drawing/2014/main" id="{105B400C-BE03-42ED-BFAB-7A9E8013DCAB}"/>
              </a:ext>
            </a:extLst>
          </p:cNvPr>
          <p:cNvSpPr>
            <a:spLocks xmlns:a="http://schemas.openxmlformats.org/drawingml/2006/main" noGrp="1"/>
          </p:cNvSpPr>
          <p:nvPr/>
        </p:nvSpPr>
        <p:spPr>
          <a:xfrm xmlns:a="http://schemas.openxmlformats.org/drawingml/2006/main">
            <a:off x="819150" y="2990850"/>
            <a:ext cx="2628900" cy="11239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0A1224"/>
                </a:solidFill>
                <a:latin typeface="Arial"/>
                <a:ea typeface="Arial"/>
                <a:cs typeface="Arial"/>
              </a:defRPr>
            </a:pPr>
            <a:r>
              <a:t>Adaptive selected Full Palace but returned zero memory items in all four useful-memory trials.</a:t>
            </a:r>
          </a:p>
        </p:txBody>
      </p:sp>
      <p:sp>
        <p:nvSpPr>
          <p:cNvPr id="11" name="s11-v021-foot">
            <a:extLst xmlns:a="http://schemas.openxmlformats.org/drawingml/2006/main">
              <a:ext uri="{FF2B5EF4-FFF2-40B4-BE49-F238E27FC236}">
                <a16:creationId xmlns:a16="http://schemas.microsoft.com/office/drawing/2014/main" id="{C017511F-CCD5-46E7-A546-9E63DBA61818}"/>
              </a:ext>
            </a:extLst>
          </p:cNvPr>
          <p:cNvSpPr>
            <a:spLocks xmlns:a="http://schemas.openxmlformats.org/drawingml/2006/main" noGrp="1"/>
          </p:cNvSpPr>
          <p:nvPr/>
        </p:nvSpPr>
        <p:spPr>
          <a:xfrm xmlns:a="http://schemas.openxmlformats.org/drawingml/2006/main">
            <a:off x="819150" y="4400550"/>
            <a:ext cx="2628900" cy="2667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1">
                <a:solidFill>
                  <a:srgbClr val="526071"/>
                </a:solidFill>
                <a:latin typeface="Arial"/>
                <a:ea typeface="Arial"/>
                <a:cs typeface="Arial"/>
              </a:defRPr>
            </a:pPr>
            <a:r>
              <a:t>Deterministic omission</a:t>
            </a:r>
          </a:p>
        </p:txBody>
      </p:sp>
      <p:sp>
        <p:nvSpPr>
          <p:cNvPr id="12" name="s11-v022">
            <a:extLst xmlns:a="http://schemas.openxmlformats.org/drawingml/2006/main">
              <a:ext uri="{FF2B5EF4-FFF2-40B4-BE49-F238E27FC236}">
                <a16:creationId xmlns:a16="http://schemas.microsoft.com/office/drawing/2014/main" id="{F864CFD7-3C34-4704-AC3D-119A61748A35}"/>
              </a:ext>
            </a:extLst>
          </p:cNvPr>
          <p:cNvSpPr>
            <a:spLocks xmlns:a="http://schemas.openxmlformats.org/drawingml/2006/main" noGrp="1"/>
          </p:cNvSpPr>
          <p:nvPr/>
        </p:nvSpPr>
        <p:spPr>
          <a:xfrm xmlns:a="http://schemas.openxmlformats.org/drawingml/2006/main">
            <a:off x="4514850" y="1885950"/>
            <a:ext cx="3162300" cy="3028950"/>
          </a:xfrm>
          <a:prstGeom xmlns:a="http://schemas.openxmlformats.org/drawingml/2006/main" prst="roundRect">
            <a:avLst>
              <a:gd name="adj" fmla="val 2516"/>
            </a:avLst>
          </a:prstGeom>
          <a:solidFill xmlns:a="http://schemas.openxmlformats.org/drawingml/2006/main">
            <a:srgbClr val="EAF1FF"/>
          </a:solidFill>
          <a:ln xmlns:a="http://schemas.openxmlformats.org/drawingml/2006/main" w="0">
            <a:solidFill>
              <a:srgbClr val="EAF1FF"/>
            </a:solidFill>
            <a:prstDash val="solid"/>
          </a:ln>
        </p:spPr>
      </p:sp>
      <p:sp>
        <p:nvSpPr>
          <p:cNvPr id="13" name="s11-v022-version">
            <a:extLst xmlns:a="http://schemas.openxmlformats.org/drawingml/2006/main">
              <a:ext uri="{FF2B5EF4-FFF2-40B4-BE49-F238E27FC236}">
                <a16:creationId xmlns:a16="http://schemas.microsoft.com/office/drawing/2014/main" id="{094FC1CA-0973-48E1-AAAF-0F27628514C9}"/>
              </a:ext>
            </a:extLst>
          </p:cNvPr>
          <p:cNvSpPr>
            <a:spLocks xmlns:a="http://schemas.openxmlformats.org/drawingml/2006/main" noGrp="1"/>
          </p:cNvSpPr>
          <p:nvPr/>
        </p:nvSpPr>
        <p:spPr>
          <a:xfrm xmlns:a="http://schemas.openxmlformats.org/drawingml/2006/main">
            <a:off x="4781550" y="2133600"/>
            <a:ext cx="2628900" cy="3429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1677FF"/>
                </a:solidFill>
                <a:latin typeface="Consolas"/>
                <a:ea typeface="Consolas"/>
                <a:cs typeface="Consolas"/>
              </a:defRPr>
            </a:pPr>
            <a:r>
              <a:t>v0.2.2</a:t>
            </a:r>
          </a:p>
        </p:txBody>
      </p:sp>
      <p:sp>
        <p:nvSpPr>
          <p:cNvPr id="14" name="s11-v022-k">
            <a:extLst xmlns:a="http://schemas.openxmlformats.org/drawingml/2006/main">
              <a:ext uri="{FF2B5EF4-FFF2-40B4-BE49-F238E27FC236}">
                <a16:creationId xmlns:a16="http://schemas.microsoft.com/office/drawing/2014/main" id="{E0218E30-BA87-442A-B1E6-82E815166101}"/>
              </a:ext>
            </a:extLst>
          </p:cNvPr>
          <p:cNvSpPr>
            <a:spLocks xmlns:a="http://schemas.openxmlformats.org/drawingml/2006/main" noGrp="1"/>
          </p:cNvSpPr>
          <p:nvPr/>
        </p:nvSpPr>
        <p:spPr>
          <a:xfrm xmlns:a="http://schemas.openxmlformats.org/drawingml/2006/main">
            <a:off x="4781550" y="2628900"/>
            <a:ext cx="2628900" cy="2095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1677FF"/>
                </a:solidFill>
                <a:latin typeface="Arial"/>
                <a:ea typeface="Arial"/>
                <a:cs typeface="Arial"/>
              </a:defRPr>
            </a:pPr>
            <a:r>
              <a:t>FIXED</a:t>
            </a:r>
          </a:p>
        </p:txBody>
      </p:sp>
      <p:sp>
        <p:nvSpPr>
          <p:cNvPr id="15" name="s11-v022-v">
            <a:extLst xmlns:a="http://schemas.openxmlformats.org/drawingml/2006/main">
              <a:ext uri="{FF2B5EF4-FFF2-40B4-BE49-F238E27FC236}">
                <a16:creationId xmlns:a16="http://schemas.microsoft.com/office/drawing/2014/main" id="{2E488D7E-4325-49D0-BD81-890F8CB06FBC}"/>
              </a:ext>
            </a:extLst>
          </p:cNvPr>
          <p:cNvSpPr>
            <a:spLocks xmlns:a="http://schemas.openxmlformats.org/drawingml/2006/main" noGrp="1"/>
          </p:cNvSpPr>
          <p:nvPr/>
        </p:nvSpPr>
        <p:spPr>
          <a:xfrm xmlns:a="http://schemas.openxmlformats.org/drawingml/2006/main">
            <a:off x="4781550" y="2990850"/>
            <a:ext cx="2628900" cy="11239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0A1224"/>
                </a:solidFill>
                <a:latin typeface="Arial"/>
                <a:ea typeface="Arial"/>
                <a:cs typeface="Arial"/>
              </a:defRPr>
            </a:pPr>
            <a:r>
              <a:t>Full Palace gained scoped-summary memory, JSON delivery, guardrails, and a regression contract.</a:t>
            </a:r>
          </a:p>
        </p:txBody>
      </p:sp>
      <p:sp>
        <p:nvSpPr>
          <p:cNvPr id="16" name="s11-v022-foot">
            <a:extLst xmlns:a="http://schemas.openxmlformats.org/drawingml/2006/main">
              <a:ext uri="{FF2B5EF4-FFF2-40B4-BE49-F238E27FC236}">
                <a16:creationId xmlns:a16="http://schemas.microsoft.com/office/drawing/2014/main" id="{6C199D91-9911-4DBC-9196-841A21BFDB3B}"/>
              </a:ext>
            </a:extLst>
          </p:cNvPr>
          <p:cNvSpPr>
            <a:spLocks xmlns:a="http://schemas.openxmlformats.org/drawingml/2006/main" noGrp="1"/>
          </p:cNvSpPr>
          <p:nvPr/>
        </p:nvSpPr>
        <p:spPr>
          <a:xfrm xmlns:a="http://schemas.openxmlformats.org/drawingml/2006/main">
            <a:off x="4781550" y="4400550"/>
            <a:ext cx="2628900" cy="4000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1">
                <a:solidFill>
                  <a:srgbClr val="526071"/>
                </a:solidFill>
                <a:latin typeface="Arial"/>
                <a:ea typeface="Arial"/>
                <a:cs typeface="Arial"/>
              </a:defRPr>
            </a:pPr>
            <a:r>
              <a:t>Clean + registry fixtures passed</a:t>
            </a:r>
          </a:p>
        </p:txBody>
      </p:sp>
      <p:sp>
        <p:nvSpPr>
          <p:cNvPr id="17" name="s11-v023">
            <a:extLst xmlns:a="http://schemas.openxmlformats.org/drawingml/2006/main">
              <a:ext uri="{FF2B5EF4-FFF2-40B4-BE49-F238E27FC236}">
                <a16:creationId xmlns:a16="http://schemas.microsoft.com/office/drawing/2014/main" id="{6BFF66C1-1DEC-4BA7-8668-AF669179D572}"/>
              </a:ext>
            </a:extLst>
          </p:cNvPr>
          <p:cNvSpPr>
            <a:spLocks xmlns:a="http://schemas.openxmlformats.org/drawingml/2006/main" noGrp="1"/>
          </p:cNvSpPr>
          <p:nvPr/>
        </p:nvSpPr>
        <p:spPr>
          <a:xfrm xmlns:a="http://schemas.openxmlformats.org/drawingml/2006/main">
            <a:off x="8477250" y="1885950"/>
            <a:ext cx="3162300" cy="3028950"/>
          </a:xfrm>
          <a:prstGeom xmlns:a="http://schemas.openxmlformats.org/drawingml/2006/main" prst="roundRect">
            <a:avLst>
              <a:gd name="adj" fmla="val 2516"/>
            </a:avLst>
          </a:prstGeom>
          <a:solidFill xmlns:a="http://schemas.openxmlformats.org/drawingml/2006/main">
            <a:srgbClr val="E9F7F2"/>
          </a:solidFill>
          <a:ln xmlns:a="http://schemas.openxmlformats.org/drawingml/2006/main" w="0">
            <a:solidFill>
              <a:srgbClr val="E9F7F2"/>
            </a:solidFill>
            <a:prstDash val="solid"/>
          </a:ln>
        </p:spPr>
      </p:sp>
      <p:sp>
        <p:nvSpPr>
          <p:cNvPr id="18" name="s11-v023-version">
            <a:extLst xmlns:a="http://schemas.openxmlformats.org/drawingml/2006/main">
              <a:ext uri="{FF2B5EF4-FFF2-40B4-BE49-F238E27FC236}">
                <a16:creationId xmlns:a16="http://schemas.microsoft.com/office/drawing/2014/main" id="{091EAF11-F1BD-4E88-91AD-E6332DB5131A}"/>
              </a:ext>
            </a:extLst>
          </p:cNvPr>
          <p:cNvSpPr>
            <a:spLocks xmlns:a="http://schemas.openxmlformats.org/drawingml/2006/main" noGrp="1"/>
          </p:cNvSpPr>
          <p:nvPr/>
        </p:nvSpPr>
        <p:spPr>
          <a:xfrm xmlns:a="http://schemas.openxmlformats.org/drawingml/2006/main">
            <a:off x="8743950" y="2133600"/>
            <a:ext cx="2628900" cy="3429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15A777"/>
                </a:solidFill>
                <a:latin typeface="Consolas"/>
                <a:ea typeface="Consolas"/>
                <a:cs typeface="Consolas"/>
              </a:defRPr>
            </a:pPr>
            <a:r>
              <a:t>v0.2.3</a:t>
            </a:r>
          </a:p>
        </p:txBody>
      </p:sp>
      <p:sp>
        <p:nvSpPr>
          <p:cNvPr id="19" name="s11-v023-k">
            <a:extLst xmlns:a="http://schemas.openxmlformats.org/drawingml/2006/main">
              <a:ext uri="{FF2B5EF4-FFF2-40B4-BE49-F238E27FC236}">
                <a16:creationId xmlns:a16="http://schemas.microsoft.com/office/drawing/2014/main" id="{CE798AF5-C697-4789-81DD-1D161117E45D}"/>
              </a:ext>
            </a:extLst>
          </p:cNvPr>
          <p:cNvSpPr>
            <a:spLocks xmlns:a="http://schemas.openxmlformats.org/drawingml/2006/main" noGrp="1"/>
          </p:cNvSpPr>
          <p:nvPr/>
        </p:nvSpPr>
        <p:spPr>
          <a:xfrm xmlns:a="http://schemas.openxmlformats.org/drawingml/2006/main">
            <a:off x="8743950" y="2628900"/>
            <a:ext cx="2628900" cy="2095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15A777"/>
                </a:solidFill>
                <a:latin typeface="Arial"/>
                <a:ea typeface="Arial"/>
                <a:cs typeface="Arial"/>
              </a:defRPr>
            </a:pPr>
            <a:r>
              <a:t>GENERALIZED</a:t>
            </a:r>
          </a:p>
        </p:txBody>
      </p:sp>
      <p:sp>
        <p:nvSpPr>
          <p:cNvPr id="20" name="s11-v023-v">
            <a:extLst xmlns:a="http://schemas.openxmlformats.org/drawingml/2006/main">
              <a:ext uri="{FF2B5EF4-FFF2-40B4-BE49-F238E27FC236}">
                <a16:creationId xmlns:a16="http://schemas.microsoft.com/office/drawing/2014/main" id="{36D3041C-4C08-47E9-ACFB-CB803C8141E8}"/>
              </a:ext>
            </a:extLst>
          </p:cNvPr>
          <p:cNvSpPr>
            <a:spLocks xmlns:a="http://schemas.openxmlformats.org/drawingml/2006/main" noGrp="1"/>
          </p:cNvSpPr>
          <p:nvPr/>
        </p:nvSpPr>
        <p:spPr>
          <a:xfrm xmlns:a="http://schemas.openxmlformats.org/drawingml/2006/main">
            <a:off x="8743950" y="2990850"/>
            <a:ext cx="2628900" cy="11239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0A1224"/>
                </a:solidFill>
                <a:latin typeface="Arial"/>
                <a:ea typeface="Arial"/>
                <a:cs typeface="Arial"/>
              </a:defRPr>
            </a:pPr>
            <a:r>
              <a:t>Release routing now covers npm, Codex plugins, PyPI, Chinese intent, negative controls, and CI.</a:t>
            </a:r>
          </a:p>
        </p:txBody>
      </p:sp>
      <p:sp>
        <p:nvSpPr>
          <p:cNvPr id="21" name="s11-v023-foot">
            <a:extLst xmlns:a="http://schemas.openxmlformats.org/drawingml/2006/main">
              <a:ext uri="{FF2B5EF4-FFF2-40B4-BE49-F238E27FC236}">
                <a16:creationId xmlns:a16="http://schemas.microsoft.com/office/drawing/2014/main" id="{66FDDEB4-DFFE-45CD-B464-5CCD3FAC02B8}"/>
              </a:ext>
            </a:extLst>
          </p:cNvPr>
          <p:cNvSpPr>
            <a:spLocks xmlns:a="http://schemas.openxmlformats.org/drawingml/2006/main" noGrp="1"/>
          </p:cNvSpPr>
          <p:nvPr/>
        </p:nvSpPr>
        <p:spPr>
          <a:xfrm xmlns:a="http://schemas.openxmlformats.org/drawingml/2006/main">
            <a:off x="8743950" y="4400550"/>
            <a:ext cx="2628900" cy="4000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1">
                <a:solidFill>
                  <a:srgbClr val="526071"/>
                </a:solidFill>
                <a:latin typeface="Arial"/>
                <a:ea typeface="Arial"/>
                <a:cs typeface="Arial"/>
              </a:defRPr>
            </a:pPr>
            <a:r>
              <a:t>Matrix + distribution gates</a:t>
            </a:r>
          </a:p>
        </p:txBody>
      </p:sp>
      <p:sp>
        <p:nvSpPr>
          <p:cNvPr id="22" name="s11-takeaway">
            <a:extLst xmlns:a="http://schemas.openxmlformats.org/drawingml/2006/main">
              <a:ext uri="{FF2B5EF4-FFF2-40B4-BE49-F238E27FC236}">
                <a16:creationId xmlns:a16="http://schemas.microsoft.com/office/drawing/2014/main" id="{044C2BE7-1CE7-41A1-90BF-8117F7E85C0C}"/>
              </a:ext>
            </a:extLst>
          </p:cNvPr>
          <p:cNvSpPr>
            <a:spLocks xmlns:a="http://schemas.openxmlformats.org/drawingml/2006/main" noGrp="1"/>
          </p:cNvSpPr>
          <p:nvPr/>
        </p:nvSpPr>
        <p:spPr>
          <a:xfrm xmlns:a="http://schemas.openxmlformats.org/drawingml/2006/main">
            <a:off x="552450" y="5181600"/>
            <a:ext cx="11087100" cy="704850"/>
          </a:xfrm>
          <a:prstGeom xmlns:a="http://schemas.openxmlformats.org/drawingml/2006/main" prst="roundRect">
            <a:avLst>
              <a:gd name="adj" fmla="val 10811"/>
            </a:avLst>
          </a:prstGeom>
          <a:solidFill xmlns:a="http://schemas.openxmlformats.org/drawingml/2006/main">
            <a:srgbClr val="061B3D"/>
          </a:solidFill>
          <a:ln xmlns:a="http://schemas.openxmlformats.org/drawingml/2006/main" w="0">
            <a:solidFill>
              <a:srgbClr val="061B3D"/>
            </a:solidFill>
            <a:prstDash val="solid"/>
          </a:ln>
        </p:spPr>
      </p:sp>
      <p:sp>
        <p:nvSpPr>
          <p:cNvPr id="23" name="s11-takeaway-v">
            <a:extLst xmlns:a="http://schemas.openxmlformats.org/drawingml/2006/main">
              <a:ext uri="{FF2B5EF4-FFF2-40B4-BE49-F238E27FC236}">
                <a16:creationId xmlns:a16="http://schemas.microsoft.com/office/drawing/2014/main" id="{D017E6BC-761F-4A8F-8945-04F45324FA8F}"/>
              </a:ext>
            </a:extLst>
          </p:cNvPr>
          <p:cNvSpPr>
            <a:spLocks xmlns:a="http://schemas.openxmlformats.org/drawingml/2006/main" noGrp="1"/>
          </p:cNvSpPr>
          <p:nvPr/>
        </p:nvSpPr>
        <p:spPr>
          <a:xfrm xmlns:a="http://schemas.openxmlformats.org/drawingml/2006/main">
            <a:off x="819150" y="5372100"/>
            <a:ext cx="10553700" cy="3238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ctr">
              <a:defRPr sz="1725" b="1">
                <a:solidFill>
                  <a:srgbClr val="FFFFFF"/>
                </a:solidFill>
                <a:latin typeface="Consolas"/>
                <a:ea typeface="Consolas"/>
                <a:cs typeface="Consolas"/>
              </a:defRPr>
            </a:pPr>
            <a:r>
              <a:t>OBSERVE  -&gt;  FIX  -&gt;  REGRESSION TEST  -&gt;  RELEASE GATE</a:t>
            </a:r>
          </a:p>
        </p:txBody>
      </p:sp>
      <p:cxnSp>
        <p:nvCxnSpPr>
          <p:cNvPr id="50" name="footer-rule-10"/>
          <p:cNvCxnSpPr/>
          <p:nvPr/>
        </p:nvCxnSpPr>
        <p:spPr>
          <a:xfrm xmlns:a="http://schemas.openxmlformats.org/drawingml/2006/main">
            <a:off x="400050" y="6162675"/>
            <a:ext cx="11391900" cy="953"/>
          </a:xfrm>
          <a:prstGeom xmlns:a="http://schemas.openxmlformats.org/drawingml/2006/main" prst="straightConnector1">
            <a:avLst/>
          </a:prstGeom>
          <a:ln xmlns:a="http://schemas.openxmlformats.org/drawingml/2006/main" w="9525">
            <a:solidFill>
              <a:srgbClr val="B8BCC4"/>
            </a:solidFill>
            <a:prstDash val="solid"/>
          </a:ln>
        </p:spPr>
      </p:cxnSp>
      <p:sp>
        <p:nvSpPr>
          <p:cNvPr id="25" name="footer-source-10">
            <a:extLst xmlns:a="http://schemas.openxmlformats.org/drawingml/2006/main">
              <a:ext uri="{FF2B5EF4-FFF2-40B4-BE49-F238E27FC236}">
                <a16:creationId xmlns:a16="http://schemas.microsoft.com/office/drawing/2014/main" id="{FA66CF0E-C8CA-45A4-9F04-35E7B02294C2}"/>
              </a:ext>
            </a:extLst>
          </p:cNvPr>
          <p:cNvSpPr>
            <a:spLocks xmlns:a="http://schemas.openxmlformats.org/drawingml/2006/main" noGrp="1"/>
          </p:cNvSpPr>
          <p:nvPr/>
        </p:nvSpPr>
        <p:spPr>
          <a:xfrm xmlns:a="http://schemas.openxmlformats.org/drawingml/2006/main">
            <a:off x="400050" y="6238875"/>
            <a:ext cx="10001250" cy="2286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863" b="0">
                <a:solidFill>
                  <a:srgbClr val="526071"/>
                </a:solidFill>
                <a:latin typeface="Arial"/>
                <a:ea typeface="Arial"/>
                <a:cs typeface="Arial"/>
              </a:defRPr>
            </a:pPr>
            <a:r>
              <a:t>ADAPTIVE_MEMORY_FIX_0_2_2.md | RELEASE_ROUTING_MATRIX_RESULT_0_2_3.md</a:t>
            </a:r>
          </a:p>
        </p:txBody>
      </p:sp>
      <p:sp>
        <p:nvSpPr>
          <p:cNvPr id="26" name="footer-number-10">
            <a:extLst xmlns:a="http://schemas.openxmlformats.org/drawingml/2006/main">
              <a:ext uri="{FF2B5EF4-FFF2-40B4-BE49-F238E27FC236}">
                <a16:creationId xmlns:a16="http://schemas.microsoft.com/office/drawing/2014/main" id="{B655CEAC-20A2-45C4-B2A8-37D46F26CDE7}"/>
              </a:ext>
            </a:extLst>
          </p:cNvPr>
          <p:cNvSpPr>
            <a:spLocks xmlns:a="http://schemas.openxmlformats.org/drawingml/2006/main" noGrp="1"/>
          </p:cNvSpPr>
          <p:nvPr/>
        </p:nvSpPr>
        <p:spPr>
          <a:xfrm xmlns:a="http://schemas.openxmlformats.org/drawingml/2006/main">
            <a:off x="11258550" y="6238875"/>
            <a:ext cx="533400" cy="2286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r">
              <a:defRPr sz="900" b="0">
                <a:solidFill>
                  <a:srgbClr val="526071"/>
                </a:solidFill>
                <a:latin typeface="Arial"/>
                <a:ea typeface="Arial"/>
                <a:cs typeface="Arial"/>
              </a:defRPr>
            </a:pPr>
            <a:r>
              <a:t>10</a:t>
            </a:r>
          </a:p>
        </p:txBody>
      </p:sp>
    </p:spTree>
    <p:extLst>
      <p:ext uri="{BB962C8B-B14F-4D97-AF65-F5344CB8AC3E}">
        <p14:creationId xmlns:p14="http://schemas.microsoft.com/office/powerpoint/2010/main" val="1221119413"/>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s12-eyebrow">
            <a:extLst xmlns:a="http://schemas.openxmlformats.org/drawingml/2006/main">
              <a:ext uri="{FF2B5EF4-FFF2-40B4-BE49-F238E27FC236}">
                <a16:creationId xmlns:a16="http://schemas.microsoft.com/office/drawing/2014/main" id="{F3924CF2-D85E-4D01-B878-CAEAA5A96774}"/>
              </a:ext>
            </a:extLst>
          </p:cNvPr>
          <p:cNvSpPr>
            <a:spLocks xmlns:a="http://schemas.openxmlformats.org/drawingml/2006/main" noGrp="1"/>
          </p:cNvSpPr>
          <p:nvPr/>
        </p:nvSpPr>
        <p:spPr>
          <a:xfrm xmlns:a="http://schemas.openxmlformats.org/drawingml/2006/main">
            <a:off x="457200" y="419100"/>
            <a:ext cx="2476500" cy="2857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1">
                <a:solidFill>
                  <a:srgbClr val="1677FF"/>
                </a:solidFill>
                <a:latin typeface="Arial"/>
                <a:ea typeface="Arial"/>
                <a:cs typeface="Arial"/>
              </a:defRPr>
            </a:pPr>
            <a:r>
              <a:t>READY TO TEST</a:t>
            </a:r>
          </a:p>
        </p:txBody>
      </p:sp>
      <p:sp>
        <p:nvSpPr>
          <p:cNvPr id="2" name="s12-title">
            <a:extLst xmlns:a="http://schemas.openxmlformats.org/drawingml/2006/main">
              <a:ext uri="{FF2B5EF4-FFF2-40B4-BE49-F238E27FC236}">
                <a16:creationId xmlns:a16="http://schemas.microsoft.com/office/drawing/2014/main" id="{DE68DDE2-C11A-48C6-BD23-3A1B8132B7D6}"/>
              </a:ext>
            </a:extLst>
          </p:cNvPr>
          <p:cNvSpPr>
            <a:spLocks xmlns:a="http://schemas.openxmlformats.org/drawingml/2006/main" noGrp="1"/>
          </p:cNvSpPr>
          <p:nvPr/>
        </p:nvSpPr>
        <p:spPr>
          <a:xfrm xmlns:a="http://schemas.openxmlformats.org/drawingml/2006/main">
            <a:off x="457200" y="1257300"/>
            <a:ext cx="5143500" cy="28575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5400" b="1">
                <a:solidFill>
                  <a:srgbClr val="0A1224"/>
                </a:solidFill>
                <a:latin typeface="Arial"/>
                <a:ea typeface="Arial"/>
                <a:cs typeface="Arial"/>
              </a:defRPr>
            </a:pPr>
            <a:r>
              <a:t>Install.
Route.
Verify.</a:t>
            </a:r>
          </a:p>
        </p:txBody>
      </p:sp>
      <p:cxnSp>
        <p:nvCxnSpPr>
          <p:cNvPr id="21" name="s12-accent"/>
          <p:cNvCxnSpPr/>
          <p:nvPr/>
        </p:nvCxnSpPr>
        <p:spPr>
          <a:xfrm xmlns:a="http://schemas.openxmlformats.org/drawingml/2006/main">
            <a:off x="495300" y="4438650"/>
            <a:ext cx="1238250" cy="953"/>
          </a:xfrm>
          <a:prstGeom xmlns:a="http://schemas.openxmlformats.org/drawingml/2006/main" prst="straightConnector1">
            <a:avLst/>
          </a:prstGeom>
          <a:ln xmlns:a="http://schemas.openxmlformats.org/drawingml/2006/main" w="57150">
            <a:solidFill>
              <a:srgbClr val="13B7D5"/>
            </a:solidFill>
            <a:prstDash val="solid"/>
          </a:ln>
        </p:spPr>
      </p:cxnSp>
      <p:sp>
        <p:nvSpPr>
          <p:cNvPr id="4" name="s12-close">
            <a:extLst xmlns:a="http://schemas.openxmlformats.org/drawingml/2006/main">
              <a:ext uri="{FF2B5EF4-FFF2-40B4-BE49-F238E27FC236}">
                <a16:creationId xmlns:a16="http://schemas.microsoft.com/office/drawing/2014/main" id="{C54E56C1-7626-4157-8EDA-ED78439C20F3}"/>
              </a:ext>
            </a:extLst>
          </p:cNvPr>
          <p:cNvSpPr>
            <a:spLocks xmlns:a="http://schemas.openxmlformats.org/drawingml/2006/main" noGrp="1"/>
          </p:cNvSpPr>
          <p:nvPr/>
        </p:nvSpPr>
        <p:spPr>
          <a:xfrm xmlns:a="http://schemas.openxmlformats.org/drawingml/2006/main">
            <a:off x="457200" y="4819650"/>
            <a:ext cx="5238750" cy="8572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526071"/>
                </a:solidFill>
                <a:latin typeface="Arial"/>
                <a:ea typeface="Arial"/>
                <a:cs typeface="Arial"/>
              </a:defRPr>
            </a:pPr>
            <a:r>
              <a:t>A map, a route, a memory, and evidence that the selected context was useful.</a:t>
            </a:r>
          </a:p>
        </p:txBody>
      </p:sp>
      <p:sp>
        <p:nvSpPr>
          <p:cNvPr id="5" name="s12-command-box">
            <a:extLst xmlns:a="http://schemas.openxmlformats.org/drawingml/2006/main">
              <a:ext uri="{FF2B5EF4-FFF2-40B4-BE49-F238E27FC236}">
                <a16:creationId xmlns:a16="http://schemas.microsoft.com/office/drawing/2014/main" id="{DC1F73E0-4D7C-44FE-9A45-B704A6676613}"/>
              </a:ext>
            </a:extLst>
          </p:cNvPr>
          <p:cNvSpPr>
            <a:spLocks xmlns:a="http://schemas.openxmlformats.org/drawingml/2006/main" noGrp="1"/>
          </p:cNvSpPr>
          <p:nvPr/>
        </p:nvSpPr>
        <p:spPr>
          <a:xfrm xmlns:a="http://schemas.openxmlformats.org/drawingml/2006/main">
            <a:off x="6477000" y="1352550"/>
            <a:ext cx="4857750" cy="1485900"/>
          </a:xfrm>
          <a:prstGeom xmlns:a="http://schemas.openxmlformats.org/drawingml/2006/main" prst="roundRect">
            <a:avLst>
              <a:gd name="adj" fmla="val 5128"/>
            </a:avLst>
          </a:prstGeom>
          <a:solidFill xmlns:a="http://schemas.openxmlformats.org/drawingml/2006/main">
            <a:srgbClr val="061B3D"/>
          </a:solidFill>
          <a:ln xmlns:a="http://schemas.openxmlformats.org/drawingml/2006/main" w="0">
            <a:solidFill>
              <a:srgbClr val="061B3D"/>
            </a:solidFill>
            <a:prstDash val="solid"/>
          </a:ln>
        </p:spPr>
      </p:sp>
      <p:sp>
        <p:nvSpPr>
          <p:cNvPr id="6" name="s12-command">
            <a:extLst xmlns:a="http://schemas.openxmlformats.org/drawingml/2006/main">
              <a:ext uri="{FF2B5EF4-FFF2-40B4-BE49-F238E27FC236}">
                <a16:creationId xmlns:a16="http://schemas.microsoft.com/office/drawing/2014/main" id="{65B2533F-9C4A-494D-9DBD-140EE10FC8A2}"/>
              </a:ext>
            </a:extLst>
          </p:cNvPr>
          <p:cNvSpPr>
            <a:spLocks xmlns:a="http://schemas.openxmlformats.org/drawingml/2006/main" noGrp="1"/>
          </p:cNvSpPr>
          <p:nvPr/>
        </p:nvSpPr>
        <p:spPr>
          <a:xfrm xmlns:a="http://schemas.openxmlformats.org/drawingml/2006/main">
            <a:off x="6819900" y="1714500"/>
            <a:ext cx="4171950" cy="8191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FFFFFF"/>
                </a:solidFill>
                <a:latin typeface="Consolas"/>
                <a:ea typeface="Consolas"/>
                <a:cs typeface="Consolas"/>
              </a:defRPr>
            </a:pPr>
            <a:r>
              <a:t>npm install -g
vertex-palace@0.2.3</a:t>
            </a:r>
          </a:p>
        </p:txBody>
      </p:sp>
      <p:sp>
        <p:nvSpPr>
          <p:cNvPr id="7" name="s12-github">
            <a:extLst xmlns:a="http://schemas.openxmlformats.org/drawingml/2006/main">
              <a:ext uri="{FF2B5EF4-FFF2-40B4-BE49-F238E27FC236}">
                <a16:creationId xmlns:a16="http://schemas.microsoft.com/office/drawing/2014/main" id="{F521EEC5-49AC-45CC-B68F-C0FF22121FD9}"/>
              </a:ext>
            </a:extLst>
          </p:cNvPr>
          <p:cNvSpPr>
            <a:spLocks xmlns:a="http://schemas.openxmlformats.org/drawingml/2006/main" noGrp="1"/>
          </p:cNvSpPr>
          <p:nvPr/>
        </p:nvSpPr>
        <p:spPr>
          <a:xfrm xmlns:a="http://schemas.openxmlformats.org/drawingml/2006/main">
            <a:off x="6477000" y="3352800"/>
            <a:ext cx="4857750" cy="3429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1">
                <a:solidFill>
                  <a:srgbClr val="0A1224"/>
                </a:solidFill>
                <a:latin typeface="Consolas"/>
                <a:ea typeface="Consolas"/>
                <a:cs typeface="Consolas"/>
              </a:defRPr>
            </a:pPr>
            <a:r>
              <a:t>github.com/lohchanhin/vertex-palace</a:t>
            </a:r>
          </a:p>
        </p:txBody>
      </p:sp>
      <p:sp>
        <p:nvSpPr>
          <p:cNvPr id="8" name="s12-npm">
            <a:extLst xmlns:a="http://schemas.openxmlformats.org/drawingml/2006/main">
              <a:ext uri="{FF2B5EF4-FFF2-40B4-BE49-F238E27FC236}">
                <a16:creationId xmlns:a16="http://schemas.microsoft.com/office/drawing/2014/main" id="{7D29EF57-E1BF-46CA-BDB9-5B4686B60861}"/>
              </a:ext>
            </a:extLst>
          </p:cNvPr>
          <p:cNvSpPr>
            <a:spLocks xmlns:a="http://schemas.openxmlformats.org/drawingml/2006/main" noGrp="1"/>
          </p:cNvSpPr>
          <p:nvPr/>
        </p:nvSpPr>
        <p:spPr>
          <a:xfrm xmlns:a="http://schemas.openxmlformats.org/drawingml/2006/main">
            <a:off x="6477000" y="3848100"/>
            <a:ext cx="4857750" cy="3429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526071"/>
                </a:solidFill>
                <a:latin typeface="Consolas"/>
                <a:ea typeface="Consolas"/>
                <a:cs typeface="Consolas"/>
              </a:defRPr>
            </a:pPr>
            <a:r>
              <a:t>npmjs.com/package/vertex-palace</a:t>
            </a:r>
          </a:p>
        </p:txBody>
      </p:sp>
      <p:sp>
        <p:nvSpPr>
          <p:cNvPr id="9" name="s12-d1">
            <a:extLst xmlns:a="http://schemas.openxmlformats.org/drawingml/2006/main">
              <a:ext uri="{FF2B5EF4-FFF2-40B4-BE49-F238E27FC236}">
                <a16:creationId xmlns:a16="http://schemas.microsoft.com/office/drawing/2014/main" id="{E3821C63-1D46-4C97-9235-FC37B6015BB4}"/>
              </a:ext>
            </a:extLst>
          </p:cNvPr>
          <p:cNvSpPr>
            <a:spLocks xmlns:a="http://schemas.openxmlformats.org/drawingml/2006/main" noGrp="1"/>
          </p:cNvSpPr>
          <p:nvPr/>
        </p:nvSpPr>
        <p:spPr>
          <a:xfrm xmlns:a="http://schemas.openxmlformats.org/drawingml/2006/main">
            <a:off x="6515100" y="4838700"/>
            <a:ext cx="114300" cy="114300"/>
          </a:xfrm>
          <a:prstGeom xmlns:a="http://schemas.openxmlformats.org/drawingml/2006/main" prst="ellipse">
            <a:avLst/>
          </a:prstGeom>
          <a:solidFill xmlns:a="http://schemas.openxmlformats.org/drawingml/2006/main">
            <a:srgbClr val="13B7D5"/>
          </a:solidFill>
          <a:ln xmlns:a="http://schemas.openxmlformats.org/drawingml/2006/main" w="0">
            <a:solidFill>
              <a:srgbClr val="13B7D5"/>
            </a:solidFill>
            <a:prstDash val="solid"/>
          </a:ln>
        </p:spPr>
      </p:sp>
      <p:sp>
        <p:nvSpPr>
          <p:cNvPr id="10" name="s12-l1">
            <a:extLst xmlns:a="http://schemas.openxmlformats.org/drawingml/2006/main">
              <a:ext uri="{FF2B5EF4-FFF2-40B4-BE49-F238E27FC236}">
                <a16:creationId xmlns:a16="http://schemas.microsoft.com/office/drawing/2014/main" id="{3DEA0273-53FE-4EA4-AA17-2313FA552EF3}"/>
              </a:ext>
            </a:extLst>
          </p:cNvPr>
          <p:cNvSpPr>
            <a:spLocks xmlns:a="http://schemas.openxmlformats.org/drawingml/2006/main" noGrp="1"/>
          </p:cNvSpPr>
          <p:nvPr/>
        </p:nvSpPr>
        <p:spPr>
          <a:xfrm xmlns:a="http://schemas.openxmlformats.org/drawingml/2006/main">
            <a:off x="6743700" y="4762500"/>
            <a:ext cx="762000" cy="2667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1">
                <a:solidFill>
                  <a:srgbClr val="0A1224"/>
                </a:solidFill>
                <a:latin typeface="Arial"/>
                <a:ea typeface="Arial"/>
                <a:cs typeface="Arial"/>
              </a:defRPr>
            </a:pPr>
            <a:r>
              <a:t>CLI</a:t>
            </a:r>
          </a:p>
        </p:txBody>
      </p:sp>
      <p:sp>
        <p:nvSpPr>
          <p:cNvPr id="11" name="s12-d2">
            <a:extLst xmlns:a="http://schemas.openxmlformats.org/drawingml/2006/main">
              <a:ext uri="{FF2B5EF4-FFF2-40B4-BE49-F238E27FC236}">
                <a16:creationId xmlns:a16="http://schemas.microsoft.com/office/drawing/2014/main" id="{86A66D9A-1E8F-46B3-956D-2FCA9B2ECDFA}"/>
              </a:ext>
            </a:extLst>
          </p:cNvPr>
          <p:cNvSpPr>
            <a:spLocks xmlns:a="http://schemas.openxmlformats.org/drawingml/2006/main" noGrp="1"/>
          </p:cNvSpPr>
          <p:nvPr/>
        </p:nvSpPr>
        <p:spPr>
          <a:xfrm xmlns:a="http://schemas.openxmlformats.org/drawingml/2006/main">
            <a:off x="7658100" y="4838700"/>
            <a:ext cx="114300" cy="114300"/>
          </a:xfrm>
          <a:prstGeom xmlns:a="http://schemas.openxmlformats.org/drawingml/2006/main" prst="ellipse">
            <a:avLst/>
          </a:prstGeom>
          <a:solidFill xmlns:a="http://schemas.openxmlformats.org/drawingml/2006/main">
            <a:srgbClr val="1677FF"/>
          </a:solidFill>
          <a:ln xmlns:a="http://schemas.openxmlformats.org/drawingml/2006/main" w="0">
            <a:solidFill>
              <a:srgbClr val="1677FF"/>
            </a:solidFill>
            <a:prstDash val="solid"/>
          </a:ln>
        </p:spPr>
      </p:sp>
      <p:sp>
        <p:nvSpPr>
          <p:cNvPr id="12" name="s12-l2">
            <a:extLst xmlns:a="http://schemas.openxmlformats.org/drawingml/2006/main">
              <a:ext uri="{FF2B5EF4-FFF2-40B4-BE49-F238E27FC236}">
                <a16:creationId xmlns:a16="http://schemas.microsoft.com/office/drawing/2014/main" id="{C3983E3F-DDF7-4029-95E5-1B927F4245B5}"/>
              </a:ext>
            </a:extLst>
          </p:cNvPr>
          <p:cNvSpPr>
            <a:spLocks xmlns:a="http://schemas.openxmlformats.org/drawingml/2006/main" noGrp="1"/>
          </p:cNvSpPr>
          <p:nvPr/>
        </p:nvSpPr>
        <p:spPr>
          <a:xfrm xmlns:a="http://schemas.openxmlformats.org/drawingml/2006/main">
            <a:off x="7886700" y="4762500"/>
            <a:ext cx="762000" cy="2667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1">
                <a:solidFill>
                  <a:srgbClr val="0A1224"/>
                </a:solidFill>
                <a:latin typeface="Arial"/>
                <a:ea typeface="Arial"/>
                <a:cs typeface="Arial"/>
              </a:defRPr>
            </a:pPr>
            <a:r>
              <a:t>MCP</a:t>
            </a:r>
          </a:p>
        </p:txBody>
      </p:sp>
      <p:sp>
        <p:nvSpPr>
          <p:cNvPr id="13" name="s12-d3">
            <a:extLst xmlns:a="http://schemas.openxmlformats.org/drawingml/2006/main">
              <a:ext uri="{FF2B5EF4-FFF2-40B4-BE49-F238E27FC236}">
                <a16:creationId xmlns:a16="http://schemas.microsoft.com/office/drawing/2014/main" id="{E5FF976A-7B24-4ADB-88A1-51FDD6D93397}"/>
              </a:ext>
            </a:extLst>
          </p:cNvPr>
          <p:cNvSpPr>
            <a:spLocks xmlns:a="http://schemas.openxmlformats.org/drawingml/2006/main" noGrp="1"/>
          </p:cNvSpPr>
          <p:nvPr/>
        </p:nvSpPr>
        <p:spPr>
          <a:xfrm xmlns:a="http://schemas.openxmlformats.org/drawingml/2006/main">
            <a:off x="8858250" y="4838700"/>
            <a:ext cx="114300" cy="114300"/>
          </a:xfrm>
          <a:prstGeom xmlns:a="http://schemas.openxmlformats.org/drawingml/2006/main" prst="ellipse">
            <a:avLst/>
          </a:prstGeom>
          <a:solidFill xmlns:a="http://schemas.openxmlformats.org/drawingml/2006/main">
            <a:srgbClr val="7438F5"/>
          </a:solidFill>
          <a:ln xmlns:a="http://schemas.openxmlformats.org/drawingml/2006/main" w="0">
            <a:solidFill>
              <a:srgbClr val="7438F5"/>
            </a:solidFill>
            <a:prstDash val="solid"/>
          </a:ln>
        </p:spPr>
      </p:sp>
      <p:sp>
        <p:nvSpPr>
          <p:cNvPr id="14" name="s12-l3">
            <a:extLst xmlns:a="http://schemas.openxmlformats.org/drawingml/2006/main">
              <a:ext uri="{FF2B5EF4-FFF2-40B4-BE49-F238E27FC236}">
                <a16:creationId xmlns:a16="http://schemas.microsoft.com/office/drawing/2014/main" id="{CD9E31A7-7D14-40F9-8C63-E99AD288AD8F}"/>
              </a:ext>
            </a:extLst>
          </p:cNvPr>
          <p:cNvSpPr>
            <a:spLocks xmlns:a="http://schemas.openxmlformats.org/drawingml/2006/main" noGrp="1"/>
          </p:cNvSpPr>
          <p:nvPr/>
        </p:nvSpPr>
        <p:spPr>
          <a:xfrm xmlns:a="http://schemas.openxmlformats.org/drawingml/2006/main">
            <a:off x="9086850" y="4762500"/>
            <a:ext cx="1524000" cy="2667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1">
                <a:solidFill>
                  <a:srgbClr val="0A1224"/>
                </a:solidFill>
                <a:latin typeface="Arial"/>
                <a:ea typeface="Arial"/>
                <a:cs typeface="Arial"/>
              </a:defRPr>
            </a:pPr>
            <a:r>
              <a:t>Codex plugin</a:t>
            </a:r>
          </a:p>
        </p:txBody>
      </p:sp>
      <p:sp>
        <p:nvSpPr>
          <p:cNvPr id="15" name="s12-platforms">
            <a:extLst xmlns:a="http://schemas.openxmlformats.org/drawingml/2006/main">
              <a:ext uri="{FF2B5EF4-FFF2-40B4-BE49-F238E27FC236}">
                <a16:creationId xmlns:a16="http://schemas.microsoft.com/office/drawing/2014/main" id="{2C31C7A2-A2EC-4D41-B701-25F4025FF9CD}"/>
              </a:ext>
            </a:extLst>
          </p:cNvPr>
          <p:cNvSpPr>
            <a:spLocks xmlns:a="http://schemas.openxmlformats.org/drawingml/2006/main" noGrp="1"/>
          </p:cNvSpPr>
          <p:nvPr/>
        </p:nvSpPr>
        <p:spPr>
          <a:xfrm xmlns:a="http://schemas.openxmlformats.org/drawingml/2006/main">
            <a:off x="6477000" y="5334000"/>
            <a:ext cx="4857750" cy="3048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526071"/>
                </a:solidFill>
                <a:latin typeface="Arial"/>
                <a:ea typeface="Arial"/>
                <a:cs typeface="Arial"/>
              </a:defRPr>
            </a:pPr>
            <a:r>
              <a:t>MIT licensed | Windows, macOS, and Linux</a:t>
            </a:r>
          </a:p>
        </p:txBody>
      </p:sp>
      <p:cxnSp>
        <p:nvCxnSpPr>
          <p:cNvPr id="34" name="footer-rule-11"/>
          <p:cNvCxnSpPr/>
          <p:nvPr/>
        </p:nvCxnSpPr>
        <p:spPr>
          <a:xfrm xmlns:a="http://schemas.openxmlformats.org/drawingml/2006/main">
            <a:off x="400050" y="6162675"/>
            <a:ext cx="11391900" cy="953"/>
          </a:xfrm>
          <a:prstGeom xmlns:a="http://schemas.openxmlformats.org/drawingml/2006/main" prst="straightConnector1">
            <a:avLst/>
          </a:prstGeom>
          <a:ln xmlns:a="http://schemas.openxmlformats.org/drawingml/2006/main" w="9525">
            <a:solidFill>
              <a:srgbClr val="B8BCC4"/>
            </a:solidFill>
            <a:prstDash val="solid"/>
          </a:ln>
        </p:spPr>
      </p:cxnSp>
      <p:sp>
        <p:nvSpPr>
          <p:cNvPr id="17" name="footer-source-11">
            <a:extLst xmlns:a="http://schemas.openxmlformats.org/drawingml/2006/main">
              <a:ext uri="{FF2B5EF4-FFF2-40B4-BE49-F238E27FC236}">
                <a16:creationId xmlns:a16="http://schemas.microsoft.com/office/drawing/2014/main" id="{86484C77-2B95-4BE8-B465-85D1A474700C}"/>
              </a:ext>
            </a:extLst>
          </p:cNvPr>
          <p:cNvSpPr>
            <a:spLocks xmlns:a="http://schemas.openxmlformats.org/drawingml/2006/main" noGrp="1"/>
          </p:cNvSpPr>
          <p:nvPr/>
        </p:nvSpPr>
        <p:spPr>
          <a:xfrm xmlns:a="http://schemas.openxmlformats.org/drawingml/2006/main">
            <a:off x="400050" y="6238875"/>
            <a:ext cx="10001250" cy="2286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863" b="0">
                <a:solidFill>
                  <a:srgbClr val="526071"/>
                </a:solidFill>
                <a:latin typeface="Arial"/>
                <a:ea typeface="Arial"/>
                <a:cs typeface="Arial"/>
              </a:defRPr>
            </a:pPr>
            <a:r>
              <a:t/>
            </a:r>
          </a:p>
        </p:txBody>
      </p:sp>
      <p:sp>
        <p:nvSpPr>
          <p:cNvPr id="18" name="footer-number-11">
            <a:extLst xmlns:a="http://schemas.openxmlformats.org/drawingml/2006/main">
              <a:ext uri="{FF2B5EF4-FFF2-40B4-BE49-F238E27FC236}">
                <a16:creationId xmlns:a16="http://schemas.microsoft.com/office/drawing/2014/main" id="{C44DB6E7-9ABB-432C-B331-7137F122A0CC}"/>
              </a:ext>
            </a:extLst>
          </p:cNvPr>
          <p:cNvSpPr>
            <a:spLocks xmlns:a="http://schemas.openxmlformats.org/drawingml/2006/main" noGrp="1"/>
          </p:cNvSpPr>
          <p:nvPr/>
        </p:nvSpPr>
        <p:spPr>
          <a:xfrm xmlns:a="http://schemas.openxmlformats.org/drawingml/2006/main">
            <a:off x="11258550" y="6238875"/>
            <a:ext cx="533400" cy="2286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r">
              <a:defRPr sz="900" b="0">
                <a:solidFill>
                  <a:srgbClr val="526071"/>
                </a:solidFill>
                <a:latin typeface="Arial"/>
                <a:ea typeface="Arial"/>
                <a:cs typeface="Arial"/>
              </a:defRPr>
            </a:pPr>
            <a:r>
              <a:t>11</a:t>
            </a:r>
          </a:p>
        </p:txBody>
      </p:sp>
    </p:spTree>
    <p:extLst>
      <p:ext uri="{BB962C8B-B14F-4D97-AF65-F5344CB8AC3E}">
        <p14:creationId xmlns:p14="http://schemas.microsoft.com/office/powerpoint/2010/main" val="159692401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2026-07-19T14:13:47.5970000Z</dcterms:created>
  <dcterms:modified xsi:type="dcterms:W3CDTF">2026-07-19T14:13:47.5970000Z</dcterms:modified>
</coreProperties>
</file>